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8" r:id="rId6"/>
    <p:sldMasterId id="2147483660" r:id="rId7"/>
    <p:sldMasterId id="2147483662" r:id="rId8"/>
    <p:sldMasterId id="2147483664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stomShape 1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CustomShape 2"/>
          <p:cNvSpPr/>
          <p:nvPr/>
        </p:nvSpPr>
        <p:spPr>
          <a:xfrm>
            <a:off x="11438640" y="6453360"/>
            <a:ext cx="75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fld id="{4F1C10AE-73D2-4296-B531-EF5CE7CE889B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CustomShape 3"/>
          <p:cNvSpPr/>
          <p:nvPr/>
        </p:nvSpPr>
        <p:spPr>
          <a:xfrm>
            <a:off x="912240" y="1268280"/>
            <a:ext cx="92066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Picture 19"/>
          <p:cNvPicPr/>
          <p:nvPr/>
        </p:nvPicPr>
        <p:blipFill>
          <a:blip r:embed="rId2"/>
          <a:stretch/>
        </p:blipFill>
        <p:spPr>
          <a:xfrm>
            <a:off x="0" y="0"/>
            <a:ext cx="3050640" cy="56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6480" cy="51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CustomShape 4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CustomShape 5"/>
          <p:cNvSpPr/>
          <p:nvPr/>
        </p:nvSpPr>
        <p:spPr>
          <a:xfrm>
            <a:off x="11438640" y="6453360"/>
            <a:ext cx="75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fld id="{7B5B114E-E17C-47A0-8A9B-3A9D76B3ED37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CustomShape 6"/>
          <p:cNvSpPr/>
          <p:nvPr/>
        </p:nvSpPr>
        <p:spPr>
          <a:xfrm>
            <a:off x="0" y="6642720"/>
            <a:ext cx="12181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11438640" y="6453360"/>
            <a:ext cx="75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fld id="{E0A36D89-2DF5-4C58-A3C7-F09F16AA3A1B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CustomShape 3"/>
          <p:cNvSpPr/>
          <p:nvPr/>
        </p:nvSpPr>
        <p:spPr>
          <a:xfrm>
            <a:off x="912240" y="1268280"/>
            <a:ext cx="92066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Picture 19"/>
          <p:cNvPicPr/>
          <p:nvPr/>
        </p:nvPicPr>
        <p:blipFill>
          <a:blip r:embed="rId2"/>
          <a:stretch/>
        </p:blipFill>
        <p:spPr>
          <a:xfrm>
            <a:off x="0" y="0"/>
            <a:ext cx="3050640" cy="56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6480" cy="51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CustomShape 4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11438640" y="6453360"/>
            <a:ext cx="75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fld id="{8E3F6E58-DFF0-4259-94B6-BDBF23370283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CustomShape 6"/>
          <p:cNvSpPr/>
          <p:nvPr/>
        </p:nvSpPr>
        <p:spPr>
          <a:xfrm>
            <a:off x="0" y="6642720"/>
            <a:ext cx="12181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11438640" y="6453360"/>
            <a:ext cx="75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fld id="{8DD403CB-CD3B-474D-A93D-24F1EA49EBA0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CustomShape 3"/>
          <p:cNvSpPr/>
          <p:nvPr/>
        </p:nvSpPr>
        <p:spPr>
          <a:xfrm>
            <a:off x="912240" y="1268280"/>
            <a:ext cx="92066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Picture 19"/>
          <p:cNvPicPr/>
          <p:nvPr/>
        </p:nvPicPr>
        <p:blipFill>
          <a:blip r:embed="rId2"/>
          <a:stretch/>
        </p:blipFill>
        <p:spPr>
          <a:xfrm>
            <a:off x="0" y="0"/>
            <a:ext cx="3050640" cy="56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6480" cy="51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CustomShape 4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11438640" y="6453360"/>
            <a:ext cx="75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fld id="{6FCACD75-C99A-4EBC-A53B-79B39D8C65F5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CustomShape 6"/>
          <p:cNvSpPr/>
          <p:nvPr/>
        </p:nvSpPr>
        <p:spPr>
          <a:xfrm>
            <a:off x="0" y="6642720"/>
            <a:ext cx="12181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efault 6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11438640" y="6453360"/>
            <a:ext cx="75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fld id="{D9E9CF24-666B-4D28-A0C6-D2A47D860A4D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CustomShape 3"/>
          <p:cNvSpPr/>
          <p:nvPr/>
        </p:nvSpPr>
        <p:spPr>
          <a:xfrm>
            <a:off x="912240" y="1268280"/>
            <a:ext cx="92066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19"/>
          <p:cNvPicPr/>
          <p:nvPr/>
        </p:nvPicPr>
        <p:blipFill>
          <a:blip r:embed="rId2"/>
          <a:stretch/>
        </p:blipFill>
        <p:spPr>
          <a:xfrm>
            <a:off x="0" y="0"/>
            <a:ext cx="3050640" cy="56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6480" cy="51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CustomShape 4"/>
          <p:cNvSpPr/>
          <p:nvPr/>
        </p:nvSpPr>
        <p:spPr>
          <a:xfrm>
            <a:off x="912240" y="1268280"/>
            <a:ext cx="92066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CustomShape 5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CustomShape 6"/>
          <p:cNvSpPr/>
          <p:nvPr/>
        </p:nvSpPr>
        <p:spPr>
          <a:xfrm>
            <a:off x="0" y="6642720"/>
            <a:ext cx="12181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stomShape 1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CustomShape 2"/>
          <p:cNvSpPr/>
          <p:nvPr/>
        </p:nvSpPr>
        <p:spPr>
          <a:xfrm>
            <a:off x="11438640" y="6453360"/>
            <a:ext cx="75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fld id="{2DB910B4-C898-4926-A436-D509796F0329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CustomShape 3"/>
          <p:cNvSpPr/>
          <p:nvPr/>
        </p:nvSpPr>
        <p:spPr>
          <a:xfrm>
            <a:off x="912240" y="1268280"/>
            <a:ext cx="92066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Picture 19"/>
          <p:cNvPicPr/>
          <p:nvPr/>
        </p:nvPicPr>
        <p:blipFill>
          <a:blip r:embed="rId2"/>
          <a:stretch/>
        </p:blipFill>
        <p:spPr>
          <a:xfrm>
            <a:off x="0" y="0"/>
            <a:ext cx="3050640" cy="56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6480" cy="51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CustomShape 4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CustomShape 5"/>
          <p:cNvSpPr/>
          <p:nvPr/>
        </p:nvSpPr>
        <p:spPr>
          <a:xfrm>
            <a:off x="11438640" y="6453360"/>
            <a:ext cx="75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fld id="{8039F04F-8982-4EE8-8808-A7AF234879DE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ustomShape 6"/>
          <p:cNvSpPr/>
          <p:nvPr/>
        </p:nvSpPr>
        <p:spPr>
          <a:xfrm>
            <a:off x="0" y="6642720"/>
            <a:ext cx="12181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ustomShape 1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CustomShape 2"/>
          <p:cNvSpPr/>
          <p:nvPr/>
        </p:nvSpPr>
        <p:spPr>
          <a:xfrm>
            <a:off x="11438640" y="6453360"/>
            <a:ext cx="75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fld id="{77299C2B-DCB8-410B-A9C1-EDF1C3D677A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CustomShape 3"/>
          <p:cNvSpPr/>
          <p:nvPr/>
        </p:nvSpPr>
        <p:spPr>
          <a:xfrm>
            <a:off x="912240" y="1268280"/>
            <a:ext cx="92066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19"/>
          <p:cNvPicPr/>
          <p:nvPr/>
        </p:nvPicPr>
        <p:blipFill>
          <a:blip r:embed="rId2"/>
          <a:stretch/>
        </p:blipFill>
        <p:spPr>
          <a:xfrm>
            <a:off x="0" y="0"/>
            <a:ext cx="3050640" cy="56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6480" cy="51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CustomShape 4"/>
          <p:cNvSpPr/>
          <p:nvPr/>
        </p:nvSpPr>
        <p:spPr>
          <a:xfrm>
            <a:off x="11444760" y="0"/>
            <a:ext cx="739800" cy="68486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CustomShape 5"/>
          <p:cNvSpPr/>
          <p:nvPr/>
        </p:nvSpPr>
        <p:spPr>
          <a:xfrm>
            <a:off x="11438640" y="6453360"/>
            <a:ext cx="75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fld id="{C874BA68-9CE9-4748-8041-18BB9A2839E2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CustomShape 6"/>
          <p:cNvSpPr/>
          <p:nvPr/>
        </p:nvSpPr>
        <p:spPr>
          <a:xfrm>
            <a:off x="0" y="6642720"/>
            <a:ext cx="12181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11444760" y="0"/>
            <a:ext cx="734040" cy="684288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CustomShape 2"/>
          <p:cNvSpPr/>
          <p:nvPr/>
        </p:nvSpPr>
        <p:spPr>
          <a:xfrm>
            <a:off x="11438640" y="6453360"/>
            <a:ext cx="750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E43A70E9-28C6-49DF-B9D7-220528F887A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ustomShape 3"/>
          <p:cNvSpPr/>
          <p:nvPr/>
        </p:nvSpPr>
        <p:spPr>
          <a:xfrm>
            <a:off x="912240" y="1268280"/>
            <a:ext cx="920088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4880" cy="55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072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CustomShape 4"/>
          <p:cNvSpPr/>
          <p:nvPr/>
        </p:nvSpPr>
        <p:spPr>
          <a:xfrm>
            <a:off x="11444760" y="0"/>
            <a:ext cx="734040" cy="684288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CustomShape 5"/>
          <p:cNvSpPr/>
          <p:nvPr/>
        </p:nvSpPr>
        <p:spPr>
          <a:xfrm>
            <a:off x="11438640" y="6453360"/>
            <a:ext cx="750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2AC9E2C8-B776-4FCC-8775-BCFC3E9C0257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CustomShape 6"/>
          <p:cNvSpPr/>
          <p:nvPr/>
        </p:nvSpPr>
        <p:spPr>
          <a:xfrm>
            <a:off x="0" y="6642720"/>
            <a:ext cx="121770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"/>
          <p:cNvSpPr/>
          <p:nvPr/>
        </p:nvSpPr>
        <p:spPr>
          <a:xfrm>
            <a:off x="11444760" y="0"/>
            <a:ext cx="742320" cy="68511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CustomShape 2"/>
          <p:cNvSpPr/>
          <p:nvPr/>
        </p:nvSpPr>
        <p:spPr>
          <a:xfrm>
            <a:off x="11438640" y="6453360"/>
            <a:ext cx="7592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80D6D3AC-40D6-4772-9637-818148C35829}" type="slidenum">
              <a:rPr lang="de-DE" sz="1800" b="0" u="none" strike="noStrike">
                <a:solidFill>
                  <a:srgbClr val="808080"/>
                </a:solidFill>
                <a:effectLst/>
                <a:uFillTx/>
                <a:latin typeface="Arial Unicode MS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ustomShape 3"/>
          <p:cNvSpPr/>
          <p:nvPr/>
        </p:nvSpPr>
        <p:spPr>
          <a:xfrm>
            <a:off x="912240" y="1268280"/>
            <a:ext cx="92091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53160" cy="56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9000" cy="51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CustomShape 4"/>
          <p:cNvSpPr/>
          <p:nvPr/>
        </p:nvSpPr>
        <p:spPr>
          <a:xfrm>
            <a:off x="0" y="6642720"/>
            <a:ext cx="12174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11444760" y="0"/>
            <a:ext cx="742320" cy="68511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11438640" y="6453360"/>
            <a:ext cx="7592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B8942C7F-721D-4D8D-8C3F-D7EE13596D1E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 Unicode MS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12240" y="1268280"/>
            <a:ext cx="92091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19"/>
          <p:cNvPicPr/>
          <p:nvPr/>
        </p:nvPicPr>
        <p:blipFill>
          <a:blip r:embed="rId2"/>
          <a:stretch/>
        </p:blipFill>
        <p:spPr>
          <a:xfrm>
            <a:off x="0" y="0"/>
            <a:ext cx="3053160" cy="56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9000" cy="51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CustomShape 4"/>
          <p:cNvSpPr/>
          <p:nvPr/>
        </p:nvSpPr>
        <p:spPr>
          <a:xfrm>
            <a:off x="11444760" y="0"/>
            <a:ext cx="742320" cy="68511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CustomShape 5"/>
          <p:cNvSpPr/>
          <p:nvPr/>
        </p:nvSpPr>
        <p:spPr>
          <a:xfrm>
            <a:off x="11438640" y="6453360"/>
            <a:ext cx="7592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4AE5D899-F055-4A94-B826-BB77C77D609F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 Unicode MS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ustomShape 6"/>
          <p:cNvSpPr/>
          <p:nvPr/>
        </p:nvSpPr>
        <p:spPr>
          <a:xfrm>
            <a:off x="0" y="6642720"/>
            <a:ext cx="12182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1444760" y="0"/>
            <a:ext cx="742320" cy="68511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11438640" y="6453360"/>
            <a:ext cx="7592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45EC887E-8EC5-4407-B1AD-ECCF27D188EA}" type="slidenum">
              <a:rPr lang="de-DE" sz="1800" b="0" u="none" strike="noStrike">
                <a:solidFill>
                  <a:srgbClr val="808080"/>
                </a:solidFill>
                <a:effectLst/>
                <a:uFillTx/>
                <a:latin typeface="Arial Unicode MS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ustomShape 3"/>
          <p:cNvSpPr/>
          <p:nvPr/>
        </p:nvSpPr>
        <p:spPr>
          <a:xfrm>
            <a:off x="912240" y="1268280"/>
            <a:ext cx="92091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53160" cy="56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9000" cy="51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CustomShape 4"/>
          <p:cNvSpPr/>
          <p:nvPr/>
        </p:nvSpPr>
        <p:spPr>
          <a:xfrm>
            <a:off x="0" y="6642720"/>
            <a:ext cx="12174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creativecommons.org/licenses/by-sa/4.0/" TargetMode="External"/><Relationship Id="rId2" Type="http://schemas.openxmlformats.org/officeDocument/2006/relationships/hyperlink" Target="https://github.com/ETCE-LAB/teaching-material/tree/master/Emerging-Technologies-for-the-Circular-Economy" TargetMode="External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evasys.tu-clausthal.de/evasys/online.php?pswd=GY285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evasys.tu-clausthal.de/evasys/online.php?pswd=PYN8Xhttps://evasys.tu-clausthal.de/evasys/online.php?pswd=PYN8X" TargetMode="Externa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https://www.researchgate.net/publication/319602888_Software_Defined_Network_SDN_Based_Internet_of_Things_IoT_A_Road_Ahead" TargetMode="External"/><Relationship Id="rId3" Type="http://schemas.openxmlformats.org/officeDocument/2006/relationships/slideLayout" Target="../slideLayouts/slideLayout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https://www.researchgate.net/publication/319602888_Software_Defined_Network_SDN_Based_Internet_of_Things_IoT_A_Road_Ahead" TargetMode="External"/><Relationship Id="rId3" Type="http://schemas.openxmlformats.org/officeDocument/2006/relationships/hyperlink" Target="https://en.wikipedia.org/wiki/User:Denwid" TargetMode="External"/><Relationship Id="rId4" Type="http://schemas.openxmlformats.org/officeDocument/2006/relationships/hyperlink" Target="https://en.wikipedia.org/wiki/en:GNU_Free_Documentation_License" TargetMode="External"/><Relationship Id="rId5" Type="http://schemas.openxmlformats.org/officeDocument/2006/relationships/slideLayout" Target="../slideLayouts/slideLayout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6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527400" y="1412640"/>
            <a:ext cx="10359720" cy="11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en-US" sz="3200" b="1" u="none" strike="noStrike">
                <a:solidFill>
                  <a:srgbClr val="008C4F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527400" y="2852640"/>
            <a:ext cx="10359720" cy="23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 6: Internet of Things Communications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40824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tabLst>
                <a:tab pos="40824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tabLst>
                <a:tab pos="4082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Prof. Dr. Benjamin Leiding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pos="40824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M.Sc. Anant Sujatanagarjuna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M.Sc. Chintan Patel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335520" y="764640"/>
            <a:ext cx="107341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License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335520" y="1268280"/>
            <a:ext cx="10734120" cy="50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14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This work is licensed under a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Creative Commons Attribution-ShareAlike 4.0 International License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. To view a copy of this license, please refer to </a:t>
            </a:r>
            <a:r>
              <a:rPr lang="en-US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https://creativecommons.org/licenses/by-sa/4.0/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14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Updated versions of these slides will be available in our </a:t>
            </a:r>
            <a:r>
              <a:rPr lang="en-US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2"/>
              </a:rPr>
              <a:t>Github repository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32"/>
          <p:cNvSpPr/>
          <p:nvPr/>
        </p:nvSpPr>
        <p:spPr>
          <a:xfrm>
            <a:off x="335520" y="4406760"/>
            <a:ext cx="10738800" cy="13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3000" b="1" u="none" strike="noStrike" cap="all">
                <a:solidFill>
                  <a:srgbClr val="008C4F"/>
                </a:solidFill>
                <a:effectLst/>
                <a:uFillTx/>
                <a:latin typeface="DejaVu Sans"/>
                <a:ea typeface="DejaVu Sans"/>
              </a:rPr>
              <a:t>News/Updates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ustomShape 4"/>
          <p:cNvSpPr/>
          <p:nvPr/>
        </p:nvSpPr>
        <p:spPr>
          <a:xfrm>
            <a:off x="335520" y="2906640"/>
            <a:ext cx="1073880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34"/>
          <p:cNvSpPr/>
          <p:nvPr/>
        </p:nvSpPr>
        <p:spPr>
          <a:xfrm>
            <a:off x="335520" y="764640"/>
            <a:ext cx="1074600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Course Evaluation – QR Code and Link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ustomShape 5"/>
          <p:cNvSpPr/>
          <p:nvPr/>
        </p:nvSpPr>
        <p:spPr>
          <a:xfrm>
            <a:off x="335520" y="1268640"/>
            <a:ext cx="5592960" cy="503352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ustomShape 6"/>
          <p:cNvSpPr/>
          <p:nvPr/>
        </p:nvSpPr>
        <p:spPr>
          <a:xfrm>
            <a:off x="487800" y="1420920"/>
            <a:ext cx="5592960" cy="503352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933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1" u="none" strike="noStrike">
                <a:solidFill>
                  <a:srgbClr val="C9211E"/>
                </a:solidFill>
                <a:effectLst/>
                <a:highlight>
                  <a:srgbClr val="FFFF00"/>
                </a:highlight>
                <a:uFillTx/>
                <a:latin typeface="DejaVu Sans"/>
                <a:ea typeface="DejaVu Sans"/>
              </a:rPr>
              <a:t>For the course: </a:t>
            </a:r>
            <a:r>
              <a:rPr lang="de-DE" sz="1800" b="1" i="1" u="none" strike="noStrike">
                <a:solidFill>
                  <a:srgbClr val="C9211E"/>
                </a:solidFill>
                <a:effectLst/>
                <a:highlight>
                  <a:srgbClr val="FFFF00"/>
                </a:highlight>
                <a:uFillTx/>
                <a:latin typeface="DejaVu Sans"/>
                <a:ea typeface="DejaVu Sans"/>
              </a:rPr>
              <a:t>„Emerging Technolgoies for the Circular Economy”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933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Link: </a:t>
            </a:r>
            <a:r>
              <a:rPr lang="de-DE" sz="1800" b="0" u="none" strike="noStrike">
                <a:solidFill>
                  <a:srgbClr val="0000EE"/>
                </a:solidFill>
                <a:effectLst/>
                <a:uFillTx/>
                <a:latin typeface="DejaVu Sans"/>
                <a:ea typeface="DejaVu Sans"/>
                <a:hlinkClick r:id="rId1"/>
              </a:rPr>
              <a:t>Click 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"/>
          <p:cNvPicPr/>
          <p:nvPr/>
        </p:nvPicPr>
        <p:blipFill>
          <a:blip r:embed="rId2"/>
          <a:stretch/>
        </p:blipFill>
        <p:spPr>
          <a:xfrm>
            <a:off x="6054120" y="1260000"/>
            <a:ext cx="5285160" cy="528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37"/>
          <p:cNvSpPr/>
          <p:nvPr/>
        </p:nvSpPr>
        <p:spPr>
          <a:xfrm>
            <a:off x="335520" y="764640"/>
            <a:ext cx="1074600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Course Evaluation – QR Code and Link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ustomShape 16"/>
          <p:cNvSpPr/>
          <p:nvPr/>
        </p:nvSpPr>
        <p:spPr>
          <a:xfrm>
            <a:off x="335520" y="1268640"/>
            <a:ext cx="5592960" cy="503352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ustomShape 17"/>
          <p:cNvSpPr/>
          <p:nvPr/>
        </p:nvSpPr>
        <p:spPr>
          <a:xfrm>
            <a:off x="487800" y="1420920"/>
            <a:ext cx="5592960" cy="503352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933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1" u="none" strike="noStrike">
                <a:solidFill>
                  <a:srgbClr val="C9211E"/>
                </a:solidFill>
                <a:effectLst/>
                <a:highlight>
                  <a:srgbClr val="FFFF00"/>
                </a:highlight>
                <a:uFillTx/>
                <a:latin typeface="DejaVu Sans"/>
                <a:ea typeface="DejaVu Sans"/>
              </a:rPr>
              <a:t>For the course: </a:t>
            </a:r>
            <a:r>
              <a:rPr lang="de-DE" sz="1800" b="1" i="1" u="none" strike="noStrike">
                <a:solidFill>
                  <a:srgbClr val="C9211E"/>
                </a:solidFill>
                <a:effectLst/>
                <a:highlight>
                  <a:srgbClr val="FFFF00"/>
                </a:highlight>
                <a:uFillTx/>
                <a:latin typeface="DejaVu Sans"/>
                <a:ea typeface="DejaVu Sans"/>
              </a:rPr>
              <a:t>„IoT and Digitalization for Circular Economy”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933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Link: </a:t>
            </a:r>
            <a:r>
              <a:rPr lang="de-DE" sz="1800" b="0" u="none" strike="noStrike">
                <a:solidFill>
                  <a:srgbClr val="0000EE"/>
                </a:solidFill>
                <a:effectLst/>
                <a:uFillTx/>
                <a:latin typeface="DejaVu Sans"/>
                <a:ea typeface="DejaVu Sans"/>
                <a:hlinkClick r:id="rId1"/>
              </a:rPr>
              <a:t>Click 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2"/>
          <a:stretch/>
        </p:blipFill>
        <p:spPr>
          <a:xfrm>
            <a:off x="6054120" y="1268640"/>
            <a:ext cx="5285160" cy="528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335520" y="4406760"/>
            <a:ext cx="1074384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3000" b="1" u="none" strike="noStrike" cap="all">
                <a:solidFill>
                  <a:srgbClr val="008C4F"/>
                </a:solidFill>
                <a:effectLst/>
                <a:uFillTx/>
                <a:latin typeface="DejaVu Sans"/>
                <a:ea typeface="DejaVu Sans"/>
              </a:rPr>
              <a:t>Iot COMMUNICATIONS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ustomShape 2"/>
          <p:cNvSpPr/>
          <p:nvPr/>
        </p:nvSpPr>
        <p:spPr>
          <a:xfrm>
            <a:off x="335520" y="2906640"/>
            <a:ext cx="10743840" cy="14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Overview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Grafik 6"/>
          <p:cNvPicPr/>
          <p:nvPr/>
        </p:nvPicPr>
        <p:blipFill>
          <a:blip r:embed="rId1"/>
          <a:stretch/>
        </p:blipFill>
        <p:spPr>
          <a:xfrm>
            <a:off x="1656360" y="1202400"/>
            <a:ext cx="8530200" cy="520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Different ranges, different standards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914400" y="6400800"/>
            <a:ext cx="913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DejaVu Sans"/>
                <a:ea typeface="DejaVu Sans"/>
              </a:rPr>
              <a:t>Source: M.S. Mahmoud, A. Mohamad, “A Study of Efficient Power Consumption Wireless Communication 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DejaVu Sans"/>
                <a:ea typeface="Martel-Regular"/>
              </a:rPr>
              <a:t>Techniques/ Modules for Internet of Things (IoT) Applications”, January 2016, Advances in Internet of Things 06(02):19-29, DOI:10.4236/ait.2016.62002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"/>
          <p:cNvPicPr/>
          <p:nvPr/>
        </p:nvPicPr>
        <p:blipFill>
          <a:blip r:embed="rId1"/>
          <a:stretch/>
        </p:blipFill>
        <p:spPr>
          <a:xfrm>
            <a:off x="1035000" y="1227600"/>
            <a:ext cx="8708040" cy="516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335520" y="4406760"/>
            <a:ext cx="1074384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3000" b="1" u="none" strike="noStrike" cap="all">
                <a:solidFill>
                  <a:srgbClr val="008C4F"/>
                </a:solidFill>
                <a:effectLst/>
                <a:uFillTx/>
                <a:latin typeface="DejaVu Sans"/>
                <a:ea typeface="DejaVu Sans"/>
              </a:rPr>
              <a:t>WPAN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335520" y="2906640"/>
            <a:ext cx="10743840" cy="14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Wireless Personal Area Network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"/>
          <p:cNvGraphicFramePr/>
          <p:nvPr/>
        </p:nvGraphicFramePr>
        <p:xfrm>
          <a:off x="473760" y="2558880"/>
          <a:ext cx="10426680" cy="2836080"/>
        </p:xfrm>
        <a:graphic>
          <a:graphicData uri="http://schemas.openxmlformats.org/drawingml/2006/table">
            <a:tbl>
              <a:tblPr/>
              <a:tblGrid>
                <a:gridCol w="2398320"/>
                <a:gridCol w="2813040"/>
                <a:gridCol w="2605680"/>
                <a:gridCol w="2610000"/>
              </a:tblGrid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Protocol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Description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Power Consumption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Usage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  <a:ea typeface="DejaVu Sans"/>
                        </a:rPr>
                        <a:t>6LoWPAN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  <a:ea typeface="DejaVu Sans"/>
                        </a:rPr>
                        <a:t>IPv6 over Low-Power Wireless Personal Area Networks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 (&lt; 100 mW)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IPv6-based IoT networks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  <a:ea typeface="DejaVu Sans"/>
                        </a:rPr>
                        <a:t>IEEE 802.11p (V2V)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WiFi-based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 (&gt;1W)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Vehicle-to-vehicle (V2V) communications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RuBee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Uses magnetic fields over short range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Very Low (&lt;10 mW)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Harsh environments / tracking high-value assets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9" name=""/>
          <p:cNvSpPr/>
          <p:nvPr/>
        </p:nvSpPr>
        <p:spPr>
          <a:xfrm>
            <a:off x="651600" y="1600200"/>
            <a:ext cx="11199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IP-Based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9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Wireless Personal Area Network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1" name=""/>
          <p:cNvGraphicFramePr/>
          <p:nvPr/>
        </p:nvGraphicFramePr>
        <p:xfrm>
          <a:off x="426960" y="2462760"/>
          <a:ext cx="10545480" cy="3202200"/>
        </p:xfrm>
        <a:graphic>
          <a:graphicData uri="http://schemas.openxmlformats.org/drawingml/2006/table">
            <a:tbl>
              <a:tblPr/>
              <a:tblGrid>
                <a:gridCol w="1268640"/>
                <a:gridCol w="3222720"/>
                <a:gridCol w="2390040"/>
                <a:gridCol w="3664440"/>
              </a:tblGrid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Protocol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Description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Power Consumption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Usage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  <a:ea typeface="DejaVu Sans"/>
                        </a:rPr>
                        <a:t>Bluetooth/BLE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  <a:ea typeface="DejaVu Sans"/>
                        </a:rPr>
                        <a:t>Versatile and high data throughput per watt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 (&lt; 100 mW)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Varies by specific protocol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  <a:ea typeface="DejaVu Sans"/>
                        </a:rPr>
                        <a:t>ZigBee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Low-power, Low data-rate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 (&lt; 100 mW)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Vehicle-to-vehicle (V2V) communications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IrDA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Infrared Data Association (Only works with line-of-sight)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Medium (100-500 mW ) over short bursts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Remote controls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Z-Wave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Similar to ZigBee and BLE, but also supports mesh networking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 (25-80 mW)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Home automation, sensors, locks, etc.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2" name=""/>
          <p:cNvSpPr/>
          <p:nvPr/>
        </p:nvSpPr>
        <p:spPr>
          <a:xfrm>
            <a:off x="651600" y="1600200"/>
            <a:ext cx="15393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Not IP-Based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Bluetooth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457200" y="1371600"/>
            <a:ext cx="10781640" cy="46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Low power requirements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Resilient against interference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Low bandwidth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Limited range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Limited number of participants in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Applications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Beacons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Fitness trackers, smart watches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Medical applications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Smart homes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Smart cars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Earbuds, headsets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Classes for different applications with different ranges/power usages.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Zigbee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457200" y="1371600"/>
            <a:ext cx="10781640" cy="34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Low power requirements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Scales to large network sizes (~6500 nodes)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Low range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Low bandwidth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Security issues (fixed, known fallback keys in at least one profile)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Applications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Wireless sensor networks (WSN)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Industrial automation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Smart homes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6LoWPAN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457200" y="1371600"/>
            <a:ext cx="10781640" cy="36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IPv6 based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Built-in 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Scalability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Interoperability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Higher minimum requirements due to IPv6 minimum complexity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Not as popular as ZigBee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Applications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Wireless sensor networks (WSN)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Internet of Things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Industrial Internet of Things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IEEE 802.11p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457200" y="1371600"/>
            <a:ext cx="1078164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Vehicular network optimized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Vehicle to vehicle (V2V)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Vehicle to infrastructure (V2I) such as road side units (RSU)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Built in time synchronization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Applications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Vehicular networks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7"/>
          <p:cNvSpPr/>
          <p:nvPr/>
        </p:nvSpPr>
        <p:spPr>
          <a:xfrm>
            <a:off x="335520" y="4406760"/>
            <a:ext cx="1074384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3000" b="1" u="none" strike="noStrike" cap="all">
                <a:solidFill>
                  <a:srgbClr val="008C4F"/>
                </a:solidFill>
                <a:effectLst/>
                <a:uFillTx/>
                <a:latin typeface="DejaVu Sans"/>
                <a:ea typeface="DejaVu Sans"/>
              </a:rPr>
              <a:t>WAN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CustomShape 8"/>
          <p:cNvSpPr/>
          <p:nvPr/>
        </p:nvSpPr>
        <p:spPr>
          <a:xfrm>
            <a:off x="335520" y="2906640"/>
            <a:ext cx="10743840" cy="14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Wide Area Network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ustomShape 2"/>
          <p:cNvSpPr/>
          <p:nvPr/>
        </p:nvSpPr>
        <p:spPr>
          <a:xfrm>
            <a:off x="457200" y="1371600"/>
            <a:ext cx="1078164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Service/subscription model based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Service provider runs infrastructure such as base stations and radio towers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5" name=""/>
          <p:cNvGraphicFramePr/>
          <p:nvPr/>
        </p:nvGraphicFramePr>
        <p:xfrm>
          <a:off x="607320" y="2931120"/>
          <a:ext cx="7322760" cy="2562840"/>
        </p:xfrm>
        <a:graphic>
          <a:graphicData uri="http://schemas.openxmlformats.org/drawingml/2006/table">
            <a:tbl>
              <a:tblPr/>
              <a:tblGrid>
                <a:gridCol w="2205000"/>
                <a:gridCol w="2684520"/>
                <a:gridCol w="2433600"/>
              </a:tblGrid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Protocol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Power Consumption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Data throughput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  <a:ea typeface="DejaVu Sans"/>
                        </a:rPr>
                        <a:t>2G (GSM)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~1-2 W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0.03-0.24 Mb/s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DejaVu Sans"/>
                          <a:ea typeface="DejaVu Sans"/>
                        </a:rPr>
                        <a:t>3G (UMTS/HSPA)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~1-1.5 W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1-5 Mb/s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4G (LTE 1/4/6)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~400 mW – 1.5W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5-150 Mb/s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WenQuanYi Zen Hei"/>
                        </a:rPr>
                        <a:t>~500 mW – 2W+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 Mb/s – 1+ Gb/s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LoRaWAN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~10 mW – 100 mW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0.3 – 50 kb/s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SigFox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~10 mW – 80 mW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 – 0.6kb/s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45720" marB="4572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Cellular network architecture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457200" y="1371600"/>
            <a:ext cx="10781640" cy="21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Grid of cell towers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Overlapping cells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Requires handover for mobile stations between cells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Network planning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Space division multiple access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Minimize interference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Avoid allocating overlapping spectrum on nearby cells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5G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457200" y="1371600"/>
            <a:ext cx="1078164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New radio communication techniques and spectrum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Support for device to device communications (D2D)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Improved 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Theoretical latency in single digit 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Bandwidth in gbps range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Ability to provide connectivity in fast moving vehicles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Enables more dense connectivity and scalability (more devices)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LoRa/LoRaWAN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457200" y="1371600"/>
            <a:ext cx="10781640" cy="21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Uses unlicensed spectrum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Low number of base stations (Gateways) covers wide area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7 are enough to cover Belgium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Only produced by a single company (Simtech)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High latency, no realtime applications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Subscription based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Misses some common features from LTE networks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Only physical and MAC layers are covered =&gt; Higher OSI layers have to be implemented on 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Sigfox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457200" y="1371600"/>
            <a:ext cx="10781640" cy="28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Uses unlicensed spectrum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Uplink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100bps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12B payloads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Maximum of 6 messages per device and hour (140 per day)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Downlink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600bps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8B payloads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276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Maximum of 4 messages per day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Open hardware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Network subscription based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0"/>
          <p:cNvSpPr/>
          <p:nvPr/>
        </p:nvSpPr>
        <p:spPr>
          <a:xfrm>
            <a:off x="335520" y="4406760"/>
            <a:ext cx="1074384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3000" b="1" u="none" strike="noStrike" cap="all">
                <a:solidFill>
                  <a:srgbClr val="008C4F"/>
                </a:solidFill>
                <a:effectLst/>
                <a:uFillTx/>
                <a:latin typeface="DejaVu Sans"/>
                <a:ea typeface="DejaVu Sans"/>
              </a:rPr>
              <a:t>Software-Defined Networks (SDN)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ustomShape 11"/>
          <p:cNvSpPr/>
          <p:nvPr/>
        </p:nvSpPr>
        <p:spPr>
          <a:xfrm>
            <a:off x="335520" y="2906640"/>
            <a:ext cx="10743840" cy="14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2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SDN Architecture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ustomShape 13"/>
          <p:cNvSpPr/>
          <p:nvPr/>
        </p:nvSpPr>
        <p:spPr>
          <a:xfrm>
            <a:off x="457200" y="1587600"/>
            <a:ext cx="5713920" cy="43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2760">
              <a:lnSpc>
                <a:spcPct val="100000"/>
              </a:lnSpc>
              <a:spcBef>
                <a:spcPts val="720"/>
              </a:spcBef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SDN: Umbrella term used for when the physical networking layer is abstracted from the logical layer.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spcBef>
                <a:spcPts val="720"/>
              </a:spcBef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All physical networking devices simply forward data packets to a centralized controller.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spcBef>
                <a:spcPts val="720"/>
              </a:spcBef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Virtual services (apps/databases/IoT applications) also rely on communication with the central controller to interface with other IoT components like sensors, actuators,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spcBef>
                <a:spcPts val="720"/>
              </a:spcBef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Only the controller is “aware” of the physical networking architecture in relation to the virtual services and routes network traffic accordingly.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"/>
          <p:cNvPicPr/>
          <p:nvPr/>
        </p:nvPicPr>
        <p:blipFill>
          <a:blip r:embed="rId1"/>
          <a:stretch/>
        </p:blipFill>
        <p:spPr>
          <a:xfrm>
            <a:off x="6172200" y="1371600"/>
            <a:ext cx="4849560" cy="45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4114800" y="-1369440"/>
            <a:ext cx="4340160" cy="91116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DejaVu Sans"/>
              </a:rPr>
              <a:t>TODO: Add reference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DejaVu Sans"/>
              </a:rPr>
              <a:t>https://commons.wikimedia.org/wiki/File:Software_Defined_Networking_System_Overview.svg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-226440" y="-1336680"/>
            <a:ext cx="4340160" cy="91116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DejaVu Sans"/>
              </a:rPr>
              <a:t>TODO: Add reference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  <a:hlinkClick r:id="rId2"/>
              </a:rPr>
              <a:t>https://www.researchgate.net/publication/319602888_Software_Defined_Network_SDN_Based_Internet_of_Things_IoT_A_Road_Ahead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4114800" y="-1336680"/>
            <a:ext cx="4340160" cy="91116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DejaVu Sans"/>
              </a:rPr>
              <a:t>TODO: Add reference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DejaVu Sans"/>
              </a:rPr>
              <a:t>https://commons.wikimedia.org/wiki/File:Software_Defined_Networking_System_Overview.svg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4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SDN Architecture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ustomShape 15"/>
          <p:cNvSpPr/>
          <p:nvPr/>
        </p:nvSpPr>
        <p:spPr>
          <a:xfrm>
            <a:off x="457200" y="1587600"/>
            <a:ext cx="5713920" cy="43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2760">
              <a:lnSpc>
                <a:spcPct val="100000"/>
              </a:lnSpc>
              <a:spcBef>
                <a:spcPts val="720"/>
              </a:spcBef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Salient 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72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Programmatically more flexible: network managers can optimize network resources dynamically and automatically.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72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controller is generally centralized – simplifying implementation of control logic.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72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Centralization might introduce more issues such as security, scalability and reliability.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72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Open protocols and standards for SDN (like OpenFlow) can be used on top of proprietary networks for added privacy.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72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Especially suited to cloud-based IoT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72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Significantly higher energy usage!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"/>
          <p:cNvPicPr/>
          <p:nvPr/>
        </p:nvPicPr>
        <p:blipFill>
          <a:blip r:embed="rId1"/>
          <a:stretch/>
        </p:blipFill>
        <p:spPr>
          <a:xfrm>
            <a:off x="6172200" y="1371600"/>
            <a:ext cx="4849560" cy="45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"/>
          <p:cNvSpPr/>
          <p:nvPr/>
        </p:nvSpPr>
        <p:spPr>
          <a:xfrm>
            <a:off x="4114800" y="-1369440"/>
            <a:ext cx="4340160" cy="91116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DejaVu Sans"/>
              </a:rPr>
              <a:t>TODO: Add reference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DejaVu Sans"/>
              </a:rPr>
              <a:t>https://commons.wikimedia.org/wiki/File:Software_Defined_Networking_System_Overview.svg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-226440" y="-1336680"/>
            <a:ext cx="4340160" cy="91116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DejaVu Sans"/>
              </a:rPr>
              <a:t>TODO: Add reference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  <a:hlinkClick r:id="rId2"/>
              </a:rPr>
              <a:t>https://www.researchgate.net/publication/319602888_Software_Defined_Network_SDN_Based_Internet_of_Things_IoT_A_Road_Ahead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4114800" y="-1336680"/>
            <a:ext cx="4340160" cy="91116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DejaVu Sans"/>
              </a:rPr>
              <a:t>TODO: Add reference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DejaVu Sans"/>
              </a:rPr>
              <a:t>https://commons.wikimedia.org/wiki/File:Software_Defined_Networking_System_Overview.svg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85800" y="6400800"/>
            <a:ext cx="80600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B2B2B2"/>
                </a:solidFill>
                <a:effectLst/>
                <a:uFillTx/>
                <a:latin typeface="Arial"/>
              </a:rPr>
              <a:t>“Software Defined Networking System Overview” is authored by </a:t>
            </a:r>
            <a:r>
              <a:rPr lang="en-US" sz="10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3"/>
              </a:rPr>
              <a:t>Denwid</a:t>
            </a:r>
            <a:r>
              <a:rPr lang="en-US" sz="1000" b="1" u="none" strike="noStrike">
                <a:solidFill>
                  <a:srgbClr val="B2B2B2"/>
                </a:solidFill>
                <a:effectLst/>
                <a:uFillTx/>
                <a:latin typeface="Arial"/>
              </a:rPr>
              <a:t>, and licensed under the </a:t>
            </a:r>
            <a:r>
              <a:rPr lang="en-US" sz="1000" b="1" u="none" strike="noStrike">
                <a:solidFill>
                  <a:srgbClr val="0000FF"/>
                </a:solidFill>
                <a:effectLst/>
                <a:uFillTx/>
                <a:latin typeface="Arial"/>
                <a:hlinkClick r:id="rId4"/>
              </a:rPr>
              <a:t>GNU Free Documentation License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57800" y="6041160"/>
            <a:ext cx="106718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B2B2B2"/>
                </a:solidFill>
                <a:effectLst/>
                <a:uFillTx/>
                <a:latin typeface="Arial"/>
              </a:rPr>
              <a:t>Khan, Sahrish &amp; Shah, Munam &amp; Khan, Omair &amp; Ahmed, Abdul. (2017). Software Defined Network (SDN) Based Internet of Things (IoT): A Road Ahead. 1-8. 10.1145/3102304.3102319.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335520" y="4406760"/>
            <a:ext cx="1074384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3000" b="1" u="none" strike="noStrike" cap="all">
                <a:solidFill>
                  <a:srgbClr val="008C4F"/>
                </a:solidFill>
                <a:effectLst/>
                <a:uFillTx/>
                <a:latin typeface="DejaVu Sans"/>
                <a:ea typeface="DejaVu Sans"/>
              </a:rPr>
              <a:t>Routers and gateways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335520" y="2906640"/>
            <a:ext cx="10743840" cy="14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Routers and Gateways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457200" y="1371600"/>
            <a:ext cx="10781640" cy="31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Router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Bridges two networks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Can translate between protocols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Routes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Port forwarding and network address translation (mainly end user or carrier grade)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VNETs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Gateway (not in the routing sense)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Bridges wireless network and internet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Can translate between protocols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Edge/Fog computing capabilities (Lecture 8: IoT Data processing and Big Data)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Routers can be gateways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Gateway example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"/>
          <p:cNvPicPr/>
          <p:nvPr/>
        </p:nvPicPr>
        <p:blipFill>
          <a:blip r:embed="rId1"/>
          <a:stretch/>
        </p:blipFill>
        <p:spPr>
          <a:xfrm>
            <a:off x="2709360" y="3474720"/>
            <a:ext cx="2220120" cy="164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"/>
          <p:cNvPicPr/>
          <p:nvPr/>
        </p:nvPicPr>
        <p:blipFill>
          <a:blip r:embed="rId2"/>
          <a:stretch/>
        </p:blipFill>
        <p:spPr>
          <a:xfrm>
            <a:off x="5544000" y="3383280"/>
            <a:ext cx="2220120" cy="16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CustomShape 3"/>
          <p:cNvSpPr/>
          <p:nvPr/>
        </p:nvSpPr>
        <p:spPr>
          <a:xfrm>
            <a:off x="457200" y="1462320"/>
            <a:ext cx="10781640" cy="31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Wireless sensor nodes running Contiki RPL with Ipv6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Node attached to gateway over USB acts as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8C4F"/>
              </a:buClr>
              <a:buSzPct val="115000"/>
              <a:buFont typeface="Wingdings 2" charset="2"/>
              <a:buChar char=""/>
              <a:tabLst>
                <a:tab pos="40824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IPv6 connectivity between networks provided through SLIP (Serial Line Internet Protocol)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335520" y="1268640"/>
            <a:ext cx="10743840" cy="50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799"/>
              </a:spcBef>
              <a:tabLst>
                <a:tab pos="408240" algn="l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Questions?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ustomShape 2"/>
          <p:cNvSpPr/>
          <p:nvPr/>
        </p:nvSpPr>
        <p:spPr>
          <a:xfrm>
            <a:off x="335520" y="764640"/>
            <a:ext cx="10743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2013-05-21T09:22:36Z</dcterms:created>
  <dc:creator>Hooby</dc:creator>
  <dc:description/>
  <dc:language>en-US</dc:language>
  <cp:lastModifiedBy>Anant Sujatanagarjuna</cp:lastModifiedBy>
  <cp:lastPrinted>2024-05-13T15:57:51Z</cp:lastPrinted>
  <dcterms:modified xsi:type="dcterms:W3CDTF">2026-06-15T14:03:36Z</dcterms:modified>
  <cp:revision>3351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r8>2</vt:r8>
  </property>
  <property fmtid="{D5CDD505-2E9C-101B-9397-08002B2CF9AE}" pid="6" name="Notes">
    <vt:r8>55</vt:r8>
  </property>
  <property fmtid="{D5CDD505-2E9C-101B-9397-08002B2CF9AE}" pid="7" name="ScaleCrop">
    <vt:bool>0</vt:bool>
  </property>
  <property fmtid="{D5CDD505-2E9C-101B-9397-08002B2CF9AE}" pid="8" name="ShareDoc">
    <vt:bool>0</vt:bool>
  </property>
  <property fmtid="{D5CDD505-2E9C-101B-9397-08002B2CF9AE}" pid="9" name="Slides">
    <vt:r8>55</vt:r8>
  </property>
</Properties>
</file>