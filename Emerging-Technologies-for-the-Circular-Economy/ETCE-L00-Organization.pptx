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C4E021F-0DC6-41A5-9DDC-447EAB13DB9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5920" cy="375408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560" cy="450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4399200" y="9555480"/>
            <a:ext cx="335484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C9A34377-79F7-43B6-B771-A25990933F4F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5920" cy="375408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560" cy="450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3"/>
          <p:cNvSpPr/>
          <p:nvPr/>
        </p:nvSpPr>
        <p:spPr>
          <a:xfrm>
            <a:off x="4399200" y="9555480"/>
            <a:ext cx="335484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24E2D19B-3E56-4A53-BEF3-D92E263EAD02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5920" cy="375408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560" cy="450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9"/>
          <p:cNvSpPr/>
          <p:nvPr/>
        </p:nvSpPr>
        <p:spPr>
          <a:xfrm>
            <a:off x="4399200" y="9555480"/>
            <a:ext cx="335484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56801E0E-BEC0-406A-8658-DE8ADE853C03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4400" cy="68432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1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2116B04D-B101-4370-8F3A-853A6966F364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12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240" cy="55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080" cy="50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12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4400" cy="68432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7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>
            <a:off x="11444760" y="0"/>
            <a:ext cx="734400" cy="68432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CustomShape 2"/>
          <p:cNvSpPr/>
          <p:nvPr/>
        </p:nvSpPr>
        <p:spPr>
          <a:xfrm>
            <a:off x="11438640" y="6453360"/>
            <a:ext cx="751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2DB44041-47ED-4434-BAAA-AB31F9FF40D3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ustomShape 3"/>
          <p:cNvSpPr/>
          <p:nvPr/>
        </p:nvSpPr>
        <p:spPr>
          <a:xfrm>
            <a:off x="912240" y="1268280"/>
            <a:ext cx="92012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240" cy="55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080" cy="50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CustomShape 4"/>
          <p:cNvSpPr/>
          <p:nvPr/>
        </p:nvSpPr>
        <p:spPr>
          <a:xfrm>
            <a:off x="11444760" y="0"/>
            <a:ext cx="734400" cy="68432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ustomShape 5"/>
          <p:cNvSpPr/>
          <p:nvPr/>
        </p:nvSpPr>
        <p:spPr>
          <a:xfrm>
            <a:off x="11438640" y="6453360"/>
            <a:ext cx="751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D371301A-A820-4D81-9DBA-640B3FACFD6B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ustomShape 6"/>
          <p:cNvSpPr/>
          <p:nvPr/>
        </p:nvSpPr>
        <p:spPr>
          <a:xfrm>
            <a:off x="0" y="6642720"/>
            <a:ext cx="121773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Emerging-Technologies-for-the-Circular-Economy#readme" TargetMode="External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Emerging-Technologies-for-the-Circular-Economy#readme" TargetMode="External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cocalc.gwdg.de/" TargetMode="External"/><Relationship Id="rId2" Type="http://schemas.openxmlformats.org/officeDocument/2006/relationships/hyperlink" Target="https://github.com/ETCE-LAB/teaching-material/tree/master/Emerging-Technologies-for-the-Circular-Economy/Exercises" TargetMode="External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527400" y="1412640"/>
            <a:ext cx="10354320" cy="11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ustomShape 2"/>
          <p:cNvSpPr/>
          <p:nvPr/>
        </p:nvSpPr>
        <p:spPr>
          <a:xfrm>
            <a:off x="527400" y="2852640"/>
            <a:ext cx="10354320" cy="23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335520" y="764640"/>
            <a:ext cx="107362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fr-FR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335520" y="1268640"/>
            <a:ext cx="10736280" cy="502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336600" y="3429000"/>
            <a:ext cx="10854000" cy="20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2000" b="0" u="none" strike="noStrike">
                <a:solidFill>
                  <a:srgbClr val="0369A3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2"/>
          <p:cNvPicPr/>
          <p:nvPr/>
        </p:nvPicPr>
        <p:blipFill>
          <a:blip r:embed="rId1"/>
          <a:stretch/>
        </p:blipFill>
        <p:spPr>
          <a:xfrm>
            <a:off x="4923720" y="1257120"/>
            <a:ext cx="1461240" cy="216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11"/>
          <p:cNvPicPr/>
          <p:nvPr/>
        </p:nvPicPr>
        <p:blipFill>
          <a:blip r:embed="rId2"/>
          <a:stretch/>
        </p:blipFill>
        <p:spPr>
          <a:xfrm>
            <a:off x="2207880" y="4110120"/>
            <a:ext cx="1775160" cy="176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3859200" y="3373200"/>
            <a:ext cx="362592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stomShape 4"/>
          <p:cNvSpPr/>
          <p:nvPr/>
        </p:nvSpPr>
        <p:spPr>
          <a:xfrm>
            <a:off x="1312200" y="5920200"/>
            <a:ext cx="362592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ustomShape 5"/>
          <p:cNvSpPr/>
          <p:nvPr/>
        </p:nvSpPr>
        <p:spPr>
          <a:xfrm>
            <a:off x="1312200" y="5807160"/>
            <a:ext cx="362592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stomShape 12"/>
          <p:cNvSpPr/>
          <p:nvPr/>
        </p:nvSpPr>
        <p:spPr>
          <a:xfrm>
            <a:off x="4860000" y="5920200"/>
            <a:ext cx="362592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14"/>
          <p:cNvSpPr/>
          <p:nvPr/>
        </p:nvSpPr>
        <p:spPr>
          <a:xfrm>
            <a:off x="6300000" y="5807160"/>
            <a:ext cx="362592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7203960" y="4143960"/>
            <a:ext cx="1794600" cy="179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542880" y="721800"/>
            <a:ext cx="103428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stomShape 2"/>
          <p:cNvSpPr/>
          <p:nvPr/>
        </p:nvSpPr>
        <p:spPr>
          <a:xfrm>
            <a:off x="451800" y="1709280"/>
            <a:ext cx="8210160" cy="4338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CustomShape 3"/>
          <p:cNvSpPr/>
          <p:nvPr/>
        </p:nvSpPr>
        <p:spPr>
          <a:xfrm>
            <a:off x="609480" y="1769400"/>
            <a:ext cx="10573200" cy="48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542880" y="721800"/>
            <a:ext cx="103428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ustomShape 2"/>
          <p:cNvSpPr/>
          <p:nvPr/>
        </p:nvSpPr>
        <p:spPr>
          <a:xfrm>
            <a:off x="451800" y="1709280"/>
            <a:ext cx="8210160" cy="4338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ustomShape 3"/>
          <p:cNvSpPr/>
          <p:nvPr/>
        </p:nvSpPr>
        <p:spPr>
          <a:xfrm>
            <a:off x="609480" y="1769400"/>
            <a:ext cx="10573200" cy="48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6"/>
          <p:cNvSpPr/>
          <p:nvPr/>
        </p:nvSpPr>
        <p:spPr>
          <a:xfrm>
            <a:off x="542880" y="721800"/>
            <a:ext cx="103428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7"/>
          <p:cNvSpPr/>
          <p:nvPr/>
        </p:nvSpPr>
        <p:spPr>
          <a:xfrm>
            <a:off x="451800" y="1709280"/>
            <a:ext cx="8210160" cy="43383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CustomShape 8"/>
          <p:cNvSpPr/>
          <p:nvPr/>
        </p:nvSpPr>
        <p:spPr>
          <a:xfrm>
            <a:off x="609480" y="1769400"/>
            <a:ext cx="10573200" cy="48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2"/>
          <p:cNvSpPr/>
          <p:nvPr/>
        </p:nvSpPr>
        <p:spPr>
          <a:xfrm>
            <a:off x="335520" y="2408400"/>
            <a:ext cx="10738440" cy="38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the concept of the circular economy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emerging technologies at the intersection of digital technologies and 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and overview of the Internet of Things and related concepts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design smart systems and applications in the context of connected sensor systems and other stakeholders.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applications and 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stomShape 2"/>
          <p:cNvSpPr/>
          <p:nvPr/>
        </p:nvSpPr>
        <p:spPr>
          <a:xfrm>
            <a:off x="335520" y="126864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2 (L04)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Applications I – Resilient and Sustainable Food Production (L09)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Applications II – Biodiversity Monitoring (L10)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Exam Q&amp;A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Deadlines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stomShape 2"/>
          <p:cNvSpPr/>
          <p:nvPr/>
        </p:nvSpPr>
        <p:spPr>
          <a:xfrm>
            <a:off x="335520" y="126864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Knowledge Test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Circular Economy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 – Part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04 – Lifecycle Assessment (LCA) – Part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05 – IoT Sensing and Gathering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06 – IoT Data Processing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07 – IoT Security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Exercise 08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Exercise 09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Exercise 10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ustomShape 2"/>
          <p:cNvSpPr/>
          <p:nvPr/>
        </p:nvSpPr>
        <p:spPr>
          <a:xfrm>
            <a:off x="335520" y="126828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etce-etce@tu-clausthal.de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stomShape 1"/>
          <p:cNvSpPr/>
          <p:nvPr/>
        </p:nvSpPr>
        <p:spPr>
          <a:xfrm>
            <a:off x="33552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CustomShape 2"/>
          <p:cNvSpPr/>
          <p:nvPr/>
        </p:nvSpPr>
        <p:spPr>
          <a:xfrm>
            <a:off x="335520" y="126864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ustomShape 2"/>
          <p:cNvSpPr/>
          <p:nvPr/>
        </p:nvSpPr>
        <p:spPr>
          <a:xfrm>
            <a:off x="335520" y="126828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coding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considered “self-evaluations” and are not submitted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(coding exercises) is always Monday at 1:59pm (right before the next lecture)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coding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receiving a grade greater than 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2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are graded semi-automatically. Due to this it is highly important that you follow the required submission format. Otherwise the grading process will fail and you will receive 0 points.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will be provided in the form of Jupyter Notebooks, and provided to you via Cocalc     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https://cocalc.gwdg.de/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, with additional instructions provided via </a:t>
            </a:r>
            <a:r>
              <a:rPr lang="de-DE" sz="1800" b="0" u="none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ustomShape 3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3"/>
          <a:stretch/>
        </p:blipFill>
        <p:spPr>
          <a:xfrm>
            <a:off x="5715000" y="1448280"/>
            <a:ext cx="4857120" cy="475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ustomShape 10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CustomShape 11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ustomShape 13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/>
          <p:cNvPicPr/>
          <p:nvPr/>
        </p:nvPicPr>
        <p:blipFill>
          <a:blip r:embed="rId1"/>
          <a:stretch/>
        </p:blipFill>
        <p:spPr>
          <a:xfrm>
            <a:off x="5715000" y="1448280"/>
            <a:ext cx="4857120" cy="475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"/>
          <p:cNvSpPr/>
          <p:nvPr/>
        </p:nvSpPr>
        <p:spPr>
          <a:xfrm>
            <a:off x="5943600" y="5535000"/>
            <a:ext cx="4568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7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stomShape 18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CustomShape 19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rcRect l="0" t="0" r="0" b="39009"/>
          <a:stretch/>
        </p:blipFill>
        <p:spPr>
          <a:xfrm>
            <a:off x="5785920" y="1484280"/>
            <a:ext cx="5293080" cy="400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5680800" y="4343400"/>
            <a:ext cx="4568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20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ustomShape 21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ustomShape 22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"/>
          <p:cNvPicPr/>
          <p:nvPr/>
        </p:nvPicPr>
        <p:blipFill>
          <a:blip r:embed="rId1"/>
          <a:srcRect l="0" t="0" r="0" b="26231"/>
          <a:stretch/>
        </p:blipFill>
        <p:spPr>
          <a:xfrm>
            <a:off x="6172200" y="1600200"/>
            <a:ext cx="4876200" cy="426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"/>
          <p:cNvSpPr/>
          <p:nvPr/>
        </p:nvSpPr>
        <p:spPr>
          <a:xfrm>
            <a:off x="6172200" y="4716000"/>
            <a:ext cx="456840" cy="22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23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ustomShape 24"/>
          <p:cNvSpPr/>
          <p:nvPr/>
        </p:nvSpPr>
        <p:spPr>
          <a:xfrm>
            <a:off x="335520" y="1600200"/>
            <a:ext cx="44647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Login with your usual TU-Clausthal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25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6172200" y="1600200"/>
            <a:ext cx="4343040" cy="4619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26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27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stomShape 28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rcRect l="0" t="0" r="16551" b="0"/>
          <a:stretch/>
        </p:blipFill>
        <p:spPr>
          <a:xfrm>
            <a:off x="1067400" y="4343400"/>
            <a:ext cx="9219240" cy="196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29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30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1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2057400" y="3657600"/>
            <a:ext cx="6495480" cy="2685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32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33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stomShape 34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2124360" y="3706200"/>
            <a:ext cx="5876280" cy="269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35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36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7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1"/>
          <a:srcRect l="0" t="24691" r="0" b="0"/>
          <a:stretch/>
        </p:blipFill>
        <p:spPr>
          <a:xfrm>
            <a:off x="5063400" y="3056400"/>
            <a:ext cx="5656320" cy="3656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38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ustomShape 39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ustomShape 40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4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ustomShape 42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43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"/>
          <p:cNvPicPr/>
          <p:nvPr/>
        </p:nvPicPr>
        <p:blipFill>
          <a:blip r:embed="rId1"/>
          <a:stretch/>
        </p:blipFill>
        <p:spPr>
          <a:xfrm>
            <a:off x="2372040" y="3657600"/>
            <a:ext cx="7228800" cy="285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44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ustomShape 45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ustomShape 46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tretch/>
        </p:blipFill>
        <p:spPr>
          <a:xfrm>
            <a:off x="2971800" y="3777480"/>
            <a:ext cx="6171840" cy="262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47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48"/>
          <p:cNvSpPr/>
          <p:nvPr/>
        </p:nvSpPr>
        <p:spPr>
          <a:xfrm>
            <a:off x="335520" y="1600200"/>
            <a:ext cx="104083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Receiving a grade of 0 = FAIL.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stomShape 49"/>
          <p:cNvSpPr/>
          <p:nvPr/>
        </p:nvSpPr>
        <p:spPr>
          <a:xfrm>
            <a:off x="4655880" y="476640"/>
            <a:ext cx="24246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335520" y="7682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388800" y="1488600"/>
            <a:ext cx="1071216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5"/>
          <p:cNvSpPr/>
          <p:nvPr/>
        </p:nvSpPr>
        <p:spPr>
          <a:xfrm>
            <a:off x="335520" y="7682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16"/>
          <p:cNvSpPr/>
          <p:nvPr/>
        </p:nvSpPr>
        <p:spPr>
          <a:xfrm>
            <a:off x="388800" y="1488600"/>
            <a:ext cx="1071216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3280" cy="599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59560" cy="4628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335520" y="126864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 (except for the MC exercises).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via Moodle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 → Most likely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03.08.2026 from 2 pm – 4 pm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33552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335520" y="126828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ustomShape 3"/>
          <p:cNvSpPr/>
          <p:nvPr/>
        </p:nvSpPr>
        <p:spPr>
          <a:xfrm>
            <a:off x="6285600" y="2132640"/>
            <a:ext cx="506160" cy="4860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CustomShape 4"/>
          <p:cNvSpPr/>
          <p:nvPr/>
        </p:nvSpPr>
        <p:spPr>
          <a:xfrm>
            <a:off x="4089960" y="2247480"/>
            <a:ext cx="2274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33552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335520" y="126864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(1972).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335520" y="126864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I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 of Things for Architects: Architecting IoT solutions by implementing sensors, communication infrastructure, edge computing, analytics, and security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Dan Boneh, Amit Sahai und Brent Waters.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Functional Encryption: Definitions and Challenges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"/>
          <p:cNvSpPr/>
          <p:nvPr/>
        </p:nvSpPr>
        <p:spPr>
          <a:xfrm>
            <a:off x="335520" y="1268640"/>
            <a:ext cx="10738440" cy="50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ustomShape 2"/>
          <p:cNvSpPr/>
          <p:nvPr/>
        </p:nvSpPr>
        <p:spPr>
          <a:xfrm>
            <a:off x="335520" y="764640"/>
            <a:ext cx="1073844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569</TotalTime>
  <Application>LibreOffice/26.2.2.2$Linux_X86_64 LibreOffice_project/620$Build-2</Application>
  <AppVersion>15.0000</AppVersion>
  <Words>2302</Words>
  <Paragraphs>229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2026-04-27T12:47:43Z</dcterms:modified>
  <cp:revision>3043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29</vt:i4>
  </property>
</Properties>
</file>