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0A17268-9E79-4542-8AAC-F1949D7BFCB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85200" cy="37533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198840" cy="450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4399200" y="9555480"/>
            <a:ext cx="33541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1A74BD8-D386-4624-BC82-43EA43A858BB}" type="slidenum"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85200" cy="375336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198840" cy="450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4399200" y="9555480"/>
            <a:ext cx="33541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835CDDE-7D65-49F1-84DC-C93A50968996}" type="slidenum"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85200" cy="375336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198840" cy="450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ustomShape 9"/>
          <p:cNvSpPr/>
          <p:nvPr/>
        </p:nvSpPr>
        <p:spPr>
          <a:xfrm>
            <a:off x="4399200" y="9555480"/>
            <a:ext cx="33541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B96B70B-F33D-4F47-B4DC-A7DECDD1BF59}" type="slidenum"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11438640" y="6453360"/>
            <a:ext cx="750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60A0A2B-4E8C-43E5-8FBA-D57EFBBB1B5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912240" y="1268280"/>
            <a:ext cx="920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4520" cy="5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0360" cy="50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ustomShape 4"/>
          <p:cNvSpPr/>
          <p:nvPr/>
        </p:nvSpPr>
        <p:spPr>
          <a:xfrm>
            <a:off x="912240" y="1268280"/>
            <a:ext cx="920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" name="CustomShape 5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" name="CustomShape 6"/>
          <p:cNvSpPr/>
          <p:nvPr/>
        </p:nvSpPr>
        <p:spPr>
          <a:xfrm>
            <a:off x="0" y="6642720"/>
            <a:ext cx="12176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11438640" y="6453360"/>
            <a:ext cx="750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ECC3A89-B7DB-434D-9D31-0BC106AB377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ustomShape 3"/>
          <p:cNvSpPr/>
          <p:nvPr/>
        </p:nvSpPr>
        <p:spPr>
          <a:xfrm>
            <a:off x="912240" y="1268280"/>
            <a:ext cx="920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4520" cy="5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0360" cy="50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CustomShape 4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CustomShape 5"/>
          <p:cNvSpPr/>
          <p:nvPr/>
        </p:nvSpPr>
        <p:spPr>
          <a:xfrm>
            <a:off x="11438640" y="6453360"/>
            <a:ext cx="750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2BCBD572-CD9C-4BCD-84F3-731E874DD77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ustomShape 6"/>
          <p:cNvSpPr/>
          <p:nvPr/>
        </p:nvSpPr>
        <p:spPr>
          <a:xfrm>
            <a:off x="0" y="6642720"/>
            <a:ext cx="12176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hyperlink" Target="https://github.com/ETCE-LAB/teaching-material/tree/master/Emerging-Technologies-for-the-Circular-Economy#readme" TargetMode="External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etce-lab.de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etce-lab.de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ETCE-LAB/teaching-material/tree/master/Emerging-Technologies-for-the-Circular-Economy#readme" TargetMode="External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ebconf.tu-clausthal.de/b/ben-rtl-yv4-kkk" TargetMode="External"/><Relationship Id="rId2" Type="http://schemas.openxmlformats.org/officeDocument/2006/relationships/hyperlink" Target="https://webconf.tu-clausthal.de/b/ben-rtl-yv4-kkk" TargetMode="External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cocalc.gwdg.de/" TargetMode="External"/><Relationship Id="rId2" Type="http://schemas.openxmlformats.org/officeDocument/2006/relationships/hyperlink" Target="https://github.com/ETCE-LAB/teaching-material/tree/master/Emerging-Technologies-for-the-Circular-Economy/Exercises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527400" y="1412640"/>
            <a:ext cx="1035360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CustomShape 2"/>
          <p:cNvSpPr/>
          <p:nvPr/>
        </p:nvSpPr>
        <p:spPr>
          <a:xfrm>
            <a:off x="527400" y="2852640"/>
            <a:ext cx="10353600" cy="23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0: Organization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M.Sc. Anant Sujatanagarjuna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M.Sc. Chintan Patel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1"/>
          <p:cNvSpPr/>
          <p:nvPr/>
        </p:nvSpPr>
        <p:spPr>
          <a:xfrm>
            <a:off x="335520" y="764640"/>
            <a:ext cx="107355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License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ustomShape 2"/>
          <p:cNvSpPr/>
          <p:nvPr/>
        </p:nvSpPr>
        <p:spPr>
          <a:xfrm>
            <a:off x="335520" y="1268640"/>
            <a:ext cx="10735560" cy="50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CustomShape 3"/>
          <p:cNvSpPr/>
          <p:nvPr/>
        </p:nvSpPr>
        <p:spPr>
          <a:xfrm>
            <a:off x="336600" y="3429000"/>
            <a:ext cx="1085328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27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work is licensed under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Creative Commons Attribution-ShareAlike 4.0 International License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 To view a copy of this license, please refer to </a:t>
            </a:r>
            <a:r>
              <a:rPr lang="en-US" sz="20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https://creativecommons.org/licenses/by-sa/4.0/</a:t>
            </a:r>
            <a:r>
              <a:rPr lang="en-US" sz="2000" b="0" u="none" strike="noStrike">
                <a:solidFill>
                  <a:srgbClr val="0369a3"/>
                </a:solidFill>
                <a:effectLst/>
                <a:uFillTx/>
                <a:latin typeface="DejaVu Sans"/>
                <a:ea typeface="DejaVu Sans"/>
              </a:rPr>
              <a:t> 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Updated versions of these slides will be available in our </a:t>
            </a:r>
            <a:r>
              <a:rPr lang="en-US" sz="20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 repository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Team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Grafik 2"/>
          <p:cNvPicPr/>
          <p:nvPr/>
        </p:nvPicPr>
        <p:blipFill>
          <a:blip r:embed="rId1"/>
          <a:stretch/>
        </p:blipFill>
        <p:spPr>
          <a:xfrm>
            <a:off x="4923720" y="1257120"/>
            <a:ext cx="1460520" cy="21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rafik 11"/>
          <p:cNvPicPr/>
          <p:nvPr/>
        </p:nvPicPr>
        <p:blipFill>
          <a:blip r:embed="rId2"/>
          <a:stretch/>
        </p:blipFill>
        <p:spPr>
          <a:xfrm>
            <a:off x="2207880" y="4110120"/>
            <a:ext cx="1774440" cy="176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CustomShape 2"/>
          <p:cNvSpPr/>
          <p:nvPr/>
        </p:nvSpPr>
        <p:spPr>
          <a:xfrm>
            <a:off x="3859200" y="3373200"/>
            <a:ext cx="3625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CustomShape 4"/>
          <p:cNvSpPr/>
          <p:nvPr/>
        </p:nvSpPr>
        <p:spPr>
          <a:xfrm>
            <a:off x="1312200" y="5920200"/>
            <a:ext cx="3625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CustomShape 5"/>
          <p:cNvSpPr/>
          <p:nvPr/>
        </p:nvSpPr>
        <p:spPr>
          <a:xfrm>
            <a:off x="1312200" y="5807160"/>
            <a:ext cx="3625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M.Sc. Anant Sujatanagarjuna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CustomShape 12"/>
          <p:cNvSpPr/>
          <p:nvPr/>
        </p:nvSpPr>
        <p:spPr>
          <a:xfrm>
            <a:off x="4860000" y="5920200"/>
            <a:ext cx="3625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CustomShape 14"/>
          <p:cNvSpPr/>
          <p:nvPr/>
        </p:nvSpPr>
        <p:spPr>
          <a:xfrm>
            <a:off x="6300000" y="5807160"/>
            <a:ext cx="3625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M.Sc. Chintan Patel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322"/>
          <p:cNvPicPr/>
          <p:nvPr/>
        </p:nvPicPr>
        <p:blipFill>
          <a:blip r:embed="rId3"/>
          <a:srcRect l="0" t="4799" r="0" b="28459"/>
          <a:stretch/>
        </p:blipFill>
        <p:spPr>
          <a:xfrm>
            <a:off x="7203960" y="4143960"/>
            <a:ext cx="1793880" cy="179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542880" y="721800"/>
            <a:ext cx="103420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Research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451800" y="1709280"/>
            <a:ext cx="8209440" cy="4337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609480" y="1769400"/>
            <a:ext cx="10572480" cy="48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merging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echnologies for the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ircular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conomy →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Research focus: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Intersection of IT and sustainability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Circular Economy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Self-organized, decentralized and distributed systems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Sustainable and resilient food production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Other courses: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Limits to Growth – Sustainability and the Circular Economy (WS – open for everyone)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Requirements Engineering (WS – M.Sc.)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542880" y="721800"/>
            <a:ext cx="103420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Research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451800" y="1709280"/>
            <a:ext cx="8209440" cy="4337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CustomShape 3"/>
          <p:cNvSpPr/>
          <p:nvPr/>
        </p:nvSpPr>
        <p:spPr>
          <a:xfrm>
            <a:off x="609480" y="1769400"/>
            <a:ext cx="10572480" cy="48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Website – </a:t>
            </a:r>
            <a:r>
              <a:rPr lang="de-DE" sz="20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material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Theses/project topics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32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3200" algn="ctr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lang="en-GB" sz="20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You want join us? Write us an email!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3200" algn="ctr">
              <a:lnSpc>
                <a:spcPct val="90000"/>
              </a:lnSpc>
              <a:spcBef>
                <a:spcPts val="1009"/>
              </a:spcBef>
              <a:tabLst>
                <a:tab algn="l" pos="0"/>
              </a:tabLst>
            </a:pPr>
            <a:r>
              <a:rPr lang="en-GB" sz="16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→ benjamin.leiding@tu-clausthal.de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6"/>
          <p:cNvSpPr/>
          <p:nvPr/>
        </p:nvSpPr>
        <p:spPr>
          <a:xfrm>
            <a:off x="542880" y="721800"/>
            <a:ext cx="103420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Research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CustomShape 7"/>
          <p:cNvSpPr/>
          <p:nvPr/>
        </p:nvSpPr>
        <p:spPr>
          <a:xfrm>
            <a:off x="451800" y="1709280"/>
            <a:ext cx="8209440" cy="4337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CustomShape 8"/>
          <p:cNvSpPr/>
          <p:nvPr/>
        </p:nvSpPr>
        <p:spPr>
          <a:xfrm>
            <a:off x="609480" y="1769400"/>
            <a:ext cx="10572480" cy="48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Website – </a:t>
            </a:r>
            <a:r>
              <a:rPr lang="de-DE" sz="20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material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32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Aria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Theses/project topics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32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3200" algn="ctr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 want join us? Write us an email!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3200" algn="ctr">
              <a:lnSpc>
                <a:spcPct val="90000"/>
              </a:lnSpc>
              <a:spcBef>
                <a:spcPts val="1009"/>
              </a:spcBef>
              <a:tabLst>
                <a:tab algn="l" pos="0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 benjamin.leiding@tu-clausthal.de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Learning Outcome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335520" y="2408400"/>
            <a:ext cx="10737720" cy="38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Basic understanding of the concept of the circular economy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Basic understanding of emerging technologies at the intersection of digital technologies and sustainability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Understanding and overview of the Internet of Things and related concepts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Ability to design smart systems and applications in the context of connected sensor systems and other stakeholders.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Experience in prototyping applications and systems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335520" y="126864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 → Organization (L00)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04.05.2026 → Introduction (L01)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11.05.2026 → Circular Economy (L02)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18.05.2026 → Lifecycle Assessment – LCA I (L03)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01.06.2026 → Lifecycle Assessment – LCA 2 (L04)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08.06.2026 → Introduction to the Internet of Things (L05)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15.06.2026 → Internet of Things – Communication (L06) + Security and Privacy (L07)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22.06.2026 → Internet of Things – Data Processing and Big Data (L08)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06.07.2026 →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IoT Applications I – Resilient and Sustainable Food Production (L09)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 → Digital Technologies and Greenwashing (L10)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20.07.2026 → Exam Q&amp;A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(Deadlines)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ustomShape 2"/>
          <p:cNvSpPr/>
          <p:nvPr/>
        </p:nvSpPr>
        <p:spPr>
          <a:xfrm>
            <a:off x="335520" y="126864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11.05.2026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01 – Knowledge Test (MC)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18.05.2026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02 – Circular Economy (MC)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01.06.2026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03 – Lifecycle Assessment (LCA) – Part 1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08.06.2026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04 – Lifecycle Assessment (LCA) – Part 2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15.06.2026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05 – IoT Sensing and Gathering Data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22.06.2026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06 – IoT Data Processing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29.06.2026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07 – IoT Security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06.07.2026 → Exercise 08 – IoT and Food Production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Organization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335520" y="126828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Organization of the lecture: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Slides are available on Github (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report bugs!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Lectures and exercises as live stream (BBB – next slide)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recordings will be available on StudIP and on Github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time slots 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=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Time for questions and eventual tutorials related to the exercises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Questions? Write us an email: </a:t>
            </a: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etce-etce@tu-clausthal.de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←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</a:t>
            </a:r>
            <a:r>
              <a:rPr lang="en-GB" sz="1800" b="1" u="sng" strike="noStrike">
                <a:solidFill>
                  <a:srgbClr val="c9211e"/>
                </a:solidFill>
                <a:effectLst/>
                <a:uFillTx/>
                <a:latin typeface="DejaVu Sans"/>
                <a:ea typeface="DejaVu Sans"/>
              </a:rPr>
              <a:t>only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respond to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emails written to this specific email address!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335520" y="764640"/>
            <a:ext cx="107362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Dates/Times/Locations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stomShape 2"/>
          <p:cNvSpPr/>
          <p:nvPr/>
        </p:nvSpPr>
        <p:spPr>
          <a:xfrm>
            <a:off x="335520" y="1268640"/>
            <a:ext cx="10736280" cy="50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1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Monday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2:15 pm to 3:45 pm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(Berlin time) –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to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1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Location: Goslar Gotec (Am Stollen 19 C, 38640 Goslar, Germany) or via BigBlueButton (</a:t>
            </a:r>
            <a:r>
              <a:rPr lang="en-GB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/ Q&amp;A: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1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Monday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4 pm to 4:45 pm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(Berlin time) –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to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1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Location: Goslar Gotec (Am Stollen 19 C, 38640 Goslar, Germany) or via BigBlueButton (</a:t>
            </a:r>
            <a:r>
              <a:rPr lang="en-GB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Link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335520" y="126828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Individual work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 group submissions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or coding exercises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are considered “self-evaluations” and are not submitted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7-14 days to submit (depending on the task)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Submission deadline (coding exercises) is always Monday at 1:59pm (right before the next lecture)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Submission of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each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coding exercise is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mandatory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1" u="sng" strike="noStrike">
                <a:solidFill>
                  <a:srgbClr val="c9211e"/>
                </a:solidFill>
                <a:effectLst/>
                <a:uFillTx/>
                <a:latin typeface="DejaVu Sans"/>
                <a:ea typeface="DejaVu Sans"/>
              </a:rPr>
              <a:t>You pass by receiving a grade greater than 0.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 will receive feedback on your submission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= learning feedback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exercises are graded semi-automatically. Due to this it is highly important that you follow the required submission format. Otherwise the grading process will fail and you will receive 0 points.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exercises will be provided in the form of Jupyter Notebooks, and provided to you via Cocalc      </a:t>
            </a:r>
            <a:r>
              <a:rPr lang="de-DE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https://cocalc.gwdg.de/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with additional instructions provided via </a:t>
            </a:r>
            <a:r>
              <a:rPr lang="de-DE" sz="1800" b="0" u="none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ustomShape 3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6" name=""/>
          <p:cNvPicPr/>
          <p:nvPr/>
        </p:nvPicPr>
        <p:blipFill>
          <a:blip r:embed="rId3"/>
          <a:stretch/>
        </p:blipFill>
        <p:spPr>
          <a:xfrm>
            <a:off x="5715000" y="1448280"/>
            <a:ext cx="4856400" cy="475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0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ustomShape 11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Click on the “Academic ID” Logo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ustomShape 13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5715000" y="1448280"/>
            <a:ext cx="4856400" cy="47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5943600" y="55350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7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CustomShape 18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ustomShape 19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rcRect l="0" t="0" r="0" b="39009"/>
          <a:stretch/>
        </p:blipFill>
        <p:spPr>
          <a:xfrm>
            <a:off x="5785920" y="1484280"/>
            <a:ext cx="5292360" cy="40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5680800" y="43434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20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ustomShape 21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Choose “Technische Universität Clausthal” from the drop-down box.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ustomShape 22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rcRect l="0" t="0" r="0" b="26231"/>
          <a:stretch/>
        </p:blipFill>
        <p:spPr>
          <a:xfrm>
            <a:off x="6172200" y="1600200"/>
            <a:ext cx="4875480" cy="42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6172200" y="47160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23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ustomShape 24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Choose “Technische Universität Clausthal” from the drop-down box.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Login with your usual TU-Clausthal credentials.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ustomShape 25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6172200" y="1600200"/>
            <a:ext cx="4342320" cy="461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26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ustomShape 27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“ETCE SoSe26 Exercsies”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ustomShape 28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rcRect l="0" t="0" r="16546" b="0"/>
          <a:stretch/>
        </p:blipFill>
        <p:spPr>
          <a:xfrm>
            <a:off x="1067400" y="4343400"/>
            <a:ext cx="9218520" cy="196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29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ustomShape 30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“ETCE SoSe26 Exercsies”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ustomShape 31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2057400" y="3657600"/>
            <a:ext cx="6494760" cy="268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32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ustomShape 33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“ETCE SoSe26 Exercsies”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Edit the file in the exercise folder as indicated in the exercise handout PDFs.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ustomShape 34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2124360" y="3706200"/>
            <a:ext cx="5875560" cy="269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35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ustomShape 36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“ETCE SoSe26 Exercsies”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Edit the file in the exercise folder as indicated in the exercise handout PDFs.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ustomShape 37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rcRect l="0" t="24682" r="0" b="0"/>
          <a:stretch/>
        </p:blipFill>
        <p:spPr>
          <a:xfrm>
            <a:off x="5063400" y="3056400"/>
            <a:ext cx="5655600" cy="365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38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ustomShape 39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ustomShape 40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4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ustomShape 42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ustomShape 43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2372040" y="3657600"/>
            <a:ext cx="7228080" cy="285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44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ustomShape 45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Your grade is provided inside the “GRADE.md” file.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ustomShape 46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2971800" y="3777480"/>
            <a:ext cx="6171120" cy="262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47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ustomShape 48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Your grade is provided inside the “GRADE.md” file.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Receiving a grade of 0 = FAIL.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ustomShape 49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35520" y="7682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388800" y="1488600"/>
            <a:ext cx="10711440" cy="35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Arial"/>
              </a:rPr>
              <a:t>Every student enrolled in this course is advised to take the knowledge quiz in first two weeks of the course. 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Goal of the test: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To check the knowledge level of the student that is relevant to this course of study.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Preparation: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A review of basic concepts of Cryptography and Circular Economy is recommended for Week 1 and Week 2 respectively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Knowledge quiz for Week 1 only tests your existing knowledge.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THE TEST IS JUST FOR YOU → WE CANNOT CHECK THE TEST RESULTS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5"/>
          <p:cNvSpPr/>
          <p:nvPr/>
        </p:nvSpPr>
        <p:spPr>
          <a:xfrm>
            <a:off x="335520" y="7682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ustomShape 16"/>
          <p:cNvSpPr/>
          <p:nvPr/>
        </p:nvSpPr>
        <p:spPr>
          <a:xfrm>
            <a:off x="388800" y="1488600"/>
            <a:ext cx="10711440" cy="35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Arial"/>
              </a:rPr>
              <a:t>Every student enrolled in this course is advised to take the knowledge quiz in first two weeks of the course. 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Goal of the test: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To check the knowledge level of the student that is relevant to this course of study.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Preparation: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A review of basic concepts of Cryptography and Circular Economy is recommended for Week 1 and Week 2 respectively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Knowledge quiz for Week 1 only tests your existing knowledge.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THE TEST IS JUST FOR YOU → WE CANNOT CHECK THE TEST RESULTS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de-DE" sz="1400" b="1" u="none" strike="noStrike">
                <a:solidFill>
                  <a:srgbClr val="c9211e"/>
                </a:solidFill>
                <a:effectLst/>
                <a:uFillTx/>
                <a:latin typeface="DejaVu Sans"/>
                <a:ea typeface="Arial Unicode MS"/>
              </a:rPr>
              <a:t>Link for all multiple-choice exercises → </a:t>
            </a:r>
            <a:r>
              <a:rPr lang="de-DE" sz="1400" b="0" u="none" strike="noStrike">
                <a:solidFill>
                  <a:srgbClr val="c9211e"/>
                </a:solidFill>
                <a:effectLst/>
                <a:uFillTx/>
                <a:latin typeface="DejaVu Sans"/>
                <a:ea typeface="Arial Unicode MS"/>
              </a:rPr>
              <a:t>etce.etce-lab.de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3200400" y="685800"/>
            <a:ext cx="5272560" cy="59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1600200" y="1600200"/>
            <a:ext cx="8358840" cy="462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Examination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335520" y="126864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Prerequisite for admission to the final exam (all criteria have to be fulfilled):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 all exercises (except for the MC exercises).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Final exam: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Written exam (120min) via Moodle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Date → Most likely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03.08.2026 from 2 pm – 4 pm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335520" y="764640"/>
            <a:ext cx="107359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Self-Study Star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35520" y="1268280"/>
            <a:ext cx="10735920" cy="50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Slides with the self-study star indicate optional/additional study material that is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mandatory but could be helpful or interesting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6285600" y="2132640"/>
            <a:ext cx="505440" cy="48528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CustomShape 4"/>
          <p:cNvSpPr/>
          <p:nvPr/>
        </p:nvSpPr>
        <p:spPr>
          <a:xfrm>
            <a:off x="4089960" y="2247480"/>
            <a:ext cx="2273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Self-Study Star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520" y="764640"/>
            <a:ext cx="107359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Literature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335520" y="1268640"/>
            <a:ext cx="10735920" cy="50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course is not based on a single book and you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need to buy a book to pass the exam.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Donella H. Meadows, Jorgen Randers, and Dennis L. Meadows.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Limits to Growth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(1972).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Donella H. Meadows, Jorgen Randers, and Dennis L. Meadows.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Limits To Growth: The 30-Year Update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(2004).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Baccini et al.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Metabolism of the Anthroposphere: Analysis, Evaluation, Design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(2012).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Walter R. Stahel.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Circular Economy: A User's Guide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(2019).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W. Brian Arthur.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Nature of Technology: What It Is and How it Evolves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(2011).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David Wallace-Wells.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Uninhabitable Earth, Annotated Edition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(2017).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(German) Stefan Rahmstorf, Hans Joachim Schellnhuber.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Der Klimawandel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(2019).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Literature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335520" y="126864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M.A. Khan, M.T. Quasim, F. Algarni, A. Alharthi. 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Decentralised Internet of Things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(2020).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Dimitrios Serpanos und Marilyn Claire Wolf. I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nternet-of-Things (IoT) Systems Architectures, Algorithms, Methodologies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(2018).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Perry Lea. 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Internet of Things for Architects: Architecting IoT solutions by implementing sensors, communication infrastructure, edge computing, analytics, and security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(2018).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Dan Boneh, Amit Sahai und Brent Waters. 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Functional Encryption: Definitions and Challenges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(2010).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335520" y="1268640"/>
            <a:ext cx="10737720" cy="50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Questions?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</TotalTime>
  <Application>LibreOffice/25.8.7.3$Linux_X86_64 LibreOffice_project/580$Build-3</Application>
  <AppVersion>15.0000</AppVersion>
  <Words>2302</Words>
  <Paragraphs>229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>Benjamin Leiding</cp:lastModifiedBy>
  <dcterms:modified xsi:type="dcterms:W3CDTF">2026-07-06T16:20:25Z</dcterms:modified>
  <cp:revision>3046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29</vt:i4>
  </property>
</Properties>
</file>