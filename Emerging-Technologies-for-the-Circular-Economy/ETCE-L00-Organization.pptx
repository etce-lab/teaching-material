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1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1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394D578-B9EA-40DB-B90B-F69503C7959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6280" cy="3754440"/>
          </a:xfrm>
          <a:prstGeom prst="rect">
            <a:avLst/>
          </a:prstGeom>
          <a:ln w="0">
            <a:noFill/>
          </a:ln>
        </p:spPr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199920" cy="4508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CustomShape 3"/>
          <p:cNvSpPr/>
          <p:nvPr/>
        </p:nvSpPr>
        <p:spPr>
          <a:xfrm>
            <a:off x="4399200" y="9555480"/>
            <a:ext cx="335520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7CF87859-8EC1-4412-86B9-1AD288D2FEEC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6280" cy="3754440"/>
          </a:xfrm>
          <a:prstGeom prst="rect">
            <a:avLst/>
          </a:prstGeom>
          <a:ln w="0">
            <a:noFill/>
          </a:ln>
        </p:spPr>
      </p:sp>
      <p:sp>
        <p:nvSpPr>
          <p:cNvPr id="14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199920" cy="4508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3"/>
          <p:cNvSpPr/>
          <p:nvPr/>
        </p:nvSpPr>
        <p:spPr>
          <a:xfrm>
            <a:off x="4399200" y="9555480"/>
            <a:ext cx="335520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A3E56F4A-F811-47D2-BDF4-06074B29EF60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86280" cy="3754440"/>
          </a:xfrm>
          <a:prstGeom prst="rect">
            <a:avLst/>
          </a:prstGeom>
          <a:ln w="0">
            <a:noFill/>
          </a:ln>
        </p:spPr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199920" cy="4508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CustomShape 9"/>
          <p:cNvSpPr/>
          <p:nvPr/>
        </p:nvSpPr>
        <p:spPr>
          <a:xfrm>
            <a:off x="4399200" y="9555480"/>
            <a:ext cx="335520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r">
              <a:lnSpc>
                <a:spcPct val="100000"/>
              </a:lnSpc>
            </a:pPr>
            <a:fld id="{8DDDEFD7-26A8-4A75-98D8-34E2226B1DB5}" type="slidenum"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1"/>
          <p:cNvSpPr/>
          <p:nvPr/>
        </p:nvSpPr>
        <p:spPr>
          <a:xfrm>
            <a:off x="11444760" y="0"/>
            <a:ext cx="734760" cy="68436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CustomShape 2"/>
          <p:cNvSpPr/>
          <p:nvPr/>
        </p:nvSpPr>
        <p:spPr>
          <a:xfrm>
            <a:off x="11438640" y="6453360"/>
            <a:ext cx="751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44BC923B-347E-4ADC-A1E6-DB686A3D3CF2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CustomShape 3"/>
          <p:cNvSpPr/>
          <p:nvPr/>
        </p:nvSpPr>
        <p:spPr>
          <a:xfrm>
            <a:off x="912240" y="1268280"/>
            <a:ext cx="9201600" cy="35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5600" cy="555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1440" cy="50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CustomShape 4"/>
          <p:cNvSpPr/>
          <p:nvPr/>
        </p:nvSpPr>
        <p:spPr>
          <a:xfrm>
            <a:off x="912240" y="1268280"/>
            <a:ext cx="9201600" cy="35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CustomShape 5"/>
          <p:cNvSpPr/>
          <p:nvPr/>
        </p:nvSpPr>
        <p:spPr>
          <a:xfrm>
            <a:off x="11444760" y="0"/>
            <a:ext cx="734760" cy="68436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CustomShape 6"/>
          <p:cNvSpPr/>
          <p:nvPr/>
        </p:nvSpPr>
        <p:spPr>
          <a:xfrm>
            <a:off x="0" y="6642720"/>
            <a:ext cx="121777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stomShape 1"/>
          <p:cNvSpPr/>
          <p:nvPr/>
        </p:nvSpPr>
        <p:spPr>
          <a:xfrm>
            <a:off x="11444760" y="0"/>
            <a:ext cx="734760" cy="68436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CustomShape 2"/>
          <p:cNvSpPr/>
          <p:nvPr/>
        </p:nvSpPr>
        <p:spPr>
          <a:xfrm>
            <a:off x="11438640" y="6453360"/>
            <a:ext cx="751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DC8154F4-2805-43C5-A840-742C6C171F80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CustomShape 3"/>
          <p:cNvSpPr/>
          <p:nvPr/>
        </p:nvSpPr>
        <p:spPr>
          <a:xfrm>
            <a:off x="912240" y="1268280"/>
            <a:ext cx="9201600" cy="35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5600" cy="555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Grafik 2"/>
          <p:cNvPicPr/>
          <p:nvPr/>
        </p:nvPicPr>
        <p:blipFill>
          <a:blip r:embed="rId3"/>
          <a:stretch/>
        </p:blipFill>
        <p:spPr>
          <a:xfrm>
            <a:off x="7430400" y="134640"/>
            <a:ext cx="3691440" cy="50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CustomShape 4"/>
          <p:cNvSpPr/>
          <p:nvPr/>
        </p:nvSpPr>
        <p:spPr>
          <a:xfrm>
            <a:off x="11444760" y="0"/>
            <a:ext cx="734760" cy="684360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CustomShape 5"/>
          <p:cNvSpPr/>
          <p:nvPr/>
        </p:nvSpPr>
        <p:spPr>
          <a:xfrm>
            <a:off x="11438640" y="6453360"/>
            <a:ext cx="751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fld id="{142CA675-D764-447D-AD69-60313855A84E}" type="slidenum">
              <a:rPr lang="en-US" sz="1800" b="0" u="none" strike="noStrike">
                <a:solidFill>
                  <a:srgbClr val="808080"/>
                </a:solidFill>
                <a:effectLst/>
                <a:uFillTx/>
                <a:latin typeface="Arial"/>
                <a:ea typeface="DejaVu Sans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CustomShape 6"/>
          <p:cNvSpPr/>
          <p:nvPr/>
        </p:nvSpPr>
        <p:spPr>
          <a:xfrm>
            <a:off x="0" y="6642720"/>
            <a:ext cx="1217772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800" b="0" u="none" strike="noStrike">
                <a:solidFill>
                  <a:srgbClr val="A6A6A6"/>
                </a:solidFill>
                <a:effectLst/>
                <a:uFillTx/>
                <a:latin typeface="DejaVu Sans"/>
                <a:ea typeface="DejaVu Sans"/>
              </a:rPr>
              <a:t>Emerging Technologies for the Circular Economy – TU Clausthal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creativecommons.org/licenses/by-sa/4.0/" TargetMode="External"/><Relationship Id="rId2" Type="http://schemas.openxmlformats.org/officeDocument/2006/relationships/hyperlink" Target="https://github.com/ETCE-LAB/teaching-material/tree/master/Emerging-Technologies-for-the-Circular-Economy#readme" TargetMode="External"/><Relationship Id="rId3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github.com/ETCE-LAB/teaching-material/tree/master/Emerging-Technologies-for-the-Circular-Economy#readme" TargetMode="External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webconf.tu-clausthal.de/b/ben-rtl-yv4-kkk" TargetMode="External"/><Relationship Id="rId2" Type="http://schemas.openxmlformats.org/officeDocument/2006/relationships/hyperlink" Target="https://webconf.tu-clausthal.de/b/ben-rtl-yv4-kkk" TargetMode="External"/><Relationship Id="rId3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https://cocalc.gwdg.de/" TargetMode="External"/><Relationship Id="rId2" Type="http://schemas.openxmlformats.org/officeDocument/2006/relationships/hyperlink" Target="https://github.com/ETCE-LAB/teaching-material/tree/master/Emerging-Technologies-for-the-Circular-Economy/Exercises" TargetMode="External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2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2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2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2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2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ustomShape 1"/>
          <p:cNvSpPr/>
          <p:nvPr/>
        </p:nvSpPr>
        <p:spPr>
          <a:xfrm>
            <a:off x="527400" y="1412640"/>
            <a:ext cx="10354680" cy="114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Autofit/>
          </a:bodyPr>
          <a:p>
            <a:pPr algn="ctr">
              <a:lnSpc>
                <a:spcPct val="100000"/>
              </a:lnSpc>
            </a:pPr>
            <a:r>
              <a:rPr lang="en-US" sz="32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Emerg</a:t>
            </a:r>
            <a:r>
              <a:rPr lang="en-US" sz="32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ing </a:t>
            </a:r>
            <a:r>
              <a:rPr lang="en-US" sz="32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Techno</a:t>
            </a:r>
            <a:r>
              <a:rPr lang="en-US" sz="32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logies </a:t>
            </a:r>
            <a:r>
              <a:rPr lang="en-US" sz="32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for the </a:t>
            </a:r>
            <a:r>
              <a:rPr lang="en-US" sz="32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Circula</a:t>
            </a:r>
            <a:r>
              <a:rPr lang="en-US" sz="32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r </a:t>
            </a:r>
            <a:r>
              <a:rPr lang="en-US" sz="32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Econo</a:t>
            </a:r>
            <a:r>
              <a:rPr lang="en-US" sz="32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DejaVu Sans"/>
              </a:rPr>
              <a:t>my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CustomShape 2"/>
          <p:cNvSpPr/>
          <p:nvPr/>
        </p:nvSpPr>
        <p:spPr>
          <a:xfrm>
            <a:off x="527400" y="2852640"/>
            <a:ext cx="10354680" cy="23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pos="0" algn="l"/>
              </a:tabLs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0: Organization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ustomShape 1"/>
          <p:cNvSpPr/>
          <p:nvPr/>
        </p:nvSpPr>
        <p:spPr>
          <a:xfrm>
            <a:off x="335520" y="764640"/>
            <a:ext cx="10736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fr-FR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License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CustomShape 2"/>
          <p:cNvSpPr/>
          <p:nvPr/>
        </p:nvSpPr>
        <p:spPr>
          <a:xfrm>
            <a:off x="335520" y="1268640"/>
            <a:ext cx="10736640" cy="502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CustomShape 3"/>
          <p:cNvSpPr/>
          <p:nvPr/>
        </p:nvSpPr>
        <p:spPr>
          <a:xfrm>
            <a:off x="336600" y="3429000"/>
            <a:ext cx="10854360" cy="20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276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work is licensed under a </a:t>
            </a: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Creative Commons Attribution-ShareAlike 4.0 International License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 To view a copy of this license, please refer to </a:t>
            </a:r>
            <a:r>
              <a:rPr lang="en-US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https://creativecommons.org/licenses/by-sa/4.0/</a:t>
            </a:r>
            <a:r>
              <a:rPr lang="en-US" sz="2000" b="0" u="none" strike="noStrike">
                <a:solidFill>
                  <a:srgbClr val="0369A3"/>
                </a:solidFill>
                <a:effectLst/>
                <a:uFillTx/>
                <a:latin typeface="DejaVu Sans"/>
                <a:ea typeface="DejaVu Sans"/>
              </a:rPr>
              <a:t> 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276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Updated versions of these slides will be available in our </a:t>
            </a:r>
            <a:r>
              <a:rPr lang="en-US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Github repository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CustomShape 1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Team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Grafik 2"/>
          <p:cNvPicPr/>
          <p:nvPr/>
        </p:nvPicPr>
        <p:blipFill>
          <a:blip r:embed="rId1"/>
          <a:stretch/>
        </p:blipFill>
        <p:spPr>
          <a:xfrm>
            <a:off x="4923720" y="1257120"/>
            <a:ext cx="1461600" cy="2162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Grafik 11"/>
          <p:cNvPicPr/>
          <p:nvPr/>
        </p:nvPicPr>
        <p:blipFill>
          <a:blip r:embed="rId2"/>
          <a:stretch/>
        </p:blipFill>
        <p:spPr>
          <a:xfrm>
            <a:off x="2207880" y="4110120"/>
            <a:ext cx="1775520" cy="176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CustomShape 2"/>
          <p:cNvSpPr/>
          <p:nvPr/>
        </p:nvSpPr>
        <p:spPr>
          <a:xfrm>
            <a:off x="3859200" y="3373200"/>
            <a:ext cx="3626280" cy="66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Prof. Dr. Benjamin Leiding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CustomShape 4"/>
          <p:cNvSpPr/>
          <p:nvPr/>
        </p:nvSpPr>
        <p:spPr>
          <a:xfrm>
            <a:off x="1312200" y="5920200"/>
            <a:ext cx="3626280" cy="66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CustomShape 5"/>
          <p:cNvSpPr/>
          <p:nvPr/>
        </p:nvSpPr>
        <p:spPr>
          <a:xfrm>
            <a:off x="1312200" y="5807160"/>
            <a:ext cx="3626280" cy="66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Anant Sujatanagarjuna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CustomShape 12"/>
          <p:cNvSpPr/>
          <p:nvPr/>
        </p:nvSpPr>
        <p:spPr>
          <a:xfrm>
            <a:off x="4860000" y="5920200"/>
            <a:ext cx="3626280" cy="66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CustomShape 14"/>
          <p:cNvSpPr/>
          <p:nvPr/>
        </p:nvSpPr>
        <p:spPr>
          <a:xfrm>
            <a:off x="6300000" y="5807160"/>
            <a:ext cx="3626280" cy="66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lang="de-DE" sz="1600" b="0" u="none" strike="noStrike">
                <a:solidFill>
                  <a:srgbClr val="595959"/>
                </a:solidFill>
                <a:effectLst/>
                <a:uFillTx/>
                <a:latin typeface="DejaVu Sans"/>
                <a:ea typeface="DejaVu Sans"/>
              </a:rPr>
              <a:t>M.Sc. Chintan Patel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" name="Picture 322"/>
          <p:cNvPicPr/>
          <p:nvPr/>
        </p:nvPicPr>
        <p:blipFill>
          <a:blip r:embed="rId3"/>
          <a:srcRect l="0" t="4799" r="0" b="28459"/>
          <a:stretch/>
        </p:blipFill>
        <p:spPr>
          <a:xfrm>
            <a:off x="7203960" y="4143960"/>
            <a:ext cx="1794960" cy="1794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ustomShape 1"/>
          <p:cNvSpPr/>
          <p:nvPr/>
        </p:nvSpPr>
        <p:spPr>
          <a:xfrm>
            <a:off x="542880" y="721800"/>
            <a:ext cx="10343160" cy="48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Research Group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CustomShape 2"/>
          <p:cNvSpPr/>
          <p:nvPr/>
        </p:nvSpPr>
        <p:spPr>
          <a:xfrm>
            <a:off x="451800" y="1709280"/>
            <a:ext cx="8210520" cy="43387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CustomShape 3"/>
          <p:cNvSpPr/>
          <p:nvPr/>
        </p:nvSpPr>
        <p:spPr>
          <a:xfrm>
            <a:off x="609480" y="1769400"/>
            <a:ext cx="10573560" cy="48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merging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echnologies for the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ircular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conomy → </a:t>
            </a:r>
            <a:r>
              <a:rPr lang="de-DE" sz="2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Research focus: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Intersection of IT and sustainability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Circular Economy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Self-organized, decentralized and distributed systems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Sustainable and resilient food production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06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Other courses: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 – Sustainability and the Circular Economy (WS – open for everyone)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Requirements Engineering (WS – M.Sc.)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CustomShape 1"/>
          <p:cNvSpPr/>
          <p:nvPr/>
        </p:nvSpPr>
        <p:spPr>
          <a:xfrm>
            <a:off x="542880" y="721800"/>
            <a:ext cx="10343160" cy="48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Research Group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CustomShape 2"/>
          <p:cNvSpPr/>
          <p:nvPr/>
        </p:nvSpPr>
        <p:spPr>
          <a:xfrm>
            <a:off x="451800" y="1709280"/>
            <a:ext cx="8210520" cy="43387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CustomShape 3"/>
          <p:cNvSpPr/>
          <p:nvPr/>
        </p:nvSpPr>
        <p:spPr>
          <a:xfrm>
            <a:off x="609480" y="1769400"/>
            <a:ext cx="10573560" cy="48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Website – </a:t>
            </a:r>
            <a:r>
              <a:rPr lang="de-DE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Theses/project topics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>
              <a:lnSpc>
                <a:spcPct val="90000"/>
              </a:lnSpc>
              <a:spcBef>
                <a:spcPts val="1417"/>
              </a:spcBef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 algn="ctr">
              <a:lnSpc>
                <a:spcPct val="9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GB" sz="20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3200" algn="ctr">
              <a:lnSpc>
                <a:spcPct val="90000"/>
              </a:lnSpc>
              <a:spcBef>
                <a:spcPts val="1009"/>
              </a:spcBef>
              <a:tabLst>
                <a:tab pos="0" algn="l"/>
              </a:tabLst>
            </a:pPr>
            <a:r>
              <a:rPr lang="en-GB" sz="1600" b="0" u="none" strike="noStrike">
                <a:solidFill>
                  <a:srgbClr val="FFFFFF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CustomShape 6"/>
          <p:cNvSpPr/>
          <p:nvPr/>
        </p:nvSpPr>
        <p:spPr>
          <a:xfrm>
            <a:off x="542880" y="721800"/>
            <a:ext cx="10343160" cy="48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Research Group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CustomShape 7"/>
          <p:cNvSpPr/>
          <p:nvPr/>
        </p:nvSpPr>
        <p:spPr>
          <a:xfrm>
            <a:off x="451800" y="1709280"/>
            <a:ext cx="8210520" cy="43387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CustomShape 8"/>
          <p:cNvSpPr/>
          <p:nvPr/>
        </p:nvSpPr>
        <p:spPr>
          <a:xfrm>
            <a:off x="609480" y="1769400"/>
            <a:ext cx="10573560" cy="48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marL="216000" indent="-2106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 Website – </a:t>
            </a:r>
            <a:r>
              <a:rPr lang="de-DE" sz="20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material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32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Theses/project topics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>
              <a:lnSpc>
                <a:spcPct val="90000"/>
              </a:lnSpc>
              <a:spcBef>
                <a:spcPts val="1417"/>
              </a:spcBef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3200" algn="ctr">
              <a:lnSpc>
                <a:spcPct val="9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want join us? Write us an email!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3200" algn="ctr">
              <a:lnSpc>
                <a:spcPct val="90000"/>
              </a:lnSpc>
              <a:spcBef>
                <a:spcPts val="1009"/>
              </a:spcBef>
              <a:tabLst>
                <a:tab pos="0" algn="l"/>
              </a:tabLst>
            </a:pPr>
            <a:r>
              <a:rPr lang="en-GB" sz="16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 benjamin.leiding@tu-clausthal.de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CustomShape 1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Learning Outcome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CustomShape 2"/>
          <p:cNvSpPr/>
          <p:nvPr/>
        </p:nvSpPr>
        <p:spPr>
          <a:xfrm>
            <a:off x="335520" y="2408400"/>
            <a:ext cx="10738800" cy="38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Basic understanding of the concept of the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circular economy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Basic understanding of emerging technologies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at the intersection of digital technologies and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sustainability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Understanding and overview of the Internet of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Things and related concepts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Ability to design smart systems and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applications in the context of connected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sensor systems and other stakeholders.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Experience in prototyping applications and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systems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CustomShape 1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CustomShape 2"/>
          <p:cNvSpPr/>
          <p:nvPr/>
        </p:nvSpPr>
        <p:spPr>
          <a:xfrm>
            <a:off x="335520" y="1268640"/>
            <a:ext cx="10738800" cy="50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 → Organization (L00)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04.05.2026 → Introduction (L01)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11.05.2026 → Circular Economy (L02)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18.05.2026 → Lifecycle Assessment – LCA I (L03)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01.06.2026 → Lifecycle Assessment – LCA 2 (L04)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08.06.2026 → Introduction to the Internet of Things (L05)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15.06.2026 → Internet of Things – Communication (L06) + Security and Privacy (L07)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22.06.2026 → Internet of Things – Data Processing and Big Data (L08)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29.06.2026 → IoT Applications I – Resilient and Sustainable Food Production (L09)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06.07.2026 → IoT Applications II – Biodiversity Monitoring (L10)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 → Digital Technologies and Greenwashing (L11)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20.07.2026 → Exam Q&amp;A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CustomShape 1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CustomShape 2"/>
          <p:cNvSpPr/>
          <p:nvPr/>
        </p:nvSpPr>
        <p:spPr>
          <a:xfrm>
            <a:off x="335520" y="1268640"/>
            <a:ext cx="10738800" cy="50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04.05.2026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01 – Knowledge Test (MC)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11.05.2026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02 – Circular Economy (MC)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18.05.2026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03 – Lifecycle Assessment (LCA) – Part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25.05.2026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04 – Lifecycle Assessment (LCA) – Part 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01.06.2026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05 – IoT Sensing and Gathering 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08.06.2026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06 – IoT Data Processing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15.06.2026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Exercise 07 – IoT Security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22.06.2026 → Exercise 08 – TBA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29.06.2026 → Exercise 09 – TBA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06.07.2026 → Exercise 10 – TBA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CustomShape 1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Course Organization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CustomShape 2"/>
          <p:cNvSpPr/>
          <p:nvPr/>
        </p:nvSpPr>
        <p:spPr>
          <a:xfrm>
            <a:off x="335520" y="1268280"/>
            <a:ext cx="10738800" cy="50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Organization of the lecture: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are available on Github (</a:t>
            </a:r>
            <a:r>
              <a:rPr lang="en-US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report bugs!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Lectures and exercises as live stream (BBB – next slide)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 recordings will be available on StudIP and on Github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time slots 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=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Time for questions and eventual tutorials related to the exercises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 Write us an email: </a:t>
            </a: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etce-etce@tu-clausthal.de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←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</a:t>
            </a:r>
            <a:r>
              <a:rPr lang="en-GB" sz="1800" b="1" u="sng" strike="noStrike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only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respond to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emails written to this specific email address!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CustomShape 1"/>
          <p:cNvSpPr/>
          <p:nvPr/>
        </p:nvSpPr>
        <p:spPr>
          <a:xfrm>
            <a:off x="335520" y="764640"/>
            <a:ext cx="1073736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Dates/Times/Locations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CustomShape 2"/>
          <p:cNvSpPr/>
          <p:nvPr/>
        </p:nvSpPr>
        <p:spPr>
          <a:xfrm>
            <a:off x="335520" y="1268640"/>
            <a:ext cx="10737360" cy="50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Lecture: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2:15 pm to 3:45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6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/ Q&amp;A: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Monday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4 pm to 4:45 pm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(Berlin time) –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27.04.2026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to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13.07.2026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13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Location: Goslar Gotec (Am Stollen 19 C, 38640 Goslar, Germany) or via BigBlueButton (</a:t>
            </a:r>
            <a:r>
              <a:rPr lang="en-GB" sz="1800" b="0" u="sng" strike="noStrike">
                <a:solidFill>
                  <a:srgbClr val="0000FF"/>
                </a:solidFill>
                <a:effectLst/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CustomShape 1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CustomShape 2"/>
          <p:cNvSpPr/>
          <p:nvPr/>
        </p:nvSpPr>
        <p:spPr>
          <a:xfrm>
            <a:off x="335520" y="1268280"/>
            <a:ext cx="10738800" cy="50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Individual work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 group submissions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or coding exercises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are considered “self-evaluations” and are not submitted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7-14 days to submit (depending on the task)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deadline (coding exercises) is always Monday at 1:59pm (right before the 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next lecture)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Submission of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each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coding exercise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mandatory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1" u="sng" strike="noStrike">
                <a:solidFill>
                  <a:srgbClr val="C9211E"/>
                </a:solidFill>
                <a:effectLst/>
                <a:uFillTx/>
                <a:latin typeface="DejaVu Sans"/>
                <a:ea typeface="DejaVu Sans"/>
              </a:rPr>
              <a:t>You pass by receiving a grade greater than 0.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 will receive feedback on your submission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= learning feedback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CustomShape 1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CustomShape 2"/>
          <p:cNvSpPr/>
          <p:nvPr/>
        </p:nvSpPr>
        <p:spPr>
          <a:xfrm>
            <a:off x="335520" y="1600200"/>
            <a:ext cx="4465080" cy="46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exercises are graded semi-automatically. Due to this it is highly important that you follow the required submission format. Otherwise the grading process will fail and you will receive 0 points.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exercises will be provided in the form of Jupyter Notebooks, and provided to you via Cocalc      </a:t>
            </a:r>
            <a:r>
              <a:rPr lang="de-DE" sz="1800" b="0" u="sng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  <a:hlinkClick r:id="rId1"/>
              </a:rPr>
              <a:t>https://cocalc.gwdg.de/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, with additional instructions provided via 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  <a:hlinkClick r:id="rId2"/>
              </a:rPr>
              <a:t>GitHub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CustomShape 3"/>
          <p:cNvSpPr/>
          <p:nvPr/>
        </p:nvSpPr>
        <p:spPr>
          <a:xfrm>
            <a:off x="4655880" y="476640"/>
            <a:ext cx="242496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"/>
          <p:cNvPicPr/>
          <p:nvPr/>
        </p:nvPicPr>
        <p:blipFill>
          <a:blip r:embed="rId3"/>
          <a:stretch/>
        </p:blipFill>
        <p:spPr>
          <a:xfrm>
            <a:off x="5715000" y="1448280"/>
            <a:ext cx="4857480" cy="4760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CustomShape 10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CustomShape 11"/>
          <p:cNvSpPr/>
          <p:nvPr/>
        </p:nvSpPr>
        <p:spPr>
          <a:xfrm>
            <a:off x="335520" y="1600200"/>
            <a:ext cx="4465080" cy="46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Click on the “Academic ID”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CustomShape 13"/>
          <p:cNvSpPr/>
          <p:nvPr/>
        </p:nvSpPr>
        <p:spPr>
          <a:xfrm>
            <a:off x="4655880" y="476640"/>
            <a:ext cx="242496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" name=""/>
          <p:cNvPicPr/>
          <p:nvPr/>
        </p:nvPicPr>
        <p:blipFill>
          <a:blip r:embed="rId1"/>
          <a:stretch/>
        </p:blipFill>
        <p:spPr>
          <a:xfrm>
            <a:off x="5715000" y="1448280"/>
            <a:ext cx="4857480" cy="476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"/>
          <p:cNvSpPr/>
          <p:nvPr/>
        </p:nvSpPr>
        <p:spPr>
          <a:xfrm>
            <a:off x="5943600" y="553500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8C4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CustomShape 17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CustomShape 18"/>
          <p:cNvSpPr/>
          <p:nvPr/>
        </p:nvSpPr>
        <p:spPr>
          <a:xfrm>
            <a:off x="335520" y="1600200"/>
            <a:ext cx="4465080" cy="46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the “Academic ID”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Enter your university email address.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CustomShape 19"/>
          <p:cNvSpPr/>
          <p:nvPr/>
        </p:nvSpPr>
        <p:spPr>
          <a:xfrm>
            <a:off x="4655880" y="476640"/>
            <a:ext cx="242496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"/>
          <p:cNvPicPr/>
          <p:nvPr/>
        </p:nvPicPr>
        <p:blipFill>
          <a:blip r:embed="rId1"/>
          <a:srcRect l="0" t="0" r="0" b="39009"/>
          <a:stretch/>
        </p:blipFill>
        <p:spPr>
          <a:xfrm>
            <a:off x="5785920" y="1484280"/>
            <a:ext cx="5293440" cy="400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"/>
          <p:cNvSpPr/>
          <p:nvPr/>
        </p:nvSpPr>
        <p:spPr>
          <a:xfrm>
            <a:off x="5680800" y="434340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8C4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CustomShape 20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CustomShape 21"/>
          <p:cNvSpPr/>
          <p:nvPr/>
        </p:nvSpPr>
        <p:spPr>
          <a:xfrm>
            <a:off x="335520" y="1600200"/>
            <a:ext cx="4465080" cy="46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the “Academic ID”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Enter your university email address.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Choose “Technische Universität Clausthal” from the drop-down box.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CustomShape 22"/>
          <p:cNvSpPr/>
          <p:nvPr/>
        </p:nvSpPr>
        <p:spPr>
          <a:xfrm>
            <a:off x="4655880" y="476640"/>
            <a:ext cx="242496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"/>
          <p:cNvPicPr/>
          <p:nvPr/>
        </p:nvPicPr>
        <p:blipFill>
          <a:blip r:embed="rId1"/>
          <a:srcRect l="0" t="0" r="0" b="26233"/>
          <a:stretch/>
        </p:blipFill>
        <p:spPr>
          <a:xfrm>
            <a:off x="6172200" y="1600200"/>
            <a:ext cx="4876560" cy="426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"/>
          <p:cNvSpPr/>
          <p:nvPr/>
        </p:nvSpPr>
        <p:spPr>
          <a:xfrm>
            <a:off x="6172200" y="4716000"/>
            <a:ext cx="457200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8C4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23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CustomShape 24"/>
          <p:cNvSpPr/>
          <p:nvPr/>
        </p:nvSpPr>
        <p:spPr>
          <a:xfrm>
            <a:off x="335520" y="1600200"/>
            <a:ext cx="4465080" cy="46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Sign-in using your university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the “Academic ID” Logo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Enter your university email address.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Choose “Technische Universität Clausthal” from the drop-down box.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Login with your usual TU-Clausthal credentials.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CustomShape 25"/>
          <p:cNvSpPr/>
          <p:nvPr/>
        </p:nvSpPr>
        <p:spPr>
          <a:xfrm>
            <a:off x="4655880" y="476640"/>
            <a:ext cx="242496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"/>
          <p:cNvPicPr/>
          <p:nvPr/>
        </p:nvPicPr>
        <p:blipFill>
          <a:blip r:embed="rId1"/>
          <a:stretch/>
        </p:blipFill>
        <p:spPr>
          <a:xfrm>
            <a:off x="6172200" y="1600200"/>
            <a:ext cx="4343400" cy="4620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CustomShape 26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CustomShape 27"/>
          <p:cNvSpPr/>
          <p:nvPr/>
        </p:nvSpPr>
        <p:spPr>
          <a:xfrm>
            <a:off x="335520" y="1600200"/>
            <a:ext cx="10408680" cy="274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“ETCE SoSe26 Exercsies”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CustomShape 28"/>
          <p:cNvSpPr/>
          <p:nvPr/>
        </p:nvSpPr>
        <p:spPr>
          <a:xfrm>
            <a:off x="4655880" y="476640"/>
            <a:ext cx="242496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"/>
          <p:cNvPicPr/>
          <p:nvPr/>
        </p:nvPicPr>
        <p:blipFill>
          <a:blip r:embed="rId1"/>
          <a:srcRect l="0" t="0" r="16553" b="0"/>
          <a:stretch/>
        </p:blipFill>
        <p:spPr>
          <a:xfrm>
            <a:off x="1067400" y="4343400"/>
            <a:ext cx="9219600" cy="1962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ustomShape 29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CustomShape 30"/>
          <p:cNvSpPr/>
          <p:nvPr/>
        </p:nvSpPr>
        <p:spPr>
          <a:xfrm>
            <a:off x="335520" y="1600200"/>
            <a:ext cx="10408680" cy="274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“ETCE SoSe26 Exercsies”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Open the folder of the exercise you want to work 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ustomShape 31"/>
          <p:cNvSpPr/>
          <p:nvPr/>
        </p:nvSpPr>
        <p:spPr>
          <a:xfrm>
            <a:off x="4655880" y="476640"/>
            <a:ext cx="242496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" name=""/>
          <p:cNvPicPr/>
          <p:nvPr/>
        </p:nvPicPr>
        <p:blipFill>
          <a:blip r:embed="rId1"/>
          <a:stretch/>
        </p:blipFill>
        <p:spPr>
          <a:xfrm>
            <a:off x="2057400" y="3657600"/>
            <a:ext cx="6495840" cy="2685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ustomShape 32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CustomShape 33"/>
          <p:cNvSpPr/>
          <p:nvPr/>
        </p:nvSpPr>
        <p:spPr>
          <a:xfrm>
            <a:off x="335520" y="1600200"/>
            <a:ext cx="10408680" cy="274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“ETCE SoSe26 Exercsies”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Open the folder of the exercise you want to work 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Edit the file in the exercise folder as indicated in the exercise handout PDFs.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CustomShape 34"/>
          <p:cNvSpPr/>
          <p:nvPr/>
        </p:nvSpPr>
        <p:spPr>
          <a:xfrm>
            <a:off x="4655880" y="476640"/>
            <a:ext cx="242496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"/>
          <p:cNvPicPr/>
          <p:nvPr/>
        </p:nvPicPr>
        <p:blipFill>
          <a:blip r:embed="rId1"/>
          <a:stretch/>
        </p:blipFill>
        <p:spPr>
          <a:xfrm>
            <a:off x="2124360" y="3706200"/>
            <a:ext cx="5876640" cy="2694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ustomShape 35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CustomShape 36"/>
          <p:cNvSpPr/>
          <p:nvPr/>
        </p:nvSpPr>
        <p:spPr>
          <a:xfrm>
            <a:off x="335520" y="1600200"/>
            <a:ext cx="10408680" cy="274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Submitting Assignments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Click on “ETCE SoSe26 Exercsies”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Open the folder of the exercise you want to work 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OpenSymbol"/>
              <a:buAutoNum type="arabicPeriod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Edit the file in the exercise folder as indicated in the exercise handout PDFs.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CustomShape 37"/>
          <p:cNvSpPr/>
          <p:nvPr/>
        </p:nvSpPr>
        <p:spPr>
          <a:xfrm>
            <a:off x="4655880" y="476640"/>
            <a:ext cx="242496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" name=""/>
          <p:cNvPicPr/>
          <p:nvPr/>
        </p:nvPicPr>
        <p:blipFill>
          <a:blip r:embed="rId1"/>
          <a:srcRect l="0" t="24696" r="0" b="0"/>
          <a:stretch/>
        </p:blipFill>
        <p:spPr>
          <a:xfrm>
            <a:off x="5063400" y="3056400"/>
            <a:ext cx="5656680" cy="3657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CustomShape 38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CustomShape 39"/>
          <p:cNvSpPr/>
          <p:nvPr/>
        </p:nvSpPr>
        <p:spPr>
          <a:xfrm>
            <a:off x="335520" y="1600200"/>
            <a:ext cx="10408680" cy="274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CustomShape 40"/>
          <p:cNvSpPr/>
          <p:nvPr/>
        </p:nvSpPr>
        <p:spPr>
          <a:xfrm>
            <a:off x="4655880" y="476640"/>
            <a:ext cx="242496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CustomShape 41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CustomShape 42"/>
          <p:cNvSpPr/>
          <p:nvPr/>
        </p:nvSpPr>
        <p:spPr>
          <a:xfrm>
            <a:off x="335520" y="1600200"/>
            <a:ext cx="10408680" cy="274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Exercises, once graded will be released back to you.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ustomShape 43"/>
          <p:cNvSpPr/>
          <p:nvPr/>
        </p:nvSpPr>
        <p:spPr>
          <a:xfrm>
            <a:off x="4655880" y="476640"/>
            <a:ext cx="242496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"/>
          <p:cNvPicPr/>
          <p:nvPr/>
        </p:nvPicPr>
        <p:blipFill>
          <a:blip r:embed="rId1"/>
          <a:stretch/>
        </p:blipFill>
        <p:spPr>
          <a:xfrm>
            <a:off x="2372040" y="3657600"/>
            <a:ext cx="7229160" cy="2857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CustomShape 44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CustomShape 45"/>
          <p:cNvSpPr/>
          <p:nvPr/>
        </p:nvSpPr>
        <p:spPr>
          <a:xfrm>
            <a:off x="335520" y="1600200"/>
            <a:ext cx="10408680" cy="274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Exercises, once graded will be released back to you.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Your grade is provided inside the “GRADE.md” file.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CustomShape 46"/>
          <p:cNvSpPr/>
          <p:nvPr/>
        </p:nvSpPr>
        <p:spPr>
          <a:xfrm>
            <a:off x="4655880" y="476640"/>
            <a:ext cx="242496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"/>
          <p:cNvPicPr/>
          <p:nvPr/>
        </p:nvPicPr>
        <p:blipFill>
          <a:blip r:embed="rId1"/>
          <a:stretch/>
        </p:blipFill>
        <p:spPr>
          <a:xfrm>
            <a:off x="2971800" y="3777480"/>
            <a:ext cx="6172200" cy="2623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stomShape 47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Coding Exercise Submission and Grading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CustomShape 48"/>
          <p:cNvSpPr/>
          <p:nvPr/>
        </p:nvSpPr>
        <p:spPr>
          <a:xfrm>
            <a:off x="335520" y="1600200"/>
            <a:ext cx="10408680" cy="274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216000" indent="-21384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 2" charset="2"/>
              <a:buChar char="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 Grades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We will collect your exercises after the deadline has elapsed.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Please ensure to save all changes to the exercise folder BEFORE the deadline.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 submit your assignments via email/other means.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Exercises, once graded will be released back to you.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Your grade is provided inside the “GRADE.md” file.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Receiving a grade of 0 = FAIL.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CustomShape 49"/>
          <p:cNvSpPr/>
          <p:nvPr/>
        </p:nvSpPr>
        <p:spPr>
          <a:xfrm>
            <a:off x="4655880" y="476640"/>
            <a:ext cx="2424960" cy="35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CustomShape 1"/>
          <p:cNvSpPr/>
          <p:nvPr/>
        </p:nvSpPr>
        <p:spPr>
          <a:xfrm>
            <a:off x="335520" y="7682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ustomShape 2"/>
          <p:cNvSpPr/>
          <p:nvPr/>
        </p:nvSpPr>
        <p:spPr>
          <a:xfrm>
            <a:off x="388800" y="1488600"/>
            <a:ext cx="10712520" cy="35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4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Arial"/>
              </a:rPr>
              <a:t>Every student enrolled in this course is advised to take the knowledge quiz in first two weeks of </a:t>
            </a:r>
            <a:r>
              <a:rPr lang="de-DE" sz="14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Arial"/>
              </a:rPr>
              <a:t>the course.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Goal of the test: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To check the knowledge level of the student that is relevant to this course of study.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Preparation: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A review of basic concepts of Cryptography and Circular Economy is recommended for Week 1 and Week 2 </a:t>
            </a: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respectively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Knowledge quiz for Week 1 only tests your existing knowledge.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THE TEST IS JUST FOR YOU → WE CANNOT CHECK THE TEST RESULTS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CustomShape 15"/>
          <p:cNvSpPr/>
          <p:nvPr/>
        </p:nvSpPr>
        <p:spPr>
          <a:xfrm>
            <a:off x="335520" y="7682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CustomShape 16"/>
          <p:cNvSpPr/>
          <p:nvPr/>
        </p:nvSpPr>
        <p:spPr>
          <a:xfrm>
            <a:off x="388800" y="1488600"/>
            <a:ext cx="10712520" cy="35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4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Arial"/>
              </a:rPr>
              <a:t>Every student enrolled in this course is advised to take the knowledge quiz in first two weeks of the </a:t>
            </a:r>
            <a:r>
              <a:rPr lang="de-DE" sz="1400" b="1" u="none" strike="noStrike">
                <a:solidFill>
                  <a:srgbClr val="008C4F"/>
                </a:solidFill>
                <a:effectLst/>
                <a:uFillTx/>
                <a:latin typeface="DejaVu Sans"/>
                <a:ea typeface="Arial"/>
              </a:rPr>
              <a:t>course.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Goal of the test: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To check the knowledge level of the student that is relevant to this course of study.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Preparation: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A review of basic concepts of Cryptography and Circular Economy is recommended for Week 1 and Week 2 </a:t>
            </a: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respectively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Knowledge quiz for Week 1 only tests your existing knowledge.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de-DE" sz="1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Arial Unicode MS"/>
              </a:rPr>
              <a:t>THE TEST IS JUST FOR YOU → WE CANNOT CHECK THE TEST RESULTS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de-DE" sz="1400" b="1" u="none" strike="noStrike">
                <a:solidFill>
                  <a:srgbClr val="C9211E"/>
                </a:solidFill>
                <a:effectLst/>
                <a:uFillTx/>
                <a:latin typeface="DejaVu Sans"/>
                <a:ea typeface="Arial Unicode MS"/>
              </a:rPr>
              <a:t>Link for all multiple-choice exercises → </a:t>
            </a:r>
            <a:r>
              <a:rPr lang="de-DE" sz="1400" b="0" u="none" strike="noStrike">
                <a:solidFill>
                  <a:srgbClr val="C9211E"/>
                </a:solidFill>
                <a:effectLst/>
                <a:uFillTx/>
                <a:latin typeface="DejaVu Sans"/>
                <a:ea typeface="Arial Unicode MS"/>
              </a:rPr>
              <a:t>etce.etce-lab.de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ustomShape 1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"/>
          <p:cNvPicPr/>
          <p:nvPr/>
        </p:nvPicPr>
        <p:blipFill>
          <a:blip r:embed="rId1"/>
          <a:stretch/>
        </p:blipFill>
        <p:spPr>
          <a:xfrm>
            <a:off x="3200400" y="685800"/>
            <a:ext cx="5273640" cy="5998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CustomShape 1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Multiple-Choice Exercises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3" name=""/>
          <p:cNvPicPr/>
          <p:nvPr/>
        </p:nvPicPr>
        <p:blipFill>
          <a:blip r:embed="rId1"/>
          <a:stretch/>
        </p:blipFill>
        <p:spPr>
          <a:xfrm>
            <a:off x="1600200" y="1600200"/>
            <a:ext cx="8359920" cy="4628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ustomShape 1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Examination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CustomShape 2"/>
          <p:cNvSpPr/>
          <p:nvPr/>
        </p:nvSpPr>
        <p:spPr>
          <a:xfrm>
            <a:off x="335520" y="1268640"/>
            <a:ext cx="10738800" cy="50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Prerequisite for admission to the final exam (all criteria have to be fulfilled):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Submit all exercises (except for the MC exercises).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Monotype Sorts" charset="2"/>
              <a:buChar char="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Final exam: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Written exam (120min) via Moodle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Date → Most likely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03.08.2026 from 2 pm – 4 pm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CustomShape 1"/>
          <p:cNvSpPr/>
          <p:nvPr/>
        </p:nvSpPr>
        <p:spPr>
          <a:xfrm>
            <a:off x="335520" y="764640"/>
            <a:ext cx="107370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CustomShape 2"/>
          <p:cNvSpPr/>
          <p:nvPr/>
        </p:nvSpPr>
        <p:spPr>
          <a:xfrm>
            <a:off x="335520" y="1268280"/>
            <a:ext cx="10737000" cy="502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Slides with the self-study star indicate optional/additional study material that is </a:t>
            </a:r>
            <a:r>
              <a:rPr lang="en-GB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not</a:t>
            </a: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mandatory but could be helpful or interesting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CustomShape 3"/>
          <p:cNvSpPr/>
          <p:nvPr/>
        </p:nvSpPr>
        <p:spPr>
          <a:xfrm>
            <a:off x="6285600" y="2132640"/>
            <a:ext cx="506520" cy="48636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CustomShape 4"/>
          <p:cNvSpPr/>
          <p:nvPr/>
        </p:nvSpPr>
        <p:spPr>
          <a:xfrm>
            <a:off x="4089960" y="2247480"/>
            <a:ext cx="2274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Self-Study Star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→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CustomShape 1"/>
          <p:cNvSpPr/>
          <p:nvPr/>
        </p:nvSpPr>
        <p:spPr>
          <a:xfrm>
            <a:off x="335520" y="764640"/>
            <a:ext cx="107370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CustomShape 2"/>
          <p:cNvSpPr/>
          <p:nvPr/>
        </p:nvSpPr>
        <p:spPr>
          <a:xfrm>
            <a:off x="335520" y="1268640"/>
            <a:ext cx="10737000" cy="502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This course is not based on a single book and you 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 not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need to buy a book to pass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exam.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Limits to Growth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(1972).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Donella H. Meadows, Jorgen Randers, and Dennis L. Meadows.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Limits To Growth: The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30-Year Update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(2004).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Baccini et al.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Metabolism of the Anthroposphere: Analysis, Evaluation, Design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(2012).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Walter R. Stahel.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Circular Economy: A User's Guide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W. Brian Arthur.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Nature of Technology: What It Is and How it Evolves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(2011).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David Wallace-Wells.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The Uninhabitable Earth, Annotated Edition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(2017).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82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(German) Stefan Rahmstorf, Hans Joachim Schellnhuber. </a:t>
            </a:r>
            <a:r>
              <a:rPr lang="en-US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Der Klimawandel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(2019).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de-DE" sz="24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Literature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335520" y="1268640"/>
            <a:ext cx="10738800" cy="50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M.A. Khan, M.T. Quasim, F. Algarni, A. Alharthi.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Decentralised Internet of Things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(2020).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Dimitrios Serpanos und Marilyn Claire Wolf. I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nternet-of-Things (IoT) Systems Architectures, Algorithms, Methodologies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(2018).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Perry Lea.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Internet of Things for Architects: Architecting IoT solutions by implementing sensors, communication infrastructure, edge computing, analytics, and security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(2018).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5120" indent="-18972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115000"/>
              <a:buFont typeface="Wingdings" charset="2"/>
              <a:buChar char="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Dan Boneh, Amit Sahai und Brent Waters. </a:t>
            </a:r>
            <a:r>
              <a:rPr lang="de-DE" sz="1800" b="0" i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Functional Encryption: Definitions and Challenges</a:t>
            </a: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 (2010).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CustomShape 1"/>
          <p:cNvSpPr/>
          <p:nvPr/>
        </p:nvSpPr>
        <p:spPr>
          <a:xfrm>
            <a:off x="335520" y="1268640"/>
            <a:ext cx="10738800" cy="502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pos="0" algn="l"/>
              </a:tabLst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DejaVu Sans"/>
                <a:ea typeface="DejaVu Sans"/>
              </a:rPr>
              <a:t>Questions?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CustomShape 2"/>
          <p:cNvSpPr/>
          <p:nvPr/>
        </p:nvSpPr>
        <p:spPr>
          <a:xfrm>
            <a:off x="335520" y="764640"/>
            <a:ext cx="107388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549</TotalTime>
  <Application>LibreOffice/26.2.2.2$Linux_X86_64 LibreOffice_project/620$Build-2</Application>
  <AppVersion>15.0000</AppVersion>
  <Words>2302</Words>
  <Paragraphs>229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/>
  <dcterms:modified xsi:type="dcterms:W3CDTF">2026-04-27T12:05:22Z</dcterms:modified>
  <cp:revision>3040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Breitbild</vt:lpwstr>
  </property>
  <property fmtid="{D5CDD505-2E9C-101B-9397-08002B2CF9AE}" pid="3" name="Slides">
    <vt:i4>29</vt:i4>
  </property>
</Properties>
</file>