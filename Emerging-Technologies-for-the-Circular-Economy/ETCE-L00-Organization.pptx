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79E444B-E30D-475B-B15F-6ACF850D7C9B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6640" cy="3754800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0280" cy="450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ustomShape 3"/>
          <p:cNvSpPr/>
          <p:nvPr/>
        </p:nvSpPr>
        <p:spPr>
          <a:xfrm>
            <a:off x="4399200" y="9555480"/>
            <a:ext cx="335556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E1568866-2270-4426-B4FF-0227019D46C8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6640" cy="375480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0280" cy="450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3"/>
          <p:cNvSpPr/>
          <p:nvPr/>
        </p:nvSpPr>
        <p:spPr>
          <a:xfrm>
            <a:off x="4399200" y="9555480"/>
            <a:ext cx="335556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4FD8CFF9-9021-42A4-B8C4-0A87BADA8CE7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6640" cy="375480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0280" cy="450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CustomShape 9"/>
          <p:cNvSpPr/>
          <p:nvPr/>
        </p:nvSpPr>
        <p:spPr>
          <a:xfrm>
            <a:off x="4399200" y="9555480"/>
            <a:ext cx="335556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DA4F1473-DE45-45FD-9C43-25034E849BDD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/>
          <p:cNvSpPr/>
          <p:nvPr/>
        </p:nvSpPr>
        <p:spPr>
          <a:xfrm>
            <a:off x="11444760" y="0"/>
            <a:ext cx="735120" cy="68439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" name="CustomShape 2"/>
          <p:cNvSpPr/>
          <p:nvPr/>
        </p:nvSpPr>
        <p:spPr>
          <a:xfrm>
            <a:off x="11438640" y="6453360"/>
            <a:ext cx="752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BE718C1-133E-4566-B2A3-203333DA34A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CustomShape 3"/>
          <p:cNvSpPr/>
          <p:nvPr/>
        </p:nvSpPr>
        <p:spPr>
          <a:xfrm>
            <a:off x="912240" y="1268280"/>
            <a:ext cx="92019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5960" cy="555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1800" cy="50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CustomShape 4"/>
          <p:cNvSpPr/>
          <p:nvPr/>
        </p:nvSpPr>
        <p:spPr>
          <a:xfrm>
            <a:off x="912240" y="1268280"/>
            <a:ext cx="92019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" name="CustomShape 5"/>
          <p:cNvSpPr/>
          <p:nvPr/>
        </p:nvSpPr>
        <p:spPr>
          <a:xfrm>
            <a:off x="11444760" y="0"/>
            <a:ext cx="735120" cy="68439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" name="CustomShape 6"/>
          <p:cNvSpPr/>
          <p:nvPr/>
        </p:nvSpPr>
        <p:spPr>
          <a:xfrm>
            <a:off x="0" y="6642720"/>
            <a:ext cx="121780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stomShape 1"/>
          <p:cNvSpPr/>
          <p:nvPr/>
        </p:nvSpPr>
        <p:spPr>
          <a:xfrm>
            <a:off x="11444760" y="0"/>
            <a:ext cx="735120" cy="68439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" name="CustomShape 2"/>
          <p:cNvSpPr/>
          <p:nvPr/>
        </p:nvSpPr>
        <p:spPr>
          <a:xfrm>
            <a:off x="11438640" y="6453360"/>
            <a:ext cx="752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1B6D0F4-E45F-40E5-9A20-77B6880BA39A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CustomShape 3"/>
          <p:cNvSpPr/>
          <p:nvPr/>
        </p:nvSpPr>
        <p:spPr>
          <a:xfrm>
            <a:off x="912240" y="1268280"/>
            <a:ext cx="92019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5960" cy="555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1800" cy="50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CustomShape 4"/>
          <p:cNvSpPr/>
          <p:nvPr/>
        </p:nvSpPr>
        <p:spPr>
          <a:xfrm>
            <a:off x="11444760" y="0"/>
            <a:ext cx="735120" cy="684396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" name="CustomShape 5"/>
          <p:cNvSpPr/>
          <p:nvPr/>
        </p:nvSpPr>
        <p:spPr>
          <a:xfrm>
            <a:off x="11438640" y="6453360"/>
            <a:ext cx="752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E7EF338-C880-4B08-AA39-07CE3E39630F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CustomShape 6"/>
          <p:cNvSpPr/>
          <p:nvPr/>
        </p:nvSpPr>
        <p:spPr>
          <a:xfrm>
            <a:off x="0" y="6642720"/>
            <a:ext cx="121780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GB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creativecommons.org/licenses/by-sa/4.0/" TargetMode="External"/><Relationship Id="rId2" Type="http://schemas.openxmlformats.org/officeDocument/2006/relationships/hyperlink" Target="https://github.com/ETCE-LAB/teaching-material/tree/master/Emerging-Technologies-for-the-Circular-Economy#readme" TargetMode="External"/><Relationship Id="rId3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ETCE-LAB/teaching-material/tree/master/Emerging-Technologies-for-the-Circular-Economy#readme" TargetMode="External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rtl-yv4-kkk" TargetMode="External"/><Relationship Id="rId2" Type="http://schemas.openxmlformats.org/officeDocument/2006/relationships/hyperlink" Target="https://webconf.tu-clausthal.de/b/ben-rtl-yv4-kkk" TargetMode="External"/><Relationship Id="rId3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jupyter-cloud.gwdg.de/" TargetMode="External"/><Relationship Id="rId2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ustomShape 1"/>
          <p:cNvSpPr/>
          <p:nvPr/>
        </p:nvSpPr>
        <p:spPr>
          <a:xfrm>
            <a:off x="527400" y="1412640"/>
            <a:ext cx="103550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CustomShape 2"/>
          <p:cNvSpPr/>
          <p:nvPr/>
        </p:nvSpPr>
        <p:spPr>
          <a:xfrm>
            <a:off x="527400" y="2852640"/>
            <a:ext cx="10355040" cy="23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Chintal Patel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ustomShape 1"/>
          <p:cNvSpPr/>
          <p:nvPr/>
        </p:nvSpPr>
        <p:spPr>
          <a:xfrm>
            <a:off x="335520" y="764640"/>
            <a:ext cx="107370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fr-FR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License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CustomShape 2"/>
          <p:cNvSpPr/>
          <p:nvPr/>
        </p:nvSpPr>
        <p:spPr>
          <a:xfrm>
            <a:off x="335520" y="1268640"/>
            <a:ext cx="10737000" cy="502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CustomShape 3"/>
          <p:cNvSpPr/>
          <p:nvPr/>
        </p:nvSpPr>
        <p:spPr>
          <a:xfrm>
            <a:off x="336600" y="3429000"/>
            <a:ext cx="10854720" cy="20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27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work is licensed under a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Creative Commons Attribution-ShareAlike 4.0 International License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 To view a copy of this license, please refer to </a:t>
            </a:r>
            <a:r>
              <a:rPr lang="en-US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https://creativecommons.org/licenses/by-sa/4.0/</a:t>
            </a:r>
            <a:r>
              <a:rPr lang="en-US" sz="2000" b="0" u="none" strike="noStrike">
                <a:solidFill>
                  <a:srgbClr val="0369a3"/>
                </a:solidFill>
                <a:effectLst/>
                <a:uFillTx/>
                <a:latin typeface="DejaVu Sans"/>
                <a:ea typeface="DejaVu Sans"/>
              </a:rPr>
              <a:t> 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27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Updated versions of these slides will be available in our </a:t>
            </a:r>
            <a:r>
              <a:rPr lang="en-US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 repository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CustomShape 1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Grafik 2"/>
          <p:cNvPicPr/>
          <p:nvPr/>
        </p:nvPicPr>
        <p:blipFill>
          <a:blip r:embed="rId1"/>
          <a:stretch/>
        </p:blipFill>
        <p:spPr>
          <a:xfrm>
            <a:off x="4923720" y="1257120"/>
            <a:ext cx="1461960" cy="216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Grafik 11"/>
          <p:cNvPicPr/>
          <p:nvPr/>
        </p:nvPicPr>
        <p:blipFill>
          <a:blip r:embed="rId2"/>
          <a:stretch/>
        </p:blipFill>
        <p:spPr>
          <a:xfrm>
            <a:off x="2207880" y="4110120"/>
            <a:ext cx="1775880" cy="176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CustomShape 2"/>
          <p:cNvSpPr/>
          <p:nvPr/>
        </p:nvSpPr>
        <p:spPr>
          <a:xfrm>
            <a:off x="3859200" y="3373200"/>
            <a:ext cx="362664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CustomShape 4"/>
          <p:cNvSpPr/>
          <p:nvPr/>
        </p:nvSpPr>
        <p:spPr>
          <a:xfrm>
            <a:off x="1312200" y="5920200"/>
            <a:ext cx="362664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"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CustomShape 5"/>
          <p:cNvSpPr/>
          <p:nvPr/>
        </p:nvSpPr>
        <p:spPr>
          <a:xfrm>
            <a:off x="1312200" y="5807160"/>
            <a:ext cx="362664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CustomShape 12"/>
          <p:cNvSpPr/>
          <p:nvPr/>
        </p:nvSpPr>
        <p:spPr>
          <a:xfrm>
            <a:off x="4860000" y="5920200"/>
            <a:ext cx="362664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CustomShape 14"/>
          <p:cNvSpPr/>
          <p:nvPr/>
        </p:nvSpPr>
        <p:spPr>
          <a:xfrm>
            <a:off x="6300000" y="5807160"/>
            <a:ext cx="3626640" cy="6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322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7203960" y="4143960"/>
            <a:ext cx="1795320" cy="179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ustomShape 1"/>
          <p:cNvSpPr/>
          <p:nvPr/>
        </p:nvSpPr>
        <p:spPr>
          <a:xfrm>
            <a:off x="542880" y="721800"/>
            <a:ext cx="103435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CustomShape 2"/>
          <p:cNvSpPr/>
          <p:nvPr/>
        </p:nvSpPr>
        <p:spPr>
          <a:xfrm>
            <a:off x="451800" y="1709280"/>
            <a:ext cx="8210880" cy="4339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CustomShape 3"/>
          <p:cNvSpPr/>
          <p:nvPr/>
        </p:nvSpPr>
        <p:spPr>
          <a:xfrm>
            <a:off x="609480" y="1769400"/>
            <a:ext cx="10573920" cy="48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Sustainable and resilient food production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(WS – M.Sc.)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CustomShape 1"/>
          <p:cNvSpPr/>
          <p:nvPr/>
        </p:nvSpPr>
        <p:spPr>
          <a:xfrm>
            <a:off x="542880" y="721800"/>
            <a:ext cx="103435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CustomShape 2"/>
          <p:cNvSpPr/>
          <p:nvPr/>
        </p:nvSpPr>
        <p:spPr>
          <a:xfrm>
            <a:off x="451800" y="1709280"/>
            <a:ext cx="8210880" cy="4339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" name="CustomShape 3"/>
          <p:cNvSpPr/>
          <p:nvPr/>
        </p:nvSpPr>
        <p:spPr>
          <a:xfrm>
            <a:off x="609480" y="1769400"/>
            <a:ext cx="10573920" cy="48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lang="en-GB" sz="20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lang="en-GB" sz="16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6"/>
          <p:cNvSpPr/>
          <p:nvPr/>
        </p:nvSpPr>
        <p:spPr>
          <a:xfrm>
            <a:off x="542880" y="721800"/>
            <a:ext cx="103435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CustomShape 7"/>
          <p:cNvSpPr/>
          <p:nvPr/>
        </p:nvSpPr>
        <p:spPr>
          <a:xfrm>
            <a:off x="451800" y="1709280"/>
            <a:ext cx="8210880" cy="4339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" name="CustomShape 8"/>
          <p:cNvSpPr/>
          <p:nvPr/>
        </p:nvSpPr>
        <p:spPr>
          <a:xfrm>
            <a:off x="609480" y="1769400"/>
            <a:ext cx="10573920" cy="484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ustomShape 1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2"/>
          <p:cNvSpPr/>
          <p:nvPr/>
        </p:nvSpPr>
        <p:spPr>
          <a:xfrm>
            <a:off x="335520" y="2408400"/>
            <a:ext cx="10739160" cy="38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Basic understanding of the concept of the circular economy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Basic understanding of emerging technologies at the intersection of digital technologies and sustainability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and overview of the Internet of Things and related concepts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Ability to design smart systems and applications in the context of connected sensor systems and other stakeholders.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Experience in prototyping applications and systems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CustomShape 1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CustomShape 2"/>
          <p:cNvSpPr/>
          <p:nvPr/>
        </p:nvSpPr>
        <p:spPr>
          <a:xfrm>
            <a:off x="335520" y="1268640"/>
            <a:ext cx="107391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 → Organization (L00)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04.05.2026 → Introduction (L01)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 → Circular Economy (L02)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→ Lifecycle Assessment – LCA I (L03)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→ Lifecycle Assessment – LCA 2 (L04)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→ Introduction to the Internet of Things (L05)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→ Internet of Things – Communication (L06) + Security and Privacy (L07)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→ Internet of Things – Data Processing and Big Data (L08)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→ IoT Applications I – Resilient and Sustainable Food Production (L09)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IoT Applications II – Biodiversity Monitoring (L10)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Digital Technologies and Greenwashing (L11)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20.07.2026 → Exam Q&amp;A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CustomShape 1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CustomShape 2"/>
          <p:cNvSpPr/>
          <p:nvPr/>
        </p:nvSpPr>
        <p:spPr>
          <a:xfrm>
            <a:off x="335520" y="1268640"/>
            <a:ext cx="107391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15.04.2024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01 – Knowledge Test (MC)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22.04.2024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02 – Circular Economy (MC)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29.04.2024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03 – Lifecycle Assessment (LCA)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06.05.2024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04 – IoT Sensing and Gathering Data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13.05.2024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05 – IoT Data Processing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27.05.2024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06 – IoT Security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03.06.2024 → Exercise 07 – Industrial IoT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10.06.2024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08 – Blockchain (MC)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17.06.2024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09 – Blockchain Basics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24.06.2024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10 – Blockchain Conensus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01.07.2024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11 – Blockchain Tokens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5040000" y="1080000"/>
            <a:ext cx="1799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CustomShape 1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CustomShape 2"/>
          <p:cNvSpPr/>
          <p:nvPr/>
        </p:nvSpPr>
        <p:spPr>
          <a:xfrm>
            <a:off x="335520" y="1268280"/>
            <a:ext cx="107391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available on Github (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report bugs!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 and exercises as live stream (BBB – next slide)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recordings will be available on StudIP and on Github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etce-etce@tu-clausthal.de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CustomShape 1"/>
          <p:cNvSpPr/>
          <p:nvPr/>
        </p:nvSpPr>
        <p:spPr>
          <a:xfrm>
            <a:off x="335520" y="764640"/>
            <a:ext cx="1073772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CustomShape 2"/>
          <p:cNvSpPr/>
          <p:nvPr/>
        </p:nvSpPr>
        <p:spPr>
          <a:xfrm>
            <a:off x="335520" y="1268640"/>
            <a:ext cx="10737720" cy="50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2:15 pm to 3:45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 pm to 4:45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CustomShape 2"/>
          <p:cNvSpPr/>
          <p:nvPr/>
        </p:nvSpPr>
        <p:spPr>
          <a:xfrm>
            <a:off x="335520" y="1268280"/>
            <a:ext cx="107391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 group submissions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coding tasks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7-14 days to submit (depending on the task)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deadline is always Monday at 1:59pm (right before the next lecture)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mandatory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You pass by submitting an exercise – even if it is an empty page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receive feedback on your submission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= learning feedback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5040000" y="1080000"/>
            <a:ext cx="5760000" cy="26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TODO – please clarify somewhere how the MC work → self-evaluating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ustomShape 1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CustomShape 2"/>
          <p:cNvSpPr/>
          <p:nvPr/>
        </p:nvSpPr>
        <p:spPr>
          <a:xfrm>
            <a:off x="335520" y="1268640"/>
            <a:ext cx="107391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exercises are graded semi-automatically. Due to this it is highly important that you follow the required submission format. Otherwise the grading process will fail and you will receive 0 points.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exercises will be provided in the form of Jupyter Notebooks, and provided to you via Moodle and on our GitHub repository.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can run these notebooks on the GWDG’s jupyter cloud service: </a:t>
            </a:r>
            <a:r>
              <a:rPr lang="de-DE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https://jupyter-cloud.gwdg.de/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, or on your local machine.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Once you have finished the editing the Jupyter notebook, submit your edited copy of the notebook back to the Moodle Exercise page.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which are not valid Jupyter Notebook files will be marked as having failed.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CustomShape 3"/>
          <p:cNvSpPr/>
          <p:nvPr/>
        </p:nvSpPr>
        <p:spPr>
          <a:xfrm>
            <a:off x="4655880" y="476640"/>
            <a:ext cx="242532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" name=""/>
          <p:cNvSpPr/>
          <p:nvPr/>
        </p:nvSpPr>
        <p:spPr>
          <a:xfrm>
            <a:off x="5040000" y="1080000"/>
            <a:ext cx="1799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ustomShape 1"/>
          <p:cNvSpPr/>
          <p:nvPr/>
        </p:nvSpPr>
        <p:spPr>
          <a:xfrm>
            <a:off x="335520" y="7682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CustomShape 2"/>
          <p:cNvSpPr/>
          <p:nvPr/>
        </p:nvSpPr>
        <p:spPr>
          <a:xfrm>
            <a:off x="388800" y="1488600"/>
            <a:ext cx="1071288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5040000" y="1080000"/>
            <a:ext cx="1799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CustomShape 15"/>
          <p:cNvSpPr/>
          <p:nvPr/>
        </p:nvSpPr>
        <p:spPr>
          <a:xfrm>
            <a:off x="335520" y="7682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CustomShape 16"/>
          <p:cNvSpPr/>
          <p:nvPr/>
        </p:nvSpPr>
        <p:spPr>
          <a:xfrm>
            <a:off x="388800" y="1488600"/>
            <a:ext cx="1071288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course. 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respectively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de-DE" sz="1400" b="1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Link for all multiple-choice exercises → </a:t>
            </a:r>
            <a:r>
              <a:rPr lang="de-DE" sz="1400" b="0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etce.etce-lab.de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5040000" y="1080000"/>
            <a:ext cx="1799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CustomShape 1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"/>
          <p:cNvPicPr/>
          <p:nvPr/>
        </p:nvPicPr>
        <p:blipFill>
          <a:blip r:embed="rId1"/>
          <a:stretch/>
        </p:blipFill>
        <p:spPr>
          <a:xfrm>
            <a:off x="3200400" y="685800"/>
            <a:ext cx="5274000" cy="599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"/>
          <p:cNvSpPr/>
          <p:nvPr/>
        </p:nvSpPr>
        <p:spPr>
          <a:xfrm>
            <a:off x="5040000" y="1080000"/>
            <a:ext cx="1799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CustomShape 1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"/>
          <p:cNvPicPr/>
          <p:nvPr/>
        </p:nvPicPr>
        <p:blipFill>
          <a:blip r:embed="rId1"/>
          <a:stretch/>
        </p:blipFill>
        <p:spPr>
          <a:xfrm>
            <a:off x="1600200" y="1600200"/>
            <a:ext cx="8360280" cy="462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"/>
          <p:cNvSpPr/>
          <p:nvPr/>
        </p:nvSpPr>
        <p:spPr>
          <a:xfrm>
            <a:off x="5040000" y="1080000"/>
            <a:ext cx="1799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GB" sz="4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TODO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CustomShape 1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CustomShape 2"/>
          <p:cNvSpPr/>
          <p:nvPr/>
        </p:nvSpPr>
        <p:spPr>
          <a:xfrm>
            <a:off x="335520" y="1268640"/>
            <a:ext cx="107391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 for admission to the final exam (all criteria have to be fulfilled):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exercises (except for the MC exercises).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Written exam (120min) via Moodle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 → Most likely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03.08.2026 from 2 pm – 4 pm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CustomShape 1"/>
          <p:cNvSpPr/>
          <p:nvPr/>
        </p:nvSpPr>
        <p:spPr>
          <a:xfrm>
            <a:off x="335520" y="764640"/>
            <a:ext cx="1073736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ustomShape 2"/>
          <p:cNvSpPr/>
          <p:nvPr/>
        </p:nvSpPr>
        <p:spPr>
          <a:xfrm>
            <a:off x="335520" y="1268280"/>
            <a:ext cx="10737360" cy="50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or interesting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3"/>
          <p:cNvSpPr/>
          <p:nvPr/>
        </p:nvSpPr>
        <p:spPr>
          <a:xfrm>
            <a:off x="6285600" y="2132640"/>
            <a:ext cx="506880" cy="48672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" name="CustomShape 4"/>
          <p:cNvSpPr/>
          <p:nvPr/>
        </p:nvSpPr>
        <p:spPr>
          <a:xfrm>
            <a:off x="4089960" y="2247480"/>
            <a:ext cx="2275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CustomShape 1"/>
          <p:cNvSpPr/>
          <p:nvPr/>
        </p:nvSpPr>
        <p:spPr>
          <a:xfrm>
            <a:off x="335520" y="764640"/>
            <a:ext cx="1073736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ustomShape 2"/>
          <p:cNvSpPr/>
          <p:nvPr/>
        </p:nvSpPr>
        <p:spPr>
          <a:xfrm>
            <a:off x="335520" y="1268640"/>
            <a:ext cx="10737360" cy="50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(1972).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Limits To Growth: The 30-Year Update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(2004).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Baccini et al.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Metabolism of the Anthroposphere: Analysis, Evaluation, Design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(2012).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Walter R. Stahel.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Circular Economy: A User's Guide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W. Brian Arthur.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Nature of Technology: What It Is and How it Evolves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(2011).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David Wallace-Wells.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Uninhabitable Earth, Annotated Edition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(2017).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(German) Stefan Rahmstorf, Hans Joachim Schellnhuber.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Der Klimawandel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CustomShape 1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335520" y="1268640"/>
            <a:ext cx="107391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M.A. Khan, M.T. Quasim, F. Algarni, A. Alharthi.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Decentralised Internet of Things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(2020).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Dimitrios Serpanos und Marilyn Claire Wolf. I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nternet-of-Things (IoT) Systems Architectures, Algorithms, Methodologies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Perry Lea.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Internet of Things for Architects: Architecting IoT solutions by implementing sensors, communication infrastructure, edge computing, analytics, and security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Dan Boneh, Amit Sahai und Brent Waters.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Functional Encryption: Definitions and Challenges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ustomShape 1"/>
          <p:cNvSpPr/>
          <p:nvPr/>
        </p:nvSpPr>
        <p:spPr>
          <a:xfrm>
            <a:off x="335520" y="1268640"/>
            <a:ext cx="107391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2"/>
          <p:cNvSpPr/>
          <p:nvPr/>
        </p:nvSpPr>
        <p:spPr>
          <a:xfrm>
            <a:off x="335520" y="764640"/>
            <a:ext cx="10739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455</TotalTime>
  <Application>LibreOffice/25.8.5.2$Linux_X86_64 LibreOffice_project/580$Build-2</Application>
  <AppVersion>15.0000</AppVersion>
  <Words>2302</Words>
  <Paragraphs>229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>Benjamin Leiding</cp:lastModifiedBy>
  <dcterms:modified xsi:type="dcterms:W3CDTF">2026-04-27T10:17:29Z</dcterms:modified>
  <cp:revision>3016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Breitbild</vt:lpwstr>
  </property>
  <property fmtid="{D5CDD505-2E9C-101B-9397-08002B2CF9AE}" pid="3" name="Slides">
    <vt:i4>29</vt:i4>
  </property>
</Properties>
</file>