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F53C510-9DAA-4D4A-AE43-3614C91D1CE6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7000" cy="375516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640" cy="45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3"/>
          <p:cNvSpPr/>
          <p:nvPr/>
        </p:nvSpPr>
        <p:spPr>
          <a:xfrm>
            <a:off x="4399200" y="9555480"/>
            <a:ext cx="3355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52C8C152-FFA5-4725-AC3B-3046F341062A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7000" cy="375516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640" cy="45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3"/>
          <p:cNvSpPr/>
          <p:nvPr/>
        </p:nvSpPr>
        <p:spPr>
          <a:xfrm>
            <a:off x="4399200" y="9555480"/>
            <a:ext cx="3355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6E714DA-6665-4011-AEB3-01BA468D3BB3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7000" cy="375516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640" cy="45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ustomShape 9"/>
          <p:cNvSpPr/>
          <p:nvPr/>
        </p:nvSpPr>
        <p:spPr>
          <a:xfrm>
            <a:off x="4399200" y="9555480"/>
            <a:ext cx="3355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FCD11DC7-F3A4-463F-9584-DD56F89D8616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5480" cy="68443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0DD334B-B2E1-490D-B4DD-CBBF9A095BB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232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6320" cy="55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2160" cy="50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232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5480" cy="68443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8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5480" cy="68443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09BED17-C2DB-4A0A-8F8B-D93E47F57D1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232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6320" cy="55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2160" cy="50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11444760" y="0"/>
            <a:ext cx="735480" cy="68443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38640" y="6453360"/>
            <a:ext cx="752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A74F8D6-0A22-43E8-9DBD-3DA31DCF3451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78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Emerging-Technologies-for-the-Circular-Economy#readme" TargetMode="Externa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Emerging-Technologies-for-the-Circular-Economy#readme" TargetMode="Externa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jupyter-cloud.gwdg.de/" TargetMode="External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527400" y="1412640"/>
            <a:ext cx="103554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527400" y="2852640"/>
            <a:ext cx="10355400" cy="23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Chintal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335520" y="764640"/>
            <a:ext cx="1073736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fr-FR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335520" y="1268640"/>
            <a:ext cx="10737360" cy="50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336600" y="3429000"/>
            <a:ext cx="10855080" cy="204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2000" b="0" u="none" strike="noStrike">
                <a:solidFill>
                  <a:srgbClr val="0369a3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2"/>
          <p:cNvPicPr/>
          <p:nvPr/>
        </p:nvPicPr>
        <p:blipFill>
          <a:blip r:embed="rId1"/>
          <a:stretch/>
        </p:blipFill>
        <p:spPr>
          <a:xfrm>
            <a:off x="4923720" y="1257120"/>
            <a:ext cx="1462320" cy="216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11"/>
          <p:cNvPicPr/>
          <p:nvPr/>
        </p:nvPicPr>
        <p:blipFill>
          <a:blip r:embed="rId2"/>
          <a:stretch/>
        </p:blipFill>
        <p:spPr>
          <a:xfrm>
            <a:off x="2207880" y="4110120"/>
            <a:ext cx="1776240" cy="176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3859200" y="3373200"/>
            <a:ext cx="3627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stomShape 4"/>
          <p:cNvSpPr/>
          <p:nvPr/>
        </p:nvSpPr>
        <p:spPr>
          <a:xfrm>
            <a:off x="1312200" y="5920200"/>
            <a:ext cx="3627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312200" y="5807160"/>
            <a:ext cx="3627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stomShape 12"/>
          <p:cNvSpPr/>
          <p:nvPr/>
        </p:nvSpPr>
        <p:spPr>
          <a:xfrm>
            <a:off x="4860000" y="5920200"/>
            <a:ext cx="3627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CustomShape 14"/>
          <p:cNvSpPr/>
          <p:nvPr/>
        </p:nvSpPr>
        <p:spPr>
          <a:xfrm>
            <a:off x="6300000" y="5807160"/>
            <a:ext cx="3627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7203960" y="4143960"/>
            <a:ext cx="1795680" cy="179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542880" y="721800"/>
            <a:ext cx="10343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stomShape 2"/>
          <p:cNvSpPr/>
          <p:nvPr/>
        </p:nvSpPr>
        <p:spPr>
          <a:xfrm>
            <a:off x="451800" y="1709280"/>
            <a:ext cx="8211240" cy="43394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3"/>
          <p:cNvSpPr/>
          <p:nvPr/>
        </p:nvSpPr>
        <p:spPr>
          <a:xfrm>
            <a:off x="609480" y="1769400"/>
            <a:ext cx="10574280" cy="48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542880" y="721800"/>
            <a:ext cx="10343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ustomShape 2"/>
          <p:cNvSpPr/>
          <p:nvPr/>
        </p:nvSpPr>
        <p:spPr>
          <a:xfrm>
            <a:off x="451800" y="1709280"/>
            <a:ext cx="8211240" cy="43394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CustomShape 3"/>
          <p:cNvSpPr/>
          <p:nvPr/>
        </p:nvSpPr>
        <p:spPr>
          <a:xfrm>
            <a:off x="609480" y="1769400"/>
            <a:ext cx="10574280" cy="48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6"/>
          <p:cNvSpPr/>
          <p:nvPr/>
        </p:nvSpPr>
        <p:spPr>
          <a:xfrm>
            <a:off x="542880" y="721800"/>
            <a:ext cx="10343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7"/>
          <p:cNvSpPr/>
          <p:nvPr/>
        </p:nvSpPr>
        <p:spPr>
          <a:xfrm>
            <a:off x="451800" y="1709280"/>
            <a:ext cx="8211240" cy="43394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609480" y="1769400"/>
            <a:ext cx="10574280" cy="48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335520" y="2408400"/>
            <a:ext cx="10739520" cy="38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the concept of the circular economy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emerging technologies at the intersection of digital technologies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and overview of the Internet of Things and related concepts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design smart systems and applications in the context of connected sensor systems and other stakeholders.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applications and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Lifecycle Assessment – LCA 2 (L04)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Applications I – Resilient and Sustainable Food Production (L09)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IoT Applications II – Biodiversity Monitoring (L10)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Exam Q&amp;A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Knowledge Test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Circular Economy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04 – IoT Sensing and Gathering Data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05 – IoT Data Processing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06 – IoT Security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03.06.2024 → Exercise 07 – Industrial IoT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08 – Blockchain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17.06.2024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09 – Blockchain Basics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10 – Blockchain Conensus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01.07.2024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11 – Blockchain Tokens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335520" y="126828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etce-etce@tu-clausthal.de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ustomShape 1"/>
          <p:cNvSpPr/>
          <p:nvPr/>
        </p:nvSpPr>
        <p:spPr>
          <a:xfrm>
            <a:off x="335520" y="764640"/>
            <a:ext cx="10738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ustomShape 2"/>
          <p:cNvSpPr/>
          <p:nvPr/>
        </p:nvSpPr>
        <p:spPr>
          <a:xfrm>
            <a:off x="335520" y="1268640"/>
            <a:ext cx="10738080" cy="50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335520" y="126828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coding tasks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submitting an exercise – even if it is an empty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2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are graded semi-automatically. Due to this it is highly important that you follow the required submission format. Otherwise the grading process will fail and you will receive 0 points.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will be provided in the form of Jupyter Notebooks, and provided to you via Moodle and on our GitHub repository.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can run these notebooks on the GWDG’s jupyter cloud service: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https://jupyter-cloud.gwdg.de/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, or on your local machine.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Once you have finished the editing the Jupyter notebook, submit your edited copy of the notebook back to the Moodle Exercise page.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which are not valid Jupyter Notebook files will be marked as having failed.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CustomShape 3"/>
          <p:cNvSpPr/>
          <p:nvPr/>
        </p:nvSpPr>
        <p:spPr>
          <a:xfrm>
            <a:off x="4655880" y="476640"/>
            <a:ext cx="242568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335520" y="7682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88800" y="1488600"/>
            <a:ext cx="1071324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5"/>
          <p:cNvSpPr/>
          <p:nvPr/>
        </p:nvSpPr>
        <p:spPr>
          <a:xfrm>
            <a:off x="335520" y="7682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stomShape 16"/>
          <p:cNvSpPr/>
          <p:nvPr/>
        </p:nvSpPr>
        <p:spPr>
          <a:xfrm>
            <a:off x="388800" y="1488600"/>
            <a:ext cx="1071324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4360" cy="599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60640" cy="46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"/>
          <p:cNvSpPr/>
          <p:nvPr/>
        </p:nvSpPr>
        <p:spPr>
          <a:xfrm>
            <a:off x="5040000" y="1080000"/>
            <a:ext cx="17996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ustomShape 2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 (except for the MC exercises).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via Moodle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 → Most likely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03.08.2026 from 2 pm – 4 pm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stomShape 1"/>
          <p:cNvSpPr/>
          <p:nvPr/>
        </p:nvSpPr>
        <p:spPr>
          <a:xfrm>
            <a:off x="335520" y="764640"/>
            <a:ext cx="10737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2"/>
          <p:cNvSpPr/>
          <p:nvPr/>
        </p:nvSpPr>
        <p:spPr>
          <a:xfrm>
            <a:off x="335520" y="1268280"/>
            <a:ext cx="10737720" cy="50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3"/>
          <p:cNvSpPr/>
          <p:nvPr/>
        </p:nvSpPr>
        <p:spPr>
          <a:xfrm>
            <a:off x="6285600" y="2132640"/>
            <a:ext cx="507240" cy="4870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4"/>
          <p:cNvSpPr/>
          <p:nvPr/>
        </p:nvSpPr>
        <p:spPr>
          <a:xfrm>
            <a:off x="4089960" y="2247480"/>
            <a:ext cx="227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stomShape 1"/>
          <p:cNvSpPr/>
          <p:nvPr/>
        </p:nvSpPr>
        <p:spPr>
          <a:xfrm>
            <a:off x="335520" y="764640"/>
            <a:ext cx="10737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2"/>
          <p:cNvSpPr/>
          <p:nvPr/>
        </p:nvSpPr>
        <p:spPr>
          <a:xfrm>
            <a:off x="335520" y="1268640"/>
            <a:ext cx="10737720" cy="50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I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 of Things for Architects: Architecting IoT solutions by implementing sensors, communication infrastructure, edge computing, analytics, and security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Dan Boneh, Amit Sahai und Brent Waters.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Functional Encryption: Definitions and Challenges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335520" y="1268640"/>
            <a:ext cx="10739520" cy="502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335520" y="764640"/>
            <a:ext cx="107395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451</TotalTime>
  <Application>LibreOffice/25.8.5.2$Linux_X86_64 LibreOffice_project/580$Build-2</Application>
  <AppVersion>15.0000</AppVersion>
  <Words>2302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dcterms:modified xsi:type="dcterms:W3CDTF">2026-04-26T20:27:10Z</dcterms:modified>
  <cp:revision>3015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29</vt:i4>
  </property>
</Properties>
</file>