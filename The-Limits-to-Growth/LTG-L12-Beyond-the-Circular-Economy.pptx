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0.xml.rels" ContentType="application/vnd.openxmlformats-package.relationships+xml"/>
  <Override PartName="/ppt/slideMasters/_rels/slideMaster109.xml.rels" ContentType="application/vnd.openxmlformats-package.relationships+xml"/>
  <Override PartName="/ppt/slideMasters/_rels/slideMaster97.xml.rels" ContentType="application/vnd.openxmlformats-package.relationships+xml"/>
  <Override PartName="/ppt/slideMasters/_rels/slideMaster85.xml.rels" ContentType="application/vnd.openxmlformats-package.relationships+xml"/>
  <Override PartName="/ppt/slideMasters/_rels/slideMaster73.xml.rels" ContentType="application/vnd.openxmlformats-package.relationships+xml"/>
  <Override PartName="/ppt/slideMasters/_rels/slideMaster61.xml.rels" ContentType="application/vnd.openxmlformats-package.relationships+xml"/>
  <Override PartName="/ppt/slideMasters/_rels/slideMaster49.xml.rels" ContentType="application/vnd.openxmlformats-package.relationships+xml"/>
  <Override PartName="/ppt/slideMasters/_rels/slideMaster37.xml.rels" ContentType="application/vnd.openxmlformats-package.relationships+xml"/>
  <Override PartName="/ppt/slideMasters/_rels/slideMaster25.xml.rels" ContentType="application/vnd.openxmlformats-package.relationships+xml"/>
  <Override PartName="/ppt/slideMasters/_rels/slideMaster1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slideMasters/slideMaster37.xml" ContentType="application/vnd.openxmlformats-officedocument.presentationml.slideMaster+xml"/>
  <Override PartName="/ppt/slideMasters/slideMaster49.xml" ContentType="application/vnd.openxmlformats-officedocument.presentationml.slideMaster+xml"/>
  <Override PartName="/ppt/slideMasters/slideMaster61.xml" ContentType="application/vnd.openxmlformats-officedocument.presentationml.slideMaster+xml"/>
  <Override PartName="/ppt/slideMasters/slideMaster73.xml" ContentType="application/vnd.openxmlformats-officedocument.presentationml.slideMaster+xml"/>
  <Override PartName="/ppt/slideMasters/slideMaster85.xml" ContentType="application/vnd.openxmlformats-officedocument.presentationml.slideMaster+xml"/>
  <Override PartName="/ppt/slideMasters/slideMaster97.xml" ContentType="application/vnd.openxmlformats-officedocument.presentationml.slideMaster+xml"/>
  <Override PartName="/ppt/slideMasters/slideMaster109.xml" ContentType="application/vnd.openxmlformats-officedocument.presentationml.slideMaster+xml"/>
  <Override PartName="/ppt/slideMasters/slideMaster110.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40.xml" ContentType="application/vnd.openxmlformats-officedocument.presentationml.slideLayout+xml"/>
  <Override PartName="/ppt/slideLayouts/slideLayout38.xml" ContentType="application/vnd.openxmlformats-officedocument.presentationml.slideLayout+xml"/>
  <Override PartName="/ppt/slideLayouts/_rels/slideLayout90.xml.rels" ContentType="application/vnd.openxmlformats-package.relationships+xml"/>
  <Override PartName="/ppt/slideLayouts/_rels/slideLayout25.xml.rels" ContentType="application/vnd.openxmlformats-package.relationships+xml"/>
  <Override PartName="/ppt/slideLayouts/_rels/slideLayout5.xml.rels" ContentType="application/vnd.openxmlformats-package.relationships+xml"/>
  <Override PartName="/ppt/slideLayouts/_rels/slideLayout2.xml.rels" ContentType="application/vnd.openxmlformats-package.relationships+xml"/>
  <Override PartName="/ppt/slideLayouts/_rels/slideLayout22.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80.xml.rels" ContentType="application/vnd.openxmlformats-package.relationships+xml"/>
  <Override PartName="/ppt/slideLayouts/_rels/slideLayout39.xml.rels" ContentType="application/vnd.openxmlformats-package.relationships+xml"/>
  <Override PartName="/ppt/slideLayouts/_rels/slideLayout81.xml.rels" ContentType="application/vnd.openxmlformats-package.relationships+xml"/>
  <Override PartName="/ppt/slideLayouts/_rels/slideLayout16.xml.rels" ContentType="application/vnd.openxmlformats-package.relationships+xml"/>
  <Override PartName="/ppt/slideLayouts/_rels/slideLayout82.xml.rels" ContentType="application/vnd.openxmlformats-package.relationships+xml"/>
  <Override PartName="/ppt/slideLayouts/_rels/slideLayout17.xml.rels" ContentType="application/vnd.openxmlformats-package.relationships+xml"/>
  <Override PartName="/ppt/slideLayouts/_rels/slideLayout83.xml.rels" ContentType="application/vnd.openxmlformats-package.relationships+xml"/>
  <Override PartName="/ppt/slideLayouts/_rels/slideLayout18.xml.rels" ContentType="application/vnd.openxmlformats-package.relationships+xml"/>
  <Override PartName="/ppt/slideLayouts/_rels/slideLayout57.xml.rels" ContentType="application/vnd.openxmlformats-package.relationships+xml"/>
  <Override PartName="/ppt/slideLayouts/_rels/slideLayout84.xml.rels" ContentType="application/vnd.openxmlformats-package.relationships+xml"/>
  <Override PartName="/ppt/slideLayouts/_rels/slideLayout19.xml.rels" ContentType="application/vnd.openxmlformats-package.relationships+xml"/>
  <Override PartName="/ppt/slideLayouts/_rels/slideLayout58.xml.rels" ContentType="application/vnd.openxmlformats-package.relationships+xml"/>
  <Override PartName="/ppt/slideLayouts/_rels/slideLayout59.xml.rels" ContentType="application/vnd.openxmlformats-package.relationships+xml"/>
  <Override PartName="/ppt/slideLayouts/_rels/slideLayout63.xml.rels" ContentType="application/vnd.openxmlformats-package.relationships+xml"/>
  <Override PartName="/ppt/slideLayouts/_rels/slideLayout64.xml.rels" ContentType="application/vnd.openxmlformats-package.relationships+xml"/>
  <Override PartName="/ppt/slideLayouts/_rels/slideLayout65.xml.rels" ContentType="application/vnd.openxmlformats-package.relationships+xml"/>
  <Override PartName="/ppt/slideLayouts/_rels/slideLayout66.xml.rels" ContentType="application/vnd.openxmlformats-package.relationships+xml"/>
  <Override PartName="/ppt/slideLayouts/_rels/slideLayout67.xml.rels" ContentType="application/vnd.openxmlformats-package.relationships+xml"/>
  <Override PartName="/ppt/slideLayouts/_rels/slideLayout68.xml.rels" ContentType="application/vnd.openxmlformats-package.relationships+xml"/>
  <Override PartName="/ppt/slideLayouts/_rels/slideLayout69.xml.rels" ContentType="application/vnd.openxmlformats-package.relationships+xml"/>
  <Override PartName="/ppt/slideLayouts/_rels/slideLayout88.xml.rels" ContentType="application/vnd.openxmlformats-package.relationships+xml"/>
  <Override PartName="/ppt/slideLayouts/_rels/slideLayout89.xml.rels" ContentType="application/vnd.openxmlformats-package.relationships+xml"/>
  <Override PartName="/ppt/slideLayouts/_rels/slideLayout95.xml.rels" ContentType="application/vnd.openxmlformats-package.relationships+xml"/>
  <Override PartName="/ppt/slideLayouts/_rels/slideLayout96.xml.rels" ContentType="application/vnd.openxmlformats-package.relationships+xml"/>
  <Override PartName="/ppt/slideLayouts/_rels/slideLayout85.xml.rels" ContentType="application/vnd.openxmlformats-package.relationships+xml"/>
  <Override PartName="/ppt/slideLayouts/_rels/slideLayout60.xml.rels" ContentType="application/vnd.openxmlformats-package.relationships+xml"/>
  <Override PartName="/ppt/slideLayouts/_rels/slideLayout97.xml.rels" ContentType="application/vnd.openxmlformats-package.relationships+xml"/>
  <Override PartName="/ppt/slideLayouts/_rels/slideLayout86.xml.rels" ContentType="application/vnd.openxmlformats-package.relationships+xml"/>
  <Override PartName="/ppt/slideLayouts/_rels/slideLayout61.xml.rels" ContentType="application/vnd.openxmlformats-package.relationships+xml"/>
  <Override PartName="/ppt/slideLayouts/_rels/slideLayout98.xml.rels" ContentType="application/vnd.openxmlformats-package.relationships+xml"/>
  <Override PartName="/ppt/slideLayouts/_rels/slideLayout100.xml.rels" ContentType="application/vnd.openxmlformats-package.relationships+xml"/>
  <Override PartName="/ppt/slideLayouts/_rels/slideLayout45.xml.rels" ContentType="application/vnd.openxmlformats-package.relationships+xml"/>
  <Override PartName="/ppt/slideLayouts/_rels/slideLayout87.xml.rels" ContentType="application/vnd.openxmlformats-package.relationships+xml"/>
  <Override PartName="/ppt/slideLayouts/_rels/slideLayout62.xml.rels" ContentType="application/vnd.openxmlformats-package.relationships+xml"/>
  <Override PartName="/ppt/slideLayouts/_rels/slideLayout99.xml.rels" ContentType="application/vnd.openxmlformats-package.relationships+xml"/>
  <Override PartName="/ppt/slideLayouts/_rels/slideLayout101.xml.rels" ContentType="application/vnd.openxmlformats-package.relationships+xml"/>
  <Override PartName="/ppt/slideLayouts/_rels/slideLayout46.xml.rels" ContentType="application/vnd.openxmlformats-package.relationships+xml"/>
  <Override PartName="/ppt/slideLayouts/_rels/slideLayout102.xml.rels" ContentType="application/vnd.openxmlformats-package.relationships+xml"/>
  <Override PartName="/ppt/slideLayouts/_rels/slideLayout47.xml.rels" ContentType="application/vnd.openxmlformats-package.relationships+xml"/>
  <Override PartName="/ppt/slideLayouts/_rels/slideLayout79.xml.rels" ContentType="application/vnd.openxmlformats-package.relationships+xml"/>
  <Override PartName="/ppt/slideLayouts/_rels/slideLayout78.xml.rels" ContentType="application/vnd.openxmlformats-package.relationships+xml"/>
  <Override PartName="/ppt/slideLayouts/_rels/slideLayout77.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51.xml.rels" ContentType="application/vnd.openxmlformats-package.relationships+xml"/>
  <Override PartName="/ppt/slideLayouts/_rels/slideLayout50.xml.rels" ContentType="application/vnd.openxmlformats-package.relationships+xml"/>
  <Override PartName="/ppt/slideLayouts/_rels/slideLayout13.xml.rels" ContentType="application/vnd.openxmlformats-package.relationships+xml"/>
  <Override PartName="/ppt/slideLayouts/_rels/slideLayout52.xml.rels" ContentType="application/vnd.openxmlformats-package.relationships+xml"/>
  <Override PartName="/ppt/slideLayouts/_rels/slideLayout30.xml.rels" ContentType="application/vnd.openxmlformats-package.relationships+xml"/>
  <Override PartName="/ppt/slideLayouts/_rels/slideLayout105.xml.rels" ContentType="application/vnd.openxmlformats-package.relationships+xml"/>
  <Override PartName="/ppt/slideLayouts/_rels/slideLayout71.xml.rels" ContentType="application/vnd.openxmlformats-package.relationships+xml"/>
  <Override PartName="/ppt/slideLayouts/_rels/slideLayout94.xml.rels" ContentType="application/vnd.openxmlformats-package.relationships+xml"/>
  <Override PartName="/ppt/slideLayouts/_rels/slideLayout29.xml.rels" ContentType="application/vnd.openxmlformats-package.relationships+xml"/>
  <Override PartName="/ppt/slideLayouts/_rels/slideLayout9.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56.xml.rels" ContentType="application/vnd.openxmlformats-package.relationships+xml"/>
  <Override PartName="/ppt/slideLayouts/_rels/slideLayout44.xml.rels" ContentType="application/vnd.openxmlformats-package.relationships+xml"/>
  <Override PartName="/ppt/slideLayouts/_rels/slideLayout54.xml.rels" ContentType="application/vnd.openxmlformats-package.relationships+xml"/>
  <Override PartName="/ppt/slideLayouts/_rels/slideLayout42.xml.rels" ContentType="application/vnd.openxmlformats-package.relationships+xml"/>
  <Override PartName="/ppt/slideLayouts/_rels/slideLayout53.xml.rels" ContentType="application/vnd.openxmlformats-package.relationships+xml"/>
  <Override PartName="/ppt/slideLayouts/_rels/slideLayout41.xml.rels" ContentType="application/vnd.openxmlformats-package.relationships+xml"/>
  <Override PartName="/ppt/slideLayouts/_rels/slideLayout43.xml.rels" ContentType="application/vnd.openxmlformats-package.relationships+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55.xml.rels" ContentType="application/vnd.openxmlformats-package.relationships+xml"/>
  <Override PartName="/ppt/slideLayouts/_rels/slideLayout110.xml.rels" ContentType="application/vnd.openxmlformats-package.relationships+xml"/>
  <Override PartName="/ppt/slideLayouts/_rels/slideLayout34.xml.rels" ContentType="application/vnd.openxmlformats-package.relationships+xml"/>
  <Override PartName="/ppt/slideLayouts/_rels/slideLayout36.xml.rels" ContentType="application/vnd.openxmlformats-package.relationships+xml"/>
  <Override PartName="/ppt/slideLayouts/_rels/slideLayout35.xml.rels" ContentType="application/vnd.openxmlformats-package.relationships+xml"/>
  <Override PartName="/ppt/slideLayouts/_rels/slideLayout49.xml.rels" ContentType="application/vnd.openxmlformats-package.relationships+xml"/>
  <Override PartName="/ppt/slideLayouts/_rels/slideLayout104.xml.rels" ContentType="application/vnd.openxmlformats-package.relationships+xml"/>
  <Override PartName="/ppt/slideLayouts/_rels/slideLayout70.xml.rels" ContentType="application/vnd.openxmlformats-package.relationships+xml"/>
  <Override PartName="/ppt/slideLayouts/_rels/slideLayout8.xml.rels" ContentType="application/vnd.openxmlformats-package.relationships+xml"/>
  <Override PartName="/ppt/slideLayouts/_rels/slideLayout28.xml.rels" ContentType="application/vnd.openxmlformats-package.relationships+xml"/>
  <Override PartName="/ppt/slideLayouts/_rels/slideLayout93.xml.rels" ContentType="application/vnd.openxmlformats-package.relationships+xml"/>
  <Override PartName="/ppt/slideLayouts/_rels/slideLayout10.xml.rels" ContentType="application/vnd.openxmlformats-package.relationships+xml"/>
  <Override PartName="/ppt/slideLayouts/_rels/slideLayout20.xml.rels" ContentType="application/vnd.openxmlformats-package.relationships+xml"/>
  <Override PartName="/ppt/slideLayouts/_rels/slideLayout7.xml.rels" ContentType="application/vnd.openxmlformats-package.relationships+xml"/>
  <Override PartName="/ppt/slideLayouts/_rels/slideLayout92.xml.rels" ContentType="application/vnd.openxmlformats-package.relationships+xml"/>
  <Override PartName="/ppt/slideLayouts/_rels/slideLayout27.xml.rels" ContentType="application/vnd.openxmlformats-package.relationships+xml"/>
  <Override PartName="/ppt/slideLayouts/_rels/slideLayout48.xml.rels" ContentType="application/vnd.openxmlformats-package.relationships+xml"/>
  <Override PartName="/ppt/slideLayouts/_rels/slideLayout103.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91.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106.xml.rels" ContentType="application/vnd.openxmlformats-package.relationships+xml"/>
  <Override PartName="/ppt/slideLayouts/_rels/slideLayout72.xml.rels" ContentType="application/vnd.openxmlformats-package.relationships+xml"/>
  <Override PartName="/ppt/slideLayouts/_rels/slideLayout107.xml.rels" ContentType="application/vnd.openxmlformats-package.relationships+xml"/>
  <Override PartName="/ppt/slideLayouts/_rels/slideLayout73.xml.rels" ContentType="application/vnd.openxmlformats-package.relationships+xml"/>
  <Override PartName="/ppt/slideLayouts/_rels/slideLayout75.xml.rels" ContentType="application/vnd.openxmlformats-package.relationships+xml"/>
  <Override PartName="/ppt/slideLayouts/_rels/slideLayout109.xml.rels" ContentType="application/vnd.openxmlformats-package.relationships+xml"/>
  <Override PartName="/ppt/slideLayouts/_rels/slideLayout108.xml.rels" ContentType="application/vnd.openxmlformats-package.relationships+xml"/>
  <Override PartName="/ppt/slideLayouts/_rels/slideLayout74.xml.rels" ContentType="application/vnd.openxmlformats-package.relationships+xml"/>
  <Override PartName="/ppt/slideLayouts/_rels/slideLayout76.xml.rels" ContentType="application/vnd.openxmlformats-package.relationships+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52.xml" ContentType="application/vnd.openxmlformats-officedocument.presentationml.slideLayout+xml"/>
  <Override PartName="/ppt/slideLayouts/slideLayout9.xml" ContentType="application/vnd.openxmlformats-officedocument.presentationml.slideLayout+xml"/>
  <Override PartName="/ppt/slideLayouts/slideLayout24.xml" ContentType="application/vnd.openxmlformats-officedocument.presentationml.slideLayout+xml"/>
  <Override PartName="/ppt/slideLayouts/slideLayout13.xml" ContentType="application/vnd.openxmlformats-officedocument.presentationml.slideLayout+xml"/>
  <Override PartName="/ppt/slideLayouts/slideLayout51.xml" ContentType="application/vnd.openxmlformats-officedocument.presentationml.slideLayout+xml"/>
  <Override PartName="/ppt/slideLayouts/slideLayout8.xml" ContentType="application/vnd.openxmlformats-officedocument.presentationml.slideLayout+xml"/>
  <Override PartName="/ppt/slideLayouts/slideLayout23.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110.xml" ContentType="application/vnd.openxmlformats-officedocument.presentationml.slideLayout+xml"/>
  <Override PartName="/ppt/slideLayouts/slideLayout50.xml" ContentType="application/vnd.openxmlformats-officedocument.presentationml.slideLayout+xml"/>
  <Override PartName="/ppt/slideLayouts/slideLayout7.xml" ContentType="application/vnd.openxmlformats-officedocument.presentationml.slideLayout+xml"/>
  <Override PartName="/ppt/slideLayouts/slideLayout22.xml" ContentType="application/vnd.openxmlformats-officedocument.presentationml.slideLayout+xml"/>
  <Override PartName="/ppt/slideLayouts/slideLayout29.xml" ContentType="application/vnd.openxmlformats-officedocument.presentationml.slideLayout+xml"/>
  <Override PartName="/ppt/slideLayouts/slideLayout94.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21.xml" ContentType="application/vnd.openxmlformats-officedocument.presentationml.slideLayout+xml"/>
  <Override PartName="/ppt/slideLayouts/slideLayout28.xml" ContentType="application/vnd.openxmlformats-officedocument.presentationml.slideLayout+xml"/>
  <Override PartName="/ppt/slideLayouts/slideLayout93.xml" ContentType="application/vnd.openxmlformats-officedocument.presentationml.slideLayout+xml"/>
  <Override PartName="/ppt/slideLayouts/slideLayout47.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0.xml" ContentType="application/vnd.openxmlformats-officedocument.presentationml.slideLayout+xml"/>
  <Override PartName="/ppt/slideLayouts/slideLayout27.xml" ContentType="application/vnd.openxmlformats-officedocument.presentationml.slideLayout+xml"/>
  <Override PartName="/ppt/slideLayouts/slideLayout92.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91.xml" ContentType="application/vnd.openxmlformats-officedocument.presentationml.slideLayout+xml"/>
  <Override PartName="/ppt/slideLayouts/slideLayout3.xml" ContentType="application/vnd.openxmlformats-officedocument.presentationml.slideLayout+xml"/>
  <Override PartName="/ppt/slideLayouts/slideLayout71.xml" ContentType="application/vnd.openxmlformats-officedocument.presentationml.slideLayout+xml"/>
  <Override PartName="/ppt/slideLayouts/slideLayout104.xml" ContentType="application/vnd.openxmlformats-officedocument.presentationml.slideLayout+xml"/>
  <Override PartName="/ppt/slideLayouts/slideLayout72.xml" ContentType="application/vnd.openxmlformats-officedocument.presentationml.slideLayout+xml"/>
  <Override PartName="/ppt/slideLayouts/slideLayout105.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73.xml" ContentType="application/vnd.openxmlformats-officedocument.presentationml.slideLayout+xml"/>
  <Override PartName="/ppt/slideLayouts/slideLayout106.xml" ContentType="application/vnd.openxmlformats-officedocument.presentationml.slideLayout+xml"/>
  <Override PartName="/ppt/slideLayouts/slideLayout2.xml" ContentType="application/vnd.openxmlformats-officedocument.presentationml.slideLayout+xml"/>
  <Override PartName="/ppt/slideLayouts/slideLayout79.xml" ContentType="application/vnd.openxmlformats-officedocument.presentationml.slideLayout+xml"/>
  <Override PartName="/ppt/slideLayouts/slideLayout78.xml" ContentType="application/vnd.openxmlformats-officedocument.presentationml.slideLayout+xml"/>
  <Override PartName="/ppt/slideLayouts/slideLayout102.xml" ContentType="application/vnd.openxmlformats-officedocument.presentationml.slideLayout+xml"/>
  <Override PartName="/ppt/slideLayouts/slideLayout98.xml" ContentType="application/vnd.openxmlformats-officedocument.presentationml.slideLayout+xml"/>
  <Override PartName="/ppt/slideLayouts/slideLayout61.xml" ContentType="application/vnd.openxmlformats-officedocument.presentationml.slideLayout+xml"/>
  <Override PartName="/ppt/slideLayouts/slideLayout75.xml" ContentType="application/vnd.openxmlformats-officedocument.presentationml.slideLayout+xml"/>
  <Override PartName="/ppt/slideLayouts/slideLayout108.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86.xml" ContentType="application/vnd.openxmlformats-officedocument.presentationml.slideLayout+xml"/>
  <Override PartName="/ppt/slideLayouts/slideLayout77.xml" ContentType="application/vnd.openxmlformats-officedocument.presentationml.slideLayout+xml"/>
  <Override PartName="/ppt/slideLayouts/slideLayout101.xml" ContentType="application/vnd.openxmlformats-officedocument.presentationml.slideLayout+xml"/>
  <Override PartName="/ppt/slideLayouts/slideLayout97.xml" ContentType="application/vnd.openxmlformats-officedocument.presentationml.slideLayout+xml"/>
  <Override PartName="/ppt/slideLayouts/slideLayout60.xml" ContentType="application/vnd.openxmlformats-officedocument.presentationml.slideLayout+xml"/>
  <Override PartName="/ppt/slideLayouts/slideLayout74.xml" ContentType="application/vnd.openxmlformats-officedocument.presentationml.slideLayout+xml"/>
  <Override PartName="/ppt/slideLayouts/slideLayout10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85.xml" ContentType="application/vnd.openxmlformats-officedocument.presentationml.slideLayout+xml"/>
  <Override PartName="/ppt/slideLayouts/slideLayout109.xml" ContentType="application/vnd.openxmlformats-officedocument.presentationml.slideLayout+xml"/>
  <Override PartName="/ppt/slideLayouts/slideLayout76.xml" ContentType="application/vnd.openxmlformats-officedocument.presentationml.slideLayout+xml"/>
  <Override PartName="/ppt/slideLayouts/slideLayout100.xml" ContentType="application/vnd.openxmlformats-officedocument.presentationml.slideLayout+xml"/>
  <Override PartName="/ppt/slideLayouts/slideLayout96.xml" ContentType="application/vnd.openxmlformats-officedocument.presentationml.slideLayout+xml"/>
  <Override PartName="/ppt/slideLayouts/slideLayout82.xml" ContentType="application/vnd.openxmlformats-officedocument.presentationml.slideLayout+xml"/>
  <Override PartName="/ppt/slideLayouts/slideLayout17.xml" ContentType="application/vnd.openxmlformats-officedocument.presentationml.slideLayout+xml"/>
  <Override PartName="/ppt/slideLayouts/slideLayout99.xml" ContentType="application/vnd.openxmlformats-officedocument.presentationml.slideLayout+xml"/>
  <Override PartName="/ppt/slideLayouts/slideLayout62.xml" ContentType="application/vnd.openxmlformats-officedocument.presentationml.slideLayout+xml"/>
  <Override PartName="/ppt/slideLayouts/slideLayout87.xml" ContentType="application/vnd.openxmlformats-officedocument.presentationml.slideLayout+xml"/>
  <Override PartName="/ppt/slideLayouts/slideLayout95.xml" ContentType="application/vnd.openxmlformats-officedocument.presentationml.slideLayout+xml"/>
  <Override PartName="/ppt/slideLayouts/slideLayout81.xml" ContentType="application/vnd.openxmlformats-officedocument.presentationml.slideLayout+xml"/>
  <Override PartName="/ppt/slideLayouts/slideLayout16.xml" ContentType="application/vnd.openxmlformats-officedocument.presentationml.slideLayout+xml"/>
  <Override PartName="/ppt/slideLayouts/slideLayout89.xml" ContentType="application/vnd.openxmlformats-officedocument.presentationml.slideLayout+xml"/>
  <Override PartName="/ppt/slideLayouts/slideLayout88.xml" ContentType="application/vnd.openxmlformats-officedocument.presentationml.slideLayout+xml"/>
  <Override PartName="/ppt/slideLayouts/slideLayout103.xml" ContentType="application/vnd.openxmlformats-officedocument.presentationml.slideLayout+xml"/>
  <Override PartName="/ppt/slideLayouts/slideLayout70.xml" ContentType="application/vnd.openxmlformats-officedocument.presentationml.slideLayout+xml"/>
  <Override PartName="/ppt/slideLayouts/slideLayout69.xml" ContentType="application/vnd.openxmlformats-officedocument.presentationml.slideLayout+xml"/>
  <Override PartName="/ppt/slideLayouts/slideLayout68.xml" ContentType="application/vnd.openxmlformats-officedocument.presentationml.slideLayout+xml"/>
  <Override PartName="/ppt/slideLayouts/slideLayout67.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59.xml" ContentType="application/vnd.openxmlformats-officedocument.presentationml.slideLayout+xml"/>
  <Override PartName="/ppt/slideLayouts/slideLayout58.xml" ContentType="application/vnd.openxmlformats-officedocument.presentationml.slideLayout+xml"/>
  <Override PartName="/ppt/slideLayouts/slideLayout57.xml" ContentType="application/vnd.openxmlformats-officedocument.presentationml.slideLayout+xml"/>
  <Override PartName="/ppt/slideLayouts/slideLayout80.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90.xml" ContentType="application/vnd.openxmlformats-officedocument.presentationml.slideLayout+xml"/>
  <Override PartName="/ppt/slideLayouts/slideLayout25.xml" ContentType="application/vnd.openxmlformats-officedocument.presentationml.slideLayout+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9.png" ContentType="image/png"/>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60.xml" ContentType="application/vnd.openxmlformats-officedocument.presentationml.slide+xml"/>
  <Override PartName="/ppt/slides/slide18.xml" ContentType="application/vnd.openxmlformats-officedocument.presentationml.slide+xml"/>
  <Override PartName="/ppt/slides/slide61.xml" ContentType="application/vnd.openxmlformats-officedocument.presentationml.slide+xml"/>
  <Override PartName="/ppt/slides/slide19.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_rels/slide13.xml.rels" ContentType="application/vnd.openxmlformats-package.relationships+xml"/>
  <Override PartName="/ppt/slides/_rels/slide5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82.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62.xml.rels" ContentType="application/vnd.openxmlformats-package.relationships+xml"/>
  <Override PartName="/ppt/slides/_rels/slide61.xml.rels" ContentType="application/vnd.openxmlformats-package.relationships+xml"/>
  <Override PartName="/ppt/slides/_rels/slide19.xml.rels" ContentType="application/vnd.openxmlformats-package.relationships+xml"/>
  <Override PartName="/ppt/slides/_rels/slide60.xml.rels" ContentType="application/vnd.openxmlformats-package.relationships+xml"/>
  <Override PartName="/ppt/slides/_rels/slide18.xml.rels" ContentType="application/vnd.openxmlformats-package.relationships+xml"/>
  <Override PartName="/ppt/slides/_rels/slide30.xml.rels" ContentType="application/vnd.openxmlformats-package.relationships+xml"/>
  <Override PartName="/ppt/slides/_rels/slide67.xml.rels" ContentType="application/vnd.openxmlformats-package.relationships+xml"/>
  <Override PartName="/ppt/slides/_rels/slide31.xml.rels" ContentType="application/vnd.openxmlformats-package.relationships+xml"/>
  <Override PartName="/ppt/slides/_rels/slide68.xml.rels" ContentType="application/vnd.openxmlformats-package.relationships+xml"/>
  <Override PartName="/ppt/slides/_rels/slide32.xml.rels" ContentType="application/vnd.openxmlformats-package.relationships+xml"/>
  <Override PartName="/ppt/slides/_rels/slide69.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79.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78.xml.rels" ContentType="application/vnd.openxmlformats-package.relationships+xml"/>
  <Override PartName="/ppt/slides/_rels/slide5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77.xml.rels" ContentType="application/vnd.openxmlformats-package.relationships+xml"/>
  <Override PartName="/ppt/slides/_rels/slide14.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3.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28.xml.rels" ContentType="application/vnd.openxmlformats-package.relationships+xml"/>
  <Override PartName="/ppt/slides/_rels/slide70.xml.rels" ContentType="application/vnd.openxmlformats-package.relationships+xml"/>
  <Override PartName="/ppt/slides/_rels/slide65.xml.rels" ContentType="application/vnd.openxmlformats-package.relationships+xml"/>
  <Override PartName="/ppt/slides/_rels/slide71.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66.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80.xml.rels" ContentType="application/vnd.openxmlformats-package.relationships+xml"/>
  <Override PartName="/ppt/slides/_rels/slide15.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46.xml.rels" ContentType="application/vnd.openxmlformats-package.relationships+xml"/>
  <Override PartName="/ppt/slides/slide71.xml" ContentType="application/vnd.openxmlformats-officedocument.presentationml.slide+xml"/>
  <Override PartName="/ppt/slides/slide66.xml" ContentType="application/vnd.openxmlformats-officedocument.presentationml.slide+xml"/>
  <Override PartName="/ppt/slides/slide79.xml" ContentType="application/vnd.openxmlformats-officedocument.presentationml.slide+xml"/>
  <Override PartName="/ppt/slides/slide67.xml" ContentType="application/vnd.openxmlformats-officedocument.presentationml.slide+xml"/>
  <Override PartName="/ppt/slides/slide15.xml" ContentType="application/vnd.openxmlformats-officedocument.presentationml.slide+xml"/>
  <Override PartName="/ppt/slides/slide80.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charts/chart1.xml" ContentType="application/vnd.openxmlformats-officedocument.drawingml.char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 id="2147483767"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 id="333" r:id="rId90"/>
    <p:sldId id="334" r:id="rId91"/>
    <p:sldId id="335" r:id="rId92"/>
    <p:sldId id="336" r:id="rId93"/>
    <p:sldId id="337" r:id="rId9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3.xml"/><Relationship Id="rId4" Type="http://schemas.openxmlformats.org/officeDocument/2006/relationships/slideMaster" Target="slideMasters/slideMaster25.xml"/><Relationship Id="rId5" Type="http://schemas.openxmlformats.org/officeDocument/2006/relationships/slideMaster" Target="slideMasters/slideMaster37.xml"/><Relationship Id="rId6" Type="http://schemas.openxmlformats.org/officeDocument/2006/relationships/slideMaster" Target="slideMasters/slideMaster49.xml"/><Relationship Id="rId7" Type="http://schemas.openxmlformats.org/officeDocument/2006/relationships/slideMaster" Target="slideMasters/slideMaster61.xml"/><Relationship Id="rId8" Type="http://schemas.openxmlformats.org/officeDocument/2006/relationships/slideMaster" Target="slideMasters/slideMaster73.xml"/><Relationship Id="rId9" Type="http://schemas.openxmlformats.org/officeDocument/2006/relationships/slideMaster" Target="slideMasters/slideMaster85.xml"/><Relationship Id="rId10" Type="http://schemas.openxmlformats.org/officeDocument/2006/relationships/slideMaster" Target="slideMasters/slideMaster97.xml"/><Relationship Id="rId11" Type="http://schemas.openxmlformats.org/officeDocument/2006/relationships/slideMaster" Target="slideMasters/slideMaster109.xml"/><Relationship Id="rId12" Type="http://schemas.openxmlformats.org/officeDocument/2006/relationships/slideMaster" Target="slideMasters/slideMaster110.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b="0" sz="1300" strike="noStrike" u="none">
                <a:solidFill>
                  <a:srgbClr val="000000"/>
                </a:solidFill>
                <a:uFillTx/>
                <a:latin typeface="Arial"/>
              </a:defRPr>
            </a:pPr>
            <a:r>
              <a:rPr b="1" lang="en-US" sz="2000" strike="noStrike" u="none">
                <a:solidFill>
                  <a:srgbClr val="808080"/>
                </a:solidFill>
                <a:uFillTx/>
                <a:latin typeface="Arial"/>
                <a:ea typeface="DejaVu Sans"/>
              </a:rPr>
              <a:t>Distribution of Federal Expenditures by Sector </a:t>
            </a:r>
          </a:p>
        </c:rich>
      </c:tx>
      <c:overlay val="0"/>
      <c:spPr>
        <a:noFill/>
        <a:ln w="0">
          <a:noFill/>
        </a:ln>
      </c:spPr>
    </c:title>
    <c:autoTitleDeleted val="0"/>
    <c:plotArea>
      <c:layout>
        <c:manualLayout>
          <c:layoutTarget val="inner"/>
          <c:xMode val="edge"/>
          <c:yMode val="edge"/>
          <c:x val="0.461175214552622"/>
          <c:y val="0.106382978723404"/>
          <c:w val="0.521948014618322"/>
          <c:h val="0.77264254033554"/>
        </c:manualLayout>
      </c:layout>
      <c:barChart>
        <c:barDir val="bar"/>
        <c:grouping val="clustered"/>
        <c:varyColors val="0"/>
        <c:ser>
          <c:idx val="0"/>
          <c:order val="0"/>
          <c:tx>
            <c:strRef>
              <c:f>label 0</c:f>
              <c:strCache>
                <c:ptCount val="1"/>
                <c:pt idx="0">
                  <c:v>Percentage share of overall budget</c:v>
                </c:pt>
              </c:strCache>
            </c:strRef>
          </c:tx>
          <c:spPr>
            <a:solidFill>
              <a:srgbClr val="9bbb59"/>
            </a:solidFill>
            <a:ln w="0">
              <a:noFill/>
            </a:ln>
          </c:spPr>
          <c:invertIfNegative val="0"/>
          <c:dLbls>
            <c:numFmt formatCode="0.00" sourceLinked="0"/>
            <c:txPr>
              <a:bodyPr wrap="square"/>
              <a:lstStyle/>
              <a:p>
                <a:pPr>
                  <a:defRPr b="0" i="1" sz="1100" strike="noStrike" u="none">
                    <a:solidFill>
                      <a:srgbClr val="404040"/>
                    </a:solidFill>
                    <a:uFillTx/>
                    <a:latin typeface="Arial"/>
                    <a:ea typeface="DejaVu Sans"/>
                  </a:defRPr>
                </a:pPr>
              </a:p>
            </c:txPr>
            <c:dLblPos val="outEnd"/>
            <c:showLegendKey val="0"/>
            <c:showVal val="1"/>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5"/>
                <c:pt idx="0">
                  <c:v>Bundesministerium für Arbeit und Soziales</c:v>
                </c:pt>
                <c:pt idx="1">
                  <c:v>Bundesministerium der Verteidigung</c:v>
                </c:pt>
                <c:pt idx="2">
                  <c:v>Bundesministerium für Digitales und Verkehr</c:v>
                </c:pt>
                <c:pt idx="3">
                  <c:v>Allgemeine Finanzverwaltung</c:v>
                </c:pt>
                <c:pt idx="4">
                  <c:v>Bundesschuld</c:v>
                </c:pt>
                <c:pt idx="5">
                  <c:v>Bundesministerium für Bildung und Forschung</c:v>
                </c:pt>
                <c:pt idx="6">
                  <c:v>Bundesministerium für Gesundheit</c:v>
                </c:pt>
                <c:pt idx="7">
                  <c:v>Bundesministerium für Familie, Senioren, Frauen und Jugend</c:v>
                </c:pt>
                <c:pt idx="8">
                  <c:v>Bundesministerium des Innern und für Heimat</c:v>
                </c:pt>
                <c:pt idx="9">
                  <c:v>Bundesministerium für wirtschaftliche Zusammenarbeit und Entwicklung</c:v>
                </c:pt>
                <c:pt idx="10">
                  <c:v>Bundesministerium für Wirtschaft und Klimaschutz</c:v>
                </c:pt>
                <c:pt idx="11">
                  <c:v>Bundesministerium der Finanzen</c:v>
                </c:pt>
                <c:pt idx="12">
                  <c:v>Bundesministerium für Wohnen, Stadtentwicklung und Bauwesen</c:v>
                </c:pt>
                <c:pt idx="13">
                  <c:v>Bundesministerium für Ernährung und Landwirtschaft</c:v>
                </c:pt>
                <c:pt idx="14">
                  <c:v>Auswärtiges Amt</c:v>
                </c:pt>
                <c:pt idx="15">
                  <c:v>Bundeskanzler und Bundeskanzleramt</c:v>
                </c:pt>
                <c:pt idx="16">
                  <c:v>Bundesministerium für Umwelt, Naturschutz, nukleare Sicherheit und Verbraucherschutz</c:v>
                </c:pt>
                <c:pt idx="17">
                  <c:v>Deutscher Bundestag</c:v>
                </c:pt>
                <c:pt idx="18">
                  <c:v>Bundesministerium der Justiz</c:v>
                </c:pt>
                <c:pt idx="19">
                  <c:v>Bundesrechnungshof</c:v>
                </c:pt>
                <c:pt idx="20">
                  <c:v>Bundespräsident und Bundespräsidialamt</c:v>
                </c:pt>
                <c:pt idx="21">
                  <c:v>Die Bundesbeauftragte für den Datenschutz und die Informationsfreiheit</c:v>
                </c:pt>
                <c:pt idx="22">
                  <c:v>Bundesverfassungsgericht</c:v>
                </c:pt>
                <c:pt idx="23">
                  <c:v>Bundesrat</c:v>
                </c:pt>
                <c:pt idx="24">
                  <c:v>Unabhängiger Kontrollrat</c:v>
                </c:pt>
              </c:strCache>
            </c:strRef>
          </c:cat>
          <c:val>
            <c:numRef>
              <c:f>0</c:f>
              <c:numCache>
                <c:formatCode>General</c:formatCode>
                <c:ptCount val="25"/>
                <c:pt idx="0">
                  <c:v>36.69</c:v>
                </c:pt>
                <c:pt idx="1">
                  <c:v>10.9</c:v>
                </c:pt>
                <c:pt idx="2">
                  <c:v>10.17</c:v>
                </c:pt>
                <c:pt idx="3">
                  <c:v>9.45</c:v>
                </c:pt>
                <c:pt idx="4">
                  <c:v>6.8</c:v>
                </c:pt>
                <c:pt idx="5">
                  <c:v>4.57</c:v>
                </c:pt>
                <c:pt idx="6">
                  <c:v>3.36</c:v>
                </c:pt>
                <c:pt idx="7">
                  <c:v>2.96</c:v>
                </c:pt>
                <c:pt idx="8">
                  <c:v>2.81</c:v>
                </c:pt>
                <c:pt idx="9">
                  <c:v>2.1</c:v>
                </c:pt>
                <c:pt idx="10">
                  <c:v>2.1</c:v>
                </c:pt>
                <c:pt idx="11">
                  <c:v>2.08</c:v>
                </c:pt>
                <c:pt idx="12">
                  <c:v>1.52</c:v>
                </c:pt>
                <c:pt idx="13">
                  <c:v>1.4</c:v>
                </c:pt>
                <c:pt idx="14">
                  <c:v>1.2</c:v>
                </c:pt>
                <c:pt idx="15">
                  <c:v>0.8</c:v>
                </c:pt>
                <c:pt idx="16">
                  <c:v>0.54</c:v>
                </c:pt>
                <c:pt idx="17">
                  <c:v>0.26</c:v>
                </c:pt>
                <c:pt idx="18">
                  <c:v>0.21</c:v>
                </c:pt>
                <c:pt idx="19">
                  <c:v>0.04</c:v>
                </c:pt>
                <c:pt idx="20">
                  <c:v>0.01</c:v>
                </c:pt>
                <c:pt idx="21">
                  <c:v>0.01</c:v>
                </c:pt>
                <c:pt idx="22">
                  <c:v>0.01</c:v>
                </c:pt>
                <c:pt idx="23">
                  <c:v>0.01</c:v>
                </c:pt>
                <c:pt idx="24">
                  <c:v>0</c:v>
                </c:pt>
              </c:numCache>
            </c:numRef>
          </c:val>
        </c:ser>
        <c:gapWidth val="247"/>
        <c:overlap val="-20"/>
        <c:axId val="75906053"/>
        <c:axId val="68720734"/>
      </c:barChart>
      <c:catAx>
        <c:axId val="75906053"/>
        <c:scaling>
          <c:orientation val="minMax"/>
        </c:scaling>
        <c:delete val="0"/>
        <c:axPos val="b"/>
        <c:majorGridlines>
          <c:spPr>
            <a:ln w="9360">
              <a:solidFill>
                <a:srgbClr val="d9d9d9"/>
              </a:solidFill>
              <a:round/>
            </a:ln>
          </c:spPr>
        </c:majorGridlines>
        <c:numFmt formatCode="General" sourceLinked="0"/>
        <c:majorTickMark val="out"/>
        <c:minorTickMark val="none"/>
        <c:tickLblPos val="nextTo"/>
        <c:spPr>
          <a:ln w="9360">
            <a:solidFill>
              <a:srgbClr val="d9d9d9"/>
            </a:solidFill>
            <a:round/>
          </a:ln>
        </c:spPr>
        <c:txPr>
          <a:bodyPr/>
          <a:lstStyle/>
          <a:p>
            <a:pPr>
              <a:defRPr b="0" sz="1100" strike="noStrike" u="none">
                <a:solidFill>
                  <a:srgbClr val="595959"/>
                </a:solidFill>
                <a:uFillTx/>
                <a:latin typeface="Arial"/>
                <a:ea typeface="DejaVu Sans"/>
              </a:defRPr>
            </a:pPr>
          </a:p>
        </c:txPr>
        <c:crossAx val="68720734"/>
        <c:crosses val="autoZero"/>
        <c:auto val="1"/>
        <c:lblAlgn val="ctr"/>
        <c:lblOffset val="100"/>
        <c:noMultiLvlLbl val="0"/>
      </c:catAx>
      <c:valAx>
        <c:axId val="68720734"/>
        <c:scaling>
          <c:orientation val="minMax"/>
        </c:scaling>
        <c:delete val="0"/>
        <c:axPos val="l"/>
        <c:majorGridlines>
          <c:spPr>
            <a:ln w="9360">
              <a:solidFill>
                <a:srgbClr val="d9d9d9"/>
              </a:solidFill>
              <a:round/>
            </a:ln>
          </c:spPr>
        </c:majorGridlines>
        <c:numFmt formatCode="General" sourceLinked="0"/>
        <c:majorTickMark val="none"/>
        <c:minorTickMark val="none"/>
        <c:tickLblPos val="nextTo"/>
        <c:spPr>
          <a:ln w="6480">
            <a:noFill/>
          </a:ln>
        </c:spPr>
        <c:txPr>
          <a:bodyPr/>
          <a:lstStyle/>
          <a:p>
            <a:pPr>
              <a:defRPr b="0" sz="1197" strike="noStrike" u="none">
                <a:solidFill>
                  <a:srgbClr val="595959"/>
                </a:solidFill>
                <a:uFillTx/>
                <a:latin typeface="Arial"/>
                <a:ea typeface="DejaVu Sans"/>
              </a:defRPr>
            </a:pPr>
          </a:p>
        </c:txPr>
        <c:crossAx val="75906053"/>
        <c:crosses val="autoZero"/>
        <c:crossBetween val="between"/>
      </c:valAx>
      <c:spPr>
        <a:pattFill prst="ltDnDiag">
          <a:fgClr>
            <a:srgbClr val="d9d9d9"/>
          </a:fgClr>
          <a:bgClr>
            <a:srgbClr val="ffffff"/>
          </a:bgClr>
        </a:pattFill>
        <a:ln w="0">
          <a:noFill/>
        </a:ln>
      </c:spPr>
    </c:plotArea>
    <c:legend>
      <c:legendPos val="b"/>
      <c:layout>
        <c:manualLayout>
          <c:xMode val="edge"/>
          <c:yMode val="edge"/>
          <c:x val="0.38489016629029"/>
          <c:y val="0.938749276945819"/>
          <c:w val="0.375544058470888"/>
          <c:h val="0.0450572052963106"/>
        </c:manualLayout>
      </c:layout>
      <c:overlay val="0"/>
      <c:spPr>
        <a:noFill/>
        <a:ln w="0">
          <a:noFill/>
        </a:ln>
      </c:spPr>
      <c:txPr>
        <a:bodyPr/>
        <a:lstStyle/>
        <a:p>
          <a:pPr>
            <a:defRPr b="0" sz="1197" strike="noStrike" u="none">
              <a:solidFill>
                <a:srgbClr val="595959"/>
              </a:solidFill>
              <a:uFillTx/>
              <a:latin typeface="Arial"/>
              <a:ea typeface="DejaVu Sans"/>
            </a:defRPr>
          </a:pPr>
        </a:p>
      </c:txPr>
    </c:legend>
    <c:plotVisOnly val="1"/>
    <c:dispBlanksAs val="gap"/>
  </c:chart>
  <c:spPr>
    <a:solidFill>
      <a:srgbClr val="ffffff"/>
    </a:solidFill>
    <a:ln w="9360">
      <a:solidFill>
        <a:srgbClr val="ffffff"/>
      </a:solidFill>
      <a:round/>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5.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7.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9.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8B5CF6F3-7401-463A-87D5-67589903DC6F}"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2"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3" name="Picture 19" descr="Logo_TUC_de_RGB"/>
          <p:cNvPicPr/>
          <p:nvPr/>
        </p:nvPicPr>
        <p:blipFill>
          <a:blip r:embed="rId2"/>
          <a:stretch/>
        </p:blipFill>
        <p:spPr>
          <a:xfrm>
            <a:off x="0" y="0"/>
            <a:ext cx="3029040" cy="538920"/>
          </a:xfrm>
          <a:prstGeom prst="rect">
            <a:avLst/>
          </a:prstGeom>
          <a:noFill/>
          <a:ln w="0">
            <a:noFill/>
          </a:ln>
        </p:spPr>
      </p:pic>
      <p:pic>
        <p:nvPicPr>
          <p:cNvPr id="4" name="Grafik 2" descr=""/>
          <p:cNvPicPr/>
          <p:nvPr/>
        </p:nvPicPr>
        <p:blipFill>
          <a:blip r:embed="rId3"/>
          <a:stretch/>
        </p:blipFill>
        <p:spPr>
          <a:xfrm>
            <a:off x="7430400" y="134640"/>
            <a:ext cx="3674880" cy="491040"/>
          </a:xfrm>
          <a:prstGeom prst="rect">
            <a:avLst/>
          </a:prstGeom>
          <a:noFill/>
          <a:ln w="0">
            <a:noFill/>
          </a:ln>
        </p:spPr>
      </p:pic>
      <p:sp>
        <p:nvSpPr>
          <p:cNvPr id="5"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9"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1"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bg>
      <p:bgPr>
        <a:solidFill>
          <a:srgbClr val="ffffff"/>
        </a:solidFill>
      </p:bgPr>
    </p:bg>
    <p:spTree>
      <p:nvGrpSpPr>
        <p:cNvPr id="1" name=""/>
        <p:cNvGrpSpPr/>
        <p:nvPr/>
      </p:nvGrpSpPr>
      <p:grpSpPr>
        <a:xfrm>
          <a:off x="0" y="0"/>
          <a:ext cx="0" cy="0"/>
          <a:chOff x="0" y="0"/>
          <a:chExt cx="0" cy="0"/>
        </a:xfrm>
      </p:grpSpPr>
      <p:sp>
        <p:nvSpPr>
          <p:cNvPr id="12"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3"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57DC4038-E59F-4D52-A8D6-C36B3A00C72C}"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4"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5" name="Picture 19" descr="Logo_TUC_de_RGB"/>
          <p:cNvPicPr/>
          <p:nvPr/>
        </p:nvPicPr>
        <p:blipFill>
          <a:blip r:embed="rId2"/>
          <a:stretch/>
        </p:blipFill>
        <p:spPr>
          <a:xfrm>
            <a:off x="0" y="0"/>
            <a:ext cx="3029040" cy="538920"/>
          </a:xfrm>
          <a:prstGeom prst="rect">
            <a:avLst/>
          </a:prstGeom>
          <a:noFill/>
          <a:ln w="0">
            <a:noFill/>
          </a:ln>
        </p:spPr>
      </p:pic>
      <p:pic>
        <p:nvPicPr>
          <p:cNvPr id="16" name="Grafik 2" descr=""/>
          <p:cNvPicPr/>
          <p:nvPr/>
        </p:nvPicPr>
        <p:blipFill>
          <a:blip r:embed="rId3"/>
          <a:stretch/>
        </p:blipFill>
        <p:spPr>
          <a:xfrm>
            <a:off x="7430400" y="134640"/>
            <a:ext cx="3674880" cy="491040"/>
          </a:xfrm>
          <a:prstGeom prst="rect">
            <a:avLst/>
          </a:prstGeom>
          <a:noFill/>
          <a:ln w="0">
            <a:noFill/>
          </a:ln>
        </p:spPr>
      </p:pic>
      <p:sp>
        <p:nvSpPr>
          <p:cNvPr id="17"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8"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9"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1"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2"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3"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bg>
      <p:bgPr>
        <a:solidFill>
          <a:srgbClr val="ffffff"/>
        </a:solidFill>
      </p:bgPr>
    </p:bg>
    <p:spTree>
      <p:nvGrpSpPr>
        <p:cNvPr id="1" name=""/>
        <p:cNvGrpSpPr/>
        <p:nvPr/>
      </p:nvGrpSpPr>
      <p:grpSpPr>
        <a:xfrm>
          <a:off x="0" y="0"/>
          <a:ext cx="0" cy="0"/>
          <a:chOff x="0" y="0"/>
          <a:chExt cx="0" cy="0"/>
        </a:xfrm>
      </p:grpSpPr>
      <p:sp>
        <p:nvSpPr>
          <p:cNvPr id="24"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5"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C68E4F90-FB13-4CFB-9243-3B136533D022}"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26"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27" name="Picture 19" descr="Logo_TUC_de_RGB"/>
          <p:cNvPicPr/>
          <p:nvPr/>
        </p:nvPicPr>
        <p:blipFill>
          <a:blip r:embed="rId2"/>
          <a:stretch/>
        </p:blipFill>
        <p:spPr>
          <a:xfrm>
            <a:off x="0" y="0"/>
            <a:ext cx="3029040" cy="538920"/>
          </a:xfrm>
          <a:prstGeom prst="rect">
            <a:avLst/>
          </a:prstGeom>
          <a:noFill/>
          <a:ln w="0">
            <a:noFill/>
          </a:ln>
        </p:spPr>
      </p:pic>
      <p:pic>
        <p:nvPicPr>
          <p:cNvPr id="28" name="Grafik 2" descr=""/>
          <p:cNvPicPr/>
          <p:nvPr/>
        </p:nvPicPr>
        <p:blipFill>
          <a:blip r:embed="rId3"/>
          <a:stretch/>
        </p:blipFill>
        <p:spPr>
          <a:xfrm>
            <a:off x="7430400" y="134640"/>
            <a:ext cx="3674880" cy="491040"/>
          </a:xfrm>
          <a:prstGeom prst="rect">
            <a:avLst/>
          </a:prstGeom>
          <a:noFill/>
          <a:ln w="0">
            <a:noFill/>
          </a:ln>
        </p:spPr>
      </p:pic>
      <p:sp>
        <p:nvSpPr>
          <p:cNvPr id="29"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30"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1"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3"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4"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5"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bg>
      <p:bgPr>
        <a:solidFill>
          <a:srgbClr val="ffffff"/>
        </a:solidFill>
      </p:bgPr>
    </p:bg>
    <p:spTree>
      <p:nvGrpSpPr>
        <p:cNvPr id="1" name=""/>
        <p:cNvGrpSpPr/>
        <p:nvPr/>
      </p:nvGrpSpPr>
      <p:grpSpPr>
        <a:xfrm>
          <a:off x="0" y="0"/>
          <a:ext cx="0" cy="0"/>
          <a:chOff x="0" y="0"/>
          <a:chExt cx="0" cy="0"/>
        </a:xfrm>
      </p:grpSpPr>
      <p:sp>
        <p:nvSpPr>
          <p:cNvPr id="36"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7"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5DF2AF55-E94F-44C9-B682-D748F7518FB4}"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38"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39" name="Picture 19" descr="Logo_TUC_de_RGB"/>
          <p:cNvPicPr/>
          <p:nvPr/>
        </p:nvPicPr>
        <p:blipFill>
          <a:blip r:embed="rId2"/>
          <a:stretch/>
        </p:blipFill>
        <p:spPr>
          <a:xfrm>
            <a:off x="0" y="0"/>
            <a:ext cx="3029040" cy="538920"/>
          </a:xfrm>
          <a:prstGeom prst="rect">
            <a:avLst/>
          </a:prstGeom>
          <a:noFill/>
          <a:ln w="0">
            <a:noFill/>
          </a:ln>
        </p:spPr>
      </p:pic>
      <p:pic>
        <p:nvPicPr>
          <p:cNvPr id="40" name="Grafik 2" descr=""/>
          <p:cNvPicPr/>
          <p:nvPr/>
        </p:nvPicPr>
        <p:blipFill>
          <a:blip r:embed="rId3"/>
          <a:stretch/>
        </p:blipFill>
        <p:spPr>
          <a:xfrm>
            <a:off x="7430400" y="134640"/>
            <a:ext cx="3674880" cy="491040"/>
          </a:xfrm>
          <a:prstGeom prst="rect">
            <a:avLst/>
          </a:prstGeom>
          <a:noFill/>
          <a:ln w="0">
            <a:noFill/>
          </a:ln>
        </p:spPr>
      </p:pic>
      <p:sp>
        <p:nvSpPr>
          <p:cNvPr id="41"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2"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3"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4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45"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6"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bg>
      <p:bgPr>
        <a:solidFill>
          <a:srgbClr val="ffffff"/>
        </a:solidFill>
      </p:bgPr>
    </p:bg>
    <p:spTree>
      <p:nvGrpSpPr>
        <p:cNvPr id="1" name=""/>
        <p:cNvGrpSpPr/>
        <p:nvPr/>
      </p:nvGrpSpPr>
      <p:grpSpPr>
        <a:xfrm>
          <a:off x="0" y="0"/>
          <a:ext cx="0" cy="0"/>
          <a:chOff x="0" y="0"/>
          <a:chExt cx="0" cy="0"/>
        </a:xfrm>
      </p:grpSpPr>
      <p:sp>
        <p:nvSpPr>
          <p:cNvPr id="47"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8"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5EC92D23-F9E1-4B3E-BCBA-B38C399EEE5D}"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49"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50" name="Picture 19" descr="Logo_TUC_de_RGB"/>
          <p:cNvPicPr/>
          <p:nvPr/>
        </p:nvPicPr>
        <p:blipFill>
          <a:blip r:embed="rId2"/>
          <a:stretch/>
        </p:blipFill>
        <p:spPr>
          <a:xfrm>
            <a:off x="0" y="0"/>
            <a:ext cx="3029040" cy="538920"/>
          </a:xfrm>
          <a:prstGeom prst="rect">
            <a:avLst/>
          </a:prstGeom>
          <a:noFill/>
          <a:ln w="0">
            <a:noFill/>
          </a:ln>
        </p:spPr>
      </p:pic>
      <p:pic>
        <p:nvPicPr>
          <p:cNvPr id="51" name="Grafik 2" descr=""/>
          <p:cNvPicPr/>
          <p:nvPr/>
        </p:nvPicPr>
        <p:blipFill>
          <a:blip r:embed="rId3"/>
          <a:stretch/>
        </p:blipFill>
        <p:spPr>
          <a:xfrm>
            <a:off x="7430400" y="134640"/>
            <a:ext cx="3674880" cy="491040"/>
          </a:xfrm>
          <a:prstGeom prst="rect">
            <a:avLst/>
          </a:prstGeom>
          <a:noFill/>
          <a:ln w="0">
            <a:noFill/>
          </a:ln>
        </p:spPr>
      </p:pic>
      <p:sp>
        <p:nvSpPr>
          <p:cNvPr id="52"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53"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4"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5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56"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7"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8"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9"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solidFill>
          <a:srgbClr val="ffffff"/>
        </a:solidFill>
      </p:bgPr>
    </p:bg>
    <p:spTree>
      <p:nvGrpSpPr>
        <p:cNvPr id="1" name=""/>
        <p:cNvGrpSpPr/>
        <p:nvPr/>
      </p:nvGrpSpPr>
      <p:grpSpPr>
        <a:xfrm>
          <a:off x="0" y="0"/>
          <a:ext cx="0" cy="0"/>
          <a:chOff x="0" y="0"/>
          <a:chExt cx="0" cy="0"/>
        </a:xfrm>
      </p:grpSpPr>
      <p:sp>
        <p:nvSpPr>
          <p:cNvPr id="60"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1"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BE0CB4FB-30BF-4076-8DD7-74DC8D1191A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62"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63" name="Picture 19" descr="Logo_TUC_de_RGB"/>
          <p:cNvPicPr/>
          <p:nvPr/>
        </p:nvPicPr>
        <p:blipFill>
          <a:blip r:embed="rId2"/>
          <a:stretch/>
        </p:blipFill>
        <p:spPr>
          <a:xfrm>
            <a:off x="0" y="0"/>
            <a:ext cx="3029040" cy="538920"/>
          </a:xfrm>
          <a:prstGeom prst="rect">
            <a:avLst/>
          </a:prstGeom>
          <a:noFill/>
          <a:ln w="0">
            <a:noFill/>
          </a:ln>
        </p:spPr>
      </p:pic>
      <p:pic>
        <p:nvPicPr>
          <p:cNvPr id="64" name="Grafik 2" descr=""/>
          <p:cNvPicPr/>
          <p:nvPr/>
        </p:nvPicPr>
        <p:blipFill>
          <a:blip r:embed="rId3"/>
          <a:stretch/>
        </p:blipFill>
        <p:spPr>
          <a:xfrm>
            <a:off x="7430400" y="134640"/>
            <a:ext cx="3674880" cy="491040"/>
          </a:xfrm>
          <a:prstGeom prst="rect">
            <a:avLst/>
          </a:prstGeom>
          <a:noFill/>
          <a:ln w="0">
            <a:noFill/>
          </a:ln>
        </p:spPr>
      </p:pic>
      <p:sp>
        <p:nvSpPr>
          <p:cNvPr id="65"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6"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7"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6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69"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0"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1"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2"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3"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4"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solidFill>
          <a:srgbClr val="ffffff"/>
        </a:solidFill>
      </p:bgPr>
    </p:bg>
    <p:spTree>
      <p:nvGrpSpPr>
        <p:cNvPr id="1" name=""/>
        <p:cNvGrpSpPr/>
        <p:nvPr/>
      </p:nvGrpSpPr>
      <p:grpSpPr>
        <a:xfrm>
          <a:off x="0" y="0"/>
          <a:ext cx="0" cy="0"/>
          <a:chOff x="0" y="0"/>
          <a:chExt cx="0" cy="0"/>
        </a:xfrm>
      </p:grpSpPr>
      <p:sp>
        <p:nvSpPr>
          <p:cNvPr id="75"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6"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B423EBC0-BD0F-4242-BFD9-B13A7041FC4C}"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77"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78" name="Picture 19" descr="Logo_TUC_de_RGB"/>
          <p:cNvPicPr/>
          <p:nvPr/>
        </p:nvPicPr>
        <p:blipFill>
          <a:blip r:embed="rId2"/>
          <a:stretch/>
        </p:blipFill>
        <p:spPr>
          <a:xfrm>
            <a:off x="0" y="0"/>
            <a:ext cx="3029040" cy="538920"/>
          </a:xfrm>
          <a:prstGeom prst="rect">
            <a:avLst/>
          </a:prstGeom>
          <a:noFill/>
          <a:ln w="0">
            <a:noFill/>
          </a:ln>
        </p:spPr>
      </p:pic>
      <p:pic>
        <p:nvPicPr>
          <p:cNvPr id="79" name="Grafik 2" descr=""/>
          <p:cNvPicPr/>
          <p:nvPr/>
        </p:nvPicPr>
        <p:blipFill>
          <a:blip r:embed="rId3"/>
          <a:stretch/>
        </p:blipFill>
        <p:spPr>
          <a:xfrm>
            <a:off x="7430400" y="134640"/>
            <a:ext cx="3674880" cy="491040"/>
          </a:xfrm>
          <a:prstGeom prst="rect">
            <a:avLst/>
          </a:prstGeom>
          <a:noFill/>
          <a:ln w="0">
            <a:noFill/>
          </a:ln>
        </p:spPr>
      </p:pic>
      <p:sp>
        <p:nvSpPr>
          <p:cNvPr id="80"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81"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2"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8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solidFill>
          <a:srgbClr val="ffffff"/>
        </a:solidFill>
      </p:bgPr>
    </p:bg>
    <p:spTree>
      <p:nvGrpSpPr>
        <p:cNvPr id="1" name=""/>
        <p:cNvGrpSpPr/>
        <p:nvPr/>
      </p:nvGrpSpPr>
      <p:grpSpPr>
        <a:xfrm>
          <a:off x="0" y="0"/>
          <a:ext cx="0" cy="0"/>
          <a:chOff x="0" y="0"/>
          <a:chExt cx="0" cy="0"/>
        </a:xfrm>
      </p:grpSpPr>
      <p:sp>
        <p:nvSpPr>
          <p:cNvPr id="85"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6"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BA840666-FB6B-4813-B7D9-CCEF7C936D9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87"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88" name="Picture 19" descr="Logo_TUC_de_RGB"/>
          <p:cNvPicPr/>
          <p:nvPr/>
        </p:nvPicPr>
        <p:blipFill>
          <a:blip r:embed="rId2"/>
          <a:stretch/>
        </p:blipFill>
        <p:spPr>
          <a:xfrm>
            <a:off x="0" y="0"/>
            <a:ext cx="3029040" cy="538920"/>
          </a:xfrm>
          <a:prstGeom prst="rect">
            <a:avLst/>
          </a:prstGeom>
          <a:noFill/>
          <a:ln w="0">
            <a:noFill/>
          </a:ln>
        </p:spPr>
      </p:pic>
      <p:pic>
        <p:nvPicPr>
          <p:cNvPr id="89" name="Grafik 2" descr=""/>
          <p:cNvPicPr/>
          <p:nvPr/>
        </p:nvPicPr>
        <p:blipFill>
          <a:blip r:embed="rId3"/>
          <a:stretch/>
        </p:blipFill>
        <p:spPr>
          <a:xfrm>
            <a:off x="7430400" y="134640"/>
            <a:ext cx="3674880" cy="491040"/>
          </a:xfrm>
          <a:prstGeom prst="rect">
            <a:avLst/>
          </a:prstGeom>
          <a:noFill/>
          <a:ln w="0">
            <a:noFill/>
          </a:ln>
        </p:spPr>
      </p:pic>
      <p:sp>
        <p:nvSpPr>
          <p:cNvPr id="90"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91"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2"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9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bg>
      <p:bgPr>
        <a:solidFill>
          <a:srgbClr val="ffffff"/>
        </a:solidFill>
      </p:bgPr>
    </p:bg>
    <p:spTree>
      <p:nvGrpSpPr>
        <p:cNvPr id="1" name=""/>
        <p:cNvGrpSpPr/>
        <p:nvPr/>
      </p:nvGrpSpPr>
      <p:grpSpPr>
        <a:xfrm>
          <a:off x="0" y="0"/>
          <a:ext cx="0" cy="0"/>
          <a:chOff x="0" y="0"/>
          <a:chExt cx="0" cy="0"/>
        </a:xfrm>
      </p:grpSpPr>
      <p:sp>
        <p:nvSpPr>
          <p:cNvPr id="94"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5"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63A9F64-2AC8-4AC8-9A86-6543A815F1E1}"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96"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7" name="Picture 19" descr="Logo_TUC_de_RGB"/>
          <p:cNvPicPr/>
          <p:nvPr/>
        </p:nvPicPr>
        <p:blipFill>
          <a:blip r:embed="rId2"/>
          <a:stretch/>
        </p:blipFill>
        <p:spPr>
          <a:xfrm>
            <a:off x="0" y="0"/>
            <a:ext cx="3029040" cy="538920"/>
          </a:xfrm>
          <a:prstGeom prst="rect">
            <a:avLst/>
          </a:prstGeom>
          <a:noFill/>
          <a:ln w="0">
            <a:noFill/>
          </a:ln>
        </p:spPr>
      </p:pic>
      <p:pic>
        <p:nvPicPr>
          <p:cNvPr id="98" name="Grafik 2" descr=""/>
          <p:cNvPicPr/>
          <p:nvPr/>
        </p:nvPicPr>
        <p:blipFill>
          <a:blip r:embed="rId3"/>
          <a:stretch/>
        </p:blipFill>
        <p:spPr>
          <a:xfrm>
            <a:off x="7430400" y="134640"/>
            <a:ext cx="3674880" cy="491040"/>
          </a:xfrm>
          <a:prstGeom prst="rect">
            <a:avLst/>
          </a:prstGeom>
          <a:noFill/>
          <a:ln w="0">
            <a:noFill/>
          </a:ln>
        </p:spPr>
      </p:pic>
      <p:sp>
        <p:nvSpPr>
          <p:cNvPr id="99"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00"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1"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0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0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bg>
      <p:bgPr>
        <a:solidFill>
          <a:srgbClr val="ffffff"/>
        </a:solidFill>
      </p:bgPr>
    </p:bg>
    <p:spTree>
      <p:nvGrpSpPr>
        <p:cNvPr id="1" name=""/>
        <p:cNvGrpSpPr/>
        <p:nvPr/>
      </p:nvGrpSpPr>
      <p:grpSpPr>
        <a:xfrm>
          <a:off x="0" y="0"/>
          <a:ext cx="0" cy="0"/>
          <a:chOff x="0" y="0"/>
          <a:chExt cx="0" cy="0"/>
        </a:xfrm>
      </p:grpSpPr>
      <p:sp>
        <p:nvSpPr>
          <p:cNvPr id="104"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5"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F5D333CE-9354-4463-9465-B6F528F2566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6"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07" name="Picture 19" descr="Logo_TUC_de_RGB"/>
          <p:cNvPicPr/>
          <p:nvPr/>
        </p:nvPicPr>
        <p:blipFill>
          <a:blip r:embed="rId2"/>
          <a:stretch/>
        </p:blipFill>
        <p:spPr>
          <a:xfrm>
            <a:off x="0" y="0"/>
            <a:ext cx="3029040" cy="538920"/>
          </a:xfrm>
          <a:prstGeom prst="rect">
            <a:avLst/>
          </a:prstGeom>
          <a:noFill/>
          <a:ln w="0">
            <a:noFill/>
          </a:ln>
        </p:spPr>
      </p:pic>
      <p:pic>
        <p:nvPicPr>
          <p:cNvPr id="108" name="Grafik 2" descr=""/>
          <p:cNvPicPr/>
          <p:nvPr/>
        </p:nvPicPr>
        <p:blipFill>
          <a:blip r:embed="rId3"/>
          <a:stretch/>
        </p:blipFill>
        <p:spPr>
          <a:xfrm>
            <a:off x="7430400" y="134640"/>
            <a:ext cx="3674880" cy="491040"/>
          </a:xfrm>
          <a:prstGeom prst="rect">
            <a:avLst/>
          </a:prstGeom>
          <a:noFill/>
          <a:ln w="0">
            <a:noFill/>
          </a:ln>
        </p:spPr>
      </p:pic>
      <p:sp>
        <p:nvSpPr>
          <p:cNvPr id="109"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10"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11"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1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13"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1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115"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16"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3C0075A4-782F-43FC-9965-67D410860D49}"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17"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18" name="Picture 19" descr="Logo_TUC_de_RGB"/>
          <p:cNvPicPr/>
          <p:nvPr/>
        </p:nvPicPr>
        <p:blipFill>
          <a:blip r:embed="rId2"/>
          <a:stretch/>
        </p:blipFill>
        <p:spPr>
          <a:xfrm>
            <a:off x="0" y="0"/>
            <a:ext cx="3029040" cy="538920"/>
          </a:xfrm>
          <a:prstGeom prst="rect">
            <a:avLst/>
          </a:prstGeom>
          <a:noFill/>
          <a:ln w="0">
            <a:noFill/>
          </a:ln>
        </p:spPr>
      </p:pic>
      <p:pic>
        <p:nvPicPr>
          <p:cNvPr id="119" name="Grafik 2" descr=""/>
          <p:cNvPicPr/>
          <p:nvPr/>
        </p:nvPicPr>
        <p:blipFill>
          <a:blip r:embed="rId3"/>
          <a:stretch/>
        </p:blipFill>
        <p:spPr>
          <a:xfrm>
            <a:off x="7430400" y="134640"/>
            <a:ext cx="3674880" cy="491040"/>
          </a:xfrm>
          <a:prstGeom prst="rect">
            <a:avLst/>
          </a:prstGeom>
          <a:noFill/>
          <a:ln w="0">
            <a:noFill/>
          </a:ln>
        </p:spPr>
      </p:pic>
      <p:sp>
        <p:nvSpPr>
          <p:cNvPr id="120"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21"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22"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2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bg>
      <p:bgPr>
        <a:solidFill>
          <a:srgbClr val="ffffff"/>
        </a:solidFill>
      </p:bgPr>
    </p:bg>
    <p:spTree>
      <p:nvGrpSpPr>
        <p:cNvPr id="1" name=""/>
        <p:cNvGrpSpPr/>
        <p:nvPr/>
      </p:nvGrpSpPr>
      <p:grpSpPr>
        <a:xfrm>
          <a:off x="0" y="0"/>
          <a:ext cx="0" cy="0"/>
          <a:chOff x="0" y="0"/>
          <a:chExt cx="0" cy="0"/>
        </a:xfrm>
      </p:grpSpPr>
      <p:sp>
        <p:nvSpPr>
          <p:cNvPr id="124"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25"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15E03BD1-3241-4D30-9852-902FDA845677}"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26"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27" name="Picture 19" descr="Logo_TUC_de_RGB"/>
          <p:cNvPicPr/>
          <p:nvPr/>
        </p:nvPicPr>
        <p:blipFill>
          <a:blip r:embed="rId2"/>
          <a:stretch/>
        </p:blipFill>
        <p:spPr>
          <a:xfrm>
            <a:off x="0" y="0"/>
            <a:ext cx="3029040" cy="538920"/>
          </a:xfrm>
          <a:prstGeom prst="rect">
            <a:avLst/>
          </a:prstGeom>
          <a:noFill/>
          <a:ln w="0">
            <a:noFill/>
          </a:ln>
        </p:spPr>
      </p:pic>
      <p:pic>
        <p:nvPicPr>
          <p:cNvPr id="128" name="Grafik 2" descr=""/>
          <p:cNvPicPr/>
          <p:nvPr/>
        </p:nvPicPr>
        <p:blipFill>
          <a:blip r:embed="rId3"/>
          <a:stretch/>
        </p:blipFill>
        <p:spPr>
          <a:xfrm>
            <a:off x="7430400" y="134640"/>
            <a:ext cx="3674880" cy="491040"/>
          </a:xfrm>
          <a:prstGeom prst="rect">
            <a:avLst/>
          </a:prstGeom>
          <a:noFill/>
          <a:ln w="0">
            <a:noFill/>
          </a:ln>
        </p:spPr>
      </p:pic>
      <p:sp>
        <p:nvSpPr>
          <p:cNvPr id="129"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30"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31"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p:bg>
      <p:bgPr>
        <a:solidFill>
          <a:srgbClr val="ffffff"/>
        </a:solidFill>
      </p:bgPr>
    </p:bg>
    <p:spTree>
      <p:nvGrpSpPr>
        <p:cNvPr id="1" name=""/>
        <p:cNvGrpSpPr/>
        <p:nvPr/>
      </p:nvGrpSpPr>
      <p:grpSpPr>
        <a:xfrm>
          <a:off x="0" y="0"/>
          <a:ext cx="0" cy="0"/>
          <a:chOff x="0" y="0"/>
          <a:chExt cx="0" cy="0"/>
        </a:xfrm>
      </p:grpSpPr>
      <p:sp>
        <p:nvSpPr>
          <p:cNvPr id="132"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33"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EF1519FB-35CC-427C-9BDA-EF0E2CDE2E64}"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34"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35" name="Picture 19" descr="Logo_TUC_de_RGB"/>
          <p:cNvPicPr/>
          <p:nvPr/>
        </p:nvPicPr>
        <p:blipFill>
          <a:blip r:embed="rId2"/>
          <a:stretch/>
        </p:blipFill>
        <p:spPr>
          <a:xfrm>
            <a:off x="0" y="0"/>
            <a:ext cx="3029040" cy="538920"/>
          </a:xfrm>
          <a:prstGeom prst="rect">
            <a:avLst/>
          </a:prstGeom>
          <a:noFill/>
          <a:ln w="0">
            <a:noFill/>
          </a:ln>
        </p:spPr>
      </p:pic>
      <p:pic>
        <p:nvPicPr>
          <p:cNvPr id="136" name="Grafik 2" descr=""/>
          <p:cNvPicPr/>
          <p:nvPr/>
        </p:nvPicPr>
        <p:blipFill>
          <a:blip r:embed="rId3"/>
          <a:stretch/>
        </p:blipFill>
        <p:spPr>
          <a:xfrm>
            <a:off x="7430400" y="134640"/>
            <a:ext cx="3674880" cy="491040"/>
          </a:xfrm>
          <a:prstGeom prst="rect">
            <a:avLst/>
          </a:prstGeom>
          <a:noFill/>
          <a:ln w="0">
            <a:noFill/>
          </a:ln>
        </p:spPr>
      </p:pic>
      <p:sp>
        <p:nvSpPr>
          <p:cNvPr id="137"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38"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39"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4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41"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42"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43"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
    <p:bg>
      <p:bgPr>
        <a:solidFill>
          <a:srgbClr val="ffffff"/>
        </a:solidFill>
      </p:bgPr>
    </p:bg>
    <p:spTree>
      <p:nvGrpSpPr>
        <p:cNvPr id="1" name=""/>
        <p:cNvGrpSpPr/>
        <p:nvPr/>
      </p:nvGrpSpPr>
      <p:grpSpPr>
        <a:xfrm>
          <a:off x="0" y="0"/>
          <a:ext cx="0" cy="0"/>
          <a:chOff x="0" y="0"/>
          <a:chExt cx="0" cy="0"/>
        </a:xfrm>
      </p:grpSpPr>
      <p:sp>
        <p:nvSpPr>
          <p:cNvPr id="144"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45"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F3687587-4644-4F64-839C-C4434093130D}"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46"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47" name="Picture 19" descr="Logo_TUC_de_RGB"/>
          <p:cNvPicPr/>
          <p:nvPr/>
        </p:nvPicPr>
        <p:blipFill>
          <a:blip r:embed="rId2"/>
          <a:stretch/>
        </p:blipFill>
        <p:spPr>
          <a:xfrm>
            <a:off x="0" y="0"/>
            <a:ext cx="3029040" cy="538920"/>
          </a:xfrm>
          <a:prstGeom prst="rect">
            <a:avLst/>
          </a:prstGeom>
          <a:noFill/>
          <a:ln w="0">
            <a:noFill/>
          </a:ln>
        </p:spPr>
      </p:pic>
      <p:pic>
        <p:nvPicPr>
          <p:cNvPr id="148" name="Grafik 2" descr=""/>
          <p:cNvPicPr/>
          <p:nvPr/>
        </p:nvPicPr>
        <p:blipFill>
          <a:blip r:embed="rId3"/>
          <a:stretch/>
        </p:blipFill>
        <p:spPr>
          <a:xfrm>
            <a:off x="7430400" y="134640"/>
            <a:ext cx="3674880" cy="491040"/>
          </a:xfrm>
          <a:prstGeom prst="rect">
            <a:avLst/>
          </a:prstGeom>
          <a:noFill/>
          <a:ln w="0">
            <a:noFill/>
          </a:ln>
        </p:spPr>
      </p:pic>
      <p:sp>
        <p:nvSpPr>
          <p:cNvPr id="149"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50"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51"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5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53"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54"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55"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
    <p:bg>
      <p:bgPr>
        <a:solidFill>
          <a:srgbClr val="ffffff"/>
        </a:solidFill>
      </p:bgPr>
    </p:bg>
    <p:spTree>
      <p:nvGrpSpPr>
        <p:cNvPr id="1" name=""/>
        <p:cNvGrpSpPr/>
        <p:nvPr/>
      </p:nvGrpSpPr>
      <p:grpSpPr>
        <a:xfrm>
          <a:off x="0" y="0"/>
          <a:ext cx="0" cy="0"/>
          <a:chOff x="0" y="0"/>
          <a:chExt cx="0" cy="0"/>
        </a:xfrm>
      </p:grpSpPr>
      <p:sp>
        <p:nvSpPr>
          <p:cNvPr id="156"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57"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40A5930-85F7-46A8-B5C4-2B51CA9EA0A8}"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58"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59" name="Picture 19" descr="Logo_TUC_de_RGB"/>
          <p:cNvPicPr/>
          <p:nvPr/>
        </p:nvPicPr>
        <p:blipFill>
          <a:blip r:embed="rId2"/>
          <a:stretch/>
        </p:blipFill>
        <p:spPr>
          <a:xfrm>
            <a:off x="0" y="0"/>
            <a:ext cx="3029040" cy="538920"/>
          </a:xfrm>
          <a:prstGeom prst="rect">
            <a:avLst/>
          </a:prstGeom>
          <a:noFill/>
          <a:ln w="0">
            <a:noFill/>
          </a:ln>
        </p:spPr>
      </p:pic>
      <p:pic>
        <p:nvPicPr>
          <p:cNvPr id="160" name="Grafik 2" descr=""/>
          <p:cNvPicPr/>
          <p:nvPr/>
        </p:nvPicPr>
        <p:blipFill>
          <a:blip r:embed="rId3"/>
          <a:stretch/>
        </p:blipFill>
        <p:spPr>
          <a:xfrm>
            <a:off x="7430400" y="134640"/>
            <a:ext cx="3674880" cy="491040"/>
          </a:xfrm>
          <a:prstGeom prst="rect">
            <a:avLst/>
          </a:prstGeom>
          <a:noFill/>
          <a:ln w="0">
            <a:noFill/>
          </a:ln>
        </p:spPr>
      </p:pic>
      <p:sp>
        <p:nvSpPr>
          <p:cNvPr id="161"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62"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63"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6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65"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66"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67"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3">
    <p:bg>
      <p:bgPr>
        <a:solidFill>
          <a:srgbClr val="ffffff"/>
        </a:solidFill>
      </p:bgPr>
    </p:bg>
    <p:spTree>
      <p:nvGrpSpPr>
        <p:cNvPr id="1" name=""/>
        <p:cNvGrpSpPr/>
        <p:nvPr/>
      </p:nvGrpSpPr>
      <p:grpSpPr>
        <a:xfrm>
          <a:off x="0" y="0"/>
          <a:ext cx="0" cy="0"/>
          <a:chOff x="0" y="0"/>
          <a:chExt cx="0" cy="0"/>
        </a:xfrm>
      </p:grpSpPr>
      <p:sp>
        <p:nvSpPr>
          <p:cNvPr id="168"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69"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667DFBD1-6A3E-41D1-AD89-0E19C073E79C}"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70"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71" name="Picture 19" descr="Logo_TUC_de_RGB"/>
          <p:cNvPicPr/>
          <p:nvPr/>
        </p:nvPicPr>
        <p:blipFill>
          <a:blip r:embed="rId2"/>
          <a:stretch/>
        </p:blipFill>
        <p:spPr>
          <a:xfrm>
            <a:off x="0" y="0"/>
            <a:ext cx="3029040" cy="538920"/>
          </a:xfrm>
          <a:prstGeom prst="rect">
            <a:avLst/>
          </a:prstGeom>
          <a:noFill/>
          <a:ln w="0">
            <a:noFill/>
          </a:ln>
        </p:spPr>
      </p:pic>
      <p:pic>
        <p:nvPicPr>
          <p:cNvPr id="172" name="Grafik 2" descr=""/>
          <p:cNvPicPr/>
          <p:nvPr/>
        </p:nvPicPr>
        <p:blipFill>
          <a:blip r:embed="rId3"/>
          <a:stretch/>
        </p:blipFill>
        <p:spPr>
          <a:xfrm>
            <a:off x="7430400" y="134640"/>
            <a:ext cx="3674880" cy="491040"/>
          </a:xfrm>
          <a:prstGeom prst="rect">
            <a:avLst/>
          </a:prstGeom>
          <a:noFill/>
          <a:ln w="0">
            <a:noFill/>
          </a:ln>
        </p:spPr>
      </p:pic>
      <p:sp>
        <p:nvSpPr>
          <p:cNvPr id="173"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74"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75"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7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77"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78"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4">
    <p:bg>
      <p:bgPr>
        <a:solidFill>
          <a:srgbClr val="ffffff"/>
        </a:solidFill>
      </p:bgPr>
    </p:bg>
    <p:spTree>
      <p:nvGrpSpPr>
        <p:cNvPr id="1" name=""/>
        <p:cNvGrpSpPr/>
        <p:nvPr/>
      </p:nvGrpSpPr>
      <p:grpSpPr>
        <a:xfrm>
          <a:off x="0" y="0"/>
          <a:ext cx="0" cy="0"/>
          <a:chOff x="0" y="0"/>
          <a:chExt cx="0" cy="0"/>
        </a:xfrm>
      </p:grpSpPr>
      <p:sp>
        <p:nvSpPr>
          <p:cNvPr id="179"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80"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96B5A96A-4750-4FD9-A6FA-B7949C53ABEF}"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81"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82" name="Picture 19" descr="Logo_TUC_de_RGB"/>
          <p:cNvPicPr/>
          <p:nvPr/>
        </p:nvPicPr>
        <p:blipFill>
          <a:blip r:embed="rId2"/>
          <a:stretch/>
        </p:blipFill>
        <p:spPr>
          <a:xfrm>
            <a:off x="0" y="0"/>
            <a:ext cx="3029040" cy="538920"/>
          </a:xfrm>
          <a:prstGeom prst="rect">
            <a:avLst/>
          </a:prstGeom>
          <a:noFill/>
          <a:ln w="0">
            <a:noFill/>
          </a:ln>
        </p:spPr>
      </p:pic>
      <p:pic>
        <p:nvPicPr>
          <p:cNvPr id="183" name="Grafik 2" descr=""/>
          <p:cNvPicPr/>
          <p:nvPr/>
        </p:nvPicPr>
        <p:blipFill>
          <a:blip r:embed="rId3"/>
          <a:stretch/>
        </p:blipFill>
        <p:spPr>
          <a:xfrm>
            <a:off x="7430400" y="134640"/>
            <a:ext cx="3674880" cy="491040"/>
          </a:xfrm>
          <a:prstGeom prst="rect">
            <a:avLst/>
          </a:prstGeom>
          <a:noFill/>
          <a:ln w="0">
            <a:noFill/>
          </a:ln>
        </p:spPr>
      </p:pic>
      <p:sp>
        <p:nvSpPr>
          <p:cNvPr id="184"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85"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86"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8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88"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89"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90"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91"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solidFill>
          <a:srgbClr val="ffffff"/>
        </a:solidFill>
      </p:bgPr>
    </p:bg>
    <p:spTree>
      <p:nvGrpSpPr>
        <p:cNvPr id="1" name=""/>
        <p:cNvGrpSpPr/>
        <p:nvPr/>
      </p:nvGrpSpPr>
      <p:grpSpPr>
        <a:xfrm>
          <a:off x="0" y="0"/>
          <a:ext cx="0" cy="0"/>
          <a:chOff x="0" y="0"/>
          <a:chExt cx="0" cy="0"/>
        </a:xfrm>
      </p:grpSpPr>
      <p:sp>
        <p:nvSpPr>
          <p:cNvPr id="192"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93"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8B17BC84-7734-491A-9CF5-684328D9F19A}"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94"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95" name="Picture 19" descr="Logo_TUC_de_RGB"/>
          <p:cNvPicPr/>
          <p:nvPr/>
        </p:nvPicPr>
        <p:blipFill>
          <a:blip r:embed="rId2"/>
          <a:stretch/>
        </p:blipFill>
        <p:spPr>
          <a:xfrm>
            <a:off x="0" y="0"/>
            <a:ext cx="3029040" cy="538920"/>
          </a:xfrm>
          <a:prstGeom prst="rect">
            <a:avLst/>
          </a:prstGeom>
          <a:noFill/>
          <a:ln w="0">
            <a:noFill/>
          </a:ln>
        </p:spPr>
      </p:pic>
      <p:pic>
        <p:nvPicPr>
          <p:cNvPr id="196" name="Grafik 2" descr=""/>
          <p:cNvPicPr/>
          <p:nvPr/>
        </p:nvPicPr>
        <p:blipFill>
          <a:blip r:embed="rId3"/>
          <a:stretch/>
        </p:blipFill>
        <p:spPr>
          <a:xfrm>
            <a:off x="7430400" y="134640"/>
            <a:ext cx="3674880" cy="491040"/>
          </a:xfrm>
          <a:prstGeom prst="rect">
            <a:avLst/>
          </a:prstGeom>
          <a:noFill/>
          <a:ln w="0">
            <a:noFill/>
          </a:ln>
        </p:spPr>
      </p:pic>
      <p:sp>
        <p:nvSpPr>
          <p:cNvPr id="197"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98"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99"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0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01"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02"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03"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04"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05"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06"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bg>
      <p:bgPr>
        <a:solidFill>
          <a:srgbClr val="ffffff"/>
        </a:solidFill>
      </p:bgPr>
    </p:bg>
    <p:spTree>
      <p:nvGrpSpPr>
        <p:cNvPr id="1" name=""/>
        <p:cNvGrpSpPr/>
        <p:nvPr/>
      </p:nvGrpSpPr>
      <p:grpSpPr>
        <a:xfrm>
          <a:off x="0" y="0"/>
          <a:ext cx="0" cy="0"/>
          <a:chOff x="0" y="0"/>
          <a:chExt cx="0" cy="0"/>
        </a:xfrm>
      </p:grpSpPr>
      <p:sp>
        <p:nvSpPr>
          <p:cNvPr id="207"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08"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6D1DA70D-647F-455F-BD9F-AE53FE06A845}"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209"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210" name="Picture 19" descr="Logo_TUC_de_RGB"/>
          <p:cNvPicPr/>
          <p:nvPr/>
        </p:nvPicPr>
        <p:blipFill>
          <a:blip r:embed="rId2"/>
          <a:stretch/>
        </p:blipFill>
        <p:spPr>
          <a:xfrm>
            <a:off x="0" y="0"/>
            <a:ext cx="3029040" cy="538920"/>
          </a:xfrm>
          <a:prstGeom prst="rect">
            <a:avLst/>
          </a:prstGeom>
          <a:noFill/>
          <a:ln w="0">
            <a:noFill/>
          </a:ln>
        </p:spPr>
      </p:pic>
      <p:pic>
        <p:nvPicPr>
          <p:cNvPr id="211" name="Grafik 2" descr=""/>
          <p:cNvPicPr/>
          <p:nvPr/>
        </p:nvPicPr>
        <p:blipFill>
          <a:blip r:embed="rId3"/>
          <a:stretch/>
        </p:blipFill>
        <p:spPr>
          <a:xfrm>
            <a:off x="7430400" y="134640"/>
            <a:ext cx="3674880" cy="491040"/>
          </a:xfrm>
          <a:prstGeom prst="rect">
            <a:avLst/>
          </a:prstGeom>
          <a:noFill/>
          <a:ln w="0">
            <a:noFill/>
          </a:ln>
        </p:spPr>
      </p:pic>
      <p:sp>
        <p:nvSpPr>
          <p:cNvPr id="212"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213"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14"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21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7">
    <p:bg>
      <p:bgPr>
        <a:solidFill>
          <a:srgbClr val="ffffff"/>
        </a:solidFill>
      </p:bgPr>
    </p:bg>
    <p:spTree>
      <p:nvGrpSpPr>
        <p:cNvPr id="1" name=""/>
        <p:cNvGrpSpPr/>
        <p:nvPr/>
      </p:nvGrpSpPr>
      <p:grpSpPr>
        <a:xfrm>
          <a:off x="0" y="0"/>
          <a:ext cx="0" cy="0"/>
          <a:chOff x="0" y="0"/>
          <a:chExt cx="0" cy="0"/>
        </a:xfrm>
      </p:grpSpPr>
      <p:sp>
        <p:nvSpPr>
          <p:cNvPr id="217"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18"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6ED3EE95-0C8D-41AD-AB28-75A21B4705D7}"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219"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220" name="Picture 19" descr="Logo_TUC_de_RGB"/>
          <p:cNvPicPr/>
          <p:nvPr/>
        </p:nvPicPr>
        <p:blipFill>
          <a:blip r:embed="rId2"/>
          <a:stretch/>
        </p:blipFill>
        <p:spPr>
          <a:xfrm>
            <a:off x="0" y="0"/>
            <a:ext cx="3029040" cy="538920"/>
          </a:xfrm>
          <a:prstGeom prst="rect">
            <a:avLst/>
          </a:prstGeom>
          <a:noFill/>
          <a:ln w="0">
            <a:noFill/>
          </a:ln>
        </p:spPr>
      </p:pic>
      <p:pic>
        <p:nvPicPr>
          <p:cNvPr id="221" name="Grafik 2" descr=""/>
          <p:cNvPicPr/>
          <p:nvPr/>
        </p:nvPicPr>
        <p:blipFill>
          <a:blip r:embed="rId3"/>
          <a:stretch/>
        </p:blipFill>
        <p:spPr>
          <a:xfrm>
            <a:off x="7430400" y="134640"/>
            <a:ext cx="3674880" cy="491040"/>
          </a:xfrm>
          <a:prstGeom prst="rect">
            <a:avLst/>
          </a:prstGeom>
          <a:noFill/>
          <a:ln w="0">
            <a:noFill/>
          </a:ln>
        </p:spPr>
      </p:pic>
      <p:sp>
        <p:nvSpPr>
          <p:cNvPr id="222"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223"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24"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2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8">
    <p:bg>
      <p:bgPr>
        <a:solidFill>
          <a:srgbClr val="ffffff"/>
        </a:solidFill>
      </p:bgPr>
    </p:bg>
    <p:spTree>
      <p:nvGrpSpPr>
        <p:cNvPr id="1" name=""/>
        <p:cNvGrpSpPr/>
        <p:nvPr/>
      </p:nvGrpSpPr>
      <p:grpSpPr>
        <a:xfrm>
          <a:off x="0" y="0"/>
          <a:ext cx="0" cy="0"/>
          <a:chOff x="0" y="0"/>
          <a:chExt cx="0" cy="0"/>
        </a:xfrm>
      </p:grpSpPr>
      <p:sp>
        <p:nvSpPr>
          <p:cNvPr id="226"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27"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988D1611-BB16-4310-83A4-6FBB5304EE6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228"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229" name="Picture 19" descr="Logo_TUC_de_RGB"/>
          <p:cNvPicPr/>
          <p:nvPr/>
        </p:nvPicPr>
        <p:blipFill>
          <a:blip r:embed="rId2"/>
          <a:stretch/>
        </p:blipFill>
        <p:spPr>
          <a:xfrm>
            <a:off x="0" y="0"/>
            <a:ext cx="3029040" cy="538920"/>
          </a:xfrm>
          <a:prstGeom prst="rect">
            <a:avLst/>
          </a:prstGeom>
          <a:noFill/>
          <a:ln w="0">
            <a:noFill/>
          </a:ln>
        </p:spPr>
      </p:pic>
      <p:pic>
        <p:nvPicPr>
          <p:cNvPr id="230" name="Grafik 2" descr=""/>
          <p:cNvPicPr/>
          <p:nvPr/>
        </p:nvPicPr>
        <p:blipFill>
          <a:blip r:embed="rId3"/>
          <a:stretch/>
        </p:blipFill>
        <p:spPr>
          <a:xfrm>
            <a:off x="7430400" y="134640"/>
            <a:ext cx="3674880" cy="491040"/>
          </a:xfrm>
          <a:prstGeom prst="rect">
            <a:avLst/>
          </a:prstGeom>
          <a:noFill/>
          <a:ln w="0">
            <a:noFill/>
          </a:ln>
        </p:spPr>
      </p:pic>
      <p:sp>
        <p:nvSpPr>
          <p:cNvPr id="231"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232"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33"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3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35"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9">
    <p:bg>
      <p:bgPr>
        <a:solidFill>
          <a:srgbClr val="ffffff"/>
        </a:solidFill>
      </p:bgPr>
    </p:bg>
    <p:spTree>
      <p:nvGrpSpPr>
        <p:cNvPr id="1" name=""/>
        <p:cNvGrpSpPr/>
        <p:nvPr/>
      </p:nvGrpSpPr>
      <p:grpSpPr>
        <a:xfrm>
          <a:off x="0" y="0"/>
          <a:ext cx="0" cy="0"/>
          <a:chOff x="0" y="0"/>
          <a:chExt cx="0" cy="0"/>
        </a:xfrm>
      </p:grpSpPr>
      <p:sp>
        <p:nvSpPr>
          <p:cNvPr id="236"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37"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FD1C9188-723D-4A08-BC19-E38232256BE9}"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238"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239" name="Picture 19" descr="Logo_TUC_de_RGB"/>
          <p:cNvPicPr/>
          <p:nvPr/>
        </p:nvPicPr>
        <p:blipFill>
          <a:blip r:embed="rId2"/>
          <a:stretch/>
        </p:blipFill>
        <p:spPr>
          <a:xfrm>
            <a:off x="0" y="0"/>
            <a:ext cx="3029040" cy="538920"/>
          </a:xfrm>
          <a:prstGeom prst="rect">
            <a:avLst/>
          </a:prstGeom>
          <a:noFill/>
          <a:ln w="0">
            <a:noFill/>
          </a:ln>
        </p:spPr>
      </p:pic>
      <p:pic>
        <p:nvPicPr>
          <p:cNvPr id="240" name="Grafik 2" descr=""/>
          <p:cNvPicPr/>
          <p:nvPr/>
        </p:nvPicPr>
        <p:blipFill>
          <a:blip r:embed="rId3"/>
          <a:stretch/>
        </p:blipFill>
        <p:spPr>
          <a:xfrm>
            <a:off x="7430400" y="134640"/>
            <a:ext cx="3674880" cy="491040"/>
          </a:xfrm>
          <a:prstGeom prst="rect">
            <a:avLst/>
          </a:prstGeom>
          <a:noFill/>
          <a:ln w="0">
            <a:noFill/>
          </a:ln>
        </p:spPr>
      </p:pic>
      <p:sp>
        <p:nvSpPr>
          <p:cNvPr id="241"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242"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43"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4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45"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46"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0">
    <p:bg>
      <p:bgPr>
        <a:solidFill>
          <a:srgbClr val="ffffff"/>
        </a:solidFill>
      </p:bgPr>
    </p:bg>
    <p:spTree>
      <p:nvGrpSpPr>
        <p:cNvPr id="1" name=""/>
        <p:cNvGrpSpPr/>
        <p:nvPr/>
      </p:nvGrpSpPr>
      <p:grpSpPr>
        <a:xfrm>
          <a:off x="0" y="0"/>
          <a:ext cx="0" cy="0"/>
          <a:chOff x="0" y="0"/>
          <a:chExt cx="0" cy="0"/>
        </a:xfrm>
      </p:grpSpPr>
      <p:sp>
        <p:nvSpPr>
          <p:cNvPr id="247"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48"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A5829EAF-7CF0-4DEC-B025-D5C2D56D7A6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249"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250" name="Picture 19" descr="Logo_TUC_de_RGB"/>
          <p:cNvPicPr/>
          <p:nvPr/>
        </p:nvPicPr>
        <p:blipFill>
          <a:blip r:embed="rId2"/>
          <a:stretch/>
        </p:blipFill>
        <p:spPr>
          <a:xfrm>
            <a:off x="0" y="0"/>
            <a:ext cx="3029040" cy="538920"/>
          </a:xfrm>
          <a:prstGeom prst="rect">
            <a:avLst/>
          </a:prstGeom>
          <a:noFill/>
          <a:ln w="0">
            <a:noFill/>
          </a:ln>
        </p:spPr>
      </p:pic>
      <p:pic>
        <p:nvPicPr>
          <p:cNvPr id="251" name="Grafik 2" descr=""/>
          <p:cNvPicPr/>
          <p:nvPr/>
        </p:nvPicPr>
        <p:blipFill>
          <a:blip r:embed="rId3"/>
          <a:stretch/>
        </p:blipFill>
        <p:spPr>
          <a:xfrm>
            <a:off x="7430400" y="134640"/>
            <a:ext cx="3674880" cy="491040"/>
          </a:xfrm>
          <a:prstGeom prst="rect">
            <a:avLst/>
          </a:prstGeom>
          <a:noFill/>
          <a:ln w="0">
            <a:noFill/>
          </a:ln>
        </p:spPr>
      </p:pic>
      <p:sp>
        <p:nvSpPr>
          <p:cNvPr id="252"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253"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54"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5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11">
    <p:bg>
      <p:bgPr>
        <a:solidFill>
          <a:srgbClr val="ffffff"/>
        </a:solidFill>
      </p:bgPr>
    </p:bg>
    <p:spTree>
      <p:nvGrpSpPr>
        <p:cNvPr id="1" name=""/>
        <p:cNvGrpSpPr/>
        <p:nvPr/>
      </p:nvGrpSpPr>
      <p:grpSpPr>
        <a:xfrm>
          <a:off x="0" y="0"/>
          <a:ext cx="0" cy="0"/>
          <a:chOff x="0" y="0"/>
          <a:chExt cx="0" cy="0"/>
        </a:xfrm>
      </p:grpSpPr>
      <p:sp>
        <p:nvSpPr>
          <p:cNvPr id="256"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57"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580DEB4F-6F66-4849-A14C-B4C88E4FCF08}"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258"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259" name="Picture 19" descr="Logo_TUC_de_RGB"/>
          <p:cNvPicPr/>
          <p:nvPr/>
        </p:nvPicPr>
        <p:blipFill>
          <a:blip r:embed="rId2"/>
          <a:stretch/>
        </p:blipFill>
        <p:spPr>
          <a:xfrm>
            <a:off x="0" y="0"/>
            <a:ext cx="3029040" cy="538920"/>
          </a:xfrm>
          <a:prstGeom prst="rect">
            <a:avLst/>
          </a:prstGeom>
          <a:noFill/>
          <a:ln w="0">
            <a:noFill/>
          </a:ln>
        </p:spPr>
      </p:pic>
      <p:pic>
        <p:nvPicPr>
          <p:cNvPr id="260" name="Grafik 2" descr=""/>
          <p:cNvPicPr/>
          <p:nvPr/>
        </p:nvPicPr>
        <p:blipFill>
          <a:blip r:embed="rId3"/>
          <a:stretch/>
        </p:blipFill>
        <p:spPr>
          <a:xfrm>
            <a:off x="7430400" y="134640"/>
            <a:ext cx="3674880" cy="491040"/>
          </a:xfrm>
          <a:prstGeom prst="rect">
            <a:avLst/>
          </a:prstGeom>
          <a:noFill/>
          <a:ln w="0">
            <a:noFill/>
          </a:ln>
        </p:spPr>
      </p:pic>
      <p:sp>
        <p:nvSpPr>
          <p:cNvPr id="261"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262"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263"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2">
    <p:bg>
      <p:bgPr>
        <a:solidFill>
          <a:srgbClr val="ffffff"/>
        </a:solidFill>
      </p:bgPr>
    </p:bg>
    <p:spTree>
      <p:nvGrpSpPr>
        <p:cNvPr id="1" name=""/>
        <p:cNvGrpSpPr/>
        <p:nvPr/>
      </p:nvGrpSpPr>
      <p:grpSpPr>
        <a:xfrm>
          <a:off x="0" y="0"/>
          <a:ext cx="0" cy="0"/>
          <a:chOff x="0" y="0"/>
          <a:chExt cx="0" cy="0"/>
        </a:xfrm>
      </p:grpSpPr>
      <p:sp>
        <p:nvSpPr>
          <p:cNvPr id="264"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6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66"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67"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68"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3">
    <p:bg>
      <p:bgPr>
        <a:solidFill>
          <a:srgbClr val="ffffff"/>
        </a:solidFill>
      </p:bgPr>
    </p:bg>
    <p:spTree>
      <p:nvGrpSpPr>
        <p:cNvPr id="1" name=""/>
        <p:cNvGrpSpPr/>
        <p:nvPr/>
      </p:nvGrpSpPr>
      <p:grpSpPr>
        <a:xfrm>
          <a:off x="0" y="0"/>
          <a:ext cx="0" cy="0"/>
          <a:chOff x="0" y="0"/>
          <a:chExt cx="0" cy="0"/>
        </a:xfrm>
      </p:grpSpPr>
      <p:sp>
        <p:nvSpPr>
          <p:cNvPr id="269"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7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71"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72"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4">
    <p:bg>
      <p:bgPr>
        <a:solidFill>
          <a:srgbClr val="ffffff"/>
        </a:solidFill>
      </p:bgPr>
    </p:bg>
    <p:spTree>
      <p:nvGrpSpPr>
        <p:cNvPr id="1" name=""/>
        <p:cNvGrpSpPr/>
        <p:nvPr/>
      </p:nvGrpSpPr>
      <p:grpSpPr>
        <a:xfrm>
          <a:off x="0" y="0"/>
          <a:ext cx="0" cy="0"/>
          <a:chOff x="0" y="0"/>
          <a:chExt cx="0" cy="0"/>
        </a:xfrm>
      </p:grpSpPr>
      <p:sp>
        <p:nvSpPr>
          <p:cNvPr id="273"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7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75"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76"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77"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78"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bg>
      <p:bgPr>
        <a:solidFill>
          <a:srgbClr val="ffffff"/>
        </a:solidFill>
      </p:bgPr>
    </p:bg>
    <p:spTree>
      <p:nvGrpSpPr>
        <p:cNvPr id="1" name=""/>
        <p:cNvGrpSpPr/>
        <p:nvPr/>
      </p:nvGrpSpPr>
      <p:grpSpPr>
        <a:xfrm>
          <a:off x="0" y="0"/>
          <a:ext cx="0" cy="0"/>
          <a:chOff x="0" y="0"/>
          <a:chExt cx="0" cy="0"/>
        </a:xfrm>
      </p:grpSpPr>
      <p:sp>
        <p:nvSpPr>
          <p:cNvPr id="279"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8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81"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82"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83"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84"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85"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86"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bg>
      <p:bgPr>
        <a:solidFill>
          <a:srgbClr val="ffffff"/>
        </a:solidFill>
      </p:bgPr>
    </p:bg>
    <p:spTree>
      <p:nvGrpSpPr>
        <p:cNvPr id="1" name=""/>
        <p:cNvGrpSpPr/>
        <p:nvPr/>
      </p:nvGrpSpPr>
      <p:grpSpPr>
        <a:xfrm>
          <a:off x="0" y="0"/>
          <a:ext cx="0" cy="0"/>
          <a:chOff x="0" y="0"/>
          <a:chExt cx="0" cy="0"/>
        </a:xfrm>
      </p:grpSpPr>
      <p:sp>
        <p:nvSpPr>
          <p:cNvPr id="287"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8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28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7">
    <p:bg>
      <p:bgPr>
        <a:solidFill>
          <a:srgbClr val="ffffff"/>
        </a:solidFill>
      </p:bgPr>
    </p:bg>
    <p:spTree>
      <p:nvGrpSpPr>
        <p:cNvPr id="1" name=""/>
        <p:cNvGrpSpPr/>
        <p:nvPr/>
      </p:nvGrpSpPr>
      <p:grpSpPr>
        <a:xfrm>
          <a:off x="0" y="0"/>
          <a:ext cx="0" cy="0"/>
          <a:chOff x="0" y="0"/>
          <a:chExt cx="0" cy="0"/>
        </a:xfrm>
      </p:grpSpPr>
      <p:sp>
        <p:nvSpPr>
          <p:cNvPr id="290"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9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8">
    <p:bg>
      <p:bgPr>
        <a:solidFill>
          <a:srgbClr val="ffffff"/>
        </a:solidFill>
      </p:bgPr>
    </p:bg>
    <p:spTree>
      <p:nvGrpSpPr>
        <p:cNvPr id="1" name=""/>
        <p:cNvGrpSpPr/>
        <p:nvPr/>
      </p:nvGrpSpPr>
      <p:grpSpPr>
        <a:xfrm>
          <a:off x="0" y="0"/>
          <a:ext cx="0" cy="0"/>
          <a:chOff x="0" y="0"/>
          <a:chExt cx="0" cy="0"/>
        </a:xfrm>
      </p:grpSpPr>
      <p:sp>
        <p:nvSpPr>
          <p:cNvPr id="292"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9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94"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9">
    <p:bg>
      <p:bgPr>
        <a:solidFill>
          <a:srgbClr val="ffffff"/>
        </a:solidFill>
      </p:bgPr>
    </p:bg>
    <p:spTree>
      <p:nvGrpSpPr>
        <p:cNvPr id="1" name=""/>
        <p:cNvGrpSpPr/>
        <p:nvPr/>
      </p:nvGrpSpPr>
      <p:grpSpPr>
        <a:xfrm>
          <a:off x="0" y="0"/>
          <a:ext cx="0" cy="0"/>
          <a:chOff x="0" y="0"/>
          <a:chExt cx="0" cy="0"/>
        </a:xfrm>
      </p:grpSpPr>
      <p:sp>
        <p:nvSpPr>
          <p:cNvPr id="295"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29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97"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98"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0">
    <p:bg>
      <p:bgPr>
        <a:solidFill>
          <a:srgbClr val="ffffff"/>
        </a:solidFill>
      </p:bgPr>
    </p:bg>
    <p:spTree>
      <p:nvGrpSpPr>
        <p:cNvPr id="1" name=""/>
        <p:cNvGrpSpPr/>
        <p:nvPr/>
      </p:nvGrpSpPr>
      <p:grpSpPr>
        <a:xfrm>
          <a:off x="0" y="0"/>
          <a:ext cx="0" cy="0"/>
          <a:chOff x="0" y="0"/>
          <a:chExt cx="0" cy="0"/>
        </a:xfrm>
      </p:grpSpPr>
      <p:sp>
        <p:nvSpPr>
          <p:cNvPr id="299"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0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21">
    <p:bg>
      <p:bgPr>
        <a:solidFill>
          <a:srgbClr val="ffffff"/>
        </a:solidFill>
      </p:bgPr>
    </p:bg>
    <p:spTree>
      <p:nvGrpSpPr>
        <p:cNvPr id="1" name=""/>
        <p:cNvGrpSpPr/>
        <p:nvPr/>
      </p:nvGrpSpPr>
      <p:grpSpPr>
        <a:xfrm>
          <a:off x="0" y="0"/>
          <a:ext cx="0" cy="0"/>
          <a:chOff x="0" y="0"/>
          <a:chExt cx="0" cy="0"/>
        </a:xfrm>
      </p:grpSpPr>
      <p:sp>
        <p:nvSpPr>
          <p:cNvPr id="301"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2">
    <p:bg>
      <p:bgPr>
        <a:solidFill>
          <a:srgbClr val="ffffff"/>
        </a:solidFill>
      </p:bgPr>
    </p:bg>
    <p:spTree>
      <p:nvGrpSpPr>
        <p:cNvPr id="1" name=""/>
        <p:cNvGrpSpPr/>
        <p:nvPr/>
      </p:nvGrpSpPr>
      <p:grpSpPr>
        <a:xfrm>
          <a:off x="0" y="0"/>
          <a:ext cx="0" cy="0"/>
          <a:chOff x="0" y="0"/>
          <a:chExt cx="0" cy="0"/>
        </a:xfrm>
      </p:grpSpPr>
      <p:sp>
        <p:nvSpPr>
          <p:cNvPr id="302"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0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04"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05"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06"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3">
    <p:bg>
      <p:bgPr>
        <a:solidFill>
          <a:srgbClr val="ffffff"/>
        </a:solidFill>
      </p:bgPr>
    </p:bg>
    <p:spTree>
      <p:nvGrpSpPr>
        <p:cNvPr id="1" name=""/>
        <p:cNvGrpSpPr/>
        <p:nvPr/>
      </p:nvGrpSpPr>
      <p:grpSpPr>
        <a:xfrm>
          <a:off x="0" y="0"/>
          <a:ext cx="0" cy="0"/>
          <a:chOff x="0" y="0"/>
          <a:chExt cx="0" cy="0"/>
        </a:xfrm>
      </p:grpSpPr>
      <p:sp>
        <p:nvSpPr>
          <p:cNvPr id="307" name="CustomShape 1"/>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0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09"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10"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11"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4">
    <p:bg>
      <p:bgPr>
        <a:solidFill>
          <a:srgbClr val="ffffff"/>
        </a:solidFill>
      </p:bgPr>
    </p:bg>
    <p:spTree>
      <p:nvGrpSpPr>
        <p:cNvPr id="1" name=""/>
        <p:cNvGrpSpPr/>
        <p:nvPr/>
      </p:nvGrpSpPr>
      <p:grpSpPr>
        <a:xfrm>
          <a:off x="0" y="0"/>
          <a:ext cx="0" cy="0"/>
          <a:chOff x="0" y="0"/>
          <a:chExt cx="0" cy="0"/>
        </a:xfrm>
      </p:grpSpPr>
      <p:sp>
        <p:nvSpPr>
          <p:cNvPr id="312"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13"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C8B0A98-61C8-44E8-A630-4A6680D07216}"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314"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315" name="Picture 19" descr="Logo_TUC_de_RGB"/>
          <p:cNvPicPr/>
          <p:nvPr/>
        </p:nvPicPr>
        <p:blipFill>
          <a:blip r:embed="rId2"/>
          <a:stretch/>
        </p:blipFill>
        <p:spPr>
          <a:xfrm>
            <a:off x="0" y="0"/>
            <a:ext cx="3029040" cy="538920"/>
          </a:xfrm>
          <a:prstGeom prst="rect">
            <a:avLst/>
          </a:prstGeom>
          <a:noFill/>
          <a:ln w="0">
            <a:noFill/>
          </a:ln>
        </p:spPr>
      </p:pic>
      <p:pic>
        <p:nvPicPr>
          <p:cNvPr id="316" name="Grafik 2" descr=""/>
          <p:cNvPicPr/>
          <p:nvPr/>
        </p:nvPicPr>
        <p:blipFill>
          <a:blip r:embed="rId3"/>
          <a:stretch/>
        </p:blipFill>
        <p:spPr>
          <a:xfrm>
            <a:off x="7430400" y="134640"/>
            <a:ext cx="3674880" cy="491040"/>
          </a:xfrm>
          <a:prstGeom prst="rect">
            <a:avLst/>
          </a:prstGeom>
          <a:noFill/>
          <a:ln w="0">
            <a:noFill/>
          </a:ln>
        </p:spPr>
      </p:pic>
      <p:sp>
        <p:nvSpPr>
          <p:cNvPr id="317"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318"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19"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2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21"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22"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23"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5">
    <p:bg>
      <p:bgPr>
        <a:solidFill>
          <a:srgbClr val="ffffff"/>
        </a:solidFill>
      </p:bgPr>
    </p:bg>
    <p:spTree>
      <p:nvGrpSpPr>
        <p:cNvPr id="1" name=""/>
        <p:cNvGrpSpPr/>
        <p:nvPr/>
      </p:nvGrpSpPr>
      <p:grpSpPr>
        <a:xfrm>
          <a:off x="0" y="0"/>
          <a:ext cx="0" cy="0"/>
          <a:chOff x="0" y="0"/>
          <a:chExt cx="0" cy="0"/>
        </a:xfrm>
      </p:grpSpPr>
      <p:sp>
        <p:nvSpPr>
          <p:cNvPr id="324"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25"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6BE21D0-7607-4A02-8E85-701927E78B86}"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326"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327" name="Picture 19" descr="Logo_TUC_de_RGB"/>
          <p:cNvPicPr/>
          <p:nvPr/>
        </p:nvPicPr>
        <p:blipFill>
          <a:blip r:embed="rId2"/>
          <a:stretch/>
        </p:blipFill>
        <p:spPr>
          <a:xfrm>
            <a:off x="0" y="0"/>
            <a:ext cx="3029040" cy="538920"/>
          </a:xfrm>
          <a:prstGeom prst="rect">
            <a:avLst/>
          </a:prstGeom>
          <a:noFill/>
          <a:ln w="0">
            <a:noFill/>
          </a:ln>
        </p:spPr>
      </p:pic>
      <p:pic>
        <p:nvPicPr>
          <p:cNvPr id="328" name="Grafik 2" descr=""/>
          <p:cNvPicPr/>
          <p:nvPr/>
        </p:nvPicPr>
        <p:blipFill>
          <a:blip r:embed="rId3"/>
          <a:stretch/>
        </p:blipFill>
        <p:spPr>
          <a:xfrm>
            <a:off x="7430400" y="134640"/>
            <a:ext cx="3674880" cy="491040"/>
          </a:xfrm>
          <a:prstGeom prst="rect">
            <a:avLst/>
          </a:prstGeom>
          <a:noFill/>
          <a:ln w="0">
            <a:noFill/>
          </a:ln>
        </p:spPr>
      </p:pic>
      <p:sp>
        <p:nvSpPr>
          <p:cNvPr id="329"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330"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31"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3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33"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34"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35"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6">
    <p:bg>
      <p:bgPr>
        <a:solidFill>
          <a:srgbClr val="ffffff"/>
        </a:solidFill>
      </p:bgPr>
    </p:bg>
    <p:spTree>
      <p:nvGrpSpPr>
        <p:cNvPr id="1" name=""/>
        <p:cNvGrpSpPr/>
        <p:nvPr/>
      </p:nvGrpSpPr>
      <p:grpSpPr>
        <a:xfrm>
          <a:off x="0" y="0"/>
          <a:ext cx="0" cy="0"/>
          <a:chOff x="0" y="0"/>
          <a:chExt cx="0" cy="0"/>
        </a:xfrm>
      </p:grpSpPr>
      <p:sp>
        <p:nvSpPr>
          <p:cNvPr id="336"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37"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F52E9431-DCB1-4A04-8809-A2730372639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338"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339" name="Picture 19" descr="Logo_TUC_de_RGB"/>
          <p:cNvPicPr/>
          <p:nvPr/>
        </p:nvPicPr>
        <p:blipFill>
          <a:blip r:embed="rId2"/>
          <a:stretch/>
        </p:blipFill>
        <p:spPr>
          <a:xfrm>
            <a:off x="0" y="0"/>
            <a:ext cx="3029040" cy="538920"/>
          </a:xfrm>
          <a:prstGeom prst="rect">
            <a:avLst/>
          </a:prstGeom>
          <a:noFill/>
          <a:ln w="0">
            <a:noFill/>
          </a:ln>
        </p:spPr>
      </p:pic>
      <p:pic>
        <p:nvPicPr>
          <p:cNvPr id="340" name="Grafik 2" descr=""/>
          <p:cNvPicPr/>
          <p:nvPr/>
        </p:nvPicPr>
        <p:blipFill>
          <a:blip r:embed="rId3"/>
          <a:stretch/>
        </p:blipFill>
        <p:spPr>
          <a:xfrm>
            <a:off x="7430400" y="134640"/>
            <a:ext cx="3674880" cy="491040"/>
          </a:xfrm>
          <a:prstGeom prst="rect">
            <a:avLst/>
          </a:prstGeom>
          <a:noFill/>
          <a:ln w="0">
            <a:noFill/>
          </a:ln>
        </p:spPr>
      </p:pic>
      <p:sp>
        <p:nvSpPr>
          <p:cNvPr id="341"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342"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43"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4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45"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46"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47"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7">
    <p:bg>
      <p:bgPr>
        <a:solidFill>
          <a:srgbClr val="ffffff"/>
        </a:solidFill>
      </p:bgPr>
    </p:bg>
    <p:spTree>
      <p:nvGrpSpPr>
        <p:cNvPr id="1" name=""/>
        <p:cNvGrpSpPr/>
        <p:nvPr/>
      </p:nvGrpSpPr>
      <p:grpSpPr>
        <a:xfrm>
          <a:off x="0" y="0"/>
          <a:ext cx="0" cy="0"/>
          <a:chOff x="0" y="0"/>
          <a:chExt cx="0" cy="0"/>
        </a:xfrm>
      </p:grpSpPr>
      <p:sp>
        <p:nvSpPr>
          <p:cNvPr id="348"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49"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5E4338B0-0468-4026-9740-69E0234074C9}"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350"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351" name="Picture 19" descr="Logo_TUC_de_RGB"/>
          <p:cNvPicPr/>
          <p:nvPr/>
        </p:nvPicPr>
        <p:blipFill>
          <a:blip r:embed="rId2"/>
          <a:stretch/>
        </p:blipFill>
        <p:spPr>
          <a:xfrm>
            <a:off x="0" y="0"/>
            <a:ext cx="3029040" cy="538920"/>
          </a:xfrm>
          <a:prstGeom prst="rect">
            <a:avLst/>
          </a:prstGeom>
          <a:noFill/>
          <a:ln w="0">
            <a:noFill/>
          </a:ln>
        </p:spPr>
      </p:pic>
      <p:pic>
        <p:nvPicPr>
          <p:cNvPr id="352" name="Grafik 2" descr=""/>
          <p:cNvPicPr/>
          <p:nvPr/>
        </p:nvPicPr>
        <p:blipFill>
          <a:blip r:embed="rId3"/>
          <a:stretch/>
        </p:blipFill>
        <p:spPr>
          <a:xfrm>
            <a:off x="7430400" y="134640"/>
            <a:ext cx="3674880" cy="491040"/>
          </a:xfrm>
          <a:prstGeom prst="rect">
            <a:avLst/>
          </a:prstGeom>
          <a:noFill/>
          <a:ln w="0">
            <a:noFill/>
          </a:ln>
        </p:spPr>
      </p:pic>
      <p:sp>
        <p:nvSpPr>
          <p:cNvPr id="353"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354"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55"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5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57"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58"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8">
    <p:bg>
      <p:bgPr>
        <a:solidFill>
          <a:srgbClr val="ffffff"/>
        </a:solidFill>
      </p:bgPr>
    </p:bg>
    <p:spTree>
      <p:nvGrpSpPr>
        <p:cNvPr id="1" name=""/>
        <p:cNvGrpSpPr/>
        <p:nvPr/>
      </p:nvGrpSpPr>
      <p:grpSpPr>
        <a:xfrm>
          <a:off x="0" y="0"/>
          <a:ext cx="0" cy="0"/>
          <a:chOff x="0" y="0"/>
          <a:chExt cx="0" cy="0"/>
        </a:xfrm>
      </p:grpSpPr>
      <p:sp>
        <p:nvSpPr>
          <p:cNvPr id="359"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60"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E8BBDCCB-7055-42BC-A11B-6ED01C6BB6D7}"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361"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362" name="Picture 19" descr="Logo_TUC_de_RGB"/>
          <p:cNvPicPr/>
          <p:nvPr/>
        </p:nvPicPr>
        <p:blipFill>
          <a:blip r:embed="rId2"/>
          <a:stretch/>
        </p:blipFill>
        <p:spPr>
          <a:xfrm>
            <a:off x="0" y="0"/>
            <a:ext cx="3029040" cy="538920"/>
          </a:xfrm>
          <a:prstGeom prst="rect">
            <a:avLst/>
          </a:prstGeom>
          <a:noFill/>
          <a:ln w="0">
            <a:noFill/>
          </a:ln>
        </p:spPr>
      </p:pic>
      <p:pic>
        <p:nvPicPr>
          <p:cNvPr id="363" name="Grafik 2" descr=""/>
          <p:cNvPicPr/>
          <p:nvPr/>
        </p:nvPicPr>
        <p:blipFill>
          <a:blip r:embed="rId3"/>
          <a:stretch/>
        </p:blipFill>
        <p:spPr>
          <a:xfrm>
            <a:off x="7430400" y="134640"/>
            <a:ext cx="3674880" cy="491040"/>
          </a:xfrm>
          <a:prstGeom prst="rect">
            <a:avLst/>
          </a:prstGeom>
          <a:noFill/>
          <a:ln w="0">
            <a:noFill/>
          </a:ln>
        </p:spPr>
      </p:pic>
      <p:sp>
        <p:nvSpPr>
          <p:cNvPr id="364"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365"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66"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6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68"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69"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70"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71"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9">
    <p:bg>
      <p:bgPr>
        <a:solidFill>
          <a:srgbClr val="ffffff"/>
        </a:solidFill>
      </p:bgPr>
    </p:bg>
    <p:spTree>
      <p:nvGrpSpPr>
        <p:cNvPr id="1" name=""/>
        <p:cNvGrpSpPr/>
        <p:nvPr/>
      </p:nvGrpSpPr>
      <p:grpSpPr>
        <a:xfrm>
          <a:off x="0" y="0"/>
          <a:ext cx="0" cy="0"/>
          <a:chOff x="0" y="0"/>
          <a:chExt cx="0" cy="0"/>
        </a:xfrm>
      </p:grpSpPr>
      <p:sp>
        <p:nvSpPr>
          <p:cNvPr id="372"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73"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AF1B6F48-F720-46A2-8DC1-3DE0349C3904}"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374"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375" name="Picture 19" descr="Logo_TUC_de_RGB"/>
          <p:cNvPicPr/>
          <p:nvPr/>
        </p:nvPicPr>
        <p:blipFill>
          <a:blip r:embed="rId2"/>
          <a:stretch/>
        </p:blipFill>
        <p:spPr>
          <a:xfrm>
            <a:off x="0" y="0"/>
            <a:ext cx="3029040" cy="538920"/>
          </a:xfrm>
          <a:prstGeom prst="rect">
            <a:avLst/>
          </a:prstGeom>
          <a:noFill/>
          <a:ln w="0">
            <a:noFill/>
          </a:ln>
        </p:spPr>
      </p:pic>
      <p:pic>
        <p:nvPicPr>
          <p:cNvPr id="376" name="Grafik 2" descr=""/>
          <p:cNvPicPr/>
          <p:nvPr/>
        </p:nvPicPr>
        <p:blipFill>
          <a:blip r:embed="rId3"/>
          <a:stretch/>
        </p:blipFill>
        <p:spPr>
          <a:xfrm>
            <a:off x="7430400" y="134640"/>
            <a:ext cx="3674880" cy="491040"/>
          </a:xfrm>
          <a:prstGeom prst="rect">
            <a:avLst/>
          </a:prstGeom>
          <a:noFill/>
          <a:ln w="0">
            <a:noFill/>
          </a:ln>
        </p:spPr>
      </p:pic>
      <p:sp>
        <p:nvSpPr>
          <p:cNvPr id="377"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378"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79"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8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81"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82"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83"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84"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85"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86"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0">
    <p:bg>
      <p:bgPr>
        <a:solidFill>
          <a:srgbClr val="ffffff"/>
        </a:solidFill>
      </p:bgPr>
    </p:bg>
    <p:spTree>
      <p:nvGrpSpPr>
        <p:cNvPr id="1" name=""/>
        <p:cNvGrpSpPr/>
        <p:nvPr/>
      </p:nvGrpSpPr>
      <p:grpSpPr>
        <a:xfrm>
          <a:off x="0" y="0"/>
          <a:ext cx="0" cy="0"/>
          <a:chOff x="0" y="0"/>
          <a:chExt cx="0" cy="0"/>
        </a:xfrm>
      </p:grpSpPr>
      <p:sp>
        <p:nvSpPr>
          <p:cNvPr id="387"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88"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FFF94AF6-AF43-4393-BAED-460B0F35A2FD}"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389"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390" name="Picture 19" descr="Logo_TUC_de_RGB"/>
          <p:cNvPicPr/>
          <p:nvPr/>
        </p:nvPicPr>
        <p:blipFill>
          <a:blip r:embed="rId2"/>
          <a:stretch/>
        </p:blipFill>
        <p:spPr>
          <a:xfrm>
            <a:off x="0" y="0"/>
            <a:ext cx="3029040" cy="538920"/>
          </a:xfrm>
          <a:prstGeom prst="rect">
            <a:avLst/>
          </a:prstGeom>
          <a:noFill/>
          <a:ln w="0">
            <a:noFill/>
          </a:ln>
        </p:spPr>
      </p:pic>
      <p:pic>
        <p:nvPicPr>
          <p:cNvPr id="391" name="Grafik 2" descr=""/>
          <p:cNvPicPr/>
          <p:nvPr/>
        </p:nvPicPr>
        <p:blipFill>
          <a:blip r:embed="rId3"/>
          <a:stretch/>
        </p:blipFill>
        <p:spPr>
          <a:xfrm>
            <a:off x="7430400" y="134640"/>
            <a:ext cx="3674880" cy="491040"/>
          </a:xfrm>
          <a:prstGeom prst="rect">
            <a:avLst/>
          </a:prstGeom>
          <a:noFill/>
          <a:ln w="0">
            <a:noFill/>
          </a:ln>
        </p:spPr>
      </p:pic>
      <p:sp>
        <p:nvSpPr>
          <p:cNvPr id="392"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393"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94"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3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39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1">
    <p:bg>
      <p:bgPr>
        <a:solidFill>
          <a:srgbClr val="ffffff"/>
        </a:solidFill>
      </p:bgPr>
    </p:bg>
    <p:spTree>
      <p:nvGrpSpPr>
        <p:cNvPr id="1" name=""/>
        <p:cNvGrpSpPr/>
        <p:nvPr/>
      </p:nvGrpSpPr>
      <p:grpSpPr>
        <a:xfrm>
          <a:off x="0" y="0"/>
          <a:ext cx="0" cy="0"/>
          <a:chOff x="0" y="0"/>
          <a:chExt cx="0" cy="0"/>
        </a:xfrm>
      </p:grpSpPr>
      <p:sp>
        <p:nvSpPr>
          <p:cNvPr id="397"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398"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0CCBD614-FE56-476F-9C44-2D11527D21A2}"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399"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400" name="Picture 19" descr="Logo_TUC_de_RGB"/>
          <p:cNvPicPr/>
          <p:nvPr/>
        </p:nvPicPr>
        <p:blipFill>
          <a:blip r:embed="rId2"/>
          <a:stretch/>
        </p:blipFill>
        <p:spPr>
          <a:xfrm>
            <a:off x="0" y="0"/>
            <a:ext cx="3029040" cy="538920"/>
          </a:xfrm>
          <a:prstGeom prst="rect">
            <a:avLst/>
          </a:prstGeom>
          <a:noFill/>
          <a:ln w="0">
            <a:noFill/>
          </a:ln>
        </p:spPr>
      </p:pic>
      <p:pic>
        <p:nvPicPr>
          <p:cNvPr id="401" name="Grafik 2" descr=""/>
          <p:cNvPicPr/>
          <p:nvPr/>
        </p:nvPicPr>
        <p:blipFill>
          <a:blip r:embed="rId3"/>
          <a:stretch/>
        </p:blipFill>
        <p:spPr>
          <a:xfrm>
            <a:off x="7430400" y="134640"/>
            <a:ext cx="3674880" cy="491040"/>
          </a:xfrm>
          <a:prstGeom prst="rect">
            <a:avLst/>
          </a:prstGeom>
          <a:noFill/>
          <a:ln w="0">
            <a:noFill/>
          </a:ln>
        </p:spPr>
      </p:pic>
      <p:sp>
        <p:nvSpPr>
          <p:cNvPr id="402"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03"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04"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40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2">
    <p:bg>
      <p:bgPr>
        <a:solidFill>
          <a:srgbClr val="ffffff"/>
        </a:solidFill>
      </p:bgPr>
    </p:bg>
    <p:spTree>
      <p:nvGrpSpPr>
        <p:cNvPr id="1" name=""/>
        <p:cNvGrpSpPr/>
        <p:nvPr/>
      </p:nvGrpSpPr>
      <p:grpSpPr>
        <a:xfrm>
          <a:off x="0" y="0"/>
          <a:ext cx="0" cy="0"/>
          <a:chOff x="0" y="0"/>
          <a:chExt cx="0" cy="0"/>
        </a:xfrm>
      </p:grpSpPr>
      <p:sp>
        <p:nvSpPr>
          <p:cNvPr id="406"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07"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213B9E7A-5068-407F-ABE3-B066C748F793}"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408"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409" name="Picture 19" descr="Logo_TUC_de_RGB"/>
          <p:cNvPicPr/>
          <p:nvPr/>
        </p:nvPicPr>
        <p:blipFill>
          <a:blip r:embed="rId2"/>
          <a:stretch/>
        </p:blipFill>
        <p:spPr>
          <a:xfrm>
            <a:off x="0" y="0"/>
            <a:ext cx="3029040" cy="538920"/>
          </a:xfrm>
          <a:prstGeom prst="rect">
            <a:avLst/>
          </a:prstGeom>
          <a:noFill/>
          <a:ln w="0">
            <a:noFill/>
          </a:ln>
        </p:spPr>
      </p:pic>
      <p:pic>
        <p:nvPicPr>
          <p:cNvPr id="410" name="Grafik 2" descr=""/>
          <p:cNvPicPr/>
          <p:nvPr/>
        </p:nvPicPr>
        <p:blipFill>
          <a:blip r:embed="rId3"/>
          <a:stretch/>
        </p:blipFill>
        <p:spPr>
          <a:xfrm>
            <a:off x="7430400" y="134640"/>
            <a:ext cx="3674880" cy="491040"/>
          </a:xfrm>
          <a:prstGeom prst="rect">
            <a:avLst/>
          </a:prstGeom>
          <a:noFill/>
          <a:ln w="0">
            <a:noFill/>
          </a:ln>
        </p:spPr>
      </p:pic>
      <p:sp>
        <p:nvSpPr>
          <p:cNvPr id="411"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12"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13"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41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415"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33">
    <p:bg>
      <p:bgPr>
        <a:solidFill>
          <a:srgbClr val="ffffff"/>
        </a:solidFill>
      </p:bgPr>
    </p:bg>
    <p:spTree>
      <p:nvGrpSpPr>
        <p:cNvPr id="1" name=""/>
        <p:cNvGrpSpPr/>
        <p:nvPr/>
      </p:nvGrpSpPr>
      <p:grpSpPr>
        <a:xfrm>
          <a:off x="0" y="0"/>
          <a:ext cx="0" cy="0"/>
          <a:chOff x="0" y="0"/>
          <a:chExt cx="0" cy="0"/>
        </a:xfrm>
      </p:grpSpPr>
      <p:sp>
        <p:nvSpPr>
          <p:cNvPr id="416"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17"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E736D7E9-8B5B-4D9D-A8F1-6E812F7FC710}"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418"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419" name="Picture 19" descr="Logo_TUC_de_RGB"/>
          <p:cNvPicPr/>
          <p:nvPr/>
        </p:nvPicPr>
        <p:blipFill>
          <a:blip r:embed="rId2"/>
          <a:stretch/>
        </p:blipFill>
        <p:spPr>
          <a:xfrm>
            <a:off x="0" y="0"/>
            <a:ext cx="3029040" cy="538920"/>
          </a:xfrm>
          <a:prstGeom prst="rect">
            <a:avLst/>
          </a:prstGeom>
          <a:noFill/>
          <a:ln w="0">
            <a:noFill/>
          </a:ln>
        </p:spPr>
      </p:pic>
      <p:pic>
        <p:nvPicPr>
          <p:cNvPr id="420" name="Grafik 2" descr=""/>
          <p:cNvPicPr/>
          <p:nvPr/>
        </p:nvPicPr>
        <p:blipFill>
          <a:blip r:embed="rId3"/>
          <a:stretch/>
        </p:blipFill>
        <p:spPr>
          <a:xfrm>
            <a:off x="7430400" y="134640"/>
            <a:ext cx="3674880" cy="491040"/>
          </a:xfrm>
          <a:prstGeom prst="rect">
            <a:avLst/>
          </a:prstGeom>
          <a:noFill/>
          <a:ln w="0">
            <a:noFill/>
          </a:ln>
        </p:spPr>
      </p:pic>
      <p:sp>
        <p:nvSpPr>
          <p:cNvPr id="421"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22"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23"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42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425"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26"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4">
    <p:bg>
      <p:bgPr>
        <a:solidFill>
          <a:srgbClr val="ffffff"/>
        </a:solidFill>
      </p:bgPr>
    </p:bg>
    <p:spTree>
      <p:nvGrpSpPr>
        <p:cNvPr id="1" name=""/>
        <p:cNvGrpSpPr/>
        <p:nvPr/>
      </p:nvGrpSpPr>
      <p:grpSpPr>
        <a:xfrm>
          <a:off x="0" y="0"/>
          <a:ext cx="0" cy="0"/>
          <a:chOff x="0" y="0"/>
          <a:chExt cx="0" cy="0"/>
        </a:xfrm>
      </p:grpSpPr>
      <p:sp>
        <p:nvSpPr>
          <p:cNvPr id="427"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28"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12B02CA6-11CD-44A9-8828-BD6EF696CABD}"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429"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430" name="Picture 19" descr="Logo_TUC_de_RGB"/>
          <p:cNvPicPr/>
          <p:nvPr/>
        </p:nvPicPr>
        <p:blipFill>
          <a:blip r:embed="rId2"/>
          <a:stretch/>
        </p:blipFill>
        <p:spPr>
          <a:xfrm>
            <a:off x="0" y="0"/>
            <a:ext cx="3029040" cy="538920"/>
          </a:xfrm>
          <a:prstGeom prst="rect">
            <a:avLst/>
          </a:prstGeom>
          <a:noFill/>
          <a:ln w="0">
            <a:noFill/>
          </a:ln>
        </p:spPr>
      </p:pic>
      <p:pic>
        <p:nvPicPr>
          <p:cNvPr id="431" name="Grafik 2" descr=""/>
          <p:cNvPicPr/>
          <p:nvPr/>
        </p:nvPicPr>
        <p:blipFill>
          <a:blip r:embed="rId3"/>
          <a:stretch/>
        </p:blipFill>
        <p:spPr>
          <a:xfrm>
            <a:off x="7430400" y="134640"/>
            <a:ext cx="3674880" cy="491040"/>
          </a:xfrm>
          <a:prstGeom prst="rect">
            <a:avLst/>
          </a:prstGeom>
          <a:noFill/>
          <a:ln w="0">
            <a:noFill/>
          </a:ln>
        </p:spPr>
      </p:pic>
      <p:sp>
        <p:nvSpPr>
          <p:cNvPr id="432"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33"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34"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43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35">
    <p:bg>
      <p:bgPr>
        <a:solidFill>
          <a:srgbClr val="ffffff"/>
        </a:solidFill>
      </p:bgPr>
    </p:bg>
    <p:spTree>
      <p:nvGrpSpPr>
        <p:cNvPr id="1" name=""/>
        <p:cNvGrpSpPr/>
        <p:nvPr/>
      </p:nvGrpSpPr>
      <p:grpSpPr>
        <a:xfrm>
          <a:off x="0" y="0"/>
          <a:ext cx="0" cy="0"/>
          <a:chOff x="0" y="0"/>
          <a:chExt cx="0" cy="0"/>
        </a:xfrm>
      </p:grpSpPr>
      <p:sp>
        <p:nvSpPr>
          <p:cNvPr id="436"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37"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C181C8E-EF16-41C3-8281-78E539700586}"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438"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439" name="Picture 19" descr="Logo_TUC_de_RGB"/>
          <p:cNvPicPr/>
          <p:nvPr/>
        </p:nvPicPr>
        <p:blipFill>
          <a:blip r:embed="rId2"/>
          <a:stretch/>
        </p:blipFill>
        <p:spPr>
          <a:xfrm>
            <a:off x="0" y="0"/>
            <a:ext cx="3029040" cy="538920"/>
          </a:xfrm>
          <a:prstGeom prst="rect">
            <a:avLst/>
          </a:prstGeom>
          <a:noFill/>
          <a:ln w="0">
            <a:noFill/>
          </a:ln>
        </p:spPr>
      </p:pic>
      <p:pic>
        <p:nvPicPr>
          <p:cNvPr id="440" name="Grafik 2" descr=""/>
          <p:cNvPicPr/>
          <p:nvPr/>
        </p:nvPicPr>
        <p:blipFill>
          <a:blip r:embed="rId3"/>
          <a:stretch/>
        </p:blipFill>
        <p:spPr>
          <a:xfrm>
            <a:off x="7430400" y="134640"/>
            <a:ext cx="3674880" cy="491040"/>
          </a:xfrm>
          <a:prstGeom prst="rect">
            <a:avLst/>
          </a:prstGeom>
          <a:noFill/>
          <a:ln w="0">
            <a:noFill/>
          </a:ln>
        </p:spPr>
      </p:pic>
      <p:sp>
        <p:nvSpPr>
          <p:cNvPr id="441"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42"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43"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36">
    <p:bg>
      <p:bgPr>
        <a:solidFill>
          <a:srgbClr val="ffffff"/>
        </a:solidFill>
      </p:bgPr>
    </p:bg>
    <p:spTree>
      <p:nvGrpSpPr>
        <p:cNvPr id="1" name=""/>
        <p:cNvGrpSpPr/>
        <p:nvPr/>
      </p:nvGrpSpPr>
      <p:grpSpPr>
        <a:xfrm>
          <a:off x="0" y="0"/>
          <a:ext cx="0" cy="0"/>
          <a:chOff x="0" y="0"/>
          <a:chExt cx="0" cy="0"/>
        </a:xfrm>
      </p:grpSpPr>
      <p:sp>
        <p:nvSpPr>
          <p:cNvPr id="444"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45"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093F82CC-A0EA-4216-82B2-A92A83CAAA8E}"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446"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447" name="Picture 19" descr="Logo_TUC_de_RGB"/>
          <p:cNvPicPr/>
          <p:nvPr/>
        </p:nvPicPr>
        <p:blipFill>
          <a:blip r:embed="rId2"/>
          <a:stretch/>
        </p:blipFill>
        <p:spPr>
          <a:xfrm>
            <a:off x="0" y="0"/>
            <a:ext cx="3029760" cy="539640"/>
          </a:xfrm>
          <a:prstGeom prst="rect">
            <a:avLst/>
          </a:prstGeom>
          <a:noFill/>
          <a:ln w="0">
            <a:noFill/>
          </a:ln>
        </p:spPr>
      </p:pic>
      <p:pic>
        <p:nvPicPr>
          <p:cNvPr id="448" name="Grafik 2" descr=""/>
          <p:cNvPicPr/>
          <p:nvPr/>
        </p:nvPicPr>
        <p:blipFill>
          <a:blip r:embed="rId3"/>
          <a:stretch/>
        </p:blipFill>
        <p:spPr>
          <a:xfrm>
            <a:off x="7430400" y="134640"/>
            <a:ext cx="3675600" cy="491760"/>
          </a:xfrm>
          <a:prstGeom prst="rect">
            <a:avLst/>
          </a:prstGeom>
          <a:noFill/>
          <a:ln w="0">
            <a:noFill/>
          </a:ln>
        </p:spPr>
      </p:pic>
      <p:sp>
        <p:nvSpPr>
          <p:cNvPr id="449"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50"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51"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45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453"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5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55"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37">
    <p:bg>
      <p:bgPr>
        <a:solidFill>
          <a:srgbClr val="ffffff"/>
        </a:solidFill>
      </p:bgPr>
    </p:bg>
    <p:spTree>
      <p:nvGrpSpPr>
        <p:cNvPr id="1" name=""/>
        <p:cNvGrpSpPr/>
        <p:nvPr/>
      </p:nvGrpSpPr>
      <p:grpSpPr>
        <a:xfrm>
          <a:off x="0" y="0"/>
          <a:ext cx="0" cy="0"/>
          <a:chOff x="0" y="0"/>
          <a:chExt cx="0" cy="0"/>
        </a:xfrm>
      </p:grpSpPr>
      <p:sp>
        <p:nvSpPr>
          <p:cNvPr id="456"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57"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24DAB7B-11DB-4889-94F3-5C99CAE840AA}"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458"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459" name="Picture 19" descr="Logo_TUC_de_RGB"/>
          <p:cNvPicPr/>
          <p:nvPr/>
        </p:nvPicPr>
        <p:blipFill>
          <a:blip r:embed="rId2"/>
          <a:stretch/>
        </p:blipFill>
        <p:spPr>
          <a:xfrm>
            <a:off x="0" y="0"/>
            <a:ext cx="3029760" cy="539640"/>
          </a:xfrm>
          <a:prstGeom prst="rect">
            <a:avLst/>
          </a:prstGeom>
          <a:noFill/>
          <a:ln w="0">
            <a:noFill/>
          </a:ln>
        </p:spPr>
      </p:pic>
      <p:pic>
        <p:nvPicPr>
          <p:cNvPr id="460" name="Grafik 2" descr=""/>
          <p:cNvPicPr/>
          <p:nvPr/>
        </p:nvPicPr>
        <p:blipFill>
          <a:blip r:embed="rId3"/>
          <a:stretch/>
        </p:blipFill>
        <p:spPr>
          <a:xfrm>
            <a:off x="7430400" y="134640"/>
            <a:ext cx="3675600" cy="491760"/>
          </a:xfrm>
          <a:prstGeom prst="rect">
            <a:avLst/>
          </a:prstGeom>
          <a:noFill/>
          <a:ln w="0">
            <a:noFill/>
          </a:ln>
        </p:spPr>
      </p:pic>
      <p:sp>
        <p:nvSpPr>
          <p:cNvPr id="461"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62"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63"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46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465"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66"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67"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38">
    <p:bg>
      <p:bgPr>
        <a:solidFill>
          <a:srgbClr val="ffffff"/>
        </a:solidFill>
      </p:bgPr>
    </p:bg>
    <p:spTree>
      <p:nvGrpSpPr>
        <p:cNvPr id="1" name=""/>
        <p:cNvGrpSpPr/>
        <p:nvPr/>
      </p:nvGrpSpPr>
      <p:grpSpPr>
        <a:xfrm>
          <a:off x="0" y="0"/>
          <a:ext cx="0" cy="0"/>
          <a:chOff x="0" y="0"/>
          <a:chExt cx="0" cy="0"/>
        </a:xfrm>
      </p:grpSpPr>
      <p:sp>
        <p:nvSpPr>
          <p:cNvPr id="468"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69"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2587939D-9C30-476A-B456-393FDC9F4FE7}"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470"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471" name="Picture 19" descr="Logo_TUC_de_RGB"/>
          <p:cNvPicPr/>
          <p:nvPr/>
        </p:nvPicPr>
        <p:blipFill>
          <a:blip r:embed="rId2"/>
          <a:stretch/>
        </p:blipFill>
        <p:spPr>
          <a:xfrm>
            <a:off x="0" y="0"/>
            <a:ext cx="3029760" cy="539640"/>
          </a:xfrm>
          <a:prstGeom prst="rect">
            <a:avLst/>
          </a:prstGeom>
          <a:noFill/>
          <a:ln w="0">
            <a:noFill/>
          </a:ln>
        </p:spPr>
      </p:pic>
      <p:pic>
        <p:nvPicPr>
          <p:cNvPr id="472" name="Grafik 2" descr=""/>
          <p:cNvPicPr/>
          <p:nvPr/>
        </p:nvPicPr>
        <p:blipFill>
          <a:blip r:embed="rId3"/>
          <a:stretch/>
        </p:blipFill>
        <p:spPr>
          <a:xfrm>
            <a:off x="7430400" y="134640"/>
            <a:ext cx="3675600" cy="491760"/>
          </a:xfrm>
          <a:prstGeom prst="rect">
            <a:avLst/>
          </a:prstGeom>
          <a:noFill/>
          <a:ln w="0">
            <a:noFill/>
          </a:ln>
        </p:spPr>
      </p:pic>
      <p:sp>
        <p:nvSpPr>
          <p:cNvPr id="473"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74"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75"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47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477"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78"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79"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39">
    <p:bg>
      <p:bgPr>
        <a:solidFill>
          <a:srgbClr val="ffffff"/>
        </a:solidFill>
      </p:bgPr>
    </p:bg>
    <p:spTree>
      <p:nvGrpSpPr>
        <p:cNvPr id="1" name=""/>
        <p:cNvGrpSpPr/>
        <p:nvPr/>
      </p:nvGrpSpPr>
      <p:grpSpPr>
        <a:xfrm>
          <a:off x="0" y="0"/>
          <a:ext cx="0" cy="0"/>
          <a:chOff x="0" y="0"/>
          <a:chExt cx="0" cy="0"/>
        </a:xfrm>
      </p:grpSpPr>
      <p:sp>
        <p:nvSpPr>
          <p:cNvPr id="480"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81"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634B1FA-BCFA-4104-9256-F3E826D5674C}"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482"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483" name="Picture 19" descr="Logo_TUC_de_RGB"/>
          <p:cNvPicPr/>
          <p:nvPr/>
        </p:nvPicPr>
        <p:blipFill>
          <a:blip r:embed="rId2"/>
          <a:stretch/>
        </p:blipFill>
        <p:spPr>
          <a:xfrm>
            <a:off x="0" y="0"/>
            <a:ext cx="3029760" cy="539640"/>
          </a:xfrm>
          <a:prstGeom prst="rect">
            <a:avLst/>
          </a:prstGeom>
          <a:noFill/>
          <a:ln w="0">
            <a:noFill/>
          </a:ln>
        </p:spPr>
      </p:pic>
      <p:pic>
        <p:nvPicPr>
          <p:cNvPr id="484" name="Grafik 2" descr=""/>
          <p:cNvPicPr/>
          <p:nvPr/>
        </p:nvPicPr>
        <p:blipFill>
          <a:blip r:embed="rId3"/>
          <a:stretch/>
        </p:blipFill>
        <p:spPr>
          <a:xfrm>
            <a:off x="7430400" y="134640"/>
            <a:ext cx="3675600" cy="491760"/>
          </a:xfrm>
          <a:prstGeom prst="rect">
            <a:avLst/>
          </a:prstGeom>
          <a:noFill/>
          <a:ln w="0">
            <a:noFill/>
          </a:ln>
        </p:spPr>
      </p:pic>
      <p:sp>
        <p:nvSpPr>
          <p:cNvPr id="485"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86"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87"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48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489"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90"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40">
    <p:bg>
      <p:bgPr>
        <a:solidFill>
          <a:srgbClr val="ffffff"/>
        </a:solidFill>
      </p:bgPr>
    </p:bg>
    <p:spTree>
      <p:nvGrpSpPr>
        <p:cNvPr id="1" name=""/>
        <p:cNvGrpSpPr/>
        <p:nvPr/>
      </p:nvGrpSpPr>
      <p:grpSpPr>
        <a:xfrm>
          <a:off x="0" y="0"/>
          <a:ext cx="0" cy="0"/>
          <a:chOff x="0" y="0"/>
          <a:chExt cx="0" cy="0"/>
        </a:xfrm>
      </p:grpSpPr>
      <p:sp>
        <p:nvSpPr>
          <p:cNvPr id="491"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92"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E94460EC-FD2E-45BA-8716-57E97BEEF3A7}"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493"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494" name="Picture 19" descr="Logo_TUC_de_RGB"/>
          <p:cNvPicPr/>
          <p:nvPr/>
        </p:nvPicPr>
        <p:blipFill>
          <a:blip r:embed="rId2"/>
          <a:stretch/>
        </p:blipFill>
        <p:spPr>
          <a:xfrm>
            <a:off x="0" y="0"/>
            <a:ext cx="3029760" cy="539640"/>
          </a:xfrm>
          <a:prstGeom prst="rect">
            <a:avLst/>
          </a:prstGeom>
          <a:noFill/>
          <a:ln w="0">
            <a:noFill/>
          </a:ln>
        </p:spPr>
      </p:pic>
      <p:pic>
        <p:nvPicPr>
          <p:cNvPr id="495" name="Grafik 2" descr=""/>
          <p:cNvPicPr/>
          <p:nvPr/>
        </p:nvPicPr>
        <p:blipFill>
          <a:blip r:embed="rId3"/>
          <a:stretch/>
        </p:blipFill>
        <p:spPr>
          <a:xfrm>
            <a:off x="7430400" y="134640"/>
            <a:ext cx="3675600" cy="491760"/>
          </a:xfrm>
          <a:prstGeom prst="rect">
            <a:avLst/>
          </a:prstGeom>
          <a:noFill/>
          <a:ln w="0">
            <a:noFill/>
          </a:ln>
        </p:spPr>
      </p:pic>
      <p:sp>
        <p:nvSpPr>
          <p:cNvPr id="496"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497"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498"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49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500"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01"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02"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03"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1">
    <p:bg>
      <p:bgPr>
        <a:solidFill>
          <a:srgbClr val="ffffff"/>
        </a:solidFill>
      </p:bgPr>
    </p:bg>
    <p:spTree>
      <p:nvGrpSpPr>
        <p:cNvPr id="1" name=""/>
        <p:cNvGrpSpPr/>
        <p:nvPr/>
      </p:nvGrpSpPr>
      <p:grpSpPr>
        <a:xfrm>
          <a:off x="0" y="0"/>
          <a:ext cx="0" cy="0"/>
          <a:chOff x="0" y="0"/>
          <a:chExt cx="0" cy="0"/>
        </a:xfrm>
      </p:grpSpPr>
      <p:sp>
        <p:nvSpPr>
          <p:cNvPr id="504"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05"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EE55E9EB-30EA-4D0A-8BBA-DB22B5802928}"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506"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507" name="Picture 19" descr="Logo_TUC_de_RGB"/>
          <p:cNvPicPr/>
          <p:nvPr/>
        </p:nvPicPr>
        <p:blipFill>
          <a:blip r:embed="rId2"/>
          <a:stretch/>
        </p:blipFill>
        <p:spPr>
          <a:xfrm>
            <a:off x="0" y="0"/>
            <a:ext cx="3029760" cy="539640"/>
          </a:xfrm>
          <a:prstGeom prst="rect">
            <a:avLst/>
          </a:prstGeom>
          <a:noFill/>
          <a:ln w="0">
            <a:noFill/>
          </a:ln>
        </p:spPr>
      </p:pic>
      <p:pic>
        <p:nvPicPr>
          <p:cNvPr id="508" name="Grafik 2" descr=""/>
          <p:cNvPicPr/>
          <p:nvPr/>
        </p:nvPicPr>
        <p:blipFill>
          <a:blip r:embed="rId3"/>
          <a:stretch/>
        </p:blipFill>
        <p:spPr>
          <a:xfrm>
            <a:off x="7430400" y="134640"/>
            <a:ext cx="3675600" cy="491760"/>
          </a:xfrm>
          <a:prstGeom prst="rect">
            <a:avLst/>
          </a:prstGeom>
          <a:noFill/>
          <a:ln w="0">
            <a:noFill/>
          </a:ln>
        </p:spPr>
      </p:pic>
      <p:sp>
        <p:nvSpPr>
          <p:cNvPr id="509"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510"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11"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51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513"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14"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15"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16"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17"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18"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2">
    <p:bg>
      <p:bgPr>
        <a:solidFill>
          <a:srgbClr val="ffffff"/>
        </a:solidFill>
      </p:bgPr>
    </p:bg>
    <p:spTree>
      <p:nvGrpSpPr>
        <p:cNvPr id="1" name=""/>
        <p:cNvGrpSpPr/>
        <p:nvPr/>
      </p:nvGrpSpPr>
      <p:grpSpPr>
        <a:xfrm>
          <a:off x="0" y="0"/>
          <a:ext cx="0" cy="0"/>
          <a:chOff x="0" y="0"/>
          <a:chExt cx="0" cy="0"/>
        </a:xfrm>
      </p:grpSpPr>
      <p:sp>
        <p:nvSpPr>
          <p:cNvPr id="519"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20"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CB783E07-07E8-49B6-83CC-CF7E3AF6ECFE}"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521"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522" name="Picture 19" descr="Logo_TUC_de_RGB"/>
          <p:cNvPicPr/>
          <p:nvPr/>
        </p:nvPicPr>
        <p:blipFill>
          <a:blip r:embed="rId2"/>
          <a:stretch/>
        </p:blipFill>
        <p:spPr>
          <a:xfrm>
            <a:off x="0" y="0"/>
            <a:ext cx="3029760" cy="539640"/>
          </a:xfrm>
          <a:prstGeom prst="rect">
            <a:avLst/>
          </a:prstGeom>
          <a:noFill/>
          <a:ln w="0">
            <a:noFill/>
          </a:ln>
        </p:spPr>
      </p:pic>
      <p:pic>
        <p:nvPicPr>
          <p:cNvPr id="523" name="Grafik 2" descr=""/>
          <p:cNvPicPr/>
          <p:nvPr/>
        </p:nvPicPr>
        <p:blipFill>
          <a:blip r:embed="rId3"/>
          <a:stretch/>
        </p:blipFill>
        <p:spPr>
          <a:xfrm>
            <a:off x="7430400" y="134640"/>
            <a:ext cx="3675600" cy="491760"/>
          </a:xfrm>
          <a:prstGeom prst="rect">
            <a:avLst/>
          </a:prstGeom>
          <a:noFill/>
          <a:ln w="0">
            <a:noFill/>
          </a:ln>
        </p:spPr>
      </p:pic>
      <p:sp>
        <p:nvSpPr>
          <p:cNvPr id="524"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525"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26"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5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528"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3">
    <p:bg>
      <p:bgPr>
        <a:solidFill>
          <a:srgbClr val="ffffff"/>
        </a:solidFill>
      </p:bgPr>
    </p:bg>
    <p:spTree>
      <p:nvGrpSpPr>
        <p:cNvPr id="1" name=""/>
        <p:cNvGrpSpPr/>
        <p:nvPr/>
      </p:nvGrpSpPr>
      <p:grpSpPr>
        <a:xfrm>
          <a:off x="0" y="0"/>
          <a:ext cx="0" cy="0"/>
          <a:chOff x="0" y="0"/>
          <a:chExt cx="0" cy="0"/>
        </a:xfrm>
      </p:grpSpPr>
      <p:sp>
        <p:nvSpPr>
          <p:cNvPr id="529"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30"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B337FB72-12F1-4F94-A1E1-BFC19830CEBD}"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531"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532" name="Picture 19" descr="Logo_TUC_de_RGB"/>
          <p:cNvPicPr/>
          <p:nvPr/>
        </p:nvPicPr>
        <p:blipFill>
          <a:blip r:embed="rId2"/>
          <a:stretch/>
        </p:blipFill>
        <p:spPr>
          <a:xfrm>
            <a:off x="0" y="0"/>
            <a:ext cx="3029760" cy="539640"/>
          </a:xfrm>
          <a:prstGeom prst="rect">
            <a:avLst/>
          </a:prstGeom>
          <a:noFill/>
          <a:ln w="0">
            <a:noFill/>
          </a:ln>
        </p:spPr>
      </p:pic>
      <p:pic>
        <p:nvPicPr>
          <p:cNvPr id="533" name="Grafik 2" descr=""/>
          <p:cNvPicPr/>
          <p:nvPr/>
        </p:nvPicPr>
        <p:blipFill>
          <a:blip r:embed="rId3"/>
          <a:stretch/>
        </p:blipFill>
        <p:spPr>
          <a:xfrm>
            <a:off x="7430400" y="134640"/>
            <a:ext cx="3675600" cy="491760"/>
          </a:xfrm>
          <a:prstGeom prst="rect">
            <a:avLst/>
          </a:prstGeom>
          <a:noFill/>
          <a:ln w="0">
            <a:noFill/>
          </a:ln>
        </p:spPr>
      </p:pic>
      <p:sp>
        <p:nvSpPr>
          <p:cNvPr id="534"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535"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36"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53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44">
    <p:bg>
      <p:bgPr>
        <a:solidFill>
          <a:srgbClr val="ffffff"/>
        </a:solidFill>
      </p:bgPr>
    </p:bg>
    <p:spTree>
      <p:nvGrpSpPr>
        <p:cNvPr id="1" name=""/>
        <p:cNvGrpSpPr/>
        <p:nvPr/>
      </p:nvGrpSpPr>
      <p:grpSpPr>
        <a:xfrm>
          <a:off x="0" y="0"/>
          <a:ext cx="0" cy="0"/>
          <a:chOff x="0" y="0"/>
          <a:chExt cx="0" cy="0"/>
        </a:xfrm>
      </p:grpSpPr>
      <p:sp>
        <p:nvSpPr>
          <p:cNvPr id="538"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39"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E3C40E95-A7D4-48CB-9532-ACFA5825F00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540"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541" name="Picture 19" descr="Logo_TUC_de_RGB"/>
          <p:cNvPicPr/>
          <p:nvPr/>
        </p:nvPicPr>
        <p:blipFill>
          <a:blip r:embed="rId2"/>
          <a:stretch/>
        </p:blipFill>
        <p:spPr>
          <a:xfrm>
            <a:off x="0" y="0"/>
            <a:ext cx="3029760" cy="539640"/>
          </a:xfrm>
          <a:prstGeom prst="rect">
            <a:avLst/>
          </a:prstGeom>
          <a:noFill/>
          <a:ln w="0">
            <a:noFill/>
          </a:ln>
        </p:spPr>
      </p:pic>
      <p:pic>
        <p:nvPicPr>
          <p:cNvPr id="542" name="Grafik 2" descr=""/>
          <p:cNvPicPr/>
          <p:nvPr/>
        </p:nvPicPr>
        <p:blipFill>
          <a:blip r:embed="rId3"/>
          <a:stretch/>
        </p:blipFill>
        <p:spPr>
          <a:xfrm>
            <a:off x="7430400" y="134640"/>
            <a:ext cx="3675600" cy="491760"/>
          </a:xfrm>
          <a:prstGeom prst="rect">
            <a:avLst/>
          </a:prstGeom>
          <a:noFill/>
          <a:ln w="0">
            <a:noFill/>
          </a:ln>
        </p:spPr>
      </p:pic>
      <p:sp>
        <p:nvSpPr>
          <p:cNvPr id="543"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544"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45"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54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547"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45">
    <p:bg>
      <p:bgPr>
        <a:solidFill>
          <a:srgbClr val="ffffff"/>
        </a:solidFill>
      </p:bgPr>
    </p:bg>
    <p:spTree>
      <p:nvGrpSpPr>
        <p:cNvPr id="1" name=""/>
        <p:cNvGrpSpPr/>
        <p:nvPr/>
      </p:nvGrpSpPr>
      <p:grpSpPr>
        <a:xfrm>
          <a:off x="0" y="0"/>
          <a:ext cx="0" cy="0"/>
          <a:chOff x="0" y="0"/>
          <a:chExt cx="0" cy="0"/>
        </a:xfrm>
      </p:grpSpPr>
      <p:sp>
        <p:nvSpPr>
          <p:cNvPr id="548"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49"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A25AFB9A-F428-4274-8740-FBB44B9985FF}"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550"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551" name="Picture 19" descr="Logo_TUC_de_RGB"/>
          <p:cNvPicPr/>
          <p:nvPr/>
        </p:nvPicPr>
        <p:blipFill>
          <a:blip r:embed="rId2"/>
          <a:stretch/>
        </p:blipFill>
        <p:spPr>
          <a:xfrm>
            <a:off x="0" y="0"/>
            <a:ext cx="3029760" cy="539640"/>
          </a:xfrm>
          <a:prstGeom prst="rect">
            <a:avLst/>
          </a:prstGeom>
          <a:noFill/>
          <a:ln w="0">
            <a:noFill/>
          </a:ln>
        </p:spPr>
      </p:pic>
      <p:pic>
        <p:nvPicPr>
          <p:cNvPr id="552" name="Grafik 2" descr=""/>
          <p:cNvPicPr/>
          <p:nvPr/>
        </p:nvPicPr>
        <p:blipFill>
          <a:blip r:embed="rId3"/>
          <a:stretch/>
        </p:blipFill>
        <p:spPr>
          <a:xfrm>
            <a:off x="7430400" y="134640"/>
            <a:ext cx="3675600" cy="491760"/>
          </a:xfrm>
          <a:prstGeom prst="rect">
            <a:avLst/>
          </a:prstGeom>
          <a:noFill/>
          <a:ln w="0">
            <a:noFill/>
          </a:ln>
        </p:spPr>
      </p:pic>
      <p:sp>
        <p:nvSpPr>
          <p:cNvPr id="553"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554"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55"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55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557"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58"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6">
    <p:bg>
      <p:bgPr>
        <a:solidFill>
          <a:srgbClr val="ffffff"/>
        </a:solidFill>
      </p:bgPr>
    </p:bg>
    <p:spTree>
      <p:nvGrpSpPr>
        <p:cNvPr id="1" name=""/>
        <p:cNvGrpSpPr/>
        <p:nvPr/>
      </p:nvGrpSpPr>
      <p:grpSpPr>
        <a:xfrm>
          <a:off x="0" y="0"/>
          <a:ext cx="0" cy="0"/>
          <a:chOff x="0" y="0"/>
          <a:chExt cx="0" cy="0"/>
        </a:xfrm>
      </p:grpSpPr>
      <p:sp>
        <p:nvSpPr>
          <p:cNvPr id="559"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60"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96EAF4AB-9259-44F5-AF01-CB68C0D76806}"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561"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562" name="Picture 19" descr="Logo_TUC_de_RGB"/>
          <p:cNvPicPr/>
          <p:nvPr/>
        </p:nvPicPr>
        <p:blipFill>
          <a:blip r:embed="rId2"/>
          <a:stretch/>
        </p:blipFill>
        <p:spPr>
          <a:xfrm>
            <a:off x="0" y="0"/>
            <a:ext cx="3029760" cy="539640"/>
          </a:xfrm>
          <a:prstGeom prst="rect">
            <a:avLst/>
          </a:prstGeom>
          <a:noFill/>
          <a:ln w="0">
            <a:noFill/>
          </a:ln>
        </p:spPr>
      </p:pic>
      <p:pic>
        <p:nvPicPr>
          <p:cNvPr id="563" name="Grafik 2" descr=""/>
          <p:cNvPicPr/>
          <p:nvPr/>
        </p:nvPicPr>
        <p:blipFill>
          <a:blip r:embed="rId3"/>
          <a:stretch/>
        </p:blipFill>
        <p:spPr>
          <a:xfrm>
            <a:off x="7430400" y="134640"/>
            <a:ext cx="3675600" cy="491760"/>
          </a:xfrm>
          <a:prstGeom prst="rect">
            <a:avLst/>
          </a:prstGeom>
          <a:noFill/>
          <a:ln w="0">
            <a:noFill/>
          </a:ln>
        </p:spPr>
      </p:pic>
      <p:sp>
        <p:nvSpPr>
          <p:cNvPr id="564"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565"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66"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56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47">
    <p:bg>
      <p:bgPr>
        <a:solidFill>
          <a:srgbClr val="ffffff"/>
        </a:solidFill>
      </p:bgPr>
    </p:bg>
    <p:spTree>
      <p:nvGrpSpPr>
        <p:cNvPr id="1" name=""/>
        <p:cNvGrpSpPr/>
        <p:nvPr/>
      </p:nvGrpSpPr>
      <p:grpSpPr>
        <a:xfrm>
          <a:off x="0" y="0"/>
          <a:ext cx="0" cy="0"/>
          <a:chOff x="0" y="0"/>
          <a:chExt cx="0" cy="0"/>
        </a:xfrm>
      </p:grpSpPr>
      <p:sp>
        <p:nvSpPr>
          <p:cNvPr id="568"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69"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957E7EC2-F783-4E8E-A991-B1C4AFB99A44}"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570"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571" name="Picture 19" descr="Logo_TUC_de_RGB"/>
          <p:cNvPicPr/>
          <p:nvPr/>
        </p:nvPicPr>
        <p:blipFill>
          <a:blip r:embed="rId2"/>
          <a:stretch/>
        </p:blipFill>
        <p:spPr>
          <a:xfrm>
            <a:off x="0" y="0"/>
            <a:ext cx="3029760" cy="539640"/>
          </a:xfrm>
          <a:prstGeom prst="rect">
            <a:avLst/>
          </a:prstGeom>
          <a:noFill/>
          <a:ln w="0">
            <a:noFill/>
          </a:ln>
        </p:spPr>
      </p:pic>
      <p:pic>
        <p:nvPicPr>
          <p:cNvPr id="572" name="Grafik 2" descr=""/>
          <p:cNvPicPr/>
          <p:nvPr/>
        </p:nvPicPr>
        <p:blipFill>
          <a:blip r:embed="rId3"/>
          <a:stretch/>
        </p:blipFill>
        <p:spPr>
          <a:xfrm>
            <a:off x="7430400" y="134640"/>
            <a:ext cx="3675600" cy="491760"/>
          </a:xfrm>
          <a:prstGeom prst="rect">
            <a:avLst/>
          </a:prstGeom>
          <a:noFill/>
          <a:ln w="0">
            <a:noFill/>
          </a:ln>
        </p:spPr>
      </p:pic>
      <p:sp>
        <p:nvSpPr>
          <p:cNvPr id="573"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574"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75"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48">
    <p:bg>
      <p:bgPr>
        <a:solidFill>
          <a:srgbClr val="ffffff"/>
        </a:solidFill>
      </p:bgPr>
    </p:bg>
    <p:spTree>
      <p:nvGrpSpPr>
        <p:cNvPr id="1" name=""/>
        <p:cNvGrpSpPr/>
        <p:nvPr/>
      </p:nvGrpSpPr>
      <p:grpSpPr>
        <a:xfrm>
          <a:off x="0" y="0"/>
          <a:ext cx="0" cy="0"/>
          <a:chOff x="0" y="0"/>
          <a:chExt cx="0" cy="0"/>
        </a:xfrm>
      </p:grpSpPr>
      <p:sp>
        <p:nvSpPr>
          <p:cNvPr id="576"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77"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72C22420-191A-4C39-8F10-38415AC8778D}"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578"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579" name="Picture 19" descr="Logo_TUC_de_RGB"/>
          <p:cNvPicPr/>
          <p:nvPr/>
        </p:nvPicPr>
        <p:blipFill>
          <a:blip r:embed="rId2"/>
          <a:stretch/>
        </p:blipFill>
        <p:spPr>
          <a:xfrm>
            <a:off x="0" y="0"/>
            <a:ext cx="3029760" cy="539640"/>
          </a:xfrm>
          <a:prstGeom prst="rect">
            <a:avLst/>
          </a:prstGeom>
          <a:noFill/>
          <a:ln w="0">
            <a:noFill/>
          </a:ln>
        </p:spPr>
      </p:pic>
      <p:pic>
        <p:nvPicPr>
          <p:cNvPr id="580" name="Grafik 2" descr=""/>
          <p:cNvPicPr/>
          <p:nvPr/>
        </p:nvPicPr>
        <p:blipFill>
          <a:blip r:embed="rId3"/>
          <a:stretch/>
        </p:blipFill>
        <p:spPr>
          <a:xfrm>
            <a:off x="7430400" y="134640"/>
            <a:ext cx="3675600" cy="491760"/>
          </a:xfrm>
          <a:prstGeom prst="rect">
            <a:avLst/>
          </a:prstGeom>
          <a:noFill/>
          <a:ln w="0">
            <a:noFill/>
          </a:ln>
        </p:spPr>
      </p:pic>
      <p:sp>
        <p:nvSpPr>
          <p:cNvPr id="581"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582"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83"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58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585"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86"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87"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49">
    <p:bg>
      <p:bgPr>
        <a:solidFill>
          <a:srgbClr val="ffffff"/>
        </a:solidFill>
      </p:bgPr>
    </p:bg>
    <p:spTree>
      <p:nvGrpSpPr>
        <p:cNvPr id="1" name=""/>
        <p:cNvGrpSpPr/>
        <p:nvPr/>
      </p:nvGrpSpPr>
      <p:grpSpPr>
        <a:xfrm>
          <a:off x="0" y="0"/>
          <a:ext cx="0" cy="0"/>
          <a:chOff x="0" y="0"/>
          <a:chExt cx="0" cy="0"/>
        </a:xfrm>
      </p:grpSpPr>
      <p:sp>
        <p:nvSpPr>
          <p:cNvPr id="588"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89"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07E725B4-C6B4-4AD8-8019-318BC4449979}"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590"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591" name="Picture 19" descr="Logo_TUC_de_RGB"/>
          <p:cNvPicPr/>
          <p:nvPr/>
        </p:nvPicPr>
        <p:blipFill>
          <a:blip r:embed="rId2"/>
          <a:stretch/>
        </p:blipFill>
        <p:spPr>
          <a:xfrm>
            <a:off x="0" y="0"/>
            <a:ext cx="3029760" cy="539640"/>
          </a:xfrm>
          <a:prstGeom prst="rect">
            <a:avLst/>
          </a:prstGeom>
          <a:noFill/>
          <a:ln w="0">
            <a:noFill/>
          </a:ln>
        </p:spPr>
      </p:pic>
      <p:pic>
        <p:nvPicPr>
          <p:cNvPr id="592" name="Grafik 2" descr=""/>
          <p:cNvPicPr/>
          <p:nvPr/>
        </p:nvPicPr>
        <p:blipFill>
          <a:blip r:embed="rId3"/>
          <a:stretch/>
        </p:blipFill>
        <p:spPr>
          <a:xfrm>
            <a:off x="7430400" y="134640"/>
            <a:ext cx="3675600" cy="491760"/>
          </a:xfrm>
          <a:prstGeom prst="rect">
            <a:avLst/>
          </a:prstGeom>
          <a:noFill/>
          <a:ln w="0">
            <a:noFill/>
          </a:ln>
        </p:spPr>
      </p:pic>
      <p:sp>
        <p:nvSpPr>
          <p:cNvPr id="593"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594"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595"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59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597"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98"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599"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50">
    <p:bg>
      <p:bgPr>
        <a:solidFill>
          <a:srgbClr val="ffffff"/>
        </a:solidFill>
      </p:bgPr>
    </p:bg>
    <p:spTree>
      <p:nvGrpSpPr>
        <p:cNvPr id="1" name=""/>
        <p:cNvGrpSpPr/>
        <p:nvPr/>
      </p:nvGrpSpPr>
      <p:grpSpPr>
        <a:xfrm>
          <a:off x="0" y="0"/>
          <a:ext cx="0" cy="0"/>
          <a:chOff x="0" y="0"/>
          <a:chExt cx="0" cy="0"/>
        </a:xfrm>
      </p:grpSpPr>
      <p:sp>
        <p:nvSpPr>
          <p:cNvPr id="600"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01"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0A0713D8-3220-41B6-B72A-7C6C8C3B0B28}"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602"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603" name="Picture 19" descr="Logo_TUC_de_RGB"/>
          <p:cNvPicPr/>
          <p:nvPr/>
        </p:nvPicPr>
        <p:blipFill>
          <a:blip r:embed="rId2"/>
          <a:stretch/>
        </p:blipFill>
        <p:spPr>
          <a:xfrm>
            <a:off x="0" y="0"/>
            <a:ext cx="3029760" cy="539640"/>
          </a:xfrm>
          <a:prstGeom prst="rect">
            <a:avLst/>
          </a:prstGeom>
          <a:noFill/>
          <a:ln w="0">
            <a:noFill/>
          </a:ln>
        </p:spPr>
      </p:pic>
      <p:pic>
        <p:nvPicPr>
          <p:cNvPr id="604" name="Grafik 2" descr=""/>
          <p:cNvPicPr/>
          <p:nvPr/>
        </p:nvPicPr>
        <p:blipFill>
          <a:blip r:embed="rId3"/>
          <a:stretch/>
        </p:blipFill>
        <p:spPr>
          <a:xfrm>
            <a:off x="7430400" y="134640"/>
            <a:ext cx="3675600" cy="491760"/>
          </a:xfrm>
          <a:prstGeom prst="rect">
            <a:avLst/>
          </a:prstGeom>
          <a:noFill/>
          <a:ln w="0">
            <a:noFill/>
          </a:ln>
        </p:spPr>
      </p:pic>
      <p:sp>
        <p:nvSpPr>
          <p:cNvPr id="605"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06"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07"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60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609"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10"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11"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51">
    <p:bg>
      <p:bgPr>
        <a:solidFill>
          <a:srgbClr val="ffffff"/>
        </a:solidFill>
      </p:bgPr>
    </p:bg>
    <p:spTree>
      <p:nvGrpSpPr>
        <p:cNvPr id="1" name=""/>
        <p:cNvGrpSpPr/>
        <p:nvPr/>
      </p:nvGrpSpPr>
      <p:grpSpPr>
        <a:xfrm>
          <a:off x="0" y="0"/>
          <a:ext cx="0" cy="0"/>
          <a:chOff x="0" y="0"/>
          <a:chExt cx="0" cy="0"/>
        </a:xfrm>
      </p:grpSpPr>
      <p:sp>
        <p:nvSpPr>
          <p:cNvPr id="612"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13"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1FB40F96-C321-4777-9C21-0C2D0E3D2BB3}"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614"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615" name="Picture 19" descr="Logo_TUC_de_RGB"/>
          <p:cNvPicPr/>
          <p:nvPr/>
        </p:nvPicPr>
        <p:blipFill>
          <a:blip r:embed="rId2"/>
          <a:stretch/>
        </p:blipFill>
        <p:spPr>
          <a:xfrm>
            <a:off x="0" y="0"/>
            <a:ext cx="3029760" cy="539640"/>
          </a:xfrm>
          <a:prstGeom prst="rect">
            <a:avLst/>
          </a:prstGeom>
          <a:noFill/>
          <a:ln w="0">
            <a:noFill/>
          </a:ln>
        </p:spPr>
      </p:pic>
      <p:pic>
        <p:nvPicPr>
          <p:cNvPr id="616" name="Grafik 2" descr=""/>
          <p:cNvPicPr/>
          <p:nvPr/>
        </p:nvPicPr>
        <p:blipFill>
          <a:blip r:embed="rId3"/>
          <a:stretch/>
        </p:blipFill>
        <p:spPr>
          <a:xfrm>
            <a:off x="7430400" y="134640"/>
            <a:ext cx="3675600" cy="491760"/>
          </a:xfrm>
          <a:prstGeom prst="rect">
            <a:avLst/>
          </a:prstGeom>
          <a:noFill/>
          <a:ln w="0">
            <a:noFill/>
          </a:ln>
        </p:spPr>
      </p:pic>
      <p:sp>
        <p:nvSpPr>
          <p:cNvPr id="617"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18"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19"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62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621"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22"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52">
    <p:bg>
      <p:bgPr>
        <a:solidFill>
          <a:srgbClr val="ffffff"/>
        </a:solidFill>
      </p:bgPr>
    </p:bg>
    <p:spTree>
      <p:nvGrpSpPr>
        <p:cNvPr id="1" name=""/>
        <p:cNvGrpSpPr/>
        <p:nvPr/>
      </p:nvGrpSpPr>
      <p:grpSpPr>
        <a:xfrm>
          <a:off x="0" y="0"/>
          <a:ext cx="0" cy="0"/>
          <a:chOff x="0" y="0"/>
          <a:chExt cx="0" cy="0"/>
        </a:xfrm>
      </p:grpSpPr>
      <p:sp>
        <p:nvSpPr>
          <p:cNvPr id="623"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24"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718BD15D-96E0-4247-AEFB-E071C4201D83}"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625"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626" name="Picture 19" descr="Logo_TUC_de_RGB"/>
          <p:cNvPicPr/>
          <p:nvPr/>
        </p:nvPicPr>
        <p:blipFill>
          <a:blip r:embed="rId2"/>
          <a:stretch/>
        </p:blipFill>
        <p:spPr>
          <a:xfrm>
            <a:off x="0" y="0"/>
            <a:ext cx="3029760" cy="539640"/>
          </a:xfrm>
          <a:prstGeom prst="rect">
            <a:avLst/>
          </a:prstGeom>
          <a:noFill/>
          <a:ln w="0">
            <a:noFill/>
          </a:ln>
        </p:spPr>
      </p:pic>
      <p:pic>
        <p:nvPicPr>
          <p:cNvPr id="627" name="Grafik 2" descr=""/>
          <p:cNvPicPr/>
          <p:nvPr/>
        </p:nvPicPr>
        <p:blipFill>
          <a:blip r:embed="rId3"/>
          <a:stretch/>
        </p:blipFill>
        <p:spPr>
          <a:xfrm>
            <a:off x="7430400" y="134640"/>
            <a:ext cx="3675600" cy="491760"/>
          </a:xfrm>
          <a:prstGeom prst="rect">
            <a:avLst/>
          </a:prstGeom>
          <a:noFill/>
          <a:ln w="0">
            <a:noFill/>
          </a:ln>
        </p:spPr>
      </p:pic>
      <p:sp>
        <p:nvSpPr>
          <p:cNvPr id="628"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29"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30"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63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632"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33"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34"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35"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3">
    <p:bg>
      <p:bgPr>
        <a:solidFill>
          <a:srgbClr val="ffffff"/>
        </a:solidFill>
      </p:bgPr>
    </p:bg>
    <p:spTree>
      <p:nvGrpSpPr>
        <p:cNvPr id="1" name=""/>
        <p:cNvGrpSpPr/>
        <p:nvPr/>
      </p:nvGrpSpPr>
      <p:grpSpPr>
        <a:xfrm>
          <a:off x="0" y="0"/>
          <a:ext cx="0" cy="0"/>
          <a:chOff x="0" y="0"/>
          <a:chExt cx="0" cy="0"/>
        </a:xfrm>
      </p:grpSpPr>
      <p:sp>
        <p:nvSpPr>
          <p:cNvPr id="636"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37"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3AF717CD-7911-47A9-9F2C-4EE6774C2AD7}"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638"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639" name="Picture 19" descr="Logo_TUC_de_RGB"/>
          <p:cNvPicPr/>
          <p:nvPr/>
        </p:nvPicPr>
        <p:blipFill>
          <a:blip r:embed="rId2"/>
          <a:stretch/>
        </p:blipFill>
        <p:spPr>
          <a:xfrm>
            <a:off x="0" y="0"/>
            <a:ext cx="3029760" cy="539640"/>
          </a:xfrm>
          <a:prstGeom prst="rect">
            <a:avLst/>
          </a:prstGeom>
          <a:noFill/>
          <a:ln w="0">
            <a:noFill/>
          </a:ln>
        </p:spPr>
      </p:pic>
      <p:pic>
        <p:nvPicPr>
          <p:cNvPr id="640" name="Grafik 2" descr=""/>
          <p:cNvPicPr/>
          <p:nvPr/>
        </p:nvPicPr>
        <p:blipFill>
          <a:blip r:embed="rId3"/>
          <a:stretch/>
        </p:blipFill>
        <p:spPr>
          <a:xfrm>
            <a:off x="7430400" y="134640"/>
            <a:ext cx="3675600" cy="491760"/>
          </a:xfrm>
          <a:prstGeom prst="rect">
            <a:avLst/>
          </a:prstGeom>
          <a:noFill/>
          <a:ln w="0">
            <a:noFill/>
          </a:ln>
        </p:spPr>
      </p:pic>
      <p:sp>
        <p:nvSpPr>
          <p:cNvPr id="641"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42"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43"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64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645"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46"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47"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48"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49"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50"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4">
    <p:bg>
      <p:bgPr>
        <a:solidFill>
          <a:srgbClr val="ffffff"/>
        </a:solidFill>
      </p:bgPr>
    </p:bg>
    <p:spTree>
      <p:nvGrpSpPr>
        <p:cNvPr id="1" name=""/>
        <p:cNvGrpSpPr/>
        <p:nvPr/>
      </p:nvGrpSpPr>
      <p:grpSpPr>
        <a:xfrm>
          <a:off x="0" y="0"/>
          <a:ext cx="0" cy="0"/>
          <a:chOff x="0" y="0"/>
          <a:chExt cx="0" cy="0"/>
        </a:xfrm>
      </p:grpSpPr>
      <p:sp>
        <p:nvSpPr>
          <p:cNvPr id="651"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52"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4C036502-67E5-4F8C-82F1-5712132DF1A3}"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653"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654" name="Picture 19" descr="Logo_TUC_de_RGB"/>
          <p:cNvPicPr/>
          <p:nvPr/>
        </p:nvPicPr>
        <p:blipFill>
          <a:blip r:embed="rId2"/>
          <a:stretch/>
        </p:blipFill>
        <p:spPr>
          <a:xfrm>
            <a:off x="0" y="0"/>
            <a:ext cx="3029760" cy="539640"/>
          </a:xfrm>
          <a:prstGeom prst="rect">
            <a:avLst/>
          </a:prstGeom>
          <a:noFill/>
          <a:ln w="0">
            <a:noFill/>
          </a:ln>
        </p:spPr>
      </p:pic>
      <p:pic>
        <p:nvPicPr>
          <p:cNvPr id="655" name="Grafik 2" descr=""/>
          <p:cNvPicPr/>
          <p:nvPr/>
        </p:nvPicPr>
        <p:blipFill>
          <a:blip r:embed="rId3"/>
          <a:stretch/>
        </p:blipFill>
        <p:spPr>
          <a:xfrm>
            <a:off x="7430400" y="134640"/>
            <a:ext cx="3675600" cy="491760"/>
          </a:xfrm>
          <a:prstGeom prst="rect">
            <a:avLst/>
          </a:prstGeom>
          <a:noFill/>
          <a:ln w="0">
            <a:noFill/>
          </a:ln>
        </p:spPr>
      </p:pic>
      <p:sp>
        <p:nvSpPr>
          <p:cNvPr id="656"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57"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58"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6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66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5">
    <p:bg>
      <p:bgPr>
        <a:solidFill>
          <a:srgbClr val="ffffff"/>
        </a:solidFill>
      </p:bgPr>
    </p:bg>
    <p:spTree>
      <p:nvGrpSpPr>
        <p:cNvPr id="1" name=""/>
        <p:cNvGrpSpPr/>
        <p:nvPr/>
      </p:nvGrpSpPr>
      <p:grpSpPr>
        <a:xfrm>
          <a:off x="0" y="0"/>
          <a:ext cx="0" cy="0"/>
          <a:chOff x="0" y="0"/>
          <a:chExt cx="0" cy="0"/>
        </a:xfrm>
      </p:grpSpPr>
      <p:sp>
        <p:nvSpPr>
          <p:cNvPr id="661"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62"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9D429ADF-4890-41F5-989B-DAFB8D7560E2}"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663"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664" name="Picture 19" descr="Logo_TUC_de_RGB"/>
          <p:cNvPicPr/>
          <p:nvPr/>
        </p:nvPicPr>
        <p:blipFill>
          <a:blip r:embed="rId2"/>
          <a:stretch/>
        </p:blipFill>
        <p:spPr>
          <a:xfrm>
            <a:off x="0" y="0"/>
            <a:ext cx="3029760" cy="539640"/>
          </a:xfrm>
          <a:prstGeom prst="rect">
            <a:avLst/>
          </a:prstGeom>
          <a:noFill/>
          <a:ln w="0">
            <a:noFill/>
          </a:ln>
        </p:spPr>
      </p:pic>
      <p:pic>
        <p:nvPicPr>
          <p:cNvPr id="665" name="Grafik 2" descr=""/>
          <p:cNvPicPr/>
          <p:nvPr/>
        </p:nvPicPr>
        <p:blipFill>
          <a:blip r:embed="rId3"/>
          <a:stretch/>
        </p:blipFill>
        <p:spPr>
          <a:xfrm>
            <a:off x="7430400" y="134640"/>
            <a:ext cx="3675600" cy="491760"/>
          </a:xfrm>
          <a:prstGeom prst="rect">
            <a:avLst/>
          </a:prstGeom>
          <a:noFill/>
          <a:ln w="0">
            <a:noFill/>
          </a:ln>
        </p:spPr>
      </p:pic>
      <p:sp>
        <p:nvSpPr>
          <p:cNvPr id="666"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67"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68"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66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56">
    <p:bg>
      <p:bgPr>
        <a:solidFill>
          <a:srgbClr val="ffffff"/>
        </a:solidFill>
      </p:bgPr>
    </p:bg>
    <p:spTree>
      <p:nvGrpSpPr>
        <p:cNvPr id="1" name=""/>
        <p:cNvGrpSpPr/>
        <p:nvPr/>
      </p:nvGrpSpPr>
      <p:grpSpPr>
        <a:xfrm>
          <a:off x="0" y="0"/>
          <a:ext cx="0" cy="0"/>
          <a:chOff x="0" y="0"/>
          <a:chExt cx="0" cy="0"/>
        </a:xfrm>
      </p:grpSpPr>
      <p:sp>
        <p:nvSpPr>
          <p:cNvPr id="670"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71"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94EC209-81DB-4C79-AFC2-1C3960D9E1F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672"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673" name="Picture 19" descr="Logo_TUC_de_RGB"/>
          <p:cNvPicPr/>
          <p:nvPr/>
        </p:nvPicPr>
        <p:blipFill>
          <a:blip r:embed="rId2"/>
          <a:stretch/>
        </p:blipFill>
        <p:spPr>
          <a:xfrm>
            <a:off x="0" y="0"/>
            <a:ext cx="3029760" cy="539640"/>
          </a:xfrm>
          <a:prstGeom prst="rect">
            <a:avLst/>
          </a:prstGeom>
          <a:noFill/>
          <a:ln w="0">
            <a:noFill/>
          </a:ln>
        </p:spPr>
      </p:pic>
      <p:pic>
        <p:nvPicPr>
          <p:cNvPr id="674" name="Grafik 2" descr=""/>
          <p:cNvPicPr/>
          <p:nvPr/>
        </p:nvPicPr>
        <p:blipFill>
          <a:blip r:embed="rId3"/>
          <a:stretch/>
        </p:blipFill>
        <p:spPr>
          <a:xfrm>
            <a:off x="7430400" y="134640"/>
            <a:ext cx="3675600" cy="491760"/>
          </a:xfrm>
          <a:prstGeom prst="rect">
            <a:avLst/>
          </a:prstGeom>
          <a:noFill/>
          <a:ln w="0">
            <a:noFill/>
          </a:ln>
        </p:spPr>
      </p:pic>
      <p:sp>
        <p:nvSpPr>
          <p:cNvPr id="675"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76"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77"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67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679"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57">
    <p:bg>
      <p:bgPr>
        <a:solidFill>
          <a:srgbClr val="ffffff"/>
        </a:solidFill>
      </p:bgPr>
    </p:bg>
    <p:spTree>
      <p:nvGrpSpPr>
        <p:cNvPr id="1" name=""/>
        <p:cNvGrpSpPr/>
        <p:nvPr/>
      </p:nvGrpSpPr>
      <p:grpSpPr>
        <a:xfrm>
          <a:off x="0" y="0"/>
          <a:ext cx="0" cy="0"/>
          <a:chOff x="0" y="0"/>
          <a:chExt cx="0" cy="0"/>
        </a:xfrm>
      </p:grpSpPr>
      <p:sp>
        <p:nvSpPr>
          <p:cNvPr id="680"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81"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05669526-247E-4220-B3E2-0EB87CFAE1DA}"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682"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683" name="Picture 19" descr="Logo_TUC_de_RGB"/>
          <p:cNvPicPr/>
          <p:nvPr/>
        </p:nvPicPr>
        <p:blipFill>
          <a:blip r:embed="rId2"/>
          <a:stretch/>
        </p:blipFill>
        <p:spPr>
          <a:xfrm>
            <a:off x="0" y="0"/>
            <a:ext cx="3029760" cy="539640"/>
          </a:xfrm>
          <a:prstGeom prst="rect">
            <a:avLst/>
          </a:prstGeom>
          <a:noFill/>
          <a:ln w="0">
            <a:noFill/>
          </a:ln>
        </p:spPr>
      </p:pic>
      <p:pic>
        <p:nvPicPr>
          <p:cNvPr id="684" name="Grafik 2" descr=""/>
          <p:cNvPicPr/>
          <p:nvPr/>
        </p:nvPicPr>
        <p:blipFill>
          <a:blip r:embed="rId3"/>
          <a:stretch/>
        </p:blipFill>
        <p:spPr>
          <a:xfrm>
            <a:off x="7430400" y="134640"/>
            <a:ext cx="3675600" cy="491760"/>
          </a:xfrm>
          <a:prstGeom prst="rect">
            <a:avLst/>
          </a:prstGeom>
          <a:noFill/>
          <a:ln w="0">
            <a:noFill/>
          </a:ln>
        </p:spPr>
      </p:pic>
      <p:sp>
        <p:nvSpPr>
          <p:cNvPr id="685"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86"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87"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68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689"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690"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8">
    <p:bg>
      <p:bgPr>
        <a:solidFill>
          <a:srgbClr val="ffffff"/>
        </a:solidFill>
      </p:bgPr>
    </p:bg>
    <p:spTree>
      <p:nvGrpSpPr>
        <p:cNvPr id="1" name=""/>
        <p:cNvGrpSpPr/>
        <p:nvPr/>
      </p:nvGrpSpPr>
      <p:grpSpPr>
        <a:xfrm>
          <a:off x="0" y="0"/>
          <a:ext cx="0" cy="0"/>
          <a:chOff x="0" y="0"/>
          <a:chExt cx="0" cy="0"/>
        </a:xfrm>
      </p:grpSpPr>
      <p:sp>
        <p:nvSpPr>
          <p:cNvPr id="691"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92"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F626DA3D-60FE-4DD9-93CC-C51BDD97C731}"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693"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694" name="Picture 19" descr="Logo_TUC_de_RGB"/>
          <p:cNvPicPr/>
          <p:nvPr/>
        </p:nvPicPr>
        <p:blipFill>
          <a:blip r:embed="rId2"/>
          <a:stretch/>
        </p:blipFill>
        <p:spPr>
          <a:xfrm>
            <a:off x="0" y="0"/>
            <a:ext cx="3029760" cy="539640"/>
          </a:xfrm>
          <a:prstGeom prst="rect">
            <a:avLst/>
          </a:prstGeom>
          <a:noFill/>
          <a:ln w="0">
            <a:noFill/>
          </a:ln>
        </p:spPr>
      </p:pic>
      <p:pic>
        <p:nvPicPr>
          <p:cNvPr id="695" name="Grafik 2" descr=""/>
          <p:cNvPicPr/>
          <p:nvPr/>
        </p:nvPicPr>
        <p:blipFill>
          <a:blip r:embed="rId3"/>
          <a:stretch/>
        </p:blipFill>
        <p:spPr>
          <a:xfrm>
            <a:off x="7430400" y="134640"/>
            <a:ext cx="3675600" cy="491760"/>
          </a:xfrm>
          <a:prstGeom prst="rect">
            <a:avLst/>
          </a:prstGeom>
          <a:noFill/>
          <a:ln w="0">
            <a:noFill/>
          </a:ln>
        </p:spPr>
      </p:pic>
      <p:sp>
        <p:nvSpPr>
          <p:cNvPr id="696"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697"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698"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69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59">
    <p:bg>
      <p:bgPr>
        <a:solidFill>
          <a:srgbClr val="ffffff"/>
        </a:solidFill>
      </p:bgPr>
    </p:bg>
    <p:spTree>
      <p:nvGrpSpPr>
        <p:cNvPr id="1" name=""/>
        <p:cNvGrpSpPr/>
        <p:nvPr/>
      </p:nvGrpSpPr>
      <p:grpSpPr>
        <a:xfrm>
          <a:off x="0" y="0"/>
          <a:ext cx="0" cy="0"/>
          <a:chOff x="0" y="0"/>
          <a:chExt cx="0" cy="0"/>
        </a:xfrm>
      </p:grpSpPr>
      <p:sp>
        <p:nvSpPr>
          <p:cNvPr id="700" name="CustomShape 1"/>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01" name="CustomShape 2"/>
          <p:cNvSpPr/>
          <p:nvPr/>
        </p:nvSpPr>
        <p:spPr>
          <a:xfrm>
            <a:off x="11438640" y="6453360"/>
            <a:ext cx="7358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01113097-7294-433F-A96D-F17B0589B58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702" name="CustomShape 3"/>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703" name="Picture 19" descr="Logo_TUC_de_RGB"/>
          <p:cNvPicPr/>
          <p:nvPr/>
        </p:nvPicPr>
        <p:blipFill>
          <a:blip r:embed="rId2"/>
          <a:stretch/>
        </p:blipFill>
        <p:spPr>
          <a:xfrm>
            <a:off x="0" y="0"/>
            <a:ext cx="3029760" cy="539640"/>
          </a:xfrm>
          <a:prstGeom prst="rect">
            <a:avLst/>
          </a:prstGeom>
          <a:noFill/>
          <a:ln w="0">
            <a:noFill/>
          </a:ln>
        </p:spPr>
      </p:pic>
      <p:pic>
        <p:nvPicPr>
          <p:cNvPr id="704" name="Grafik 2" descr=""/>
          <p:cNvPicPr/>
          <p:nvPr/>
        </p:nvPicPr>
        <p:blipFill>
          <a:blip r:embed="rId3"/>
          <a:stretch/>
        </p:blipFill>
        <p:spPr>
          <a:xfrm>
            <a:off x="7430400" y="134640"/>
            <a:ext cx="3675600" cy="491760"/>
          </a:xfrm>
          <a:prstGeom prst="rect">
            <a:avLst/>
          </a:prstGeom>
          <a:noFill/>
          <a:ln w="0">
            <a:noFill/>
          </a:ln>
        </p:spPr>
      </p:pic>
      <p:sp>
        <p:nvSpPr>
          <p:cNvPr id="705" name="CustomShape 4"/>
          <p:cNvSpPr/>
          <p:nvPr/>
        </p:nvSpPr>
        <p:spPr>
          <a:xfrm>
            <a:off x="912240" y="1268280"/>
            <a:ext cx="9185760" cy="33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706" name="CustomShape 5"/>
          <p:cNvSpPr/>
          <p:nvPr/>
        </p:nvSpPr>
        <p:spPr>
          <a:xfrm>
            <a:off x="11444760" y="0"/>
            <a:ext cx="718920" cy="6827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07" name="CustomShape 6"/>
          <p:cNvSpPr/>
          <p:nvPr/>
        </p:nvSpPr>
        <p:spPr>
          <a:xfrm>
            <a:off x="0" y="6642720"/>
            <a:ext cx="121618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60">
    <p:bg>
      <p:bgPr>
        <a:solidFill>
          <a:srgbClr val="ffffff"/>
        </a:solidFill>
      </p:bgPr>
    </p:bg>
    <p:spTree>
      <p:nvGrpSpPr>
        <p:cNvPr id="1" name=""/>
        <p:cNvGrpSpPr/>
        <p:nvPr/>
      </p:nvGrpSpPr>
      <p:grpSpPr>
        <a:xfrm>
          <a:off x="0" y="0"/>
          <a:ext cx="0" cy="0"/>
          <a:chOff x="0" y="0"/>
          <a:chExt cx="0" cy="0"/>
        </a:xfrm>
      </p:grpSpPr>
      <p:sp>
        <p:nvSpPr>
          <p:cNvPr id="708"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09"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3BE33AC2-DA21-45AE-A438-D157786519D7}"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710"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711" name="Picture 19" descr="Logo_TUC_de_RGB"/>
          <p:cNvPicPr/>
          <p:nvPr/>
        </p:nvPicPr>
        <p:blipFill>
          <a:blip r:embed="rId2"/>
          <a:stretch/>
        </p:blipFill>
        <p:spPr>
          <a:xfrm>
            <a:off x="0" y="0"/>
            <a:ext cx="3029040" cy="538920"/>
          </a:xfrm>
          <a:prstGeom prst="rect">
            <a:avLst/>
          </a:prstGeom>
          <a:noFill/>
          <a:ln w="0">
            <a:noFill/>
          </a:ln>
        </p:spPr>
      </p:pic>
      <p:pic>
        <p:nvPicPr>
          <p:cNvPr id="712" name="Grafik 2" descr=""/>
          <p:cNvPicPr/>
          <p:nvPr/>
        </p:nvPicPr>
        <p:blipFill>
          <a:blip r:embed="rId3"/>
          <a:stretch/>
        </p:blipFill>
        <p:spPr>
          <a:xfrm>
            <a:off x="7430400" y="134640"/>
            <a:ext cx="3674880" cy="491040"/>
          </a:xfrm>
          <a:prstGeom prst="rect">
            <a:avLst/>
          </a:prstGeom>
          <a:noFill/>
          <a:ln w="0">
            <a:noFill/>
          </a:ln>
        </p:spPr>
      </p:pic>
      <p:sp>
        <p:nvSpPr>
          <p:cNvPr id="713"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714"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15"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71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717"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18"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19"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61">
    <p:bg>
      <p:bgPr>
        <a:solidFill>
          <a:srgbClr val="ffffff"/>
        </a:solidFill>
      </p:bgPr>
    </p:bg>
    <p:spTree>
      <p:nvGrpSpPr>
        <p:cNvPr id="1" name=""/>
        <p:cNvGrpSpPr/>
        <p:nvPr/>
      </p:nvGrpSpPr>
      <p:grpSpPr>
        <a:xfrm>
          <a:off x="0" y="0"/>
          <a:ext cx="0" cy="0"/>
          <a:chOff x="0" y="0"/>
          <a:chExt cx="0" cy="0"/>
        </a:xfrm>
      </p:grpSpPr>
      <p:sp>
        <p:nvSpPr>
          <p:cNvPr id="720"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21"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9BD1654B-9766-4F4C-B6A9-9A850011CF1F}"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722"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723" name="Picture 19" descr="Logo_TUC_de_RGB"/>
          <p:cNvPicPr/>
          <p:nvPr/>
        </p:nvPicPr>
        <p:blipFill>
          <a:blip r:embed="rId2"/>
          <a:stretch/>
        </p:blipFill>
        <p:spPr>
          <a:xfrm>
            <a:off x="0" y="0"/>
            <a:ext cx="3029040" cy="538920"/>
          </a:xfrm>
          <a:prstGeom prst="rect">
            <a:avLst/>
          </a:prstGeom>
          <a:noFill/>
          <a:ln w="0">
            <a:noFill/>
          </a:ln>
        </p:spPr>
      </p:pic>
      <p:pic>
        <p:nvPicPr>
          <p:cNvPr id="724" name="Grafik 2" descr=""/>
          <p:cNvPicPr/>
          <p:nvPr/>
        </p:nvPicPr>
        <p:blipFill>
          <a:blip r:embed="rId3"/>
          <a:stretch/>
        </p:blipFill>
        <p:spPr>
          <a:xfrm>
            <a:off x="7430400" y="134640"/>
            <a:ext cx="3674880" cy="491040"/>
          </a:xfrm>
          <a:prstGeom prst="rect">
            <a:avLst/>
          </a:prstGeom>
          <a:noFill/>
          <a:ln w="0">
            <a:noFill/>
          </a:ln>
        </p:spPr>
      </p:pic>
      <p:sp>
        <p:nvSpPr>
          <p:cNvPr id="725"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726"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27"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72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729"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30"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31"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62">
    <p:bg>
      <p:bgPr>
        <a:solidFill>
          <a:srgbClr val="ffffff"/>
        </a:solidFill>
      </p:bgPr>
    </p:bg>
    <p:spTree>
      <p:nvGrpSpPr>
        <p:cNvPr id="1" name=""/>
        <p:cNvGrpSpPr/>
        <p:nvPr/>
      </p:nvGrpSpPr>
      <p:grpSpPr>
        <a:xfrm>
          <a:off x="0" y="0"/>
          <a:ext cx="0" cy="0"/>
          <a:chOff x="0" y="0"/>
          <a:chExt cx="0" cy="0"/>
        </a:xfrm>
      </p:grpSpPr>
      <p:sp>
        <p:nvSpPr>
          <p:cNvPr id="732"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33"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6AA91AA-01C2-49D5-997F-7FE616EBFAA6}"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734"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735" name="Picture 19" descr="Logo_TUC_de_RGB"/>
          <p:cNvPicPr/>
          <p:nvPr/>
        </p:nvPicPr>
        <p:blipFill>
          <a:blip r:embed="rId2"/>
          <a:stretch/>
        </p:blipFill>
        <p:spPr>
          <a:xfrm>
            <a:off x="0" y="0"/>
            <a:ext cx="3029040" cy="538920"/>
          </a:xfrm>
          <a:prstGeom prst="rect">
            <a:avLst/>
          </a:prstGeom>
          <a:noFill/>
          <a:ln w="0">
            <a:noFill/>
          </a:ln>
        </p:spPr>
      </p:pic>
      <p:pic>
        <p:nvPicPr>
          <p:cNvPr id="736" name="Grafik 2" descr=""/>
          <p:cNvPicPr/>
          <p:nvPr/>
        </p:nvPicPr>
        <p:blipFill>
          <a:blip r:embed="rId3"/>
          <a:stretch/>
        </p:blipFill>
        <p:spPr>
          <a:xfrm>
            <a:off x="7430400" y="134640"/>
            <a:ext cx="3674880" cy="491040"/>
          </a:xfrm>
          <a:prstGeom prst="rect">
            <a:avLst/>
          </a:prstGeom>
          <a:noFill/>
          <a:ln w="0">
            <a:noFill/>
          </a:ln>
        </p:spPr>
      </p:pic>
      <p:sp>
        <p:nvSpPr>
          <p:cNvPr id="737"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738"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39"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74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741"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42"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43"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63">
    <p:bg>
      <p:bgPr>
        <a:solidFill>
          <a:srgbClr val="ffffff"/>
        </a:solidFill>
      </p:bgPr>
    </p:bg>
    <p:spTree>
      <p:nvGrpSpPr>
        <p:cNvPr id="1" name=""/>
        <p:cNvGrpSpPr/>
        <p:nvPr/>
      </p:nvGrpSpPr>
      <p:grpSpPr>
        <a:xfrm>
          <a:off x="0" y="0"/>
          <a:ext cx="0" cy="0"/>
          <a:chOff x="0" y="0"/>
          <a:chExt cx="0" cy="0"/>
        </a:xfrm>
      </p:grpSpPr>
      <p:sp>
        <p:nvSpPr>
          <p:cNvPr id="744"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45"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A3F96212-089C-47AF-B213-A9B748006B61}"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746"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747" name="Picture 19" descr="Logo_TUC_de_RGB"/>
          <p:cNvPicPr/>
          <p:nvPr/>
        </p:nvPicPr>
        <p:blipFill>
          <a:blip r:embed="rId2"/>
          <a:stretch/>
        </p:blipFill>
        <p:spPr>
          <a:xfrm>
            <a:off x="0" y="0"/>
            <a:ext cx="3029040" cy="538920"/>
          </a:xfrm>
          <a:prstGeom prst="rect">
            <a:avLst/>
          </a:prstGeom>
          <a:noFill/>
          <a:ln w="0">
            <a:noFill/>
          </a:ln>
        </p:spPr>
      </p:pic>
      <p:pic>
        <p:nvPicPr>
          <p:cNvPr id="748" name="Grafik 2" descr=""/>
          <p:cNvPicPr/>
          <p:nvPr/>
        </p:nvPicPr>
        <p:blipFill>
          <a:blip r:embed="rId3"/>
          <a:stretch/>
        </p:blipFill>
        <p:spPr>
          <a:xfrm>
            <a:off x="7430400" y="134640"/>
            <a:ext cx="3674880" cy="491040"/>
          </a:xfrm>
          <a:prstGeom prst="rect">
            <a:avLst/>
          </a:prstGeom>
          <a:noFill/>
          <a:ln w="0">
            <a:noFill/>
          </a:ln>
        </p:spPr>
      </p:pic>
      <p:sp>
        <p:nvSpPr>
          <p:cNvPr id="749"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750"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51"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75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753"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54"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64">
    <p:bg>
      <p:bgPr>
        <a:solidFill>
          <a:srgbClr val="ffffff"/>
        </a:solidFill>
      </p:bgPr>
    </p:bg>
    <p:spTree>
      <p:nvGrpSpPr>
        <p:cNvPr id="1" name=""/>
        <p:cNvGrpSpPr/>
        <p:nvPr/>
      </p:nvGrpSpPr>
      <p:grpSpPr>
        <a:xfrm>
          <a:off x="0" y="0"/>
          <a:ext cx="0" cy="0"/>
          <a:chOff x="0" y="0"/>
          <a:chExt cx="0" cy="0"/>
        </a:xfrm>
      </p:grpSpPr>
      <p:sp>
        <p:nvSpPr>
          <p:cNvPr id="755"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56"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572AE3ED-97BE-4A11-A3B0-6298D48A00F9}"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757"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758" name="Picture 19" descr="Logo_TUC_de_RGB"/>
          <p:cNvPicPr/>
          <p:nvPr/>
        </p:nvPicPr>
        <p:blipFill>
          <a:blip r:embed="rId2"/>
          <a:stretch/>
        </p:blipFill>
        <p:spPr>
          <a:xfrm>
            <a:off x="0" y="0"/>
            <a:ext cx="3029040" cy="538920"/>
          </a:xfrm>
          <a:prstGeom prst="rect">
            <a:avLst/>
          </a:prstGeom>
          <a:noFill/>
          <a:ln w="0">
            <a:noFill/>
          </a:ln>
        </p:spPr>
      </p:pic>
      <p:pic>
        <p:nvPicPr>
          <p:cNvPr id="759" name="Grafik 2" descr=""/>
          <p:cNvPicPr/>
          <p:nvPr/>
        </p:nvPicPr>
        <p:blipFill>
          <a:blip r:embed="rId3"/>
          <a:stretch/>
        </p:blipFill>
        <p:spPr>
          <a:xfrm>
            <a:off x="7430400" y="134640"/>
            <a:ext cx="3674880" cy="491040"/>
          </a:xfrm>
          <a:prstGeom prst="rect">
            <a:avLst/>
          </a:prstGeom>
          <a:noFill/>
          <a:ln w="0">
            <a:noFill/>
          </a:ln>
        </p:spPr>
      </p:pic>
      <p:sp>
        <p:nvSpPr>
          <p:cNvPr id="760"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761"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62"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76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764"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65"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66"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67"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5">
    <p:bg>
      <p:bgPr>
        <a:solidFill>
          <a:srgbClr val="ffffff"/>
        </a:solidFill>
      </p:bgPr>
    </p:bg>
    <p:spTree>
      <p:nvGrpSpPr>
        <p:cNvPr id="1" name=""/>
        <p:cNvGrpSpPr/>
        <p:nvPr/>
      </p:nvGrpSpPr>
      <p:grpSpPr>
        <a:xfrm>
          <a:off x="0" y="0"/>
          <a:ext cx="0" cy="0"/>
          <a:chOff x="0" y="0"/>
          <a:chExt cx="0" cy="0"/>
        </a:xfrm>
      </p:grpSpPr>
      <p:sp>
        <p:nvSpPr>
          <p:cNvPr id="768"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69"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8CD42FE4-A972-4717-95AF-BE296ABE4D9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770"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771" name="Picture 19" descr="Logo_TUC_de_RGB"/>
          <p:cNvPicPr/>
          <p:nvPr/>
        </p:nvPicPr>
        <p:blipFill>
          <a:blip r:embed="rId2"/>
          <a:stretch/>
        </p:blipFill>
        <p:spPr>
          <a:xfrm>
            <a:off x="0" y="0"/>
            <a:ext cx="3029040" cy="538920"/>
          </a:xfrm>
          <a:prstGeom prst="rect">
            <a:avLst/>
          </a:prstGeom>
          <a:noFill/>
          <a:ln w="0">
            <a:noFill/>
          </a:ln>
        </p:spPr>
      </p:pic>
      <p:pic>
        <p:nvPicPr>
          <p:cNvPr id="772" name="Grafik 2" descr=""/>
          <p:cNvPicPr/>
          <p:nvPr/>
        </p:nvPicPr>
        <p:blipFill>
          <a:blip r:embed="rId3"/>
          <a:stretch/>
        </p:blipFill>
        <p:spPr>
          <a:xfrm>
            <a:off x="7430400" y="134640"/>
            <a:ext cx="3674880" cy="491040"/>
          </a:xfrm>
          <a:prstGeom prst="rect">
            <a:avLst/>
          </a:prstGeom>
          <a:noFill/>
          <a:ln w="0">
            <a:noFill/>
          </a:ln>
        </p:spPr>
      </p:pic>
      <p:sp>
        <p:nvSpPr>
          <p:cNvPr id="773"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774"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75"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77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777"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78"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79"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80"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81"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782"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6">
    <p:bg>
      <p:bgPr>
        <a:solidFill>
          <a:srgbClr val="ffffff"/>
        </a:solidFill>
      </p:bgPr>
    </p:bg>
    <p:spTree>
      <p:nvGrpSpPr>
        <p:cNvPr id="1" name=""/>
        <p:cNvGrpSpPr/>
        <p:nvPr/>
      </p:nvGrpSpPr>
      <p:grpSpPr>
        <a:xfrm>
          <a:off x="0" y="0"/>
          <a:ext cx="0" cy="0"/>
          <a:chOff x="0" y="0"/>
          <a:chExt cx="0" cy="0"/>
        </a:xfrm>
      </p:grpSpPr>
      <p:sp>
        <p:nvSpPr>
          <p:cNvPr id="783"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84"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3832B3DE-3DB6-459C-8D4D-50C55D22CDD1}"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785"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786" name="Picture 19" descr="Logo_TUC_de_RGB"/>
          <p:cNvPicPr/>
          <p:nvPr/>
        </p:nvPicPr>
        <p:blipFill>
          <a:blip r:embed="rId2"/>
          <a:stretch/>
        </p:blipFill>
        <p:spPr>
          <a:xfrm>
            <a:off x="0" y="0"/>
            <a:ext cx="3029040" cy="538920"/>
          </a:xfrm>
          <a:prstGeom prst="rect">
            <a:avLst/>
          </a:prstGeom>
          <a:noFill/>
          <a:ln w="0">
            <a:noFill/>
          </a:ln>
        </p:spPr>
      </p:pic>
      <p:pic>
        <p:nvPicPr>
          <p:cNvPr id="787" name="Grafik 2" descr=""/>
          <p:cNvPicPr/>
          <p:nvPr/>
        </p:nvPicPr>
        <p:blipFill>
          <a:blip r:embed="rId3"/>
          <a:stretch/>
        </p:blipFill>
        <p:spPr>
          <a:xfrm>
            <a:off x="7430400" y="134640"/>
            <a:ext cx="3674880" cy="491040"/>
          </a:xfrm>
          <a:prstGeom prst="rect">
            <a:avLst/>
          </a:prstGeom>
          <a:noFill/>
          <a:ln w="0">
            <a:noFill/>
          </a:ln>
        </p:spPr>
      </p:pic>
      <p:sp>
        <p:nvSpPr>
          <p:cNvPr id="788"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789"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90"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7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79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7">
    <p:bg>
      <p:bgPr>
        <a:solidFill>
          <a:srgbClr val="ffffff"/>
        </a:solidFill>
      </p:bgPr>
    </p:bg>
    <p:spTree>
      <p:nvGrpSpPr>
        <p:cNvPr id="1" name=""/>
        <p:cNvGrpSpPr/>
        <p:nvPr/>
      </p:nvGrpSpPr>
      <p:grpSpPr>
        <a:xfrm>
          <a:off x="0" y="0"/>
          <a:ext cx="0" cy="0"/>
          <a:chOff x="0" y="0"/>
          <a:chExt cx="0" cy="0"/>
        </a:xfrm>
      </p:grpSpPr>
      <p:sp>
        <p:nvSpPr>
          <p:cNvPr id="793"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794"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A86BF260-444A-4303-B57B-12A0963D4A21}"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795"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796" name="Picture 19" descr="Logo_TUC_de_RGB"/>
          <p:cNvPicPr/>
          <p:nvPr/>
        </p:nvPicPr>
        <p:blipFill>
          <a:blip r:embed="rId2"/>
          <a:stretch/>
        </p:blipFill>
        <p:spPr>
          <a:xfrm>
            <a:off x="0" y="0"/>
            <a:ext cx="3029040" cy="538920"/>
          </a:xfrm>
          <a:prstGeom prst="rect">
            <a:avLst/>
          </a:prstGeom>
          <a:noFill/>
          <a:ln w="0">
            <a:noFill/>
          </a:ln>
        </p:spPr>
      </p:pic>
      <p:pic>
        <p:nvPicPr>
          <p:cNvPr id="797" name="Grafik 2" descr=""/>
          <p:cNvPicPr/>
          <p:nvPr/>
        </p:nvPicPr>
        <p:blipFill>
          <a:blip r:embed="rId3"/>
          <a:stretch/>
        </p:blipFill>
        <p:spPr>
          <a:xfrm>
            <a:off x="7430400" y="134640"/>
            <a:ext cx="3674880" cy="491040"/>
          </a:xfrm>
          <a:prstGeom prst="rect">
            <a:avLst/>
          </a:prstGeom>
          <a:noFill/>
          <a:ln w="0">
            <a:noFill/>
          </a:ln>
        </p:spPr>
      </p:pic>
      <p:sp>
        <p:nvSpPr>
          <p:cNvPr id="798"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799"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00"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0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8">
    <p:bg>
      <p:bgPr>
        <a:solidFill>
          <a:srgbClr val="ffffff"/>
        </a:solidFill>
      </p:bgPr>
    </p:bg>
    <p:spTree>
      <p:nvGrpSpPr>
        <p:cNvPr id="1" name=""/>
        <p:cNvGrpSpPr/>
        <p:nvPr/>
      </p:nvGrpSpPr>
      <p:grpSpPr>
        <a:xfrm>
          <a:off x="0" y="0"/>
          <a:ext cx="0" cy="0"/>
          <a:chOff x="0" y="0"/>
          <a:chExt cx="0" cy="0"/>
        </a:xfrm>
      </p:grpSpPr>
      <p:sp>
        <p:nvSpPr>
          <p:cNvPr id="802"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03"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1BAE87D2-A320-4E21-94C9-1F698C514999}"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804"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805" name="Picture 19" descr="Logo_TUC_de_RGB"/>
          <p:cNvPicPr/>
          <p:nvPr/>
        </p:nvPicPr>
        <p:blipFill>
          <a:blip r:embed="rId2"/>
          <a:stretch/>
        </p:blipFill>
        <p:spPr>
          <a:xfrm>
            <a:off x="0" y="0"/>
            <a:ext cx="3029040" cy="538920"/>
          </a:xfrm>
          <a:prstGeom prst="rect">
            <a:avLst/>
          </a:prstGeom>
          <a:noFill/>
          <a:ln w="0">
            <a:noFill/>
          </a:ln>
        </p:spPr>
      </p:pic>
      <p:pic>
        <p:nvPicPr>
          <p:cNvPr id="806" name="Grafik 2" descr=""/>
          <p:cNvPicPr/>
          <p:nvPr/>
        </p:nvPicPr>
        <p:blipFill>
          <a:blip r:embed="rId3"/>
          <a:stretch/>
        </p:blipFill>
        <p:spPr>
          <a:xfrm>
            <a:off x="7430400" y="134640"/>
            <a:ext cx="3674880" cy="491040"/>
          </a:xfrm>
          <a:prstGeom prst="rect">
            <a:avLst/>
          </a:prstGeom>
          <a:noFill/>
          <a:ln w="0">
            <a:noFill/>
          </a:ln>
        </p:spPr>
      </p:pic>
      <p:sp>
        <p:nvSpPr>
          <p:cNvPr id="807"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808"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09"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1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811"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69">
    <p:bg>
      <p:bgPr>
        <a:solidFill>
          <a:srgbClr val="ffffff"/>
        </a:solidFill>
      </p:bgPr>
    </p:bg>
    <p:spTree>
      <p:nvGrpSpPr>
        <p:cNvPr id="1" name=""/>
        <p:cNvGrpSpPr/>
        <p:nvPr/>
      </p:nvGrpSpPr>
      <p:grpSpPr>
        <a:xfrm>
          <a:off x="0" y="0"/>
          <a:ext cx="0" cy="0"/>
          <a:chOff x="0" y="0"/>
          <a:chExt cx="0" cy="0"/>
        </a:xfrm>
      </p:grpSpPr>
      <p:sp>
        <p:nvSpPr>
          <p:cNvPr id="812"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13"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6F409057-B926-4657-A5DC-9356470C9EE7}"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814"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815" name="Picture 19" descr="Logo_TUC_de_RGB"/>
          <p:cNvPicPr/>
          <p:nvPr/>
        </p:nvPicPr>
        <p:blipFill>
          <a:blip r:embed="rId2"/>
          <a:stretch/>
        </p:blipFill>
        <p:spPr>
          <a:xfrm>
            <a:off x="0" y="0"/>
            <a:ext cx="3029040" cy="538920"/>
          </a:xfrm>
          <a:prstGeom prst="rect">
            <a:avLst/>
          </a:prstGeom>
          <a:noFill/>
          <a:ln w="0">
            <a:noFill/>
          </a:ln>
        </p:spPr>
      </p:pic>
      <p:pic>
        <p:nvPicPr>
          <p:cNvPr id="816" name="Grafik 2" descr=""/>
          <p:cNvPicPr/>
          <p:nvPr/>
        </p:nvPicPr>
        <p:blipFill>
          <a:blip r:embed="rId3"/>
          <a:stretch/>
        </p:blipFill>
        <p:spPr>
          <a:xfrm>
            <a:off x="7430400" y="134640"/>
            <a:ext cx="3674880" cy="491040"/>
          </a:xfrm>
          <a:prstGeom prst="rect">
            <a:avLst/>
          </a:prstGeom>
          <a:noFill/>
          <a:ln w="0">
            <a:noFill/>
          </a:ln>
        </p:spPr>
      </p:pic>
      <p:sp>
        <p:nvSpPr>
          <p:cNvPr id="817"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818"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19"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2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821"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22"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70">
    <p:bg>
      <p:bgPr>
        <a:solidFill>
          <a:srgbClr val="ffffff"/>
        </a:solidFill>
      </p:bgPr>
    </p:bg>
    <p:spTree>
      <p:nvGrpSpPr>
        <p:cNvPr id="1" name=""/>
        <p:cNvGrpSpPr/>
        <p:nvPr/>
      </p:nvGrpSpPr>
      <p:grpSpPr>
        <a:xfrm>
          <a:off x="0" y="0"/>
          <a:ext cx="0" cy="0"/>
          <a:chOff x="0" y="0"/>
          <a:chExt cx="0" cy="0"/>
        </a:xfrm>
      </p:grpSpPr>
      <p:sp>
        <p:nvSpPr>
          <p:cNvPr id="823"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24"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8E896378-56BB-4C35-A4E6-1E591712F41E}"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825"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826" name="Picture 19" descr="Logo_TUC_de_RGB"/>
          <p:cNvPicPr/>
          <p:nvPr/>
        </p:nvPicPr>
        <p:blipFill>
          <a:blip r:embed="rId2"/>
          <a:stretch/>
        </p:blipFill>
        <p:spPr>
          <a:xfrm>
            <a:off x="0" y="0"/>
            <a:ext cx="3029040" cy="538920"/>
          </a:xfrm>
          <a:prstGeom prst="rect">
            <a:avLst/>
          </a:prstGeom>
          <a:noFill/>
          <a:ln w="0">
            <a:noFill/>
          </a:ln>
        </p:spPr>
      </p:pic>
      <p:pic>
        <p:nvPicPr>
          <p:cNvPr id="827" name="Grafik 2" descr=""/>
          <p:cNvPicPr/>
          <p:nvPr/>
        </p:nvPicPr>
        <p:blipFill>
          <a:blip r:embed="rId3"/>
          <a:stretch/>
        </p:blipFill>
        <p:spPr>
          <a:xfrm>
            <a:off x="7430400" y="134640"/>
            <a:ext cx="3674880" cy="491040"/>
          </a:xfrm>
          <a:prstGeom prst="rect">
            <a:avLst/>
          </a:prstGeom>
          <a:noFill/>
          <a:ln w="0">
            <a:noFill/>
          </a:ln>
        </p:spPr>
      </p:pic>
      <p:sp>
        <p:nvSpPr>
          <p:cNvPr id="828"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829"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30"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3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71">
    <p:bg>
      <p:bgPr>
        <a:solidFill>
          <a:srgbClr val="ffffff"/>
        </a:solidFill>
      </p:bgPr>
    </p:bg>
    <p:spTree>
      <p:nvGrpSpPr>
        <p:cNvPr id="1" name=""/>
        <p:cNvGrpSpPr/>
        <p:nvPr/>
      </p:nvGrpSpPr>
      <p:grpSpPr>
        <a:xfrm>
          <a:off x="0" y="0"/>
          <a:ext cx="0" cy="0"/>
          <a:chOff x="0" y="0"/>
          <a:chExt cx="0" cy="0"/>
        </a:xfrm>
      </p:grpSpPr>
      <p:sp>
        <p:nvSpPr>
          <p:cNvPr id="832" name="CustomShape 1"/>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33" name="CustomShape 2"/>
          <p:cNvSpPr/>
          <p:nvPr/>
        </p:nvSpPr>
        <p:spPr>
          <a:xfrm>
            <a:off x="11438640" y="6453360"/>
            <a:ext cx="73512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B9C3534E-114F-4F5A-A095-68F7181F5A81}"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834" name="CustomShape 3"/>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835" name="Picture 19" descr="Logo_TUC_de_RGB"/>
          <p:cNvPicPr/>
          <p:nvPr/>
        </p:nvPicPr>
        <p:blipFill>
          <a:blip r:embed="rId2"/>
          <a:stretch/>
        </p:blipFill>
        <p:spPr>
          <a:xfrm>
            <a:off x="0" y="0"/>
            <a:ext cx="3029040" cy="538920"/>
          </a:xfrm>
          <a:prstGeom prst="rect">
            <a:avLst/>
          </a:prstGeom>
          <a:noFill/>
          <a:ln w="0">
            <a:noFill/>
          </a:ln>
        </p:spPr>
      </p:pic>
      <p:pic>
        <p:nvPicPr>
          <p:cNvPr id="836" name="Grafik 2" descr=""/>
          <p:cNvPicPr/>
          <p:nvPr/>
        </p:nvPicPr>
        <p:blipFill>
          <a:blip r:embed="rId3"/>
          <a:stretch/>
        </p:blipFill>
        <p:spPr>
          <a:xfrm>
            <a:off x="7430400" y="134640"/>
            <a:ext cx="3674880" cy="491040"/>
          </a:xfrm>
          <a:prstGeom prst="rect">
            <a:avLst/>
          </a:prstGeom>
          <a:noFill/>
          <a:ln w="0">
            <a:noFill/>
          </a:ln>
        </p:spPr>
      </p:pic>
      <p:sp>
        <p:nvSpPr>
          <p:cNvPr id="837" name="CustomShape 4"/>
          <p:cNvSpPr/>
          <p:nvPr/>
        </p:nvSpPr>
        <p:spPr>
          <a:xfrm>
            <a:off x="912240" y="1268280"/>
            <a:ext cx="9185040" cy="338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838" name="CustomShape 5"/>
          <p:cNvSpPr/>
          <p:nvPr/>
        </p:nvSpPr>
        <p:spPr>
          <a:xfrm>
            <a:off x="11444760" y="0"/>
            <a:ext cx="718200" cy="682704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39" name="CustomShape 6"/>
          <p:cNvSpPr/>
          <p:nvPr/>
        </p:nvSpPr>
        <p:spPr>
          <a:xfrm>
            <a:off x="0" y="6642720"/>
            <a:ext cx="1216116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72">
    <p:bg>
      <p:bgPr>
        <a:solidFill>
          <a:srgbClr val="ffffff"/>
        </a:solidFill>
      </p:bgPr>
    </p:bg>
    <p:spTree>
      <p:nvGrpSpPr>
        <p:cNvPr id="1" name=""/>
        <p:cNvGrpSpPr/>
        <p:nvPr/>
      </p:nvGrpSpPr>
      <p:grpSpPr>
        <a:xfrm>
          <a:off x="0" y="0"/>
          <a:ext cx="0" cy="0"/>
          <a:chOff x="0" y="0"/>
          <a:chExt cx="0" cy="0"/>
        </a:xfrm>
      </p:grpSpPr>
      <p:sp>
        <p:nvSpPr>
          <p:cNvPr id="840"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41"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0FD8E248-1CE8-434E-90AB-F6969595080B}"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842"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843" name="Picture 19" descr="Logo_TUC_de_RGB"/>
          <p:cNvPicPr/>
          <p:nvPr/>
        </p:nvPicPr>
        <p:blipFill>
          <a:blip r:embed="rId2"/>
          <a:stretch/>
        </p:blipFill>
        <p:spPr>
          <a:xfrm>
            <a:off x="0" y="0"/>
            <a:ext cx="3038760" cy="548640"/>
          </a:xfrm>
          <a:prstGeom prst="rect">
            <a:avLst/>
          </a:prstGeom>
          <a:noFill/>
          <a:ln w="0">
            <a:noFill/>
          </a:ln>
        </p:spPr>
      </p:pic>
      <p:pic>
        <p:nvPicPr>
          <p:cNvPr id="844" name="Grafik 2" descr=""/>
          <p:cNvPicPr/>
          <p:nvPr/>
        </p:nvPicPr>
        <p:blipFill>
          <a:blip r:embed="rId3"/>
          <a:stretch/>
        </p:blipFill>
        <p:spPr>
          <a:xfrm>
            <a:off x="7430400" y="134640"/>
            <a:ext cx="3684600" cy="500760"/>
          </a:xfrm>
          <a:prstGeom prst="rect">
            <a:avLst/>
          </a:prstGeom>
          <a:noFill/>
          <a:ln w="0">
            <a:noFill/>
          </a:ln>
        </p:spPr>
      </p:pic>
      <p:sp>
        <p:nvSpPr>
          <p:cNvPr id="845"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46"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E3EE91B-8046-443E-A611-A591CB94D5DA}"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847"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4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849"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50"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51"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73">
    <p:bg>
      <p:bgPr>
        <a:solidFill>
          <a:srgbClr val="ffffff"/>
        </a:solidFill>
      </p:bgPr>
    </p:bg>
    <p:spTree>
      <p:nvGrpSpPr>
        <p:cNvPr id="1" name=""/>
        <p:cNvGrpSpPr/>
        <p:nvPr/>
      </p:nvGrpSpPr>
      <p:grpSpPr>
        <a:xfrm>
          <a:off x="0" y="0"/>
          <a:ext cx="0" cy="0"/>
          <a:chOff x="0" y="0"/>
          <a:chExt cx="0" cy="0"/>
        </a:xfrm>
      </p:grpSpPr>
      <p:sp>
        <p:nvSpPr>
          <p:cNvPr id="852"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53"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2C3051D9-2118-46CE-A3B7-9033CB0A32C0}"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854"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855" name="Picture 19" descr="Logo_TUC_de_RGB"/>
          <p:cNvPicPr/>
          <p:nvPr/>
        </p:nvPicPr>
        <p:blipFill>
          <a:blip r:embed="rId2"/>
          <a:stretch/>
        </p:blipFill>
        <p:spPr>
          <a:xfrm>
            <a:off x="0" y="0"/>
            <a:ext cx="3038760" cy="548640"/>
          </a:xfrm>
          <a:prstGeom prst="rect">
            <a:avLst/>
          </a:prstGeom>
          <a:noFill/>
          <a:ln w="0">
            <a:noFill/>
          </a:ln>
        </p:spPr>
      </p:pic>
      <p:pic>
        <p:nvPicPr>
          <p:cNvPr id="856" name="Grafik 2" descr=""/>
          <p:cNvPicPr/>
          <p:nvPr/>
        </p:nvPicPr>
        <p:blipFill>
          <a:blip r:embed="rId3"/>
          <a:stretch/>
        </p:blipFill>
        <p:spPr>
          <a:xfrm>
            <a:off x="7430400" y="134640"/>
            <a:ext cx="3684600" cy="500760"/>
          </a:xfrm>
          <a:prstGeom prst="rect">
            <a:avLst/>
          </a:prstGeom>
          <a:noFill/>
          <a:ln w="0">
            <a:noFill/>
          </a:ln>
        </p:spPr>
      </p:pic>
      <p:sp>
        <p:nvSpPr>
          <p:cNvPr id="857"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58"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42B95A88-E8D5-40B4-830B-25C5BE84EA6E}"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859"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6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861"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62"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63"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74">
    <p:bg>
      <p:bgPr>
        <a:solidFill>
          <a:srgbClr val="ffffff"/>
        </a:solidFill>
      </p:bgPr>
    </p:bg>
    <p:spTree>
      <p:nvGrpSpPr>
        <p:cNvPr id="1" name=""/>
        <p:cNvGrpSpPr/>
        <p:nvPr/>
      </p:nvGrpSpPr>
      <p:grpSpPr>
        <a:xfrm>
          <a:off x="0" y="0"/>
          <a:ext cx="0" cy="0"/>
          <a:chOff x="0" y="0"/>
          <a:chExt cx="0" cy="0"/>
        </a:xfrm>
      </p:grpSpPr>
      <p:sp>
        <p:nvSpPr>
          <p:cNvPr id="864"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65"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ACD63E0F-FD07-4FC3-90D4-6AB1C0887A94}"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866"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867" name="Picture 19" descr="Logo_TUC_de_RGB"/>
          <p:cNvPicPr/>
          <p:nvPr/>
        </p:nvPicPr>
        <p:blipFill>
          <a:blip r:embed="rId2"/>
          <a:stretch/>
        </p:blipFill>
        <p:spPr>
          <a:xfrm>
            <a:off x="0" y="0"/>
            <a:ext cx="3038760" cy="548640"/>
          </a:xfrm>
          <a:prstGeom prst="rect">
            <a:avLst/>
          </a:prstGeom>
          <a:noFill/>
          <a:ln w="0">
            <a:noFill/>
          </a:ln>
        </p:spPr>
      </p:pic>
      <p:pic>
        <p:nvPicPr>
          <p:cNvPr id="868" name="Grafik 2" descr=""/>
          <p:cNvPicPr/>
          <p:nvPr/>
        </p:nvPicPr>
        <p:blipFill>
          <a:blip r:embed="rId3"/>
          <a:stretch/>
        </p:blipFill>
        <p:spPr>
          <a:xfrm>
            <a:off x="7430400" y="134640"/>
            <a:ext cx="3684600" cy="500760"/>
          </a:xfrm>
          <a:prstGeom prst="rect">
            <a:avLst/>
          </a:prstGeom>
          <a:noFill/>
          <a:ln w="0">
            <a:noFill/>
          </a:ln>
        </p:spPr>
      </p:pic>
      <p:sp>
        <p:nvSpPr>
          <p:cNvPr id="869"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70"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33ED592B-E5E4-4AF1-8895-A27D8869AA3D}"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871"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7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873"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74"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75"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75">
    <p:bg>
      <p:bgPr>
        <a:solidFill>
          <a:srgbClr val="ffffff"/>
        </a:solidFill>
      </p:bgPr>
    </p:bg>
    <p:spTree>
      <p:nvGrpSpPr>
        <p:cNvPr id="1" name=""/>
        <p:cNvGrpSpPr/>
        <p:nvPr/>
      </p:nvGrpSpPr>
      <p:grpSpPr>
        <a:xfrm>
          <a:off x="0" y="0"/>
          <a:ext cx="0" cy="0"/>
          <a:chOff x="0" y="0"/>
          <a:chExt cx="0" cy="0"/>
        </a:xfrm>
      </p:grpSpPr>
      <p:sp>
        <p:nvSpPr>
          <p:cNvPr id="876"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77"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CCA670E3-16C2-4AF8-B5D8-A2BDC03D344B}"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878"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879" name="Picture 19" descr="Logo_TUC_de_RGB"/>
          <p:cNvPicPr/>
          <p:nvPr/>
        </p:nvPicPr>
        <p:blipFill>
          <a:blip r:embed="rId2"/>
          <a:stretch/>
        </p:blipFill>
        <p:spPr>
          <a:xfrm>
            <a:off x="0" y="0"/>
            <a:ext cx="3038760" cy="548640"/>
          </a:xfrm>
          <a:prstGeom prst="rect">
            <a:avLst/>
          </a:prstGeom>
          <a:noFill/>
          <a:ln w="0">
            <a:noFill/>
          </a:ln>
        </p:spPr>
      </p:pic>
      <p:pic>
        <p:nvPicPr>
          <p:cNvPr id="880" name="Grafik 2" descr=""/>
          <p:cNvPicPr/>
          <p:nvPr/>
        </p:nvPicPr>
        <p:blipFill>
          <a:blip r:embed="rId3"/>
          <a:stretch/>
        </p:blipFill>
        <p:spPr>
          <a:xfrm>
            <a:off x="7430400" y="134640"/>
            <a:ext cx="3684600" cy="500760"/>
          </a:xfrm>
          <a:prstGeom prst="rect">
            <a:avLst/>
          </a:prstGeom>
          <a:noFill/>
          <a:ln w="0">
            <a:noFill/>
          </a:ln>
        </p:spPr>
      </p:pic>
      <p:sp>
        <p:nvSpPr>
          <p:cNvPr id="881"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82"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A764580C-0031-4E8D-87EC-BB2AC48BDB4F}"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883"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8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885"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86"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76">
    <p:bg>
      <p:bgPr>
        <a:solidFill>
          <a:srgbClr val="ffffff"/>
        </a:solidFill>
      </p:bgPr>
    </p:bg>
    <p:spTree>
      <p:nvGrpSpPr>
        <p:cNvPr id="1" name=""/>
        <p:cNvGrpSpPr/>
        <p:nvPr/>
      </p:nvGrpSpPr>
      <p:grpSpPr>
        <a:xfrm>
          <a:off x="0" y="0"/>
          <a:ext cx="0" cy="0"/>
          <a:chOff x="0" y="0"/>
          <a:chExt cx="0" cy="0"/>
        </a:xfrm>
      </p:grpSpPr>
      <p:sp>
        <p:nvSpPr>
          <p:cNvPr id="887"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88"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C425CCAB-13DD-4DEE-A575-FF6CB9AF1562}"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889"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890" name="Picture 19" descr="Logo_TUC_de_RGB"/>
          <p:cNvPicPr/>
          <p:nvPr/>
        </p:nvPicPr>
        <p:blipFill>
          <a:blip r:embed="rId2"/>
          <a:stretch/>
        </p:blipFill>
        <p:spPr>
          <a:xfrm>
            <a:off x="0" y="0"/>
            <a:ext cx="3038760" cy="548640"/>
          </a:xfrm>
          <a:prstGeom prst="rect">
            <a:avLst/>
          </a:prstGeom>
          <a:noFill/>
          <a:ln w="0">
            <a:noFill/>
          </a:ln>
        </p:spPr>
      </p:pic>
      <p:pic>
        <p:nvPicPr>
          <p:cNvPr id="891" name="Grafik 2" descr=""/>
          <p:cNvPicPr/>
          <p:nvPr/>
        </p:nvPicPr>
        <p:blipFill>
          <a:blip r:embed="rId3"/>
          <a:stretch/>
        </p:blipFill>
        <p:spPr>
          <a:xfrm>
            <a:off x="7430400" y="134640"/>
            <a:ext cx="3684600" cy="500760"/>
          </a:xfrm>
          <a:prstGeom prst="rect">
            <a:avLst/>
          </a:prstGeom>
          <a:noFill/>
          <a:ln w="0">
            <a:noFill/>
          </a:ln>
        </p:spPr>
      </p:pic>
      <p:sp>
        <p:nvSpPr>
          <p:cNvPr id="892"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893"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E23CC2E4-1F97-418D-9B3D-8F9817542662}"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894"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89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896"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97"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98"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899"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7">
    <p:bg>
      <p:bgPr>
        <a:solidFill>
          <a:srgbClr val="ffffff"/>
        </a:solidFill>
      </p:bgPr>
    </p:bg>
    <p:spTree>
      <p:nvGrpSpPr>
        <p:cNvPr id="1" name=""/>
        <p:cNvGrpSpPr/>
        <p:nvPr/>
      </p:nvGrpSpPr>
      <p:grpSpPr>
        <a:xfrm>
          <a:off x="0" y="0"/>
          <a:ext cx="0" cy="0"/>
          <a:chOff x="0" y="0"/>
          <a:chExt cx="0" cy="0"/>
        </a:xfrm>
      </p:grpSpPr>
      <p:sp>
        <p:nvSpPr>
          <p:cNvPr id="900"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01"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E8596FC3-3FEE-4C5B-9A99-AC2B8A73F0BD}"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02"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03" name="Picture 19" descr="Logo_TUC_de_RGB"/>
          <p:cNvPicPr/>
          <p:nvPr/>
        </p:nvPicPr>
        <p:blipFill>
          <a:blip r:embed="rId2"/>
          <a:stretch/>
        </p:blipFill>
        <p:spPr>
          <a:xfrm>
            <a:off x="0" y="0"/>
            <a:ext cx="3038760" cy="548640"/>
          </a:xfrm>
          <a:prstGeom prst="rect">
            <a:avLst/>
          </a:prstGeom>
          <a:noFill/>
          <a:ln w="0">
            <a:noFill/>
          </a:ln>
        </p:spPr>
      </p:pic>
      <p:pic>
        <p:nvPicPr>
          <p:cNvPr id="904" name="Grafik 2" descr=""/>
          <p:cNvPicPr/>
          <p:nvPr/>
        </p:nvPicPr>
        <p:blipFill>
          <a:blip r:embed="rId3"/>
          <a:stretch/>
        </p:blipFill>
        <p:spPr>
          <a:xfrm>
            <a:off x="7430400" y="134640"/>
            <a:ext cx="3684600" cy="500760"/>
          </a:xfrm>
          <a:prstGeom prst="rect">
            <a:avLst/>
          </a:prstGeom>
          <a:noFill/>
          <a:ln w="0">
            <a:noFill/>
          </a:ln>
        </p:spPr>
      </p:pic>
      <p:sp>
        <p:nvSpPr>
          <p:cNvPr id="905"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06"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B7FD2EF-1065-41C8-84AA-FE940898FC4D}"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07"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90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909"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910"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911"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912"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913"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914"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8">
    <p:bg>
      <p:bgPr>
        <a:solidFill>
          <a:srgbClr val="ffffff"/>
        </a:solidFill>
      </p:bgPr>
    </p:bg>
    <p:spTree>
      <p:nvGrpSpPr>
        <p:cNvPr id="1" name=""/>
        <p:cNvGrpSpPr/>
        <p:nvPr/>
      </p:nvGrpSpPr>
      <p:grpSpPr>
        <a:xfrm>
          <a:off x="0" y="0"/>
          <a:ext cx="0" cy="0"/>
          <a:chOff x="0" y="0"/>
          <a:chExt cx="0" cy="0"/>
        </a:xfrm>
      </p:grpSpPr>
      <p:sp>
        <p:nvSpPr>
          <p:cNvPr id="915"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16"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45FEF24D-53AA-4B87-ACF6-A2C6F2AA0104}"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17"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18" name="Picture 19" descr="Logo_TUC_de_RGB"/>
          <p:cNvPicPr/>
          <p:nvPr/>
        </p:nvPicPr>
        <p:blipFill>
          <a:blip r:embed="rId2"/>
          <a:stretch/>
        </p:blipFill>
        <p:spPr>
          <a:xfrm>
            <a:off x="0" y="0"/>
            <a:ext cx="3038760" cy="548640"/>
          </a:xfrm>
          <a:prstGeom prst="rect">
            <a:avLst/>
          </a:prstGeom>
          <a:noFill/>
          <a:ln w="0">
            <a:noFill/>
          </a:ln>
        </p:spPr>
      </p:pic>
      <p:pic>
        <p:nvPicPr>
          <p:cNvPr id="919" name="Grafik 2" descr=""/>
          <p:cNvPicPr/>
          <p:nvPr/>
        </p:nvPicPr>
        <p:blipFill>
          <a:blip r:embed="rId3"/>
          <a:stretch/>
        </p:blipFill>
        <p:spPr>
          <a:xfrm>
            <a:off x="7430400" y="134640"/>
            <a:ext cx="3684600" cy="500760"/>
          </a:xfrm>
          <a:prstGeom prst="rect">
            <a:avLst/>
          </a:prstGeom>
          <a:noFill/>
          <a:ln w="0">
            <a:noFill/>
          </a:ln>
        </p:spPr>
      </p:pic>
      <p:sp>
        <p:nvSpPr>
          <p:cNvPr id="920"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21"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455E55E8-8570-42E7-AF56-0D6478941631}"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22"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9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92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79">
    <p:bg>
      <p:bgPr>
        <a:solidFill>
          <a:srgbClr val="ffffff"/>
        </a:solidFill>
      </p:bgPr>
    </p:bg>
    <p:spTree>
      <p:nvGrpSpPr>
        <p:cNvPr id="1" name=""/>
        <p:cNvGrpSpPr/>
        <p:nvPr/>
      </p:nvGrpSpPr>
      <p:grpSpPr>
        <a:xfrm>
          <a:off x="0" y="0"/>
          <a:ext cx="0" cy="0"/>
          <a:chOff x="0" y="0"/>
          <a:chExt cx="0" cy="0"/>
        </a:xfrm>
      </p:grpSpPr>
      <p:sp>
        <p:nvSpPr>
          <p:cNvPr id="925"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26"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A65CDD27-902E-48BB-9265-91C3A47EA349}"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27"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28" name="Picture 19" descr="Logo_TUC_de_RGB"/>
          <p:cNvPicPr/>
          <p:nvPr/>
        </p:nvPicPr>
        <p:blipFill>
          <a:blip r:embed="rId2"/>
          <a:stretch/>
        </p:blipFill>
        <p:spPr>
          <a:xfrm>
            <a:off x="0" y="0"/>
            <a:ext cx="3038760" cy="548640"/>
          </a:xfrm>
          <a:prstGeom prst="rect">
            <a:avLst/>
          </a:prstGeom>
          <a:noFill/>
          <a:ln w="0">
            <a:noFill/>
          </a:ln>
        </p:spPr>
      </p:pic>
      <p:pic>
        <p:nvPicPr>
          <p:cNvPr id="929" name="Grafik 2" descr=""/>
          <p:cNvPicPr/>
          <p:nvPr/>
        </p:nvPicPr>
        <p:blipFill>
          <a:blip r:embed="rId3"/>
          <a:stretch/>
        </p:blipFill>
        <p:spPr>
          <a:xfrm>
            <a:off x="7430400" y="134640"/>
            <a:ext cx="3684600" cy="500760"/>
          </a:xfrm>
          <a:prstGeom prst="rect">
            <a:avLst/>
          </a:prstGeom>
          <a:noFill/>
          <a:ln w="0">
            <a:noFill/>
          </a:ln>
        </p:spPr>
      </p:pic>
      <p:sp>
        <p:nvSpPr>
          <p:cNvPr id="930"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31"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5453A2CB-C9C3-42AC-A8AC-4E656220FA10}"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32"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93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80">
    <p:bg>
      <p:bgPr>
        <a:solidFill>
          <a:srgbClr val="ffffff"/>
        </a:solidFill>
      </p:bgPr>
    </p:bg>
    <p:spTree>
      <p:nvGrpSpPr>
        <p:cNvPr id="1" name=""/>
        <p:cNvGrpSpPr/>
        <p:nvPr/>
      </p:nvGrpSpPr>
      <p:grpSpPr>
        <a:xfrm>
          <a:off x="0" y="0"/>
          <a:ext cx="0" cy="0"/>
          <a:chOff x="0" y="0"/>
          <a:chExt cx="0" cy="0"/>
        </a:xfrm>
      </p:grpSpPr>
      <p:sp>
        <p:nvSpPr>
          <p:cNvPr id="934"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35"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788751AC-3A62-43F4-89E7-F989BB5CDE37}"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36"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37" name="Picture 19" descr="Logo_TUC_de_RGB"/>
          <p:cNvPicPr/>
          <p:nvPr/>
        </p:nvPicPr>
        <p:blipFill>
          <a:blip r:embed="rId2"/>
          <a:stretch/>
        </p:blipFill>
        <p:spPr>
          <a:xfrm>
            <a:off x="0" y="0"/>
            <a:ext cx="3038760" cy="548640"/>
          </a:xfrm>
          <a:prstGeom prst="rect">
            <a:avLst/>
          </a:prstGeom>
          <a:noFill/>
          <a:ln w="0">
            <a:noFill/>
          </a:ln>
        </p:spPr>
      </p:pic>
      <p:pic>
        <p:nvPicPr>
          <p:cNvPr id="938" name="Grafik 2" descr=""/>
          <p:cNvPicPr/>
          <p:nvPr/>
        </p:nvPicPr>
        <p:blipFill>
          <a:blip r:embed="rId3"/>
          <a:stretch/>
        </p:blipFill>
        <p:spPr>
          <a:xfrm>
            <a:off x="7430400" y="134640"/>
            <a:ext cx="3684600" cy="500760"/>
          </a:xfrm>
          <a:prstGeom prst="rect">
            <a:avLst/>
          </a:prstGeom>
          <a:noFill/>
          <a:ln w="0">
            <a:noFill/>
          </a:ln>
        </p:spPr>
      </p:pic>
      <p:sp>
        <p:nvSpPr>
          <p:cNvPr id="939"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40"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FFB6025-0D10-4D13-BD6F-0FF11A2A8AA2}"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41"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94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94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81">
    <p:bg>
      <p:bgPr>
        <a:solidFill>
          <a:srgbClr val="ffffff"/>
        </a:solidFill>
      </p:bgPr>
    </p:bg>
    <p:spTree>
      <p:nvGrpSpPr>
        <p:cNvPr id="1" name=""/>
        <p:cNvGrpSpPr/>
        <p:nvPr/>
      </p:nvGrpSpPr>
      <p:grpSpPr>
        <a:xfrm>
          <a:off x="0" y="0"/>
          <a:ext cx="0" cy="0"/>
          <a:chOff x="0" y="0"/>
          <a:chExt cx="0" cy="0"/>
        </a:xfrm>
      </p:grpSpPr>
      <p:sp>
        <p:nvSpPr>
          <p:cNvPr id="944"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45"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F70F583C-97BD-47B6-930F-DEEB802DA59F}"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46"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47" name="Picture 19" descr="Logo_TUC_de_RGB"/>
          <p:cNvPicPr/>
          <p:nvPr/>
        </p:nvPicPr>
        <p:blipFill>
          <a:blip r:embed="rId2"/>
          <a:stretch/>
        </p:blipFill>
        <p:spPr>
          <a:xfrm>
            <a:off x="0" y="0"/>
            <a:ext cx="3038760" cy="548640"/>
          </a:xfrm>
          <a:prstGeom prst="rect">
            <a:avLst/>
          </a:prstGeom>
          <a:noFill/>
          <a:ln w="0">
            <a:noFill/>
          </a:ln>
        </p:spPr>
      </p:pic>
      <p:pic>
        <p:nvPicPr>
          <p:cNvPr id="948" name="Grafik 2" descr=""/>
          <p:cNvPicPr/>
          <p:nvPr/>
        </p:nvPicPr>
        <p:blipFill>
          <a:blip r:embed="rId3"/>
          <a:stretch/>
        </p:blipFill>
        <p:spPr>
          <a:xfrm>
            <a:off x="7430400" y="134640"/>
            <a:ext cx="3684600" cy="500760"/>
          </a:xfrm>
          <a:prstGeom prst="rect">
            <a:avLst/>
          </a:prstGeom>
          <a:noFill/>
          <a:ln w="0">
            <a:noFill/>
          </a:ln>
        </p:spPr>
      </p:pic>
      <p:sp>
        <p:nvSpPr>
          <p:cNvPr id="949"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50"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38118C37-A316-40AB-A266-FCC57F85C329}"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51"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95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953"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95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2">
    <p:bg>
      <p:bgPr>
        <a:solidFill>
          <a:srgbClr val="ffffff"/>
        </a:solidFill>
      </p:bgPr>
    </p:bg>
    <p:spTree>
      <p:nvGrpSpPr>
        <p:cNvPr id="1" name=""/>
        <p:cNvGrpSpPr/>
        <p:nvPr/>
      </p:nvGrpSpPr>
      <p:grpSpPr>
        <a:xfrm>
          <a:off x="0" y="0"/>
          <a:ext cx="0" cy="0"/>
          <a:chOff x="0" y="0"/>
          <a:chExt cx="0" cy="0"/>
        </a:xfrm>
      </p:grpSpPr>
      <p:sp>
        <p:nvSpPr>
          <p:cNvPr id="955"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56"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05CA147F-BA72-4719-B55F-447A9E9B1F8B}"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57"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58" name="Picture 19" descr="Logo_TUC_de_RGB"/>
          <p:cNvPicPr/>
          <p:nvPr/>
        </p:nvPicPr>
        <p:blipFill>
          <a:blip r:embed="rId2"/>
          <a:stretch/>
        </p:blipFill>
        <p:spPr>
          <a:xfrm>
            <a:off x="0" y="0"/>
            <a:ext cx="3038760" cy="548640"/>
          </a:xfrm>
          <a:prstGeom prst="rect">
            <a:avLst/>
          </a:prstGeom>
          <a:noFill/>
          <a:ln w="0">
            <a:noFill/>
          </a:ln>
        </p:spPr>
      </p:pic>
      <p:pic>
        <p:nvPicPr>
          <p:cNvPr id="959" name="Grafik 2" descr=""/>
          <p:cNvPicPr/>
          <p:nvPr/>
        </p:nvPicPr>
        <p:blipFill>
          <a:blip r:embed="rId3"/>
          <a:stretch/>
        </p:blipFill>
        <p:spPr>
          <a:xfrm>
            <a:off x="7430400" y="134640"/>
            <a:ext cx="3684600" cy="500760"/>
          </a:xfrm>
          <a:prstGeom prst="rect">
            <a:avLst/>
          </a:prstGeom>
          <a:noFill/>
          <a:ln w="0">
            <a:noFill/>
          </a:ln>
        </p:spPr>
      </p:pic>
      <p:sp>
        <p:nvSpPr>
          <p:cNvPr id="960"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61"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7BC9FF87-4E9B-4B57-8AC4-8ABCC2DDF012}"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62"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96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83">
    <p:bg>
      <p:bgPr>
        <a:solidFill>
          <a:srgbClr val="ffffff"/>
        </a:solidFill>
      </p:bgPr>
    </p:bg>
    <p:spTree>
      <p:nvGrpSpPr>
        <p:cNvPr id="1" name=""/>
        <p:cNvGrpSpPr/>
        <p:nvPr/>
      </p:nvGrpSpPr>
      <p:grpSpPr>
        <a:xfrm>
          <a:off x="0" y="0"/>
          <a:ext cx="0" cy="0"/>
          <a:chOff x="0" y="0"/>
          <a:chExt cx="0" cy="0"/>
        </a:xfrm>
      </p:grpSpPr>
      <p:sp>
        <p:nvSpPr>
          <p:cNvPr id="964" name="CustomShape 1"/>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65" name="CustomShape 2"/>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C1E4DAF-33B7-4474-84A2-A400F321CDC7}"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66" name="CustomShape 3"/>
          <p:cNvSpPr/>
          <p:nvPr/>
        </p:nvSpPr>
        <p:spPr>
          <a:xfrm>
            <a:off x="912240" y="1268280"/>
            <a:ext cx="9194760" cy="34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67" name="Picture 19" descr="Logo_TUC_de_RGB"/>
          <p:cNvPicPr/>
          <p:nvPr/>
        </p:nvPicPr>
        <p:blipFill>
          <a:blip r:embed="rId2"/>
          <a:stretch/>
        </p:blipFill>
        <p:spPr>
          <a:xfrm>
            <a:off x="0" y="0"/>
            <a:ext cx="3038760" cy="548640"/>
          </a:xfrm>
          <a:prstGeom prst="rect">
            <a:avLst/>
          </a:prstGeom>
          <a:noFill/>
          <a:ln w="0">
            <a:noFill/>
          </a:ln>
        </p:spPr>
      </p:pic>
      <p:pic>
        <p:nvPicPr>
          <p:cNvPr id="968" name="Grafik 2" descr=""/>
          <p:cNvPicPr/>
          <p:nvPr/>
        </p:nvPicPr>
        <p:blipFill>
          <a:blip r:embed="rId3"/>
          <a:stretch/>
        </p:blipFill>
        <p:spPr>
          <a:xfrm>
            <a:off x="7430400" y="134640"/>
            <a:ext cx="3684600" cy="500760"/>
          </a:xfrm>
          <a:prstGeom prst="rect">
            <a:avLst/>
          </a:prstGeom>
          <a:noFill/>
          <a:ln w="0">
            <a:noFill/>
          </a:ln>
        </p:spPr>
      </p:pic>
      <p:sp>
        <p:nvSpPr>
          <p:cNvPr id="969" name="CustomShape 4"/>
          <p:cNvSpPr/>
          <p:nvPr/>
        </p:nvSpPr>
        <p:spPr>
          <a:xfrm>
            <a:off x="11444760" y="0"/>
            <a:ext cx="727920" cy="68367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70" name="CustomShape 5"/>
          <p:cNvSpPr/>
          <p:nvPr/>
        </p:nvSpPr>
        <p:spPr>
          <a:xfrm>
            <a:off x="11438640" y="6453360"/>
            <a:ext cx="744840" cy="400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9A3D1680-0710-4899-83D8-A6E23B270C95}" type="slidenum">
              <a:rPr b="0" lang="de-DE" sz="1800" strike="noStrike" u="none">
                <a:solidFill>
                  <a:srgbClr val="808080"/>
                </a:solidFill>
                <a:effectLst/>
                <a:uFillTx/>
                <a:latin typeface="Arial Unicode MS"/>
                <a:ea typeface="DejaVu Sans"/>
              </a:rPr>
              <a:t>4</a:t>
            </a:fld>
            <a:endParaRPr b="0" lang="en-GB" sz="1800" strike="noStrike" u="none">
              <a:solidFill>
                <a:srgbClr val="000000"/>
              </a:solidFill>
              <a:effectLst/>
              <a:uFillTx/>
              <a:latin typeface="Arial"/>
            </a:endParaRPr>
          </a:p>
        </p:txBody>
      </p:sp>
      <p:sp>
        <p:nvSpPr>
          <p:cNvPr id="971"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84">
    <p:bg>
      <p:bgPr>
        <a:solidFill>
          <a:srgbClr val="ffffff"/>
        </a:solidFill>
      </p:bgPr>
    </p:bg>
    <p:spTree>
      <p:nvGrpSpPr>
        <p:cNvPr id="1" name=""/>
        <p:cNvGrpSpPr/>
        <p:nvPr/>
      </p:nvGrpSpPr>
      <p:grpSpPr>
        <a:xfrm>
          <a:off x="0" y="0"/>
          <a:ext cx="0" cy="0"/>
          <a:chOff x="0" y="0"/>
          <a:chExt cx="0" cy="0"/>
        </a:xfrm>
      </p:grpSpPr>
      <p:sp>
        <p:nvSpPr>
          <p:cNvPr id="972"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73"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7D082602-F697-46AD-BCCC-6A73A4EEE233}"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974"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75" name="Picture 19" descr="Logo_TUC_de_RGB"/>
          <p:cNvPicPr/>
          <p:nvPr/>
        </p:nvPicPr>
        <p:blipFill>
          <a:blip r:embed="rId2"/>
          <a:stretch/>
        </p:blipFill>
        <p:spPr>
          <a:xfrm>
            <a:off x="0" y="0"/>
            <a:ext cx="3031200" cy="541080"/>
          </a:xfrm>
          <a:prstGeom prst="rect">
            <a:avLst/>
          </a:prstGeom>
          <a:noFill/>
          <a:ln w="0">
            <a:noFill/>
          </a:ln>
        </p:spPr>
      </p:pic>
      <p:pic>
        <p:nvPicPr>
          <p:cNvPr id="976" name="Grafik 2" descr=""/>
          <p:cNvPicPr/>
          <p:nvPr/>
        </p:nvPicPr>
        <p:blipFill>
          <a:blip r:embed="rId3"/>
          <a:stretch/>
        </p:blipFill>
        <p:spPr>
          <a:xfrm>
            <a:off x="7430400" y="134640"/>
            <a:ext cx="3677040" cy="493200"/>
          </a:xfrm>
          <a:prstGeom prst="rect">
            <a:avLst/>
          </a:prstGeom>
          <a:noFill/>
          <a:ln w="0">
            <a:noFill/>
          </a:ln>
        </p:spPr>
      </p:pic>
      <p:sp>
        <p:nvSpPr>
          <p:cNvPr id="977"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78"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84EB68B7-6496-42C9-AD2D-3EB4C36BE28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979"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98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981"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982"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983"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85">
    <p:bg>
      <p:bgPr>
        <a:solidFill>
          <a:srgbClr val="ffffff"/>
        </a:solidFill>
      </p:bgPr>
    </p:bg>
    <p:spTree>
      <p:nvGrpSpPr>
        <p:cNvPr id="1" name=""/>
        <p:cNvGrpSpPr/>
        <p:nvPr/>
      </p:nvGrpSpPr>
      <p:grpSpPr>
        <a:xfrm>
          <a:off x="0" y="0"/>
          <a:ext cx="0" cy="0"/>
          <a:chOff x="0" y="0"/>
          <a:chExt cx="0" cy="0"/>
        </a:xfrm>
      </p:grpSpPr>
      <p:sp>
        <p:nvSpPr>
          <p:cNvPr id="984"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85"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5EB709F1-5E92-4697-A963-C085CCF15D4C}"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986"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87" name="Picture 19" descr="Logo_TUC_de_RGB"/>
          <p:cNvPicPr/>
          <p:nvPr/>
        </p:nvPicPr>
        <p:blipFill>
          <a:blip r:embed="rId2"/>
          <a:stretch/>
        </p:blipFill>
        <p:spPr>
          <a:xfrm>
            <a:off x="0" y="0"/>
            <a:ext cx="3031200" cy="541080"/>
          </a:xfrm>
          <a:prstGeom prst="rect">
            <a:avLst/>
          </a:prstGeom>
          <a:noFill/>
          <a:ln w="0">
            <a:noFill/>
          </a:ln>
        </p:spPr>
      </p:pic>
      <p:pic>
        <p:nvPicPr>
          <p:cNvPr id="988" name="Grafik 2" descr=""/>
          <p:cNvPicPr/>
          <p:nvPr/>
        </p:nvPicPr>
        <p:blipFill>
          <a:blip r:embed="rId3"/>
          <a:stretch/>
        </p:blipFill>
        <p:spPr>
          <a:xfrm>
            <a:off x="7430400" y="134640"/>
            <a:ext cx="3677040" cy="493200"/>
          </a:xfrm>
          <a:prstGeom prst="rect">
            <a:avLst/>
          </a:prstGeom>
          <a:noFill/>
          <a:ln w="0">
            <a:noFill/>
          </a:ln>
        </p:spPr>
      </p:pic>
      <p:sp>
        <p:nvSpPr>
          <p:cNvPr id="989"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90"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1BA532DD-8297-4352-A3BA-E28885050D20}"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991"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99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993"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994"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995"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86">
    <p:bg>
      <p:bgPr>
        <a:solidFill>
          <a:srgbClr val="ffffff"/>
        </a:solidFill>
      </p:bgPr>
    </p:bg>
    <p:spTree>
      <p:nvGrpSpPr>
        <p:cNvPr id="1" name=""/>
        <p:cNvGrpSpPr/>
        <p:nvPr/>
      </p:nvGrpSpPr>
      <p:grpSpPr>
        <a:xfrm>
          <a:off x="0" y="0"/>
          <a:ext cx="0" cy="0"/>
          <a:chOff x="0" y="0"/>
          <a:chExt cx="0" cy="0"/>
        </a:xfrm>
      </p:grpSpPr>
      <p:sp>
        <p:nvSpPr>
          <p:cNvPr id="996"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997"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207F40F3-449F-40A5-ACF0-7E6F0774C83E}"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998"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999" name="Picture 19" descr="Logo_TUC_de_RGB"/>
          <p:cNvPicPr/>
          <p:nvPr/>
        </p:nvPicPr>
        <p:blipFill>
          <a:blip r:embed="rId2"/>
          <a:stretch/>
        </p:blipFill>
        <p:spPr>
          <a:xfrm>
            <a:off x="0" y="0"/>
            <a:ext cx="3031200" cy="541080"/>
          </a:xfrm>
          <a:prstGeom prst="rect">
            <a:avLst/>
          </a:prstGeom>
          <a:noFill/>
          <a:ln w="0">
            <a:noFill/>
          </a:ln>
        </p:spPr>
      </p:pic>
      <p:pic>
        <p:nvPicPr>
          <p:cNvPr id="1000" name="Grafik 2" descr=""/>
          <p:cNvPicPr/>
          <p:nvPr/>
        </p:nvPicPr>
        <p:blipFill>
          <a:blip r:embed="rId3"/>
          <a:stretch/>
        </p:blipFill>
        <p:spPr>
          <a:xfrm>
            <a:off x="7430400" y="134640"/>
            <a:ext cx="3677040" cy="493200"/>
          </a:xfrm>
          <a:prstGeom prst="rect">
            <a:avLst/>
          </a:prstGeom>
          <a:noFill/>
          <a:ln w="0">
            <a:noFill/>
          </a:ln>
        </p:spPr>
      </p:pic>
      <p:sp>
        <p:nvSpPr>
          <p:cNvPr id="1001"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02"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99A57A5-2514-4108-8045-23DF1FC8C312}"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03"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00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005"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06"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07"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87">
    <p:bg>
      <p:bgPr>
        <a:solidFill>
          <a:srgbClr val="ffffff"/>
        </a:solidFill>
      </p:bgPr>
    </p:bg>
    <p:spTree>
      <p:nvGrpSpPr>
        <p:cNvPr id="1" name=""/>
        <p:cNvGrpSpPr/>
        <p:nvPr/>
      </p:nvGrpSpPr>
      <p:grpSpPr>
        <a:xfrm>
          <a:off x="0" y="0"/>
          <a:ext cx="0" cy="0"/>
          <a:chOff x="0" y="0"/>
          <a:chExt cx="0" cy="0"/>
        </a:xfrm>
      </p:grpSpPr>
      <p:sp>
        <p:nvSpPr>
          <p:cNvPr id="1008"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09"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5601E80A-DB7E-4695-AB67-A6E78D6CE23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10"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011" name="Picture 19" descr="Logo_TUC_de_RGB"/>
          <p:cNvPicPr/>
          <p:nvPr/>
        </p:nvPicPr>
        <p:blipFill>
          <a:blip r:embed="rId2"/>
          <a:stretch/>
        </p:blipFill>
        <p:spPr>
          <a:xfrm>
            <a:off x="0" y="0"/>
            <a:ext cx="3031200" cy="541080"/>
          </a:xfrm>
          <a:prstGeom prst="rect">
            <a:avLst/>
          </a:prstGeom>
          <a:noFill/>
          <a:ln w="0">
            <a:noFill/>
          </a:ln>
        </p:spPr>
      </p:pic>
      <p:pic>
        <p:nvPicPr>
          <p:cNvPr id="1012" name="Grafik 2" descr=""/>
          <p:cNvPicPr/>
          <p:nvPr/>
        </p:nvPicPr>
        <p:blipFill>
          <a:blip r:embed="rId3"/>
          <a:stretch/>
        </p:blipFill>
        <p:spPr>
          <a:xfrm>
            <a:off x="7430400" y="134640"/>
            <a:ext cx="3677040" cy="493200"/>
          </a:xfrm>
          <a:prstGeom prst="rect">
            <a:avLst/>
          </a:prstGeom>
          <a:noFill/>
          <a:ln w="0">
            <a:noFill/>
          </a:ln>
        </p:spPr>
      </p:pic>
      <p:sp>
        <p:nvSpPr>
          <p:cNvPr id="1013"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14"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EE0A4A05-396E-459A-A3AA-2A39DE7726F7}"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15"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01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017"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18"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88">
    <p:bg>
      <p:bgPr>
        <a:solidFill>
          <a:srgbClr val="ffffff"/>
        </a:solidFill>
      </p:bgPr>
    </p:bg>
    <p:spTree>
      <p:nvGrpSpPr>
        <p:cNvPr id="1" name=""/>
        <p:cNvGrpSpPr/>
        <p:nvPr/>
      </p:nvGrpSpPr>
      <p:grpSpPr>
        <a:xfrm>
          <a:off x="0" y="0"/>
          <a:ext cx="0" cy="0"/>
          <a:chOff x="0" y="0"/>
          <a:chExt cx="0" cy="0"/>
        </a:xfrm>
      </p:grpSpPr>
      <p:sp>
        <p:nvSpPr>
          <p:cNvPr id="1019"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20"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6D8CCB77-595A-49D6-848A-22E08830FB0A}"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21"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022" name="Picture 19" descr="Logo_TUC_de_RGB"/>
          <p:cNvPicPr/>
          <p:nvPr/>
        </p:nvPicPr>
        <p:blipFill>
          <a:blip r:embed="rId2"/>
          <a:stretch/>
        </p:blipFill>
        <p:spPr>
          <a:xfrm>
            <a:off x="0" y="0"/>
            <a:ext cx="3031200" cy="541080"/>
          </a:xfrm>
          <a:prstGeom prst="rect">
            <a:avLst/>
          </a:prstGeom>
          <a:noFill/>
          <a:ln w="0">
            <a:noFill/>
          </a:ln>
        </p:spPr>
      </p:pic>
      <p:pic>
        <p:nvPicPr>
          <p:cNvPr id="1023" name="Grafik 2" descr=""/>
          <p:cNvPicPr/>
          <p:nvPr/>
        </p:nvPicPr>
        <p:blipFill>
          <a:blip r:embed="rId3"/>
          <a:stretch/>
        </p:blipFill>
        <p:spPr>
          <a:xfrm>
            <a:off x="7430400" y="134640"/>
            <a:ext cx="3677040" cy="493200"/>
          </a:xfrm>
          <a:prstGeom prst="rect">
            <a:avLst/>
          </a:prstGeom>
          <a:noFill/>
          <a:ln w="0">
            <a:noFill/>
          </a:ln>
        </p:spPr>
      </p:pic>
      <p:sp>
        <p:nvSpPr>
          <p:cNvPr id="1024"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25"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457B4447-FC9D-457E-8C6B-549D816E02DF}"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26"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02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028"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29"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30"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31"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9">
    <p:bg>
      <p:bgPr>
        <a:solidFill>
          <a:srgbClr val="ffffff"/>
        </a:solidFill>
      </p:bgPr>
    </p:bg>
    <p:spTree>
      <p:nvGrpSpPr>
        <p:cNvPr id="1" name=""/>
        <p:cNvGrpSpPr/>
        <p:nvPr/>
      </p:nvGrpSpPr>
      <p:grpSpPr>
        <a:xfrm>
          <a:off x="0" y="0"/>
          <a:ext cx="0" cy="0"/>
          <a:chOff x="0" y="0"/>
          <a:chExt cx="0" cy="0"/>
        </a:xfrm>
      </p:grpSpPr>
      <p:sp>
        <p:nvSpPr>
          <p:cNvPr id="1032"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33"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B8B8E475-1320-4392-8513-118D1E09B535}"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34"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035" name="Picture 19" descr="Logo_TUC_de_RGB"/>
          <p:cNvPicPr/>
          <p:nvPr/>
        </p:nvPicPr>
        <p:blipFill>
          <a:blip r:embed="rId2"/>
          <a:stretch/>
        </p:blipFill>
        <p:spPr>
          <a:xfrm>
            <a:off x="0" y="0"/>
            <a:ext cx="3031200" cy="541080"/>
          </a:xfrm>
          <a:prstGeom prst="rect">
            <a:avLst/>
          </a:prstGeom>
          <a:noFill/>
          <a:ln w="0">
            <a:noFill/>
          </a:ln>
        </p:spPr>
      </p:pic>
      <p:pic>
        <p:nvPicPr>
          <p:cNvPr id="1036" name="Grafik 2" descr=""/>
          <p:cNvPicPr/>
          <p:nvPr/>
        </p:nvPicPr>
        <p:blipFill>
          <a:blip r:embed="rId3"/>
          <a:stretch/>
        </p:blipFill>
        <p:spPr>
          <a:xfrm>
            <a:off x="7430400" y="134640"/>
            <a:ext cx="3677040" cy="493200"/>
          </a:xfrm>
          <a:prstGeom prst="rect">
            <a:avLst/>
          </a:prstGeom>
          <a:noFill/>
          <a:ln w="0">
            <a:noFill/>
          </a:ln>
        </p:spPr>
      </p:pic>
      <p:sp>
        <p:nvSpPr>
          <p:cNvPr id="1037"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38"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D25CBAF6-4309-4DB1-B338-62C4C206191B}"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39"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04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041"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42"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43"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44"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45"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46"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0">
    <p:bg>
      <p:bgPr>
        <a:solidFill>
          <a:srgbClr val="ffffff"/>
        </a:solidFill>
      </p:bgPr>
    </p:bg>
    <p:spTree>
      <p:nvGrpSpPr>
        <p:cNvPr id="1" name=""/>
        <p:cNvGrpSpPr/>
        <p:nvPr/>
      </p:nvGrpSpPr>
      <p:grpSpPr>
        <a:xfrm>
          <a:off x="0" y="0"/>
          <a:ext cx="0" cy="0"/>
          <a:chOff x="0" y="0"/>
          <a:chExt cx="0" cy="0"/>
        </a:xfrm>
      </p:grpSpPr>
      <p:sp>
        <p:nvSpPr>
          <p:cNvPr id="1047"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48"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ADF09FA3-3288-43A4-BE17-493EEE11C00A}"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49"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050" name="Picture 19" descr="Logo_TUC_de_RGB"/>
          <p:cNvPicPr/>
          <p:nvPr/>
        </p:nvPicPr>
        <p:blipFill>
          <a:blip r:embed="rId2"/>
          <a:stretch/>
        </p:blipFill>
        <p:spPr>
          <a:xfrm>
            <a:off x="0" y="0"/>
            <a:ext cx="3031200" cy="541080"/>
          </a:xfrm>
          <a:prstGeom prst="rect">
            <a:avLst/>
          </a:prstGeom>
          <a:noFill/>
          <a:ln w="0">
            <a:noFill/>
          </a:ln>
        </p:spPr>
      </p:pic>
      <p:pic>
        <p:nvPicPr>
          <p:cNvPr id="1051" name="Grafik 2" descr=""/>
          <p:cNvPicPr/>
          <p:nvPr/>
        </p:nvPicPr>
        <p:blipFill>
          <a:blip r:embed="rId3"/>
          <a:stretch/>
        </p:blipFill>
        <p:spPr>
          <a:xfrm>
            <a:off x="7430400" y="134640"/>
            <a:ext cx="3677040" cy="493200"/>
          </a:xfrm>
          <a:prstGeom prst="rect">
            <a:avLst/>
          </a:prstGeom>
          <a:noFill/>
          <a:ln w="0">
            <a:noFill/>
          </a:ln>
        </p:spPr>
      </p:pic>
      <p:sp>
        <p:nvSpPr>
          <p:cNvPr id="1052"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53"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6443DAE3-ACC6-4834-8713-160837CBAAEE}"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54"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0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105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91">
    <p:bg>
      <p:bgPr>
        <a:solidFill>
          <a:srgbClr val="ffffff"/>
        </a:solidFill>
      </p:bgPr>
    </p:bg>
    <p:spTree>
      <p:nvGrpSpPr>
        <p:cNvPr id="1" name=""/>
        <p:cNvGrpSpPr/>
        <p:nvPr/>
      </p:nvGrpSpPr>
      <p:grpSpPr>
        <a:xfrm>
          <a:off x="0" y="0"/>
          <a:ext cx="0" cy="0"/>
          <a:chOff x="0" y="0"/>
          <a:chExt cx="0" cy="0"/>
        </a:xfrm>
      </p:grpSpPr>
      <p:sp>
        <p:nvSpPr>
          <p:cNvPr id="1057"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58"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B258DDD6-B243-4180-BD4D-B4AF77194B75}"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59"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060" name="Picture 19" descr="Logo_TUC_de_RGB"/>
          <p:cNvPicPr/>
          <p:nvPr/>
        </p:nvPicPr>
        <p:blipFill>
          <a:blip r:embed="rId2"/>
          <a:stretch/>
        </p:blipFill>
        <p:spPr>
          <a:xfrm>
            <a:off x="0" y="0"/>
            <a:ext cx="3031200" cy="541080"/>
          </a:xfrm>
          <a:prstGeom prst="rect">
            <a:avLst/>
          </a:prstGeom>
          <a:noFill/>
          <a:ln w="0">
            <a:noFill/>
          </a:ln>
        </p:spPr>
      </p:pic>
      <p:pic>
        <p:nvPicPr>
          <p:cNvPr id="1061" name="Grafik 2" descr=""/>
          <p:cNvPicPr/>
          <p:nvPr/>
        </p:nvPicPr>
        <p:blipFill>
          <a:blip r:embed="rId3"/>
          <a:stretch/>
        </p:blipFill>
        <p:spPr>
          <a:xfrm>
            <a:off x="7430400" y="134640"/>
            <a:ext cx="3677040" cy="493200"/>
          </a:xfrm>
          <a:prstGeom prst="rect">
            <a:avLst/>
          </a:prstGeom>
          <a:noFill/>
          <a:ln w="0">
            <a:noFill/>
          </a:ln>
        </p:spPr>
      </p:pic>
      <p:sp>
        <p:nvSpPr>
          <p:cNvPr id="1062"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63"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3E31B363-F180-4E33-B7D5-4B56BA8FA7AE}"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64"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06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92">
    <p:bg>
      <p:bgPr>
        <a:solidFill>
          <a:srgbClr val="ffffff"/>
        </a:solidFill>
      </p:bgPr>
    </p:bg>
    <p:spTree>
      <p:nvGrpSpPr>
        <p:cNvPr id="1" name=""/>
        <p:cNvGrpSpPr/>
        <p:nvPr/>
      </p:nvGrpSpPr>
      <p:grpSpPr>
        <a:xfrm>
          <a:off x="0" y="0"/>
          <a:ext cx="0" cy="0"/>
          <a:chOff x="0" y="0"/>
          <a:chExt cx="0" cy="0"/>
        </a:xfrm>
      </p:grpSpPr>
      <p:sp>
        <p:nvSpPr>
          <p:cNvPr id="1066"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67"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1E3F279D-8611-422B-BE07-1C728760E5F6}"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68"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069" name="Picture 19" descr="Logo_TUC_de_RGB"/>
          <p:cNvPicPr/>
          <p:nvPr/>
        </p:nvPicPr>
        <p:blipFill>
          <a:blip r:embed="rId2"/>
          <a:stretch/>
        </p:blipFill>
        <p:spPr>
          <a:xfrm>
            <a:off x="0" y="0"/>
            <a:ext cx="3031200" cy="541080"/>
          </a:xfrm>
          <a:prstGeom prst="rect">
            <a:avLst/>
          </a:prstGeom>
          <a:noFill/>
          <a:ln w="0">
            <a:noFill/>
          </a:ln>
        </p:spPr>
      </p:pic>
      <p:pic>
        <p:nvPicPr>
          <p:cNvPr id="1070" name="Grafik 2" descr=""/>
          <p:cNvPicPr/>
          <p:nvPr/>
        </p:nvPicPr>
        <p:blipFill>
          <a:blip r:embed="rId3"/>
          <a:stretch/>
        </p:blipFill>
        <p:spPr>
          <a:xfrm>
            <a:off x="7430400" y="134640"/>
            <a:ext cx="3677040" cy="493200"/>
          </a:xfrm>
          <a:prstGeom prst="rect">
            <a:avLst/>
          </a:prstGeom>
          <a:noFill/>
          <a:ln w="0">
            <a:noFill/>
          </a:ln>
        </p:spPr>
      </p:pic>
      <p:sp>
        <p:nvSpPr>
          <p:cNvPr id="1071"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72"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6A828952-798A-459F-BFF9-660078771014}"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73"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07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075"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93">
    <p:bg>
      <p:bgPr>
        <a:solidFill>
          <a:srgbClr val="ffffff"/>
        </a:solidFill>
      </p:bgPr>
    </p:bg>
    <p:spTree>
      <p:nvGrpSpPr>
        <p:cNvPr id="1" name=""/>
        <p:cNvGrpSpPr/>
        <p:nvPr/>
      </p:nvGrpSpPr>
      <p:grpSpPr>
        <a:xfrm>
          <a:off x="0" y="0"/>
          <a:ext cx="0" cy="0"/>
          <a:chOff x="0" y="0"/>
          <a:chExt cx="0" cy="0"/>
        </a:xfrm>
      </p:grpSpPr>
      <p:sp>
        <p:nvSpPr>
          <p:cNvPr id="1076"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77"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97E29CD6-CBC7-4588-9092-D25F56DFF86D}"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78"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079" name="Picture 19" descr="Logo_TUC_de_RGB"/>
          <p:cNvPicPr/>
          <p:nvPr/>
        </p:nvPicPr>
        <p:blipFill>
          <a:blip r:embed="rId2"/>
          <a:stretch/>
        </p:blipFill>
        <p:spPr>
          <a:xfrm>
            <a:off x="0" y="0"/>
            <a:ext cx="3031200" cy="541080"/>
          </a:xfrm>
          <a:prstGeom prst="rect">
            <a:avLst/>
          </a:prstGeom>
          <a:noFill/>
          <a:ln w="0">
            <a:noFill/>
          </a:ln>
        </p:spPr>
      </p:pic>
      <p:pic>
        <p:nvPicPr>
          <p:cNvPr id="1080" name="Grafik 2" descr=""/>
          <p:cNvPicPr/>
          <p:nvPr/>
        </p:nvPicPr>
        <p:blipFill>
          <a:blip r:embed="rId3"/>
          <a:stretch/>
        </p:blipFill>
        <p:spPr>
          <a:xfrm>
            <a:off x="7430400" y="134640"/>
            <a:ext cx="3677040" cy="493200"/>
          </a:xfrm>
          <a:prstGeom prst="rect">
            <a:avLst/>
          </a:prstGeom>
          <a:noFill/>
          <a:ln w="0">
            <a:noFill/>
          </a:ln>
        </p:spPr>
      </p:pic>
      <p:sp>
        <p:nvSpPr>
          <p:cNvPr id="1081"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82"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82C4F3B0-26B4-4867-9019-58BE7557C739}"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83"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08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085"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86"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94">
    <p:bg>
      <p:bgPr>
        <a:solidFill>
          <a:srgbClr val="ffffff"/>
        </a:solidFill>
      </p:bgPr>
    </p:bg>
    <p:spTree>
      <p:nvGrpSpPr>
        <p:cNvPr id="1" name=""/>
        <p:cNvGrpSpPr/>
        <p:nvPr/>
      </p:nvGrpSpPr>
      <p:grpSpPr>
        <a:xfrm>
          <a:off x="0" y="0"/>
          <a:ext cx="0" cy="0"/>
          <a:chOff x="0" y="0"/>
          <a:chExt cx="0" cy="0"/>
        </a:xfrm>
      </p:grpSpPr>
      <p:sp>
        <p:nvSpPr>
          <p:cNvPr id="1087"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88"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B02B3AA2-521B-4AE4-9B89-D4B8E9BA83E2}"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89"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090" name="Picture 19" descr="Logo_TUC_de_RGB"/>
          <p:cNvPicPr/>
          <p:nvPr/>
        </p:nvPicPr>
        <p:blipFill>
          <a:blip r:embed="rId2"/>
          <a:stretch/>
        </p:blipFill>
        <p:spPr>
          <a:xfrm>
            <a:off x="0" y="0"/>
            <a:ext cx="3031200" cy="541080"/>
          </a:xfrm>
          <a:prstGeom prst="rect">
            <a:avLst/>
          </a:prstGeom>
          <a:noFill/>
          <a:ln w="0">
            <a:noFill/>
          </a:ln>
        </p:spPr>
      </p:pic>
      <p:pic>
        <p:nvPicPr>
          <p:cNvPr id="1091" name="Grafik 2" descr=""/>
          <p:cNvPicPr/>
          <p:nvPr/>
        </p:nvPicPr>
        <p:blipFill>
          <a:blip r:embed="rId3"/>
          <a:stretch/>
        </p:blipFill>
        <p:spPr>
          <a:xfrm>
            <a:off x="7430400" y="134640"/>
            <a:ext cx="3677040" cy="493200"/>
          </a:xfrm>
          <a:prstGeom prst="rect">
            <a:avLst/>
          </a:prstGeom>
          <a:noFill/>
          <a:ln w="0">
            <a:noFill/>
          </a:ln>
        </p:spPr>
      </p:pic>
      <p:sp>
        <p:nvSpPr>
          <p:cNvPr id="1092"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93"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24E8B506-F887-4610-B631-FBD0A4AAA900}"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94"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09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95">
    <p:bg>
      <p:bgPr>
        <a:solidFill>
          <a:srgbClr val="ffffff"/>
        </a:solidFill>
      </p:bgPr>
    </p:bg>
    <p:spTree>
      <p:nvGrpSpPr>
        <p:cNvPr id="1" name=""/>
        <p:cNvGrpSpPr/>
        <p:nvPr/>
      </p:nvGrpSpPr>
      <p:grpSpPr>
        <a:xfrm>
          <a:off x="0" y="0"/>
          <a:ext cx="0" cy="0"/>
          <a:chOff x="0" y="0"/>
          <a:chExt cx="0" cy="0"/>
        </a:xfrm>
      </p:grpSpPr>
      <p:sp>
        <p:nvSpPr>
          <p:cNvPr id="1096" name="CustomShape 1"/>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097" name="CustomShape 2"/>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B174B8C9-8C8A-4675-9FE4-0FBCFE70BBA4}"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098" name="CustomShape 3"/>
          <p:cNvSpPr/>
          <p:nvPr/>
        </p:nvSpPr>
        <p:spPr>
          <a:xfrm>
            <a:off x="912240" y="1268280"/>
            <a:ext cx="9187200" cy="34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pic>
        <p:nvPicPr>
          <p:cNvPr id="1099" name="Picture 19" descr="Logo_TUC_de_RGB"/>
          <p:cNvPicPr/>
          <p:nvPr/>
        </p:nvPicPr>
        <p:blipFill>
          <a:blip r:embed="rId2"/>
          <a:stretch/>
        </p:blipFill>
        <p:spPr>
          <a:xfrm>
            <a:off x="0" y="0"/>
            <a:ext cx="3031200" cy="541080"/>
          </a:xfrm>
          <a:prstGeom prst="rect">
            <a:avLst/>
          </a:prstGeom>
          <a:noFill/>
          <a:ln w="0">
            <a:noFill/>
          </a:ln>
        </p:spPr>
      </p:pic>
      <p:pic>
        <p:nvPicPr>
          <p:cNvPr id="1100" name="Grafik 2" descr=""/>
          <p:cNvPicPr/>
          <p:nvPr/>
        </p:nvPicPr>
        <p:blipFill>
          <a:blip r:embed="rId3"/>
          <a:stretch/>
        </p:blipFill>
        <p:spPr>
          <a:xfrm>
            <a:off x="7430400" y="134640"/>
            <a:ext cx="3677040" cy="493200"/>
          </a:xfrm>
          <a:prstGeom prst="rect">
            <a:avLst/>
          </a:prstGeom>
          <a:noFill/>
          <a:ln w="0">
            <a:noFill/>
          </a:ln>
        </p:spPr>
      </p:pic>
      <p:sp>
        <p:nvSpPr>
          <p:cNvPr id="1101" name="CustomShape 4"/>
          <p:cNvSpPr/>
          <p:nvPr/>
        </p:nvSpPr>
        <p:spPr>
          <a:xfrm>
            <a:off x="11444760" y="0"/>
            <a:ext cx="720360" cy="682920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ffffff"/>
              </a:solidFill>
              <a:effectLst/>
              <a:uFillTx/>
              <a:latin typeface="Arial"/>
              <a:ea typeface="DejaVu Sans"/>
            </a:endParaRPr>
          </a:p>
        </p:txBody>
      </p:sp>
      <p:sp>
        <p:nvSpPr>
          <p:cNvPr id="1102" name="CustomShape 5"/>
          <p:cNvSpPr/>
          <p:nvPr/>
        </p:nvSpPr>
        <p:spPr>
          <a:xfrm>
            <a:off x="11438640" y="6453360"/>
            <a:ext cx="737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5C42CFF3-2F28-4FC5-B987-6663B48A29E4}" type="slidenum">
              <a:rPr b="0" lang="en-US" sz="1800" strike="noStrike" u="none">
                <a:solidFill>
                  <a:srgbClr val="808080"/>
                </a:solidFill>
                <a:effectLst/>
                <a:uFillTx/>
                <a:latin typeface="Arial"/>
                <a:ea typeface="DejaVu Sans"/>
              </a:rPr>
              <a:t>4</a:t>
            </a:fld>
            <a:endParaRPr b="0" lang="en-GB" sz="1800" strike="noStrike" u="none">
              <a:solidFill>
                <a:srgbClr val="000000"/>
              </a:solidFill>
              <a:effectLst/>
              <a:uFillTx/>
              <a:latin typeface="Arial"/>
            </a:endParaRPr>
          </a:p>
        </p:txBody>
      </p:sp>
      <p:sp>
        <p:nvSpPr>
          <p:cNvPr id="1103" name="CustomShape 6"/>
          <p:cNvSpPr/>
          <p:nvPr/>
        </p:nvSpPr>
        <p:spPr>
          <a:xfrm>
            <a:off x="0" y="6642720"/>
            <a:ext cx="1216332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_">
    <p:spTree>
      <p:nvGrpSpPr>
        <p:cNvPr id="1" name=""/>
        <p:cNvGrpSpPr/>
        <p:nvPr/>
      </p:nvGrpSpPr>
      <p:grpSpPr>
        <a:xfrm>
          <a:off x="0" y="0"/>
          <a:ext cx="0" cy="0"/>
          <a:chOff x="0" y="0"/>
          <a:chExt cx="0" cy="0"/>
        </a:xfrm>
      </p:grpSpPr>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_">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1.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3.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5.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_rels/slideMaster97.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_rels/slideMaster109.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09.xml"/>
</Relationships>
</file>

<file path=ppt/slideMasters/_rels/slideMaster110.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Masters/slideMaster9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Masters/slideMaster10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4" name="CustomShape 1"/>
          <p:cNvSpPr/>
          <p:nvPr/>
        </p:nvSpPr>
        <p:spPr>
          <a:xfrm>
            <a:off x="11444760" y="0"/>
            <a:ext cx="726120" cy="68349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endParaRPr b="0" lang="en-GB" sz="1800" strike="noStrike" u="none">
              <a:solidFill>
                <a:srgbClr val="ffffff"/>
              </a:solidFill>
              <a:effectLst/>
              <a:uFillTx/>
              <a:latin typeface="Arial"/>
              <a:ea typeface="DejaVu Sans"/>
            </a:endParaRPr>
          </a:p>
        </p:txBody>
      </p:sp>
      <p:sp>
        <p:nvSpPr>
          <p:cNvPr id="1105" name="CustomShape 2"/>
          <p:cNvSpPr/>
          <p:nvPr/>
        </p:nvSpPr>
        <p:spPr>
          <a:xfrm>
            <a:off x="11438640" y="6453360"/>
            <a:ext cx="7430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42E125D8-958A-4891-AAE1-D383A057318D}" type="slidenum">
              <a:rPr b="0" lang="en-US" sz="1800" strike="noStrike" u="none">
                <a:solidFill>
                  <a:srgbClr val="808080"/>
                </a:solidFill>
                <a:effectLst/>
                <a:uFillTx/>
                <a:latin typeface="Arial"/>
                <a:ea typeface="DejaVu Sans"/>
              </a:rPr>
              <a:t>&lt;number&gt;</a:t>
            </a:fld>
            <a:endParaRPr b="0" lang="en-GB" sz="1800" strike="noStrike" u="none">
              <a:solidFill>
                <a:srgbClr val="000000"/>
              </a:solidFill>
              <a:effectLst/>
              <a:uFillTx/>
              <a:latin typeface="Arial"/>
            </a:endParaRPr>
          </a:p>
        </p:txBody>
      </p:sp>
      <p:sp>
        <p:nvSpPr>
          <p:cNvPr id="1106" name="CustomShape 3"/>
          <p:cNvSpPr/>
          <p:nvPr/>
        </p:nvSpPr>
        <p:spPr>
          <a:xfrm>
            <a:off x="912240" y="1268280"/>
            <a:ext cx="9192960" cy="346320"/>
          </a:xfrm>
          <a:prstGeom prst="rect">
            <a:avLst/>
          </a:prstGeom>
          <a:no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a typeface="DejaVu Sans"/>
            </a:endParaRPr>
          </a:p>
        </p:txBody>
      </p:sp>
      <p:pic>
        <p:nvPicPr>
          <p:cNvPr id="1107" name="Picture 19" descr="Logo_TUC_de_RGB"/>
          <p:cNvPicPr/>
          <p:nvPr/>
        </p:nvPicPr>
        <p:blipFill>
          <a:blip r:embed="rId2"/>
          <a:stretch/>
        </p:blipFill>
        <p:spPr>
          <a:xfrm>
            <a:off x="0" y="0"/>
            <a:ext cx="3036960" cy="546840"/>
          </a:xfrm>
          <a:prstGeom prst="rect">
            <a:avLst/>
          </a:prstGeom>
          <a:noFill/>
          <a:ln w="0">
            <a:noFill/>
          </a:ln>
        </p:spPr>
      </p:pic>
      <p:pic>
        <p:nvPicPr>
          <p:cNvPr id="1108" name="Grafik 2" descr=""/>
          <p:cNvPicPr/>
          <p:nvPr/>
        </p:nvPicPr>
        <p:blipFill>
          <a:blip r:embed="rId3"/>
          <a:stretch/>
        </p:blipFill>
        <p:spPr>
          <a:xfrm>
            <a:off x="7430400" y="134640"/>
            <a:ext cx="3682800" cy="498960"/>
          </a:xfrm>
          <a:prstGeom prst="rect">
            <a:avLst/>
          </a:prstGeom>
          <a:noFill/>
          <a:ln w="0">
            <a:noFill/>
          </a:ln>
        </p:spPr>
      </p:pic>
      <p:sp>
        <p:nvSpPr>
          <p:cNvPr id="1109" name="CustomShape 4"/>
          <p:cNvSpPr/>
          <p:nvPr/>
        </p:nvSpPr>
        <p:spPr>
          <a:xfrm>
            <a:off x="912240" y="1268280"/>
            <a:ext cx="9192960" cy="346320"/>
          </a:xfrm>
          <a:prstGeom prst="rect">
            <a:avLst/>
          </a:prstGeom>
          <a:no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a typeface="DejaVu Sans"/>
            </a:endParaRPr>
          </a:p>
        </p:txBody>
      </p:sp>
      <p:sp>
        <p:nvSpPr>
          <p:cNvPr id="1110" name="CustomShape 5"/>
          <p:cNvSpPr/>
          <p:nvPr/>
        </p:nvSpPr>
        <p:spPr>
          <a:xfrm>
            <a:off x="11444760" y="0"/>
            <a:ext cx="726120" cy="68349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endParaRPr b="0" lang="en-GB" sz="1800" strike="noStrike" u="none">
              <a:solidFill>
                <a:srgbClr val="ffffff"/>
              </a:solidFill>
              <a:effectLst/>
              <a:uFillTx/>
              <a:latin typeface="Arial"/>
              <a:ea typeface="DejaVu Sans"/>
            </a:endParaRPr>
          </a:p>
        </p:txBody>
      </p:sp>
      <p:sp>
        <p:nvSpPr>
          <p:cNvPr id="1111" name="CustomShape 6"/>
          <p:cNvSpPr/>
          <p:nvPr/>
        </p:nvSpPr>
        <p:spPr>
          <a:xfrm>
            <a:off x="0" y="6642720"/>
            <a:ext cx="1216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1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111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766" r:id="rId4"/>
  </p:sldLayoutIdLst>
</p:sldMaster>
</file>

<file path=ppt/slideMasters/slideMaster1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4" name="CustomShape 1"/>
          <p:cNvSpPr/>
          <p:nvPr/>
        </p:nvSpPr>
        <p:spPr>
          <a:xfrm>
            <a:off x="11444760" y="0"/>
            <a:ext cx="726120" cy="68349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endParaRPr b="0" lang="en-GB" sz="1800" strike="noStrike" u="none">
              <a:solidFill>
                <a:srgbClr val="ffffff"/>
              </a:solidFill>
              <a:effectLst/>
              <a:uFillTx/>
              <a:latin typeface="Arial"/>
              <a:ea typeface="DejaVu Sans"/>
            </a:endParaRPr>
          </a:p>
        </p:txBody>
      </p:sp>
      <p:sp>
        <p:nvSpPr>
          <p:cNvPr id="1115" name="CustomShape 2"/>
          <p:cNvSpPr/>
          <p:nvPr/>
        </p:nvSpPr>
        <p:spPr>
          <a:xfrm>
            <a:off x="11438640" y="6453360"/>
            <a:ext cx="74304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fld id="{02BCFAE8-70B4-4B03-B1CD-1069583B94EE}" type="slidenum">
              <a:rPr b="0" lang="en-US" sz="1800" strike="noStrike" u="none">
                <a:solidFill>
                  <a:srgbClr val="808080"/>
                </a:solidFill>
                <a:effectLst/>
                <a:uFillTx/>
                <a:latin typeface="Arial"/>
                <a:ea typeface="DejaVu Sans"/>
              </a:rPr>
              <a:t>&lt;number&gt;</a:t>
            </a:fld>
            <a:endParaRPr b="0" lang="en-GB" sz="1800" strike="noStrike" u="none">
              <a:solidFill>
                <a:srgbClr val="000000"/>
              </a:solidFill>
              <a:effectLst/>
              <a:uFillTx/>
              <a:latin typeface="Arial"/>
            </a:endParaRPr>
          </a:p>
        </p:txBody>
      </p:sp>
      <p:sp>
        <p:nvSpPr>
          <p:cNvPr id="1116" name="CustomShape 3"/>
          <p:cNvSpPr/>
          <p:nvPr/>
        </p:nvSpPr>
        <p:spPr>
          <a:xfrm>
            <a:off x="912240" y="1268280"/>
            <a:ext cx="9192960" cy="346320"/>
          </a:xfrm>
          <a:prstGeom prst="rect">
            <a:avLst/>
          </a:prstGeom>
          <a:no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a typeface="DejaVu Sans"/>
            </a:endParaRPr>
          </a:p>
        </p:txBody>
      </p:sp>
      <p:pic>
        <p:nvPicPr>
          <p:cNvPr id="1117" name="Picture 19" descr="Logo_TUC_de_RGB"/>
          <p:cNvPicPr/>
          <p:nvPr/>
        </p:nvPicPr>
        <p:blipFill>
          <a:blip r:embed="rId2"/>
          <a:stretch/>
        </p:blipFill>
        <p:spPr>
          <a:xfrm>
            <a:off x="0" y="0"/>
            <a:ext cx="3036960" cy="546840"/>
          </a:xfrm>
          <a:prstGeom prst="rect">
            <a:avLst/>
          </a:prstGeom>
          <a:noFill/>
          <a:ln w="0">
            <a:noFill/>
          </a:ln>
        </p:spPr>
      </p:pic>
      <p:pic>
        <p:nvPicPr>
          <p:cNvPr id="1118" name="Grafik 2" descr=""/>
          <p:cNvPicPr/>
          <p:nvPr/>
        </p:nvPicPr>
        <p:blipFill>
          <a:blip r:embed="rId3"/>
          <a:stretch/>
        </p:blipFill>
        <p:spPr>
          <a:xfrm>
            <a:off x="7430400" y="134640"/>
            <a:ext cx="3682800" cy="498960"/>
          </a:xfrm>
          <a:prstGeom prst="rect">
            <a:avLst/>
          </a:prstGeom>
          <a:noFill/>
          <a:ln w="0">
            <a:noFill/>
          </a:ln>
        </p:spPr>
      </p:pic>
      <p:sp>
        <p:nvSpPr>
          <p:cNvPr id="1119" name="CustomShape 4"/>
          <p:cNvSpPr/>
          <p:nvPr/>
        </p:nvSpPr>
        <p:spPr>
          <a:xfrm>
            <a:off x="912240" y="1268280"/>
            <a:ext cx="9192960" cy="346320"/>
          </a:xfrm>
          <a:prstGeom prst="rect">
            <a:avLst/>
          </a:prstGeom>
          <a:no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a typeface="DejaVu Sans"/>
            </a:endParaRPr>
          </a:p>
        </p:txBody>
      </p:sp>
      <p:sp>
        <p:nvSpPr>
          <p:cNvPr id="1120" name="CustomShape 5"/>
          <p:cNvSpPr/>
          <p:nvPr/>
        </p:nvSpPr>
        <p:spPr>
          <a:xfrm>
            <a:off x="11444760" y="0"/>
            <a:ext cx="726120" cy="6834960"/>
          </a:xfrm>
          <a:prstGeom prst="rect">
            <a:avLst/>
          </a:prstGeom>
          <a:solidFill>
            <a:srgbClr val="000000">
              <a:alpha val="10000"/>
            </a:srgbClr>
          </a:solidFill>
          <a:ln w="0">
            <a:noFill/>
          </a:ln>
        </p:spPr>
        <p:style>
          <a:lnRef idx="0"/>
          <a:fillRef idx="0"/>
          <a:effectRef idx="0"/>
          <a:fontRef idx="minor"/>
        </p:style>
        <p:txBody>
          <a:bodyPr lIns="90000" rIns="90000" tIns="45000" bIns="45000" anchor="t">
            <a:noAutofit/>
          </a:bodyPr>
          <a:p>
            <a:endParaRPr b="0" lang="en-GB" sz="1800" strike="noStrike" u="none">
              <a:solidFill>
                <a:srgbClr val="ffffff"/>
              </a:solidFill>
              <a:effectLst/>
              <a:uFillTx/>
              <a:latin typeface="Arial"/>
              <a:ea typeface="DejaVu Sans"/>
            </a:endParaRPr>
          </a:p>
        </p:txBody>
      </p:sp>
      <p:sp>
        <p:nvSpPr>
          <p:cNvPr id="1121" name="CustomShape 6"/>
          <p:cNvSpPr/>
          <p:nvPr/>
        </p:nvSpPr>
        <p:spPr>
          <a:xfrm>
            <a:off x="0" y="6642720"/>
            <a:ext cx="12169080" cy="2113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800" strike="noStrike" u="none">
                <a:solidFill>
                  <a:srgbClr val="a6a6a6"/>
                </a:solidFill>
                <a:effectLst/>
                <a:uFillTx/>
                <a:latin typeface="DejaVu Sans"/>
                <a:ea typeface="DejaVu Sans"/>
              </a:rPr>
              <a:t>The Limits to Growth – TU Clausthal</a:t>
            </a:r>
            <a:endParaRPr b="0" lang="en-GB" sz="800" strike="noStrike" u="none">
              <a:solidFill>
                <a:srgbClr val="000000"/>
              </a:solidFill>
              <a:effectLst/>
              <a:uFillTx/>
              <a:latin typeface="Arial"/>
            </a:endParaRPr>
          </a:p>
        </p:txBody>
      </p:sp>
      <p:sp>
        <p:nvSpPr>
          <p:cNvPr id="11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GB" sz="4400" strike="noStrike" u="none">
                <a:solidFill>
                  <a:srgbClr val="000000"/>
                </a:solidFill>
                <a:effectLst/>
                <a:uFillTx/>
                <a:latin typeface="Arial"/>
              </a:rPr>
              <a:t>Click to edit the title text format</a:t>
            </a:r>
            <a:endParaRPr b="0" lang="en-GB" sz="4400" strike="noStrike" u="none">
              <a:solidFill>
                <a:srgbClr val="000000"/>
              </a:solidFill>
              <a:effectLst/>
              <a:uFillTx/>
              <a:latin typeface="Arial"/>
            </a:endParaRPr>
          </a:p>
        </p:txBody>
      </p:sp>
      <p:sp>
        <p:nvSpPr>
          <p:cNvPr id="112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768"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hyperlink" Target="https://creativecommons.org/licenses/by-sa/4.0/" TargetMode="External"/><Relationship Id="rId2" Type="http://schemas.openxmlformats.org/officeDocument/2006/relationships/hyperlink" Target="https://github.com/ETCE-LAB/teaching-material/tree/master/The-Limits-to-Growth" TargetMode="External"/><Relationship Id="rId3"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9.xml"/>
</Relationships>
</file>

<file path=ppt/slides/_rels/slide4.xml.rels><?xml version="1.0" encoding="UTF-8"?>
<Relationships xmlns="http://schemas.openxmlformats.org/package/2006/relationships"><Relationship Id="rId1" Type="http://schemas.openxmlformats.org/officeDocument/2006/relationships/hyperlink" Target="https://evasys.tu-clausthal.de/evasys/online.php?pswd=DLUXF" TargetMode="External"/><Relationship Id="rId2" Type="http://schemas.openxmlformats.org/officeDocument/2006/relationships/image" Target="../media/image3.png"/><Relationship Id="rId3" Type="http://schemas.openxmlformats.org/officeDocument/2006/relationships/slideLayout" Target="../slideLayouts/slideLayout11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6.xml.rels><?xml version="1.0" encoding="UTF-8"?>
<Relationships xmlns="http://schemas.openxmlformats.org/package/2006/relationships"><Relationship Id="rId1" Type="http://schemas.openxmlformats.org/officeDocument/2006/relationships/hyperlink" Target="https://media.ccc.de/v/bub2018-207-circular_society/related" TargetMode="External"/><Relationship Id="rId2"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hyperlink" Target="https://media.ccc.de/v/bub2018-207-circular_society/related" TargetMode="External"/><Relationship Id="rId2"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hyperlink" Target="https://media.ccc.de/v/bub2018-207-circular_society/related" TargetMode="External"/><Relationship Id="rId2"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hyperlink" Target="https://media.ccc.de/v/bub2018-207-circular_society/related" TargetMode="External"/><Relationship Id="rId2"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7.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
</Relationships>
</file>

<file path=ppt/slides/_rels/slide37.xml.rels><?xml version="1.0" encoding="UTF-8"?>
<Relationships xmlns="http://schemas.openxmlformats.org/package/2006/relationships"><Relationship Id="rId1" Type="http://schemas.openxmlformats.org/officeDocument/2006/relationships/hyperlink" Target="https://strikemag.org/bullshit-jobs/" TargetMode="External"/><Relationship Id="rId2" Type="http://schemas.openxmlformats.org/officeDocument/2006/relationships/slideLayout" Target="../slideLayouts/slideLayout7.xml"/>
</Relationships>
</file>

<file path=ppt/slides/_rels/slide38.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39.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40.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41.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42.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43.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44.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45.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46.xml.rels><?xml version="1.0" encoding="UTF-8"?>
<Relationships xmlns="http://schemas.openxmlformats.org/package/2006/relationships"><Relationship Id="rId1" Type="http://schemas.openxmlformats.org/officeDocument/2006/relationships/hyperlink" Target="https://www.chronicle.com/article/are-you-in-a-bs-job-in-academe-youre-hardly-alone/" TargetMode="External"/><Relationship Id="rId2" Type="http://schemas.openxmlformats.org/officeDocument/2006/relationships/slideLayout" Target="../slideLayouts/slideLayout7.xml"/>
</Relationships>
</file>

<file path=ppt/slides/_rels/slide4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9.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50.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51.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52.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53.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54.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55.xml.rels><?xml version="1.0" encoding="UTF-8"?>
<Relationships xmlns="http://schemas.openxmlformats.org/package/2006/relationships"><Relationship Id="rId1" Type="http://schemas.openxmlformats.org/officeDocument/2006/relationships/hyperlink" Target="https://www.atlasofplaces.com/essays/on-the-phenomenon-of-bullshit-jobs/" TargetMode="External"/><Relationship Id="rId2" Type="http://schemas.openxmlformats.org/officeDocument/2006/relationships/slideLayout" Target="../slideLayouts/slideLayout7.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43.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43.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43.xml"/>
</Relationships>
</file>

<file path=ppt/slides/_rels/slide6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3.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43.xml"/>
</Relationships>
</file>

<file path=ppt/slides/_rels/slide62.xml.rels><?xml version="1.0" encoding="UTF-8"?>
<Relationships xmlns="http://schemas.openxmlformats.org/package/2006/relationships"><Relationship Id="rId1" Type="http://schemas.openxmlformats.org/officeDocument/2006/relationships/hyperlink" Target="https://www.worldbank.org/en/topic/socialprotection/publication/exploring-universal-basic-income-a-guide-to-navigating-concepts-evidence-and-practices" TargetMode="External"/><Relationship Id="rId2" Type="http://schemas.openxmlformats.org/officeDocument/2006/relationships/slideLayout" Target="../slideLayouts/slideLayout55.xml"/>
</Relationships>
</file>

<file path=ppt/slides/_rels/slide63.xml.rels><?xml version="1.0" encoding="UTF-8"?>
<Relationships xmlns="http://schemas.openxmlformats.org/package/2006/relationships"><Relationship Id="rId1" Type="http://schemas.openxmlformats.org/officeDocument/2006/relationships/hyperlink" Target="https://www.worldbank.org/en/topic/socialprotection/publication/exploring-universal-basic-income-a-guide-to-navigating-concepts-evidence-and-practices" TargetMode="External"/><Relationship Id="rId2" Type="http://schemas.openxmlformats.org/officeDocument/2006/relationships/slideLayout" Target="../slideLayouts/slideLayout55.xml"/>
</Relationships>
</file>

<file path=ppt/slides/_rels/slide64.xml.rels><?xml version="1.0" encoding="UTF-8"?>
<Relationships xmlns="http://schemas.openxmlformats.org/package/2006/relationships"><Relationship Id="rId1" Type="http://schemas.openxmlformats.org/officeDocument/2006/relationships/hyperlink" Target="https://www.worldbank.org/en/topic/socialprotection/publication/exploring-universal-basic-income-a-guide-to-navigating-concepts-evidence-and-practices" TargetMode="External"/><Relationship Id="rId2" Type="http://schemas.openxmlformats.org/officeDocument/2006/relationships/slideLayout" Target="../slideLayouts/slideLayout55.xml"/>
</Relationships>
</file>

<file path=ppt/slides/_rels/slide65.xml.rels><?xml version="1.0" encoding="UTF-8"?>
<Relationships xmlns="http://schemas.openxmlformats.org/package/2006/relationships"><Relationship Id="rId1" Type="http://schemas.openxmlformats.org/officeDocument/2006/relationships/hyperlink" Target="https://www.worldbank.org/en/topic/socialprotection/publication/exploring-universal-basic-income-a-guide-to-navigating-concepts-evidence-and-practices" TargetMode="External"/><Relationship Id="rId2" Type="http://schemas.openxmlformats.org/officeDocument/2006/relationships/slideLayout" Target="../slideLayouts/slideLayout55.xml"/>
</Relationships>
</file>

<file path=ppt/slides/_rels/slide66.xml.rels><?xml version="1.0" encoding="UTF-8"?>
<Relationships xmlns="http://schemas.openxmlformats.org/package/2006/relationships"><Relationship Id="rId1" Type="http://schemas.openxmlformats.org/officeDocument/2006/relationships/hyperlink" Target="https://www.worldbank.org/en/topic/socialprotection/publication/exploring-universal-basic-income-a-guide-to-navigating-concepts-evidence-and-practices" TargetMode="External"/><Relationship Id="rId2" Type="http://schemas.openxmlformats.org/officeDocument/2006/relationships/slideLayout" Target="../slideLayouts/slideLayout55.xml"/>
</Relationships>
</file>

<file path=ppt/slides/_rels/slide67.xml.rels><?xml version="1.0" encoding="UTF-8"?>
<Relationships xmlns="http://schemas.openxmlformats.org/package/2006/relationships"><Relationship Id="rId1" Type="http://schemas.openxmlformats.org/officeDocument/2006/relationships/hyperlink" Target="https://www.worldbank.org/en/topic/socialprotection/publication/exploring-universal-basic-income-a-guide-to-navigating-concepts-evidence-and-practices" TargetMode="External"/><Relationship Id="rId2" Type="http://schemas.openxmlformats.org/officeDocument/2006/relationships/slideLayout" Target="../slideLayouts/slideLayout55.xml"/>
</Relationships>
</file>

<file path=ppt/slides/_rels/slide6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5.xml"/>
</Relationships>
</file>

<file path=ppt/slides/_rels/slide6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5.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5.xml"/>
</Relationships>
</file>

<file path=ppt/slides/_rels/slide71.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55.xml"/>
</Relationships>
</file>

<file path=ppt/slides/_rels/slide7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5.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5.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5.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67.xml"/>
</Relationships>
</file>

<file path=ppt/slides/_rels/slide7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7.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67.xml"/>
</Relationships>
</file>

<file path=ppt/slides/_rels/slide7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67.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79.xml"/>
</Relationships>
</file>

<file path=ppt/slides/_rels/slide81.xml.rels><?xml version="1.0" encoding="UTF-8"?>
<Relationships xmlns="http://schemas.openxmlformats.org/package/2006/relationships"><Relationship Id="rId1" Type="http://schemas.openxmlformats.org/officeDocument/2006/relationships/hyperlink" Target="https://thenextsystem.org/sites/default/files/2017-08/FelberHagelberg.pdf" TargetMode="External"/><Relationship Id="rId2" Type="http://schemas.openxmlformats.org/officeDocument/2006/relationships/hyperlink" Target="https://www.mein-grundeinkommen.de/" TargetMode="External"/><Relationship Id="rId3" Type="http://schemas.openxmlformats.org/officeDocument/2006/relationships/hyperlink" Target="https://strikemag.org/bullshit-jobs/" TargetMode="External"/><Relationship Id="rId4" Type="http://schemas.openxmlformats.org/officeDocument/2006/relationships/slideLayout" Target="../slideLayouts/slideLayout9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0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 name="CustomShape 1"/>
          <p:cNvSpPr/>
          <p:nvPr/>
        </p:nvSpPr>
        <p:spPr>
          <a:xfrm>
            <a:off x="527400" y="1412640"/>
            <a:ext cx="10338120" cy="1124640"/>
          </a:xfrm>
          <a:prstGeom prst="rect">
            <a:avLst/>
          </a:prstGeom>
          <a:noFill/>
          <a:ln w="0">
            <a:noFill/>
          </a:ln>
        </p:spPr>
        <p:style>
          <a:lnRef idx="0"/>
          <a:fillRef idx="0"/>
          <a:effectRef idx="0"/>
          <a:fontRef idx="minor"/>
        </p:style>
        <p:txBody>
          <a:bodyPr lIns="90000" rIns="90000" tIns="45000" bIns="45000" anchor="b">
            <a:noAutofit/>
          </a:bodyPr>
          <a:p>
            <a:pPr algn="ctr">
              <a:lnSpc>
                <a:spcPct val="100000"/>
              </a:lnSpc>
            </a:pPr>
            <a:r>
              <a:rPr b="1" lang="en-GB" sz="3200" strike="noStrike" u="none">
                <a:solidFill>
                  <a:srgbClr val="008c4f"/>
                </a:solidFill>
                <a:effectLst/>
                <a:uFillTx/>
                <a:latin typeface="DejaVu Sans"/>
                <a:ea typeface="DejaVu Sans"/>
              </a:rPr>
              <a:t>The Limits to Growth: Sustainability and the Circular Economy</a:t>
            </a:r>
            <a:endParaRPr b="0" lang="en-GB" sz="3200" strike="noStrike" u="none">
              <a:solidFill>
                <a:srgbClr val="000000"/>
              </a:solidFill>
              <a:effectLst/>
              <a:uFillTx/>
              <a:latin typeface="Arial"/>
            </a:endParaRPr>
          </a:p>
        </p:txBody>
      </p:sp>
      <p:sp>
        <p:nvSpPr>
          <p:cNvPr id="1125" name="CustomShape 2"/>
          <p:cNvSpPr/>
          <p:nvPr/>
        </p:nvSpPr>
        <p:spPr>
          <a:xfrm>
            <a:off x="527400" y="2852640"/>
            <a:ext cx="10338120" cy="23454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479"/>
              </a:spcBef>
              <a:tabLst>
                <a:tab algn="l" pos="0"/>
              </a:tabLst>
            </a:pPr>
            <a:r>
              <a:rPr b="1" lang="en-GB" sz="2400" strike="noStrike" u="none">
                <a:solidFill>
                  <a:srgbClr val="000000"/>
                </a:solidFill>
                <a:effectLst/>
                <a:uFillTx/>
                <a:latin typeface="DejaVu Sans"/>
                <a:ea typeface="DejaVu Sans"/>
              </a:rPr>
              <a:t>Lecture 12: Beyond the Circular Economy</a:t>
            </a:r>
            <a:endParaRPr b="0" lang="en-GB" sz="2400" strike="noStrike" u="none">
              <a:solidFill>
                <a:srgbClr val="000000"/>
              </a:solidFill>
              <a:effectLst/>
              <a:uFillTx/>
              <a:latin typeface="Arial"/>
            </a:endParaRPr>
          </a:p>
          <a:p>
            <a:pPr algn="ctr">
              <a:lnSpc>
                <a:spcPct val="100000"/>
              </a:lnSpc>
              <a:spcBef>
                <a:spcPts val="479"/>
              </a:spcBef>
              <a:tabLst>
                <a:tab algn="l" pos="0"/>
              </a:tabLst>
            </a:pPr>
            <a:endParaRPr b="0" lang="en-GB" sz="2400" strike="noStrike" u="none">
              <a:solidFill>
                <a:srgbClr val="000000"/>
              </a:solidFill>
              <a:effectLst/>
              <a:uFillTx/>
              <a:latin typeface="Arial"/>
            </a:endParaRPr>
          </a:p>
          <a:p>
            <a:pPr algn="ctr">
              <a:lnSpc>
                <a:spcPct val="100000"/>
              </a:lnSpc>
              <a:spcBef>
                <a:spcPts val="320"/>
              </a:spcBef>
              <a:tabLst>
                <a:tab algn="l" pos="0"/>
              </a:tabLst>
            </a:pPr>
            <a:r>
              <a:rPr b="0" lang="en-US" sz="1600" strike="noStrike" u="none">
                <a:solidFill>
                  <a:srgbClr val="000000"/>
                </a:solidFill>
                <a:effectLst/>
                <a:uFillTx/>
                <a:latin typeface="DejaVu Sans"/>
                <a:ea typeface="DejaVu Sans"/>
              </a:rPr>
              <a:t>Prof. Dr. Benjamin Leiding</a:t>
            </a:r>
            <a:endParaRPr b="0" lang="en-GB" sz="1600" strike="noStrike" u="none">
              <a:solidFill>
                <a:srgbClr val="000000"/>
              </a:solidFill>
              <a:effectLst/>
              <a:uFillTx/>
              <a:latin typeface="Arial"/>
            </a:endParaRPr>
          </a:p>
          <a:p>
            <a:pPr algn="ctr">
              <a:lnSpc>
                <a:spcPct val="100000"/>
              </a:lnSpc>
              <a:spcBef>
                <a:spcPts val="320"/>
              </a:spcBef>
              <a:tabLst>
                <a:tab algn="l" pos="0"/>
              </a:tabLst>
            </a:pPr>
            <a:r>
              <a:rPr b="0" lang="en-US" sz="1600" strike="noStrike" u="none">
                <a:solidFill>
                  <a:srgbClr val="000000"/>
                </a:solidFill>
                <a:effectLst/>
                <a:uFillTx/>
                <a:latin typeface="DejaVu Sans"/>
                <a:ea typeface="DejaVu Sans"/>
              </a:rPr>
              <a:t>M.Sc. Anant Sujatanagarjuna</a:t>
            </a:r>
            <a:endParaRPr b="0" lang="en-GB" sz="1600" strike="noStrike" u="none">
              <a:solidFill>
                <a:srgbClr val="000000"/>
              </a:solidFill>
              <a:effectLst/>
              <a:uFillTx/>
              <a:latin typeface="Arial"/>
            </a:endParaRPr>
          </a:p>
          <a:p>
            <a:pPr algn="ctr">
              <a:lnSpc>
                <a:spcPct val="100000"/>
              </a:lnSpc>
              <a:spcBef>
                <a:spcPts val="320"/>
              </a:spcBef>
              <a:tabLst>
                <a:tab algn="l" pos="0"/>
              </a:tabLst>
            </a:pPr>
            <a:r>
              <a:rPr b="0" lang="en-US" sz="1600" strike="noStrike" u="none">
                <a:solidFill>
                  <a:srgbClr val="000000"/>
                </a:solidFill>
                <a:effectLst/>
                <a:uFillTx/>
                <a:latin typeface="DejaVu Sans"/>
                <a:ea typeface="DejaVu Sans"/>
              </a:rPr>
              <a:t> M.Sc. Chintan Patel</a:t>
            </a:r>
            <a:endParaRPr b="0" lang="en-GB"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6" name="CustomShape 1"/>
          <p:cNvSpPr/>
          <p:nvPr/>
        </p:nvSpPr>
        <p:spPr>
          <a:xfrm>
            <a:off x="335520" y="764640"/>
            <a:ext cx="10722240" cy="473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License</a:t>
            </a:r>
            <a:endParaRPr b="0" lang="en-GB" sz="2400" strike="noStrike" u="none">
              <a:solidFill>
                <a:srgbClr val="000000"/>
              </a:solidFill>
              <a:effectLst/>
              <a:uFillTx/>
              <a:latin typeface="Arial"/>
            </a:endParaRPr>
          </a:p>
        </p:txBody>
      </p:sp>
      <p:sp>
        <p:nvSpPr>
          <p:cNvPr id="1127" name="CustomShape 2"/>
          <p:cNvSpPr/>
          <p:nvPr/>
        </p:nvSpPr>
        <p:spPr>
          <a:xfrm>
            <a:off x="335520" y="1268280"/>
            <a:ext cx="10722240" cy="50097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195120" indent="-1764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This work is licensed under a </a:t>
            </a:r>
            <a:r>
              <a:rPr b="1" lang="en-GB" sz="1800" strike="noStrike" u="none">
                <a:solidFill>
                  <a:srgbClr val="000000"/>
                </a:solidFill>
                <a:effectLst/>
                <a:uFillTx/>
                <a:latin typeface="DejaVu Sans"/>
                <a:ea typeface="DejaVu Sans"/>
              </a:rPr>
              <a:t>Creative Commons Attribution-ShareAlike 4.0 International License</a:t>
            </a:r>
            <a:r>
              <a:rPr b="0" lang="en-GB" sz="1800" strike="noStrike" u="none">
                <a:solidFill>
                  <a:srgbClr val="000000"/>
                </a:solidFill>
                <a:effectLst/>
                <a:uFillTx/>
                <a:latin typeface="DejaVu Sans"/>
                <a:ea typeface="DejaVu Sans"/>
              </a:rPr>
              <a:t>. To view a copy of this license, please refer to </a:t>
            </a:r>
            <a:r>
              <a:rPr b="0" lang="en-GB" sz="1800" strike="noStrike" u="sng">
                <a:solidFill>
                  <a:srgbClr val="0000ff"/>
                </a:solidFill>
                <a:effectLst/>
                <a:uFillTx/>
                <a:latin typeface="DejaVu Sans"/>
                <a:ea typeface="DejaVu Sans"/>
                <a:hlinkClick r:id="rId1"/>
              </a:rPr>
              <a:t>https://creativecommons.org/licenses/by-sa/4.0/</a:t>
            </a: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195120" indent="-1764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Updated versions of these slides will be available in our </a:t>
            </a:r>
            <a:r>
              <a:rPr b="0" lang="en-GB" sz="1800" strike="noStrike" u="sng">
                <a:solidFill>
                  <a:srgbClr val="0000ff"/>
                </a:solidFill>
                <a:effectLst/>
                <a:uFillTx/>
                <a:latin typeface="DejaVu Sans"/>
                <a:ea typeface="DejaVu Sans"/>
                <a:hlinkClick r:id="rId2"/>
              </a:rPr>
              <a:t>Github repository</a:t>
            </a:r>
            <a:r>
              <a:rPr b="0" lang="en-GB" sz="1800" strike="noStrike" u="none">
                <a:solidFill>
                  <a:srgbClr val="000000"/>
                </a:solidFill>
                <a:effectLst/>
                <a:uFillTx/>
                <a:latin typeface="DejaVu Sans"/>
                <a:ea typeface="DejaVu Sans"/>
              </a:rPr>
              <a:t>.</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8" name="CustomShape 253"/>
          <p:cNvSpPr/>
          <p:nvPr/>
        </p:nvSpPr>
        <p:spPr>
          <a:xfrm>
            <a:off x="335520" y="4406760"/>
            <a:ext cx="10728720" cy="1337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3000" strike="noStrike" u="none" cap="all">
                <a:solidFill>
                  <a:srgbClr val="008c4f"/>
                </a:solidFill>
                <a:effectLst/>
                <a:uFillTx/>
                <a:latin typeface="Arial Unicode MS"/>
                <a:ea typeface="DejaVu Sans"/>
              </a:rPr>
              <a:t>News/Updates</a:t>
            </a:r>
            <a:endParaRPr b="0" lang="en-GB" sz="3000" strike="noStrike" u="none">
              <a:solidFill>
                <a:srgbClr val="000000"/>
              </a:solidFill>
              <a:effectLst/>
              <a:uFillTx/>
              <a:latin typeface="Arial"/>
            </a:endParaRPr>
          </a:p>
        </p:txBody>
      </p:sp>
      <p:sp>
        <p:nvSpPr>
          <p:cNvPr id="1129" name="CustomShape 254"/>
          <p:cNvSpPr/>
          <p:nvPr/>
        </p:nvSpPr>
        <p:spPr>
          <a:xfrm>
            <a:off x="335520" y="2906640"/>
            <a:ext cx="10728720" cy="1475640"/>
          </a:xfrm>
          <a:prstGeom prst="rect">
            <a:avLst/>
          </a:prstGeom>
          <a:noFill/>
          <a:ln w="0">
            <a:noFill/>
          </a:ln>
        </p:spPr>
        <p:style>
          <a:lnRef idx="0"/>
          <a:fillRef idx="0"/>
          <a:effectRef idx="0"/>
          <a:fontRef idx="minor"/>
        </p:style>
        <p:txBody>
          <a:bodyPr lIns="90000" rIns="90000" tIns="45000" bIns="45000" anchor="t">
            <a:noAutofit/>
          </a:bodyPr>
          <a:p>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0" name="CustomShape 345"/>
          <p:cNvSpPr/>
          <p:nvPr/>
        </p:nvSpPr>
        <p:spPr>
          <a:xfrm>
            <a:off x="335520" y="764640"/>
            <a:ext cx="10729440" cy="4802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de-DE" sz="2400" strike="noStrike" u="none">
                <a:solidFill>
                  <a:srgbClr val="000000"/>
                </a:solidFill>
                <a:effectLst/>
                <a:uFillTx/>
                <a:latin typeface="Arial Unicode MS"/>
                <a:ea typeface="DejaVu Sans"/>
              </a:rPr>
              <a:t>Course Evaluation</a:t>
            </a:r>
            <a:endParaRPr b="0" lang="en-GB" sz="2400" strike="noStrike" u="none">
              <a:solidFill>
                <a:srgbClr val="000000"/>
              </a:solidFill>
              <a:effectLst/>
              <a:uFillTx/>
              <a:latin typeface="Arial"/>
            </a:endParaRPr>
          </a:p>
        </p:txBody>
      </p:sp>
      <p:sp>
        <p:nvSpPr>
          <p:cNvPr id="1131" name="CustomShape 346"/>
          <p:cNvSpPr/>
          <p:nvPr/>
        </p:nvSpPr>
        <p:spPr>
          <a:xfrm>
            <a:off x="487800" y="1420920"/>
            <a:ext cx="5591520" cy="5032080"/>
          </a:xfrm>
          <a:prstGeom prst="rect">
            <a:avLst/>
          </a:prstGeom>
          <a:noFill/>
          <a:ln w="0">
            <a:solidFill>
              <a:srgbClr val="ffffff"/>
            </a:solidFill>
          </a:ln>
        </p:spPr>
        <p:style>
          <a:lnRef idx="0"/>
          <a:fillRef idx="0"/>
          <a:effectRef idx="0"/>
          <a:fontRef idx="minor"/>
        </p:style>
        <p:txBody>
          <a:bodyPr lIns="90000" rIns="90000" tIns="45000" bIns="45000" anchor="ctr">
            <a:noAutofit/>
          </a:bodyPr>
          <a:p>
            <a:pPr defTabSz="914400">
              <a:lnSpc>
                <a:spcPct val="100000"/>
              </a:lnSpc>
              <a:spcBef>
                <a:spcPts val="360"/>
              </a:spcBef>
            </a:pPr>
            <a:endParaRPr b="0" lang="en-GB" sz="1800" strike="noStrike" u="none">
              <a:solidFill>
                <a:srgbClr val="000000"/>
              </a:solidFill>
              <a:effectLst/>
              <a:uFillTx/>
              <a:latin typeface="Arial"/>
            </a:endParaRPr>
          </a:p>
          <a:p>
            <a:pPr marL="195120" indent="-190800" defTabSz="914400">
              <a:lnSpc>
                <a:spcPct val="100000"/>
              </a:lnSpc>
              <a:spcBef>
                <a:spcPts val="360"/>
              </a:spcBef>
              <a:buClr>
                <a:srgbClr val="008c4f"/>
              </a:buClr>
              <a:buSzPct val="115000"/>
              <a:buFont typeface="Wingdings" charset="2"/>
              <a:buChar char=""/>
            </a:pPr>
            <a:r>
              <a:rPr b="0" lang="de-DE" sz="1800" strike="noStrike" u="none">
                <a:solidFill>
                  <a:srgbClr val="000000"/>
                </a:solidFill>
                <a:effectLst/>
                <a:uFillTx/>
                <a:latin typeface="Arial"/>
                <a:ea typeface="DejaVu Sans"/>
              </a:rPr>
              <a:t>Link: </a:t>
            </a:r>
            <a:r>
              <a:rPr b="0" lang="de-DE" sz="1800" strike="noStrike" u="sng">
                <a:solidFill>
                  <a:srgbClr val="0000ee"/>
                </a:solidFill>
                <a:effectLst/>
                <a:uFillTx/>
                <a:latin typeface="Arial"/>
                <a:ea typeface="DejaVu Sans"/>
                <a:hlinkClick r:id="rId1"/>
              </a:rPr>
              <a:t>Click Me</a:t>
            </a:r>
            <a:endParaRPr b="0" lang="en-GB" sz="1800" strike="noStrike" u="none">
              <a:solidFill>
                <a:srgbClr val="000000"/>
              </a:solidFill>
              <a:effectLst/>
              <a:uFillTx/>
              <a:latin typeface="Arial"/>
            </a:endParaRPr>
          </a:p>
        </p:txBody>
      </p:sp>
      <p:pic>
        <p:nvPicPr>
          <p:cNvPr id="1132" name="" descr=""/>
          <p:cNvPicPr/>
          <p:nvPr/>
        </p:nvPicPr>
        <p:blipFill>
          <a:blip r:embed="rId2"/>
          <a:stretch/>
        </p:blipFill>
        <p:spPr>
          <a:xfrm>
            <a:off x="6660000" y="1620000"/>
            <a:ext cx="4262400" cy="42624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3" name="CustomShape 17"/>
          <p:cNvSpPr/>
          <p:nvPr/>
        </p:nvSpPr>
        <p:spPr>
          <a:xfrm>
            <a:off x="335520" y="4406760"/>
            <a:ext cx="10720440" cy="1329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3000" strike="noStrike" u="none" cap="all">
                <a:solidFill>
                  <a:srgbClr val="008c4f"/>
                </a:solidFill>
                <a:effectLst/>
                <a:uFillTx/>
                <a:latin typeface="Arial Unicode MS"/>
                <a:ea typeface="DejaVu Sans"/>
              </a:rPr>
              <a:t>Introduction</a:t>
            </a:r>
            <a:endParaRPr b="0" lang="en-GB" sz="3000" strike="noStrike" u="none">
              <a:solidFill>
                <a:srgbClr val="000000"/>
              </a:solidFill>
              <a:effectLst/>
              <a:uFillTx/>
              <a:latin typeface="Arial"/>
            </a:endParaRPr>
          </a:p>
        </p:txBody>
      </p:sp>
      <p:sp>
        <p:nvSpPr>
          <p:cNvPr id="1134" name="CustomShape 19"/>
          <p:cNvSpPr/>
          <p:nvPr/>
        </p:nvSpPr>
        <p:spPr>
          <a:xfrm>
            <a:off x="335520" y="2906640"/>
            <a:ext cx="10720440" cy="1467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5" name="CustomShape 4"/>
          <p:cNvSpPr/>
          <p:nvPr/>
        </p:nvSpPr>
        <p:spPr>
          <a:xfrm>
            <a:off x="335520" y="764640"/>
            <a:ext cx="10724760" cy="475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Introduction</a:t>
            </a:r>
            <a:endParaRPr b="0" lang="en-GB" sz="2400" strike="noStrike" u="none">
              <a:solidFill>
                <a:srgbClr val="000000"/>
              </a:solidFill>
              <a:effectLst/>
              <a:uFillTx/>
              <a:latin typeface="Arial"/>
            </a:endParaRPr>
          </a:p>
        </p:txBody>
      </p:sp>
      <p:sp>
        <p:nvSpPr>
          <p:cNvPr id="1136" name="CustomShape 9"/>
          <p:cNvSpPr/>
          <p:nvPr/>
        </p:nvSpPr>
        <p:spPr>
          <a:xfrm>
            <a:off x="335520" y="1268280"/>
            <a:ext cx="10724760" cy="5012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Goals of the CE:</a:t>
            </a:r>
            <a:endParaRPr b="0" lang="en-GB" sz="1800" strike="noStrike" u="none">
              <a:solidFill>
                <a:srgbClr val="000000"/>
              </a:solidFill>
              <a:effectLst/>
              <a:uFillTx/>
              <a:latin typeface="Arial"/>
            </a:endParaRPr>
          </a:p>
          <a:p>
            <a:pPr lvl="1" marL="432000" indent="-21384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Maintain natural resources and minimize the discharge of substances that are harmful to health and nature</a:t>
            </a:r>
            <a:endParaRPr b="0" lang="en-GB" sz="1800" strike="noStrike" u="none">
              <a:solidFill>
                <a:srgbClr val="000000"/>
              </a:solidFill>
              <a:effectLst/>
              <a:uFillTx/>
              <a:latin typeface="Arial"/>
            </a:endParaRPr>
          </a:p>
          <a:p>
            <a:pPr lvl="1" marL="432000" indent="-21384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Ecological modernization of the economy to increase resource efficiency, e.g., by technical innovation and digital solutions</a:t>
            </a:r>
            <a:endParaRPr b="0" lang="en-GB" sz="1800" strike="noStrike" u="none">
              <a:solidFill>
                <a:srgbClr val="000000"/>
              </a:solidFill>
              <a:effectLst/>
              <a:uFillTx/>
              <a:latin typeface="Arial"/>
            </a:endParaRPr>
          </a:p>
          <a:p>
            <a:pPr lvl="1" marL="432000" indent="-21384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Products/services designed and constructed in such a way, </a:t>
            </a:r>
            <a:r>
              <a:rPr b="0" lang="en-US" sz="1800" strike="noStrike" u="none">
                <a:solidFill>
                  <a:srgbClr val="000000"/>
                </a:solidFill>
                <a:effectLst/>
                <a:uFillTx/>
                <a:latin typeface="DejaVu Sans"/>
                <a:ea typeface="DejaVu Sans"/>
              </a:rPr>
              <a:t>	</a:t>
            </a:r>
            <a:r>
              <a:rPr b="0" lang="en-US" sz="1800" strike="noStrike" u="none">
                <a:solidFill>
                  <a:srgbClr val="000000"/>
                </a:solidFill>
                <a:effectLst/>
                <a:uFillTx/>
                <a:latin typeface="DejaVu Sans"/>
                <a:ea typeface="DejaVu Sans"/>
              </a:rPr>
              <a:t>that they can be returned to the economic and material flows at any time with little financial and energetic effort</a:t>
            </a:r>
            <a:endParaRPr b="0" lang="en-GB" sz="1800" strike="noStrike" u="none">
              <a:solidFill>
                <a:srgbClr val="000000"/>
              </a:solidFill>
              <a:effectLst/>
              <a:uFillTx/>
              <a:latin typeface="Arial"/>
            </a:endParaRPr>
          </a:p>
          <a:p>
            <a:pPr lvl="1" marL="432000" indent="-21384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Increase/maximize utilization of resources, e.g., Performance Economy</a:t>
            </a:r>
            <a:endParaRPr b="0" lang="en-GB" sz="1800" strike="noStrike" u="none">
              <a:solidFill>
                <a:srgbClr val="000000"/>
              </a:solidFill>
              <a:effectLst/>
              <a:uFillTx/>
              <a:latin typeface="Arial"/>
            </a:endParaRPr>
          </a:p>
        </p:txBody>
      </p:sp>
      <p:sp>
        <p:nvSpPr>
          <p:cNvPr id="1137" name="CustomShape 16"/>
          <p:cNvSpPr/>
          <p:nvPr/>
        </p:nvSpPr>
        <p:spPr>
          <a:xfrm>
            <a:off x="432720" y="1148040"/>
            <a:ext cx="10330200" cy="4708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CE Recap</a:t>
            </a:r>
            <a:endParaRPr b="0" lang="en-GB" sz="2200" strike="noStrike" u="none">
              <a:solidFill>
                <a:srgbClr val="000000"/>
              </a:solidFill>
              <a:effectLst/>
              <a:uFillTx/>
              <a:latin typeface="Arial"/>
            </a:endParaRPr>
          </a:p>
        </p:txBody>
      </p:sp>
      <p:sp>
        <p:nvSpPr>
          <p:cNvPr id="1138" name="CustomShape 18"/>
          <p:cNvSpPr/>
          <p:nvPr/>
        </p:nvSpPr>
        <p:spPr>
          <a:xfrm>
            <a:off x="263520" y="6411600"/>
            <a:ext cx="9783000" cy="38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Roboto"/>
                <a:ea typeface="Roboto"/>
              </a:rPr>
              <a:t>Partially based on: F. Hofmann, J. Zwiers (2018) – Circular Society – Eine pluralistische und emanzipatorische Alternative zur Circular Economy? – </a:t>
            </a:r>
            <a:r>
              <a:rPr b="0" lang="en-US" sz="900" strike="noStrike" u="sng">
                <a:solidFill>
                  <a:srgbClr val="0000ff"/>
                </a:solidFill>
                <a:effectLst/>
                <a:uFillTx/>
                <a:latin typeface="Roboto"/>
                <a:ea typeface="Roboto"/>
                <a:hlinkClick r:id="rId1"/>
              </a:rPr>
              <a:t>Link</a:t>
            </a:r>
            <a:r>
              <a:rPr b="0" lang="en-US" sz="900" strike="noStrike" u="none">
                <a:solidFill>
                  <a:srgbClr val="a6a6a6"/>
                </a:solidFill>
                <a:effectLst/>
                <a:uFillTx/>
                <a:latin typeface="Roboto"/>
                <a:ea typeface="Roboto"/>
              </a:rPr>
              <a:t>.</a:t>
            </a:r>
            <a:endParaRPr b="0" lang="en-GB" sz="900" strike="noStrike" u="none">
              <a:solidFill>
                <a:srgbClr val="000000"/>
              </a:solidFill>
              <a:effectLst/>
              <a:uFillTx/>
              <a:latin typeface="Arial"/>
            </a:endParaRPr>
          </a:p>
          <a:p>
            <a:pPr>
              <a:lnSpc>
                <a:spcPct val="100000"/>
              </a:lnSpc>
            </a:pPr>
            <a:r>
              <a:rPr b="0" lang="en-US" sz="900" strike="noStrike" u="none">
                <a:solidFill>
                  <a:srgbClr val="a6a6a6"/>
                </a:solidFill>
                <a:effectLst/>
                <a:uFillTx/>
                <a:latin typeface="Roboto"/>
                <a:ea typeface="Roboto"/>
              </a:rPr>
              <a:t>.</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9" name="CustomShape 5"/>
          <p:cNvSpPr/>
          <p:nvPr/>
        </p:nvSpPr>
        <p:spPr>
          <a:xfrm>
            <a:off x="335520" y="764640"/>
            <a:ext cx="10724760" cy="475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Introduction</a:t>
            </a:r>
            <a:endParaRPr b="0" lang="en-GB" sz="2400" strike="noStrike" u="none">
              <a:solidFill>
                <a:srgbClr val="000000"/>
              </a:solidFill>
              <a:effectLst/>
              <a:uFillTx/>
              <a:latin typeface="Arial"/>
            </a:endParaRPr>
          </a:p>
        </p:txBody>
      </p:sp>
      <p:sp>
        <p:nvSpPr>
          <p:cNvPr id="1140" name="CustomShape 54"/>
          <p:cNvSpPr/>
          <p:nvPr/>
        </p:nvSpPr>
        <p:spPr>
          <a:xfrm>
            <a:off x="335520" y="1268280"/>
            <a:ext cx="10724760" cy="5012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Replace the LE with circularly oriented forms of consumption and production</a:t>
            </a: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CE focus mostly on earned value management (“Wertschöpfungsmanagement”), product-service systems, product/business model innovations within existing power asymmetries </a:t>
            </a: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Decouple economic growth and consumption of natural resources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r>
              <a:rPr b="0" lang="en-US" sz="1800" strike="noStrike" u="none">
                <a:solidFill>
                  <a:srgbClr val="ffffff"/>
                </a:solidFill>
                <a:effectLst/>
                <a:uFillTx/>
                <a:latin typeface="DejaVu Sans"/>
                <a:ea typeface="DejaVu Sans"/>
              </a:rPr>
              <a:t>→ But why do we need neverending economic growth and why is it good to consume as many goods and services as possible?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Alternatives:</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Sufficiency strategies and lifestyle changes</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Question the prevailing entrepreneurial orientation towards the shareholder concept </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Deconstruction of existing power and hegemonic relations</a:t>
            </a:r>
            <a:endParaRPr b="0" lang="en-GB" sz="1800" strike="noStrike" u="none">
              <a:solidFill>
                <a:srgbClr val="000000"/>
              </a:solidFill>
              <a:effectLst/>
              <a:uFillTx/>
              <a:latin typeface="Arial"/>
            </a:endParaRPr>
          </a:p>
        </p:txBody>
      </p:sp>
      <p:sp>
        <p:nvSpPr>
          <p:cNvPr id="1141" name="CustomShape 55"/>
          <p:cNvSpPr/>
          <p:nvPr/>
        </p:nvSpPr>
        <p:spPr>
          <a:xfrm>
            <a:off x="432720" y="1148040"/>
            <a:ext cx="10330200" cy="4708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CE Criticism</a:t>
            </a:r>
            <a:endParaRPr b="0" lang="en-GB" sz="2200" strike="noStrike" u="none">
              <a:solidFill>
                <a:srgbClr val="000000"/>
              </a:solidFill>
              <a:effectLst/>
              <a:uFillTx/>
              <a:latin typeface="Arial"/>
            </a:endParaRPr>
          </a:p>
        </p:txBody>
      </p:sp>
      <p:sp>
        <p:nvSpPr>
          <p:cNvPr id="1142" name="CustomShape 56"/>
          <p:cNvSpPr/>
          <p:nvPr/>
        </p:nvSpPr>
        <p:spPr>
          <a:xfrm>
            <a:off x="263520" y="6411600"/>
            <a:ext cx="9783000" cy="38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Roboto"/>
                <a:ea typeface="Roboto"/>
              </a:rPr>
              <a:t>Partially based on: F. Hofmann, J. Zwiers (2018) – Circular Society – Eine pluralistische und emanzipatorische Alternative zur Circular Economy? – </a:t>
            </a:r>
            <a:r>
              <a:rPr b="0" lang="en-US" sz="900" strike="noStrike" u="sng">
                <a:solidFill>
                  <a:srgbClr val="0000ff"/>
                </a:solidFill>
                <a:effectLst/>
                <a:uFillTx/>
                <a:latin typeface="Roboto"/>
                <a:ea typeface="Roboto"/>
                <a:hlinkClick r:id="rId1"/>
              </a:rPr>
              <a:t>Link</a:t>
            </a:r>
            <a:r>
              <a:rPr b="0" lang="en-US" sz="900" strike="noStrike" u="none">
                <a:solidFill>
                  <a:srgbClr val="a6a6a6"/>
                </a:solidFill>
                <a:effectLst/>
                <a:uFillTx/>
                <a:latin typeface="Roboto"/>
                <a:ea typeface="Roboto"/>
              </a:rPr>
              <a:t>.</a:t>
            </a:r>
            <a:endParaRPr b="0" lang="en-GB" sz="900" strike="noStrike" u="none">
              <a:solidFill>
                <a:srgbClr val="000000"/>
              </a:solidFill>
              <a:effectLst/>
              <a:uFillTx/>
              <a:latin typeface="Arial"/>
            </a:endParaRPr>
          </a:p>
          <a:p>
            <a:pPr>
              <a:lnSpc>
                <a:spcPct val="100000"/>
              </a:lnSpc>
            </a:pPr>
            <a:r>
              <a:rPr b="0" lang="en-US" sz="900" strike="noStrike" u="none">
                <a:solidFill>
                  <a:srgbClr val="a6a6a6"/>
                </a:solidFill>
                <a:effectLst/>
                <a:uFillTx/>
                <a:latin typeface="Roboto"/>
                <a:ea typeface="Roboto"/>
              </a:rPr>
              <a:t>.</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3" name="CustomShape 57"/>
          <p:cNvSpPr/>
          <p:nvPr/>
        </p:nvSpPr>
        <p:spPr>
          <a:xfrm>
            <a:off x="335520" y="764640"/>
            <a:ext cx="10724760" cy="475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Introduction</a:t>
            </a:r>
            <a:endParaRPr b="0" lang="en-GB" sz="2400" strike="noStrike" u="none">
              <a:solidFill>
                <a:srgbClr val="000000"/>
              </a:solidFill>
              <a:effectLst/>
              <a:uFillTx/>
              <a:latin typeface="Arial"/>
            </a:endParaRPr>
          </a:p>
        </p:txBody>
      </p:sp>
      <p:sp>
        <p:nvSpPr>
          <p:cNvPr id="1144" name="CustomShape 58"/>
          <p:cNvSpPr/>
          <p:nvPr/>
        </p:nvSpPr>
        <p:spPr>
          <a:xfrm>
            <a:off x="335520" y="1268280"/>
            <a:ext cx="10724760" cy="5012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Replace the LE with circularly oriented forms of consumption and production</a:t>
            </a: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CE focus mostly on earned value management (“Wertschöpfungsmanagement”), product-service systems, product/business model innovations within existing power asymmetries </a:t>
            </a: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Decouple economic growth and consumption of natural resources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r>
              <a:rPr b="1" lang="en-US" sz="1800" strike="noStrike" u="none">
                <a:solidFill>
                  <a:srgbClr val="000000"/>
                </a:solidFill>
                <a:effectLst/>
                <a:uFillTx/>
                <a:latin typeface="DejaVu Sans"/>
                <a:ea typeface="DejaVu Sans"/>
              </a:rPr>
              <a:t>→ But why do we need never ending economic growth and why is it good to consume as many goods and services as possible?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Alternatives:</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Sufficiency strategies and lifestyle changes</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Question the prevailing entrepreneurial orientation towards the shareholder concept </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Deconstruction of existing power and hegemonic relations</a:t>
            </a:r>
            <a:endParaRPr b="0" lang="en-GB" sz="1800" strike="noStrike" u="none">
              <a:solidFill>
                <a:srgbClr val="000000"/>
              </a:solidFill>
              <a:effectLst/>
              <a:uFillTx/>
              <a:latin typeface="Arial"/>
            </a:endParaRPr>
          </a:p>
        </p:txBody>
      </p:sp>
      <p:sp>
        <p:nvSpPr>
          <p:cNvPr id="1145" name="CustomShape 59"/>
          <p:cNvSpPr/>
          <p:nvPr/>
        </p:nvSpPr>
        <p:spPr>
          <a:xfrm>
            <a:off x="432720" y="1148040"/>
            <a:ext cx="10330200" cy="4708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CE Criticism</a:t>
            </a:r>
            <a:endParaRPr b="0" lang="en-GB" sz="2200" strike="noStrike" u="none">
              <a:solidFill>
                <a:srgbClr val="000000"/>
              </a:solidFill>
              <a:effectLst/>
              <a:uFillTx/>
              <a:latin typeface="Arial"/>
            </a:endParaRPr>
          </a:p>
        </p:txBody>
      </p:sp>
      <p:sp>
        <p:nvSpPr>
          <p:cNvPr id="1146" name="CustomShape 93"/>
          <p:cNvSpPr/>
          <p:nvPr/>
        </p:nvSpPr>
        <p:spPr>
          <a:xfrm>
            <a:off x="263520" y="6411600"/>
            <a:ext cx="9783000" cy="38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Roboto"/>
                <a:ea typeface="Roboto"/>
              </a:rPr>
              <a:t>Partially based on: F. Hofmann, J. Zwiers (2018) – Circular Society – Eine pluralistische und emanzipatorische Alternative zur Circular Economy? – </a:t>
            </a:r>
            <a:r>
              <a:rPr b="0" lang="en-US" sz="900" strike="noStrike" u="sng">
                <a:solidFill>
                  <a:srgbClr val="0000ff"/>
                </a:solidFill>
                <a:effectLst/>
                <a:uFillTx/>
                <a:latin typeface="Roboto"/>
                <a:ea typeface="Roboto"/>
                <a:hlinkClick r:id="rId1"/>
              </a:rPr>
              <a:t>Link</a:t>
            </a:r>
            <a:r>
              <a:rPr b="0" lang="en-US" sz="900" strike="noStrike" u="none">
                <a:solidFill>
                  <a:srgbClr val="a6a6a6"/>
                </a:solidFill>
                <a:effectLst/>
                <a:uFillTx/>
                <a:latin typeface="Roboto"/>
                <a:ea typeface="Roboto"/>
              </a:rPr>
              <a:t>.</a:t>
            </a:r>
            <a:endParaRPr b="0" lang="en-GB" sz="900" strike="noStrike" u="none">
              <a:solidFill>
                <a:srgbClr val="000000"/>
              </a:solidFill>
              <a:effectLst/>
              <a:uFillTx/>
              <a:latin typeface="Arial"/>
            </a:endParaRPr>
          </a:p>
          <a:p>
            <a:pPr>
              <a:lnSpc>
                <a:spcPct val="100000"/>
              </a:lnSpc>
            </a:pPr>
            <a:r>
              <a:rPr b="0" lang="en-US" sz="900" strike="noStrike" u="none">
                <a:solidFill>
                  <a:srgbClr val="a6a6a6"/>
                </a:solidFill>
                <a:effectLst/>
                <a:uFillTx/>
                <a:latin typeface="Roboto"/>
                <a:ea typeface="Roboto"/>
              </a:rPr>
              <a:t>.</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7" name="CustomShape 94"/>
          <p:cNvSpPr/>
          <p:nvPr/>
        </p:nvSpPr>
        <p:spPr>
          <a:xfrm>
            <a:off x="335520" y="764640"/>
            <a:ext cx="10724760" cy="475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Introduction</a:t>
            </a:r>
            <a:endParaRPr b="0" lang="en-GB" sz="2400" strike="noStrike" u="none">
              <a:solidFill>
                <a:srgbClr val="000000"/>
              </a:solidFill>
              <a:effectLst/>
              <a:uFillTx/>
              <a:latin typeface="Arial"/>
            </a:endParaRPr>
          </a:p>
        </p:txBody>
      </p:sp>
      <p:sp>
        <p:nvSpPr>
          <p:cNvPr id="1148" name="CustomShape 95"/>
          <p:cNvSpPr/>
          <p:nvPr/>
        </p:nvSpPr>
        <p:spPr>
          <a:xfrm>
            <a:off x="335520" y="1268280"/>
            <a:ext cx="10724760" cy="5012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Replace the LE with circularly oriented forms of consumption and production</a:t>
            </a: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CE focus mostly on earned value management (“Wertschöpfungsmanagement”), product-service systems, product/business model innovations within existing power asymmetries </a:t>
            </a: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Decouple economic growth and consumption of natural resources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r>
              <a:rPr b="1" lang="en-US" sz="1800" strike="noStrike" u="none">
                <a:solidFill>
                  <a:srgbClr val="000000"/>
                </a:solidFill>
                <a:effectLst/>
                <a:uFillTx/>
                <a:latin typeface="DejaVu Sans"/>
                <a:ea typeface="DejaVu Sans"/>
              </a:rPr>
              <a:t>→ But why do we need never ending economic growth and why is it good to consume as many goods and services as possible?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384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Alternatives:</a:t>
            </a:r>
            <a:endParaRPr b="0" lang="en-GB" sz="1800" strike="noStrike" u="none">
              <a:solidFill>
                <a:srgbClr val="000000"/>
              </a:solidFill>
              <a:effectLst/>
              <a:uFillTx/>
              <a:latin typeface="Arial"/>
            </a:endParaRPr>
          </a:p>
          <a:p>
            <a:pPr lvl="1" marL="432000" indent="-21384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Sufficiency strategies and lifestyle changes</a:t>
            </a:r>
            <a:endParaRPr b="0" lang="en-GB" sz="1800" strike="noStrike" u="none">
              <a:solidFill>
                <a:srgbClr val="000000"/>
              </a:solidFill>
              <a:effectLst/>
              <a:uFillTx/>
              <a:latin typeface="Arial"/>
            </a:endParaRPr>
          </a:p>
          <a:p>
            <a:pPr lvl="1" marL="432000" indent="-21384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Question the prevailing entrepreneurial orientation towards the shareholder concept </a:t>
            </a:r>
            <a:endParaRPr b="0" lang="en-GB" sz="1800" strike="noStrike" u="none">
              <a:solidFill>
                <a:srgbClr val="000000"/>
              </a:solidFill>
              <a:effectLst/>
              <a:uFillTx/>
              <a:latin typeface="Arial"/>
            </a:endParaRPr>
          </a:p>
          <a:p>
            <a:pPr lvl="1" marL="432000" indent="-21384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Deconstruction of existing power and hegemonic relations</a:t>
            </a:r>
            <a:endParaRPr b="0" lang="en-GB" sz="1800" strike="noStrike" u="none">
              <a:solidFill>
                <a:srgbClr val="000000"/>
              </a:solidFill>
              <a:effectLst/>
              <a:uFillTx/>
              <a:latin typeface="Arial"/>
            </a:endParaRPr>
          </a:p>
        </p:txBody>
      </p:sp>
      <p:sp>
        <p:nvSpPr>
          <p:cNvPr id="1149" name="CustomShape 96"/>
          <p:cNvSpPr/>
          <p:nvPr/>
        </p:nvSpPr>
        <p:spPr>
          <a:xfrm>
            <a:off x="432720" y="1148040"/>
            <a:ext cx="10330200" cy="47088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CE Criticism</a:t>
            </a:r>
            <a:endParaRPr b="0" lang="en-GB" sz="2200" strike="noStrike" u="none">
              <a:solidFill>
                <a:srgbClr val="000000"/>
              </a:solidFill>
              <a:effectLst/>
              <a:uFillTx/>
              <a:latin typeface="Arial"/>
            </a:endParaRPr>
          </a:p>
        </p:txBody>
      </p:sp>
      <p:sp>
        <p:nvSpPr>
          <p:cNvPr id="1150" name="CustomShape 97"/>
          <p:cNvSpPr/>
          <p:nvPr/>
        </p:nvSpPr>
        <p:spPr>
          <a:xfrm>
            <a:off x="263520" y="6411600"/>
            <a:ext cx="9783000" cy="38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Roboto"/>
                <a:ea typeface="Roboto"/>
              </a:rPr>
              <a:t>Partially based on: F. Hofmann, J. Zwiers (2018) – Circular Society – Eine pluralistische und emanzipatorische Alternative zur Circular Economy? – </a:t>
            </a:r>
            <a:r>
              <a:rPr b="0" lang="en-US" sz="900" strike="noStrike" u="sng">
                <a:solidFill>
                  <a:srgbClr val="0000ff"/>
                </a:solidFill>
                <a:effectLst/>
                <a:uFillTx/>
                <a:latin typeface="Roboto"/>
                <a:ea typeface="Roboto"/>
                <a:hlinkClick r:id="rId1"/>
              </a:rPr>
              <a:t>Link</a:t>
            </a:r>
            <a:r>
              <a:rPr b="0" lang="en-US" sz="900" strike="noStrike" u="none">
                <a:solidFill>
                  <a:srgbClr val="a6a6a6"/>
                </a:solidFill>
                <a:effectLst/>
                <a:uFillTx/>
                <a:latin typeface="Roboto"/>
                <a:ea typeface="Roboto"/>
              </a:rPr>
              <a:t>.</a:t>
            </a:r>
            <a:endParaRPr b="0" lang="en-GB" sz="900" strike="noStrike" u="none">
              <a:solidFill>
                <a:srgbClr val="000000"/>
              </a:solidFill>
              <a:effectLst/>
              <a:uFillTx/>
              <a:latin typeface="Arial"/>
            </a:endParaRPr>
          </a:p>
          <a:p>
            <a:pPr>
              <a:lnSpc>
                <a:spcPct val="100000"/>
              </a:lnSpc>
            </a:pPr>
            <a:r>
              <a:rPr b="0" lang="en-US" sz="900" strike="noStrike" u="none">
                <a:solidFill>
                  <a:srgbClr val="a6a6a6"/>
                </a:solidFill>
                <a:effectLst/>
                <a:uFillTx/>
                <a:latin typeface="Roboto"/>
                <a:ea typeface="Roboto"/>
              </a:rPr>
              <a:t>.</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1" name="CustomShape 10"/>
          <p:cNvSpPr/>
          <p:nvPr/>
        </p:nvSpPr>
        <p:spPr>
          <a:xfrm>
            <a:off x="335520" y="4406760"/>
            <a:ext cx="10720440" cy="1329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3000" strike="noStrike" u="none" cap="all">
                <a:solidFill>
                  <a:srgbClr val="008c4f"/>
                </a:solidFill>
                <a:effectLst/>
                <a:uFillTx/>
                <a:latin typeface="Arial Unicode MS"/>
                <a:ea typeface="DejaVu Sans"/>
              </a:rPr>
              <a:t>Eco-sufficiency</a:t>
            </a:r>
            <a:endParaRPr b="0" lang="en-GB" sz="3000" strike="noStrike" u="none">
              <a:solidFill>
                <a:srgbClr val="000000"/>
              </a:solidFill>
              <a:effectLst/>
              <a:uFillTx/>
              <a:latin typeface="Arial"/>
            </a:endParaRPr>
          </a:p>
          <a:p>
            <a:pPr>
              <a:lnSpc>
                <a:spcPct val="100000"/>
              </a:lnSpc>
            </a:pPr>
            <a:endParaRPr b="0" lang="en-GB" sz="3000" strike="noStrike" u="none">
              <a:solidFill>
                <a:srgbClr val="000000"/>
              </a:solidFill>
              <a:effectLst/>
              <a:uFillTx/>
              <a:latin typeface="Arial"/>
            </a:endParaRPr>
          </a:p>
        </p:txBody>
      </p:sp>
      <p:sp>
        <p:nvSpPr>
          <p:cNvPr id="1152" name="CustomShape 11"/>
          <p:cNvSpPr/>
          <p:nvPr/>
        </p:nvSpPr>
        <p:spPr>
          <a:xfrm>
            <a:off x="335520" y="2906640"/>
            <a:ext cx="10720440" cy="1467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3" name="CustomShape 24"/>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154" name="CustomShape 25"/>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a typeface="DejaVu Sans"/>
            </a:endParaRPr>
          </a:p>
        </p:txBody>
      </p:sp>
      <p:sp>
        <p:nvSpPr>
          <p:cNvPr id="1155" name="CustomShape 26"/>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Eco-Efficiency – Definition </a:t>
            </a:r>
            <a:endParaRPr b="0" lang="en-GB" sz="2200" strike="noStrike" u="none">
              <a:solidFill>
                <a:srgbClr val="000000"/>
              </a:solidFill>
              <a:effectLst/>
              <a:uFillTx/>
              <a:latin typeface="Arial"/>
            </a:endParaRPr>
          </a:p>
        </p:txBody>
      </p:sp>
      <p:sp>
        <p:nvSpPr>
          <p:cNvPr id="1156" name="CustomShape 61"/>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
        <p:nvSpPr>
          <p:cNvPr id="1157" name="CustomShape 98"/>
          <p:cNvSpPr/>
          <p:nvPr/>
        </p:nvSpPr>
        <p:spPr>
          <a:xfrm>
            <a:off x="282240" y="2340000"/>
            <a:ext cx="10778400" cy="117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158" name="Rectangle 235"/>
          <p:cNvSpPr/>
          <p:nvPr/>
        </p:nvSpPr>
        <p:spPr>
          <a:xfrm>
            <a:off x="539280" y="2215080"/>
            <a:ext cx="10330200" cy="871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ndParaRPr>
          </a:p>
          <a:p>
            <a:pPr>
              <a:lnSpc>
                <a:spcPct val="100000"/>
              </a:lnSpc>
            </a:pPr>
            <a:r>
              <a:rPr b="0" lang="en-US" sz="1800" strike="noStrike" u="sng">
                <a:solidFill>
                  <a:srgbClr val="000000"/>
                </a:solidFill>
                <a:effectLst/>
                <a:uFillTx/>
                <a:latin typeface="DejaVu Sans"/>
                <a:ea typeface="DejaVu Sans"/>
              </a:rPr>
              <a:t>Eco-Efficency</a:t>
            </a:r>
            <a:r>
              <a:rPr b="0" lang="en-US" sz="1800" strike="noStrike" u="none">
                <a:solidFill>
                  <a:srgbClr val="000000"/>
                </a:solidFill>
                <a:effectLst/>
                <a:uFillTx/>
                <a:latin typeface="DejaVu Sans"/>
                <a:ea typeface="DejaVu Sans"/>
              </a:rPr>
              <a:t> → </a:t>
            </a:r>
            <a:r>
              <a:rPr b="0" lang="en-US" sz="1800" strike="noStrike" u="none">
                <a:solidFill>
                  <a:srgbClr val="ffffff"/>
                </a:solidFill>
                <a:effectLst/>
                <a:uFillTx/>
                <a:latin typeface="DejaVu Sans"/>
                <a:ea typeface="DejaVu Sans"/>
              </a:rPr>
              <a:t>Minimise the material input required to achieve a certain economic result, i.e. to improve the ratio between the use of resources and the production of goods.</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9" name="CustomShape 104"/>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160" name="CustomShape 105"/>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Example: </a:t>
            </a:r>
            <a:r>
              <a:rPr b="0" lang="en-GB" sz="1800" strike="noStrike" u="none">
                <a:solidFill>
                  <a:srgbClr val="ffffff"/>
                </a:solidFill>
                <a:effectLst/>
                <a:uFillTx/>
                <a:latin typeface="DejaVu Sans"/>
                <a:ea typeface="DejaVu Sans"/>
              </a:rPr>
              <a:t>A car that consumes 3 liter per 100km is 2x more ecologically efficient than a car that consumes 6 liter.</a:t>
            </a:r>
            <a:endParaRPr b="0" lang="en-GB" sz="1800" strike="noStrike" u="none">
              <a:solidFill>
                <a:srgbClr val="000000"/>
              </a:solidFill>
              <a:effectLst/>
              <a:uFillTx/>
              <a:latin typeface="Arial"/>
            </a:endParaRPr>
          </a:p>
        </p:txBody>
      </p:sp>
      <p:sp>
        <p:nvSpPr>
          <p:cNvPr id="1161" name="CustomShape 106"/>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Eco-Efficiency – Definition/Example </a:t>
            </a:r>
            <a:endParaRPr b="0" lang="en-GB" sz="2200" strike="noStrike" u="none">
              <a:solidFill>
                <a:srgbClr val="000000"/>
              </a:solidFill>
              <a:effectLst/>
              <a:uFillTx/>
              <a:latin typeface="Arial"/>
            </a:endParaRPr>
          </a:p>
        </p:txBody>
      </p:sp>
      <p:sp>
        <p:nvSpPr>
          <p:cNvPr id="1162" name="CustomShape 107"/>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
        <p:nvSpPr>
          <p:cNvPr id="1163" name="CustomShape 108"/>
          <p:cNvSpPr/>
          <p:nvPr/>
        </p:nvSpPr>
        <p:spPr>
          <a:xfrm>
            <a:off x="282240" y="2340000"/>
            <a:ext cx="10778400" cy="117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164" name="Rectangle 241"/>
          <p:cNvSpPr/>
          <p:nvPr/>
        </p:nvSpPr>
        <p:spPr>
          <a:xfrm>
            <a:off x="539280" y="2215080"/>
            <a:ext cx="10330200" cy="871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ndParaRPr>
          </a:p>
          <a:p>
            <a:pPr>
              <a:lnSpc>
                <a:spcPct val="100000"/>
              </a:lnSpc>
            </a:pPr>
            <a:r>
              <a:rPr b="0" lang="en-US" sz="1800" strike="noStrike" u="sng">
                <a:solidFill>
                  <a:srgbClr val="000000"/>
                </a:solidFill>
                <a:effectLst/>
                <a:uFillTx/>
                <a:latin typeface="DejaVu Sans"/>
                <a:ea typeface="DejaVu Sans"/>
              </a:rPr>
              <a:t>Eco-Efficency</a:t>
            </a:r>
            <a:r>
              <a:rPr b="0" lang="en-US" sz="1800" strike="noStrike" u="none">
                <a:solidFill>
                  <a:srgbClr val="000000"/>
                </a:solidFill>
                <a:effectLst/>
                <a:uFillTx/>
                <a:latin typeface="DejaVu Sans"/>
                <a:ea typeface="DejaVu Sans"/>
              </a:rPr>
              <a:t> → </a:t>
            </a:r>
            <a:r>
              <a:rPr b="0" i="1" lang="en-US" sz="1800" strike="noStrike" u="none">
                <a:solidFill>
                  <a:srgbClr val="000000"/>
                </a:solidFill>
                <a:effectLst/>
                <a:uFillTx/>
                <a:latin typeface="DejaVu Sans"/>
                <a:ea typeface="DejaVu Sans"/>
              </a:rPr>
              <a:t>Minimise the material input required to achieve a certain economic result, i.e. to improve the ratio between the use of resources and the production of goods.</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5" name="CustomShape 99"/>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166" name="CustomShape 100"/>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Example: A car that consumes 3 liter per 100km is 2x more ecologically efficient than a car that consumes 6 liter.</a:t>
            </a:r>
            <a:endParaRPr b="0" lang="en-GB" sz="1800" strike="noStrike" u="none">
              <a:solidFill>
                <a:srgbClr val="000000"/>
              </a:solidFill>
              <a:effectLst/>
              <a:uFillTx/>
              <a:latin typeface="Arial"/>
            </a:endParaRPr>
          </a:p>
        </p:txBody>
      </p:sp>
      <p:sp>
        <p:nvSpPr>
          <p:cNvPr id="1167" name="CustomShape 101"/>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Eco-Efficiency – Definition/Example </a:t>
            </a:r>
            <a:endParaRPr b="0" lang="en-GB" sz="2200" strike="noStrike" u="none">
              <a:solidFill>
                <a:srgbClr val="000000"/>
              </a:solidFill>
              <a:effectLst/>
              <a:uFillTx/>
              <a:latin typeface="Arial"/>
            </a:endParaRPr>
          </a:p>
        </p:txBody>
      </p:sp>
      <p:sp>
        <p:nvSpPr>
          <p:cNvPr id="1168" name="CustomShape 102"/>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
        <p:nvSpPr>
          <p:cNvPr id="1169" name="CustomShape 103"/>
          <p:cNvSpPr/>
          <p:nvPr/>
        </p:nvSpPr>
        <p:spPr>
          <a:xfrm>
            <a:off x="282240" y="2340000"/>
            <a:ext cx="10778400" cy="117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170" name="Rectangle 247"/>
          <p:cNvSpPr/>
          <p:nvPr/>
        </p:nvSpPr>
        <p:spPr>
          <a:xfrm>
            <a:off x="539280" y="2215080"/>
            <a:ext cx="10330200" cy="871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ndParaRPr>
          </a:p>
          <a:p>
            <a:pPr>
              <a:lnSpc>
                <a:spcPct val="100000"/>
              </a:lnSpc>
            </a:pPr>
            <a:r>
              <a:rPr b="0" lang="en-US" sz="1800" strike="noStrike" u="sng">
                <a:solidFill>
                  <a:srgbClr val="000000"/>
                </a:solidFill>
                <a:effectLst/>
                <a:uFillTx/>
                <a:latin typeface="DejaVu Sans"/>
                <a:ea typeface="DejaVu Sans"/>
              </a:rPr>
              <a:t>Eco-Efficency</a:t>
            </a:r>
            <a:r>
              <a:rPr b="0" lang="en-US" sz="1800" strike="noStrike" u="none">
                <a:solidFill>
                  <a:srgbClr val="000000"/>
                </a:solidFill>
                <a:effectLst/>
                <a:uFillTx/>
                <a:latin typeface="DejaVu Sans"/>
                <a:ea typeface="DejaVu Sans"/>
              </a:rPr>
              <a:t> → </a:t>
            </a:r>
            <a:r>
              <a:rPr b="0" i="1" lang="en-US" sz="1800" strike="noStrike" u="none">
                <a:solidFill>
                  <a:srgbClr val="000000"/>
                </a:solidFill>
                <a:effectLst/>
                <a:uFillTx/>
                <a:latin typeface="DejaVu Sans"/>
                <a:ea typeface="DejaVu Sans"/>
              </a:rPr>
              <a:t>Minimise the material input required to achieve a certain economic result, i.e. to improve the ratio between the use of resources and the production of goods.</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1" name="CustomShape 227"/>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172" name="CustomShape 228"/>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p:txBody>
      </p:sp>
      <p:sp>
        <p:nvSpPr>
          <p:cNvPr id="1173" name="CustomShape 229"/>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Eco-Consistency – Definition  </a:t>
            </a:r>
            <a:endParaRPr b="0" lang="en-GB" sz="2200" strike="noStrike" u="none">
              <a:solidFill>
                <a:srgbClr val="000000"/>
              </a:solidFill>
              <a:effectLst/>
              <a:uFillTx/>
              <a:latin typeface="Arial"/>
            </a:endParaRPr>
          </a:p>
        </p:txBody>
      </p:sp>
      <p:sp>
        <p:nvSpPr>
          <p:cNvPr id="1174" name="CustomShape 230"/>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
        <p:nvSpPr>
          <p:cNvPr id="1175" name="CustomShape 231"/>
          <p:cNvSpPr/>
          <p:nvPr/>
        </p:nvSpPr>
        <p:spPr>
          <a:xfrm>
            <a:off x="282240" y="2160000"/>
            <a:ext cx="10778400" cy="135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176" name="Rectangle 253"/>
          <p:cNvSpPr/>
          <p:nvPr/>
        </p:nvSpPr>
        <p:spPr>
          <a:xfrm>
            <a:off x="540000" y="1980000"/>
            <a:ext cx="10330200" cy="1107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ndParaRPr>
          </a:p>
          <a:p>
            <a:pPr>
              <a:lnSpc>
                <a:spcPct val="100000"/>
              </a:lnSpc>
            </a:pPr>
            <a:r>
              <a:rPr b="0" lang="en-US" sz="1800" strike="noStrike" u="sng">
                <a:solidFill>
                  <a:srgbClr val="000000"/>
                </a:solidFill>
                <a:effectLst/>
                <a:uFillTx/>
                <a:latin typeface="DejaVu Sans"/>
                <a:ea typeface="DejaVu Sans"/>
              </a:rPr>
              <a:t>Eco-Consistency</a:t>
            </a:r>
            <a:r>
              <a:rPr b="0" lang="en-US" sz="1800" strike="noStrike" u="none">
                <a:solidFill>
                  <a:srgbClr val="000000"/>
                </a:solidFill>
                <a:effectLst/>
                <a:uFillTx/>
                <a:latin typeface="DejaVu Sans"/>
                <a:ea typeface="DejaVu Sans"/>
              </a:rPr>
              <a:t> → </a:t>
            </a:r>
            <a:r>
              <a:rPr b="0" i="1" lang="en-US" sz="1800" strike="noStrike" u="none">
                <a:solidFill>
                  <a:srgbClr val="ffffff"/>
                </a:solidFill>
                <a:effectLst/>
                <a:uFillTx/>
                <a:latin typeface="DejaVu Sans"/>
                <a:ea typeface="DejaVu Sans"/>
              </a:rPr>
              <a:t>Ecological consistency is based on the damage intensity and environmental impact of the resources used. Instead of reducing their quantity, their nature or the product design should be optimised so that no emissions or waste are produced, regardless of the level of consumption → i.e., Circular Economy</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7" name="CustomShape 237"/>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178" name="CustomShape 238"/>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Example: </a:t>
            </a:r>
            <a:r>
              <a:rPr b="0" lang="en-GB" sz="1800" strike="noStrike" u="none">
                <a:solidFill>
                  <a:srgbClr val="ffffff"/>
                </a:solidFill>
                <a:effectLst/>
                <a:uFillTx/>
                <a:latin typeface="DejaVu Sans"/>
                <a:ea typeface="DejaVu Sans"/>
              </a:rPr>
              <a:t>A battery electric vehicle (BEV) that runs on green energy (e.g., solar/wind/etc.)</a:t>
            </a:r>
            <a:endParaRPr b="0" lang="en-GB" sz="1800" strike="noStrike" u="none">
              <a:solidFill>
                <a:srgbClr val="000000"/>
              </a:solidFill>
              <a:effectLst/>
              <a:uFillTx/>
              <a:latin typeface="Arial"/>
            </a:endParaRPr>
          </a:p>
        </p:txBody>
      </p:sp>
      <p:sp>
        <p:nvSpPr>
          <p:cNvPr id="1179" name="CustomShape 239"/>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Eco-Consistency – Definition/Example </a:t>
            </a:r>
            <a:endParaRPr b="0" lang="en-GB" sz="2200" strike="noStrike" u="none">
              <a:solidFill>
                <a:srgbClr val="000000"/>
              </a:solidFill>
              <a:effectLst/>
              <a:uFillTx/>
              <a:latin typeface="Arial"/>
            </a:endParaRPr>
          </a:p>
        </p:txBody>
      </p:sp>
      <p:sp>
        <p:nvSpPr>
          <p:cNvPr id="1180" name="CustomShape 240"/>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
        <p:nvSpPr>
          <p:cNvPr id="1181" name="CustomShape 241"/>
          <p:cNvSpPr/>
          <p:nvPr/>
        </p:nvSpPr>
        <p:spPr>
          <a:xfrm>
            <a:off x="282240" y="2160000"/>
            <a:ext cx="10778400" cy="135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182" name="Rectangle 259"/>
          <p:cNvSpPr/>
          <p:nvPr/>
        </p:nvSpPr>
        <p:spPr>
          <a:xfrm>
            <a:off x="540000" y="1980000"/>
            <a:ext cx="10330200" cy="1107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ndParaRPr>
          </a:p>
          <a:p>
            <a:pPr>
              <a:lnSpc>
                <a:spcPct val="100000"/>
              </a:lnSpc>
            </a:pPr>
            <a:r>
              <a:rPr b="0" lang="en-US" sz="1800" strike="noStrike" u="sng">
                <a:solidFill>
                  <a:srgbClr val="000000"/>
                </a:solidFill>
                <a:effectLst/>
                <a:uFillTx/>
                <a:latin typeface="DejaVu Sans"/>
                <a:ea typeface="DejaVu Sans"/>
              </a:rPr>
              <a:t>Eco-Consistency</a:t>
            </a:r>
            <a:r>
              <a:rPr b="0" lang="en-US" sz="1800" strike="noStrike" u="none">
                <a:solidFill>
                  <a:srgbClr val="000000"/>
                </a:solidFill>
                <a:effectLst/>
                <a:uFillTx/>
                <a:latin typeface="DejaVu Sans"/>
                <a:ea typeface="DejaVu Sans"/>
              </a:rPr>
              <a:t> → </a:t>
            </a:r>
            <a:r>
              <a:rPr b="0" i="1" lang="en-US" sz="1800" strike="noStrike" u="none">
                <a:solidFill>
                  <a:srgbClr val="000000"/>
                </a:solidFill>
                <a:effectLst/>
                <a:uFillTx/>
                <a:latin typeface="DejaVu Sans"/>
                <a:ea typeface="DejaVu Sans"/>
              </a:rPr>
              <a:t>Ecological consistency is based on the damage intensity and environmental impact of the resources used. Instead of reducing their quantity, their nature or the product design should be optimised so that no emissions or waste are produced, regardless of the level of consumption → i.e., Circular Economy</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3" name="CustomShape 232"/>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184" name="CustomShape 233"/>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Example: A battery electric vehicle (BEV) that runs on green energy (e.g., solar/wind/etc.)</a:t>
            </a:r>
            <a:endParaRPr b="0" lang="en-GB" sz="1800" strike="noStrike" u="none">
              <a:solidFill>
                <a:srgbClr val="000000"/>
              </a:solidFill>
              <a:effectLst/>
              <a:uFillTx/>
              <a:latin typeface="Arial"/>
            </a:endParaRPr>
          </a:p>
        </p:txBody>
      </p:sp>
      <p:sp>
        <p:nvSpPr>
          <p:cNvPr id="1185" name="CustomShape 234"/>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Eco-Consistency – Definition/Example </a:t>
            </a:r>
            <a:endParaRPr b="0" lang="en-GB" sz="2200" strike="noStrike" u="none">
              <a:solidFill>
                <a:srgbClr val="000000"/>
              </a:solidFill>
              <a:effectLst/>
              <a:uFillTx/>
              <a:latin typeface="Arial"/>
            </a:endParaRPr>
          </a:p>
        </p:txBody>
      </p:sp>
      <p:sp>
        <p:nvSpPr>
          <p:cNvPr id="1186" name="CustomShape 235"/>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
        <p:nvSpPr>
          <p:cNvPr id="1187" name="CustomShape 236"/>
          <p:cNvSpPr/>
          <p:nvPr/>
        </p:nvSpPr>
        <p:spPr>
          <a:xfrm>
            <a:off x="282240" y="2160000"/>
            <a:ext cx="10778400" cy="135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188" name="Rectangle 265"/>
          <p:cNvSpPr/>
          <p:nvPr/>
        </p:nvSpPr>
        <p:spPr>
          <a:xfrm>
            <a:off x="540000" y="1980000"/>
            <a:ext cx="10330200" cy="1107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ndParaRPr>
          </a:p>
          <a:p>
            <a:pPr>
              <a:lnSpc>
                <a:spcPct val="100000"/>
              </a:lnSpc>
            </a:pPr>
            <a:r>
              <a:rPr b="0" lang="en-US" sz="1800" strike="noStrike" u="sng">
                <a:solidFill>
                  <a:srgbClr val="000000"/>
                </a:solidFill>
                <a:effectLst/>
                <a:uFillTx/>
                <a:latin typeface="DejaVu Sans"/>
                <a:ea typeface="DejaVu Sans"/>
              </a:rPr>
              <a:t>Eco-Consistency</a:t>
            </a:r>
            <a:r>
              <a:rPr b="0" lang="en-US" sz="1800" strike="noStrike" u="none">
                <a:solidFill>
                  <a:srgbClr val="000000"/>
                </a:solidFill>
                <a:effectLst/>
                <a:uFillTx/>
                <a:latin typeface="DejaVu Sans"/>
                <a:ea typeface="DejaVu Sans"/>
              </a:rPr>
              <a:t> → </a:t>
            </a:r>
            <a:r>
              <a:rPr b="0" i="1" lang="en-US" sz="1800" strike="noStrike" u="none">
                <a:solidFill>
                  <a:srgbClr val="000000"/>
                </a:solidFill>
                <a:effectLst/>
                <a:uFillTx/>
                <a:latin typeface="DejaVu Sans"/>
                <a:ea typeface="DejaVu Sans"/>
              </a:rPr>
              <a:t>Ecological consistency is based on the damage intensity and environmental impact of the resources used. Instead of reducing their quantity, their nature or the product design should be optimised so that no emissions or waste are produced, regardless of the level of consumption → i.e., Circular Economy</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9" name="CustomShape 33"/>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190" name="CustomShape 34"/>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Example:</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First, minimize the fuel/energy consumption of a car </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Second, operate the car with carbon-neutral fuel/energy </a:t>
            </a:r>
            <a:endParaRPr b="0" lang="en-GB" sz="1800" strike="noStrike" u="none">
              <a:solidFill>
                <a:srgbClr val="000000"/>
              </a:solidFill>
              <a:effectLst/>
              <a:uFillTx/>
              <a:latin typeface="Arial"/>
            </a:endParaRPr>
          </a:p>
        </p:txBody>
      </p:sp>
      <p:sp>
        <p:nvSpPr>
          <p:cNvPr id="1191" name="CustomShape 35"/>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Efficiency + Consistency – Example </a:t>
            </a:r>
            <a:endParaRPr b="0" lang="en-GB" sz="2200" strike="noStrike" u="none">
              <a:solidFill>
                <a:srgbClr val="000000"/>
              </a:solidFill>
              <a:effectLst/>
              <a:uFillTx/>
              <a:latin typeface="Arial"/>
            </a:endParaRPr>
          </a:p>
        </p:txBody>
      </p:sp>
      <p:sp>
        <p:nvSpPr>
          <p:cNvPr id="1192" name="CustomShape 64"/>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3" name="CustomShape 30"/>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194" name="CustomShape 31"/>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a typeface="DejaVu Sans"/>
            </a:endParaRPr>
          </a:p>
        </p:txBody>
      </p:sp>
      <p:sp>
        <p:nvSpPr>
          <p:cNvPr id="1195" name="CustomShape 32"/>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Definition(s)</a:t>
            </a:r>
            <a:endParaRPr b="0" lang="en-GB" sz="2200" strike="noStrike" u="none">
              <a:solidFill>
                <a:srgbClr val="000000"/>
              </a:solidFill>
              <a:effectLst/>
              <a:uFillTx/>
              <a:latin typeface="Arial"/>
            </a:endParaRPr>
          </a:p>
        </p:txBody>
      </p:sp>
      <p:sp>
        <p:nvSpPr>
          <p:cNvPr id="1196" name="CustomShape 65"/>
          <p:cNvSpPr/>
          <p:nvPr/>
        </p:nvSpPr>
        <p:spPr>
          <a:xfrm>
            <a:off x="264600" y="6300000"/>
            <a:ext cx="11070360" cy="358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GB" sz="900" strike="noStrike" u="none">
              <a:solidFill>
                <a:srgbClr val="000000"/>
              </a:solidFill>
              <a:effectLst/>
              <a:uFillTx/>
              <a:latin typeface="Arial"/>
            </a:endParaRPr>
          </a:p>
          <a:p>
            <a:pPr>
              <a:lnSpc>
                <a:spcPct val="100000"/>
              </a:lnSpc>
            </a:pPr>
            <a:endParaRPr b="0" lang="en-GB" sz="900" strike="noStrike" u="none">
              <a:solidFill>
                <a:srgbClr val="000000"/>
              </a:solidFill>
              <a:effectLst/>
              <a:uFillTx/>
              <a:latin typeface="Arial"/>
            </a:endParaRPr>
          </a:p>
        </p:txBody>
      </p:sp>
      <p:sp>
        <p:nvSpPr>
          <p:cNvPr id="1197" name="CustomShape 27"/>
          <p:cNvSpPr/>
          <p:nvPr/>
        </p:nvSpPr>
        <p:spPr>
          <a:xfrm>
            <a:off x="284400" y="2078640"/>
            <a:ext cx="11050560" cy="99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8" name="CustomShape 28"/>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199" name="CustomShape 248"/>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a typeface="DejaVu Sans"/>
            </a:endParaRPr>
          </a:p>
        </p:txBody>
      </p:sp>
      <p:sp>
        <p:nvSpPr>
          <p:cNvPr id="1200" name="CustomShape 249"/>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Definition(s)</a:t>
            </a:r>
            <a:endParaRPr b="0" lang="en-GB" sz="2200" strike="noStrike" u="none">
              <a:solidFill>
                <a:srgbClr val="000000"/>
              </a:solidFill>
              <a:effectLst/>
              <a:uFillTx/>
              <a:latin typeface="Arial"/>
            </a:endParaRPr>
          </a:p>
        </p:txBody>
      </p:sp>
      <p:sp>
        <p:nvSpPr>
          <p:cNvPr id="1201" name="CustomShape 250"/>
          <p:cNvSpPr/>
          <p:nvPr/>
        </p:nvSpPr>
        <p:spPr>
          <a:xfrm>
            <a:off x="264600" y="6300000"/>
            <a:ext cx="11070360" cy="36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Thomas Princen (2005) – The Logic of Sufficiency</a:t>
            </a:r>
            <a:endParaRPr b="0" lang="en-GB" sz="900" strike="noStrike" u="none">
              <a:solidFill>
                <a:srgbClr val="000000"/>
              </a:solidFill>
              <a:effectLst/>
              <a:uFillTx/>
              <a:latin typeface="Arial"/>
            </a:endParaRPr>
          </a:p>
          <a:p>
            <a:pPr>
              <a:lnSpc>
                <a:spcPct val="100000"/>
              </a:lnSpc>
            </a:pPr>
            <a:endParaRPr b="0" lang="en-GB" sz="900" strike="noStrike" u="none">
              <a:solidFill>
                <a:srgbClr val="000000"/>
              </a:solidFill>
              <a:effectLst/>
              <a:uFillTx/>
              <a:latin typeface="Arial"/>
            </a:endParaRPr>
          </a:p>
        </p:txBody>
      </p:sp>
      <p:sp>
        <p:nvSpPr>
          <p:cNvPr id="1202" name="CustomShape 251"/>
          <p:cNvSpPr/>
          <p:nvPr/>
        </p:nvSpPr>
        <p:spPr>
          <a:xfrm>
            <a:off x="284400" y="2078640"/>
            <a:ext cx="11050560" cy="99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203" name="Rectangle 280"/>
          <p:cNvSpPr/>
          <p:nvPr/>
        </p:nvSpPr>
        <p:spPr>
          <a:xfrm>
            <a:off x="540000" y="2078640"/>
            <a:ext cx="10614960" cy="8812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n-US" sz="1800" strike="noStrike" u="none">
                <a:solidFill>
                  <a:srgbClr val="000000"/>
                </a:solidFill>
                <a:effectLst/>
                <a:uFillTx/>
                <a:latin typeface="DejaVu Sans"/>
                <a:ea typeface="DejaVu Sans"/>
              </a:rPr>
              <a:t>“</a:t>
            </a:r>
            <a:r>
              <a:rPr b="0" i="1" lang="en-US" sz="1800" strike="noStrike" u="none">
                <a:solidFill>
                  <a:srgbClr val="000000"/>
                </a:solidFill>
                <a:effectLst/>
                <a:uFillTx/>
                <a:latin typeface="DejaVu Sans"/>
                <a:ea typeface="DejaVu Sans"/>
              </a:rPr>
              <a:t>Seeking enough when more is possible is both intuitive and rational - personally, organizationally and ecologically. And under global ecological constraint, it is ethical.</a:t>
            </a:r>
            <a:r>
              <a:rPr b="0" lang="en-US" sz="1800" strike="noStrike" u="none">
                <a:solidFill>
                  <a:srgbClr val="000000"/>
                </a:solidFill>
                <a:effectLst/>
                <a:uFillTx/>
                <a:latin typeface="DejaVu Sans"/>
                <a:ea typeface="DejaVu Sans"/>
              </a:rPr>
              <a:t>” - Thomas Princen</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4" name="CustomShape 242"/>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205" name="CustomShape 243"/>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a typeface="DejaVu Sans"/>
            </a:endParaRPr>
          </a:p>
        </p:txBody>
      </p:sp>
      <p:sp>
        <p:nvSpPr>
          <p:cNvPr id="1206" name="CustomShape 244"/>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Definition(s)</a:t>
            </a:r>
            <a:endParaRPr b="0" lang="en-GB" sz="2200" strike="noStrike" u="none">
              <a:solidFill>
                <a:srgbClr val="000000"/>
              </a:solidFill>
              <a:effectLst/>
              <a:uFillTx/>
              <a:latin typeface="Arial"/>
            </a:endParaRPr>
          </a:p>
        </p:txBody>
      </p:sp>
      <p:sp>
        <p:nvSpPr>
          <p:cNvPr id="1207" name="CustomShape 245"/>
          <p:cNvSpPr/>
          <p:nvPr/>
        </p:nvSpPr>
        <p:spPr>
          <a:xfrm>
            <a:off x="264600" y="6300000"/>
            <a:ext cx="11070360" cy="36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Thomas Princen (2005) – The Logic of Sufficiency</a:t>
            </a:r>
            <a:endParaRPr b="0" lang="en-GB" sz="900" strike="noStrike" u="none">
              <a:solidFill>
                <a:srgbClr val="000000"/>
              </a:solidFill>
              <a:effectLst/>
              <a:uFillTx/>
              <a:latin typeface="Arial"/>
            </a:endParaRPr>
          </a:p>
          <a:p>
            <a:pPr>
              <a:lnSpc>
                <a:spcPct val="100000"/>
              </a:lnSpc>
            </a:pPr>
            <a:r>
              <a:rPr b="0" lang="de-DE" sz="900" strike="noStrike" u="none">
                <a:solidFill>
                  <a:srgbClr val="a6a6a6"/>
                </a:solidFill>
                <a:effectLst/>
                <a:uFillTx/>
                <a:latin typeface="Roboto"/>
                <a:ea typeface="Roboto"/>
              </a:rPr>
              <a:t>IPCC AR6 Synthesis Report: Climate Change 2023 – https://www.ipcc.ch/report/sixth-assessment-report-cycle/</a:t>
            </a:r>
            <a:endParaRPr b="0" lang="en-GB" sz="900" strike="noStrike" u="none">
              <a:solidFill>
                <a:srgbClr val="000000"/>
              </a:solidFill>
              <a:effectLst/>
              <a:uFillTx/>
              <a:latin typeface="Arial"/>
            </a:endParaRPr>
          </a:p>
        </p:txBody>
      </p:sp>
      <p:sp>
        <p:nvSpPr>
          <p:cNvPr id="1208" name="CustomShape 246"/>
          <p:cNvSpPr/>
          <p:nvPr/>
        </p:nvSpPr>
        <p:spPr>
          <a:xfrm>
            <a:off x="284400" y="2078640"/>
            <a:ext cx="11050560" cy="99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209" name="Rectangle 286"/>
          <p:cNvSpPr/>
          <p:nvPr/>
        </p:nvSpPr>
        <p:spPr>
          <a:xfrm>
            <a:off x="540000" y="2078640"/>
            <a:ext cx="10614960" cy="8812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n-US" sz="1800" strike="noStrike" u="none">
                <a:solidFill>
                  <a:srgbClr val="000000"/>
                </a:solidFill>
                <a:effectLst/>
                <a:uFillTx/>
                <a:latin typeface="DejaVu Sans"/>
                <a:ea typeface="DejaVu Sans"/>
              </a:rPr>
              <a:t>“</a:t>
            </a:r>
            <a:r>
              <a:rPr b="0" i="1" lang="en-US" sz="1800" strike="noStrike" u="none">
                <a:solidFill>
                  <a:srgbClr val="000000"/>
                </a:solidFill>
                <a:effectLst/>
                <a:uFillTx/>
                <a:latin typeface="DejaVu Sans"/>
                <a:ea typeface="DejaVu Sans"/>
              </a:rPr>
              <a:t>Seeking enough when more is possible is both intuitive and rational - personally, organizationally and ecologically. And under global ecological constraint, it is ethical.</a:t>
            </a:r>
            <a:r>
              <a:rPr b="0" lang="en-US" sz="1800" strike="noStrike" u="none">
                <a:solidFill>
                  <a:srgbClr val="000000"/>
                </a:solidFill>
                <a:effectLst/>
                <a:uFillTx/>
                <a:latin typeface="DejaVu Sans"/>
                <a:ea typeface="DejaVu Sans"/>
              </a:rPr>
              <a:t>” - Thomas Princen</a:t>
            </a:r>
            <a:endParaRPr b="0" lang="en-GB" sz="1800" strike="noStrike" u="none">
              <a:solidFill>
                <a:srgbClr val="000000"/>
              </a:solidFill>
              <a:effectLst/>
              <a:uFillTx/>
              <a:latin typeface="Arial"/>
            </a:endParaRPr>
          </a:p>
        </p:txBody>
      </p:sp>
      <p:sp>
        <p:nvSpPr>
          <p:cNvPr id="1210" name="Rectangle 287"/>
          <p:cNvSpPr/>
          <p:nvPr/>
        </p:nvSpPr>
        <p:spPr>
          <a:xfrm>
            <a:off x="360000" y="3780000"/>
            <a:ext cx="10614960" cy="89496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n-US" sz="1800" strike="noStrike" u="none">
                <a:solidFill>
                  <a:srgbClr val="000000"/>
                </a:solidFill>
                <a:effectLst/>
                <a:uFillTx/>
                <a:latin typeface="DejaVu Sans"/>
                <a:ea typeface="DejaVu Sans"/>
              </a:rPr>
              <a:t>“</a:t>
            </a:r>
            <a:r>
              <a:rPr b="0" i="1" lang="en-US" sz="1800" strike="noStrike" u="none">
                <a:solidFill>
                  <a:srgbClr val="000000"/>
                </a:solidFill>
                <a:effectLst/>
                <a:uFillTx/>
                <a:latin typeface="DejaVu Sans"/>
                <a:ea typeface="DejaVu Sans"/>
              </a:rPr>
              <a:t>A set of policy measures and daily practices that avoid the demand for energy, materials, land, water, and other natural resources while providing wellbeing for all within the planetary boundaries.</a:t>
            </a:r>
            <a:r>
              <a:rPr b="0" lang="en-US" sz="1800" strike="noStrike" u="none">
                <a:solidFill>
                  <a:srgbClr val="000000"/>
                </a:solidFill>
                <a:effectLst/>
                <a:uFillTx/>
                <a:latin typeface="DejaVu Sans"/>
                <a:ea typeface="DejaVu Sans"/>
              </a:rPr>
              <a:t>” - IPCC</a:t>
            </a:r>
            <a:endParaRPr b="0" lang="en-GB" sz="1800" strike="noStrike" u="none">
              <a:solidFill>
                <a:srgbClr val="000000"/>
              </a:solidFill>
              <a:effectLst/>
              <a:uFillTx/>
              <a:latin typeface="Arial"/>
            </a:endParaRPr>
          </a:p>
        </p:txBody>
      </p:sp>
      <p:sp>
        <p:nvSpPr>
          <p:cNvPr id="1211" name="CustomShape 247"/>
          <p:cNvSpPr/>
          <p:nvPr/>
        </p:nvSpPr>
        <p:spPr>
          <a:xfrm>
            <a:off x="284400" y="3679920"/>
            <a:ext cx="11050560" cy="117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2" name="CustomShape 29"/>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213" name="CustomShape 36"/>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a typeface="DejaVu Sans"/>
            </a:endParaRPr>
          </a:p>
        </p:txBody>
      </p:sp>
      <p:sp>
        <p:nvSpPr>
          <p:cNvPr id="1214" name="CustomShape 37"/>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Definition(s)</a:t>
            </a:r>
            <a:endParaRPr b="0" lang="en-GB" sz="2200" strike="noStrike" u="none">
              <a:solidFill>
                <a:srgbClr val="000000"/>
              </a:solidFill>
              <a:effectLst/>
              <a:uFillTx/>
              <a:latin typeface="Arial"/>
            </a:endParaRPr>
          </a:p>
        </p:txBody>
      </p:sp>
      <p:sp>
        <p:nvSpPr>
          <p:cNvPr id="1215" name="CustomShape 38"/>
          <p:cNvSpPr/>
          <p:nvPr/>
        </p:nvSpPr>
        <p:spPr>
          <a:xfrm>
            <a:off x="264600" y="6300000"/>
            <a:ext cx="11070360" cy="36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Thomas Princen (2005) – The Logic of Sufficiency</a:t>
            </a:r>
            <a:endParaRPr b="0" lang="en-GB" sz="900" strike="noStrike" u="none">
              <a:solidFill>
                <a:srgbClr val="000000"/>
              </a:solidFill>
              <a:effectLst/>
              <a:uFillTx/>
              <a:latin typeface="Arial"/>
            </a:endParaRPr>
          </a:p>
          <a:p>
            <a:pPr>
              <a:lnSpc>
                <a:spcPct val="100000"/>
              </a:lnSpc>
            </a:pPr>
            <a:r>
              <a:rPr b="0" lang="de-DE" sz="900" strike="noStrike" u="none">
                <a:solidFill>
                  <a:srgbClr val="a6a6a6"/>
                </a:solidFill>
                <a:effectLst/>
                <a:uFillTx/>
                <a:latin typeface="Roboto"/>
                <a:ea typeface="Roboto"/>
              </a:rPr>
              <a:t>IPCC AR6 Synthesis Report: Climate Change 2023 – https://www.ipcc.ch/report/sixth-assessment-report-cycle/</a:t>
            </a:r>
            <a:endParaRPr b="0" lang="en-GB" sz="900" strike="noStrike" u="none">
              <a:solidFill>
                <a:srgbClr val="000000"/>
              </a:solidFill>
              <a:effectLst/>
              <a:uFillTx/>
              <a:latin typeface="Arial"/>
            </a:endParaRPr>
          </a:p>
        </p:txBody>
      </p:sp>
      <p:sp>
        <p:nvSpPr>
          <p:cNvPr id="1216" name="CustomShape 62"/>
          <p:cNvSpPr/>
          <p:nvPr/>
        </p:nvSpPr>
        <p:spPr>
          <a:xfrm>
            <a:off x="284400" y="2078640"/>
            <a:ext cx="11050560" cy="99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217" name="Rectangle 294"/>
          <p:cNvSpPr/>
          <p:nvPr/>
        </p:nvSpPr>
        <p:spPr>
          <a:xfrm>
            <a:off x="540000" y="2078640"/>
            <a:ext cx="10614960" cy="8812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n-US" sz="1800" strike="noStrike" u="none">
                <a:solidFill>
                  <a:srgbClr val="000000"/>
                </a:solidFill>
                <a:effectLst/>
                <a:uFillTx/>
                <a:latin typeface="DejaVu Sans"/>
                <a:ea typeface="DejaVu Sans"/>
              </a:rPr>
              <a:t>“</a:t>
            </a:r>
            <a:r>
              <a:rPr b="0" i="1" lang="en-US" sz="1800" strike="noStrike" u="none">
                <a:solidFill>
                  <a:srgbClr val="000000"/>
                </a:solidFill>
                <a:effectLst/>
                <a:uFillTx/>
                <a:latin typeface="DejaVu Sans"/>
                <a:ea typeface="DejaVu Sans"/>
              </a:rPr>
              <a:t>Seeking enough when more is possible is both intuitive and rational - personally, organizationally and ecologically. And under global ecological constraint, it is ethical.</a:t>
            </a:r>
            <a:r>
              <a:rPr b="0" lang="en-US" sz="1800" strike="noStrike" u="none">
                <a:solidFill>
                  <a:srgbClr val="000000"/>
                </a:solidFill>
                <a:effectLst/>
                <a:uFillTx/>
                <a:latin typeface="DejaVu Sans"/>
                <a:ea typeface="DejaVu Sans"/>
              </a:rPr>
              <a:t>” - Thomas Princen</a:t>
            </a:r>
            <a:endParaRPr b="0" lang="en-GB" sz="1800" strike="noStrike" u="none">
              <a:solidFill>
                <a:srgbClr val="000000"/>
              </a:solidFill>
              <a:effectLst/>
              <a:uFillTx/>
              <a:latin typeface="Arial"/>
            </a:endParaRPr>
          </a:p>
        </p:txBody>
      </p:sp>
      <p:sp>
        <p:nvSpPr>
          <p:cNvPr id="1218" name="Rectangle 295"/>
          <p:cNvSpPr/>
          <p:nvPr/>
        </p:nvSpPr>
        <p:spPr>
          <a:xfrm>
            <a:off x="360000" y="3780000"/>
            <a:ext cx="10614960" cy="89496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n-US" sz="1800" strike="noStrike" u="none">
                <a:solidFill>
                  <a:srgbClr val="000000"/>
                </a:solidFill>
                <a:effectLst/>
                <a:uFillTx/>
                <a:latin typeface="DejaVu Sans"/>
                <a:ea typeface="DejaVu Sans"/>
              </a:rPr>
              <a:t>“</a:t>
            </a:r>
            <a:r>
              <a:rPr b="0" i="1" lang="en-US" sz="1800" strike="noStrike" u="none">
                <a:solidFill>
                  <a:srgbClr val="000000"/>
                </a:solidFill>
                <a:effectLst/>
                <a:uFillTx/>
                <a:latin typeface="DejaVu Sans"/>
                <a:ea typeface="DejaVu Sans"/>
              </a:rPr>
              <a:t>A set of policy measures and daily practices that avoid the demand for energy, materials, land, water, and other natural resources while providing wellbeing for all within the planetary boundaries.</a:t>
            </a:r>
            <a:r>
              <a:rPr b="0" lang="en-US" sz="1800" strike="noStrike" u="none">
                <a:solidFill>
                  <a:srgbClr val="000000"/>
                </a:solidFill>
                <a:effectLst/>
                <a:uFillTx/>
                <a:latin typeface="DejaVu Sans"/>
                <a:ea typeface="DejaVu Sans"/>
              </a:rPr>
              <a:t>” - IPCC</a:t>
            </a:r>
            <a:endParaRPr b="0" lang="en-GB" sz="1800" strike="noStrike" u="none">
              <a:solidFill>
                <a:srgbClr val="000000"/>
              </a:solidFill>
              <a:effectLst/>
              <a:uFillTx/>
              <a:latin typeface="Arial"/>
            </a:endParaRPr>
          </a:p>
        </p:txBody>
      </p:sp>
      <p:sp>
        <p:nvSpPr>
          <p:cNvPr id="1219" name="CustomShape 63"/>
          <p:cNvSpPr/>
          <p:nvPr/>
        </p:nvSpPr>
        <p:spPr>
          <a:xfrm>
            <a:off x="284400" y="3679920"/>
            <a:ext cx="11050560" cy="117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220" name="Rectangle 297"/>
          <p:cNvSpPr/>
          <p:nvPr/>
        </p:nvSpPr>
        <p:spPr>
          <a:xfrm>
            <a:off x="3500640" y="5400000"/>
            <a:ext cx="4954320" cy="615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trike="noStrike" u="none">
                <a:solidFill>
                  <a:srgbClr val="000000"/>
                </a:solidFill>
                <a:effectLst/>
                <a:uFillTx/>
                <a:latin typeface="DejaVu Sans"/>
                <a:ea typeface="DejaVu Sans"/>
              </a:rPr>
              <a:t>Sufficiency</a:t>
            </a:r>
            <a:r>
              <a:rPr b="0" lang="de-DE" sz="1800" strike="noStrike" u="none">
                <a:solidFill>
                  <a:srgbClr val="000000"/>
                </a:solidFill>
                <a:effectLst/>
                <a:uFillTx/>
                <a:latin typeface="DejaVu Sans"/>
                <a:ea typeface="DejaVu Sans"/>
              </a:rPr>
              <a:t> → </a:t>
            </a:r>
            <a:r>
              <a:rPr b="1" lang="en-GB" sz="1800" strike="noStrike" u="none">
                <a:solidFill>
                  <a:srgbClr val="000000"/>
                </a:solidFill>
                <a:effectLst/>
                <a:uFillTx/>
                <a:latin typeface="DejaVu Sans"/>
                <a:ea typeface="DejaVu Sans"/>
              </a:rPr>
              <a:t> All you need is less</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1" name="CustomShape 43"/>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222" name="CustomShape 44"/>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none">
                <a:solidFill>
                  <a:srgbClr val="000000"/>
                </a:solidFill>
                <a:effectLst/>
                <a:uFillTx/>
                <a:latin typeface="DejaVu Sans"/>
                <a:ea typeface="DejaVu Sans"/>
              </a:rPr>
              <a:t>Scenario:</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Size: 120m²</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Heat demand: 130 kWh pro m² and year</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GB" sz="1800" strike="noStrike" u="sng">
                <a:solidFill>
                  <a:srgbClr val="ffffff"/>
                </a:solidFill>
                <a:effectLst/>
                <a:uFillTx/>
                <a:latin typeface="DejaVu Sans"/>
                <a:ea typeface="DejaVu Sans"/>
              </a:rPr>
              <a:t>Energy-)efficiency:</a:t>
            </a:r>
            <a:r>
              <a:rPr b="0" lang="en-GB" sz="1800" strike="noStrike" u="none">
                <a:solidFill>
                  <a:srgbClr val="ffffff"/>
                </a:solidFill>
                <a:effectLst/>
                <a:uFillTx/>
                <a:latin typeface="DejaVu Sans"/>
                <a:ea typeface="DejaVu Sans"/>
              </a:rPr>
              <a:t> Well-insulated houses and highly-efficient heating systems require less energy to heat the apartment, i.e., minimize the heat demand as much as possible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sng">
                <a:solidFill>
                  <a:srgbClr val="ffffff"/>
                </a:solidFill>
                <a:effectLst/>
                <a:uFillTx/>
                <a:latin typeface="DejaVu Sans"/>
                <a:ea typeface="DejaVu Sans"/>
              </a:rPr>
              <a:t>Consistency:</a:t>
            </a:r>
            <a:r>
              <a:rPr b="0" lang="en-GB" sz="1800" strike="noStrike" u="none">
                <a:solidFill>
                  <a:srgbClr val="ffffff"/>
                </a:solidFill>
                <a:effectLst/>
                <a:uFillTx/>
                <a:latin typeface="DejaVu Sans"/>
                <a:ea typeface="DejaVu Sans"/>
              </a:rPr>
              <a:t> Minimize ecological damage by choosing the most sustainable way of heating</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GB" sz="1800" strike="noStrike" u="sng">
                <a:solidFill>
                  <a:srgbClr val="ffffff"/>
                </a:solidFill>
                <a:effectLst/>
                <a:uFillTx/>
                <a:latin typeface="DejaVu Sans"/>
                <a:ea typeface="DejaVu Sans"/>
              </a:rPr>
              <a:t>Sufficiency:</a:t>
            </a:r>
            <a:r>
              <a:rPr b="0" lang="en-GB" sz="1800" strike="noStrike" u="none">
                <a:solidFill>
                  <a:srgbClr val="ffffff"/>
                </a:solidFill>
                <a:effectLst/>
                <a:uFillTx/>
                <a:latin typeface="DejaVu Sans"/>
                <a:ea typeface="DejaVu Sans"/>
              </a:rPr>
              <a:t> Live in a smaller apartment (or utilize less space per person)</a:t>
            </a:r>
            <a:endParaRPr b="0" lang="en-GB" sz="1800" strike="noStrike" u="none">
              <a:solidFill>
                <a:srgbClr val="000000"/>
              </a:solidFill>
              <a:effectLst/>
              <a:uFillTx/>
              <a:latin typeface="Arial"/>
            </a:endParaRPr>
          </a:p>
        </p:txBody>
      </p:sp>
      <p:sp>
        <p:nvSpPr>
          <p:cNvPr id="1223" name="CustomShape 48"/>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Example – New Apartment</a:t>
            </a:r>
            <a:r>
              <a:rPr b="1" lang="en-GB" sz="2200" strike="noStrike" u="none">
                <a:solidFill>
                  <a:srgbClr val="666666"/>
                </a:solidFill>
                <a:effectLst/>
                <a:uFillTx/>
                <a:latin typeface="DejaVu Sans"/>
                <a:ea typeface="DejaVu Sans"/>
              </a:rPr>
              <a:t>	</a:t>
            </a:r>
            <a:endParaRPr b="0" lang="en-GB" sz="2200" strike="noStrike" u="none">
              <a:solidFill>
                <a:srgbClr val="000000"/>
              </a:solidFill>
              <a:effectLst/>
              <a:uFillTx/>
              <a:latin typeface="Arial"/>
            </a:endParaRPr>
          </a:p>
        </p:txBody>
      </p:sp>
      <p:sp>
        <p:nvSpPr>
          <p:cNvPr id="1224" name="CustomShape 49"/>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5" name="CustomShape 45"/>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226" name="CustomShape 46"/>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none">
                <a:solidFill>
                  <a:srgbClr val="000000"/>
                </a:solidFill>
                <a:effectLst/>
                <a:uFillTx/>
                <a:latin typeface="DejaVu Sans"/>
                <a:ea typeface="DejaVu Sans"/>
              </a:rPr>
              <a:t>Scenario:</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Size: 120m²</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Heat demand: 130 kWh pro m² and year</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sng">
                <a:solidFill>
                  <a:srgbClr val="000000"/>
                </a:solidFill>
                <a:effectLst/>
                <a:uFillTx/>
                <a:latin typeface="DejaVu Sans"/>
                <a:ea typeface="DejaVu Sans"/>
              </a:rPr>
              <a:t>(Energy-)efficiency:</a:t>
            </a:r>
            <a:r>
              <a:rPr b="0" lang="en-GB" sz="1800" strike="noStrike" u="none">
                <a:solidFill>
                  <a:srgbClr val="000000"/>
                </a:solidFill>
                <a:effectLst/>
                <a:uFillTx/>
                <a:latin typeface="DejaVu Sans"/>
                <a:ea typeface="DejaVu Sans"/>
              </a:rPr>
              <a:t> Well-insulated houses and highly-efficient heating systems require less energy to heat the apartment, i.e., minimize the heat demand as much as possible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sng">
                <a:solidFill>
                  <a:srgbClr val="ffffff"/>
                </a:solidFill>
                <a:effectLst/>
                <a:uFillTx/>
                <a:latin typeface="DejaVu Sans"/>
                <a:ea typeface="DejaVu Sans"/>
              </a:rPr>
              <a:t>Consistency:</a:t>
            </a:r>
            <a:r>
              <a:rPr b="0" lang="en-GB" sz="1800" strike="noStrike" u="none">
                <a:solidFill>
                  <a:srgbClr val="ffffff"/>
                </a:solidFill>
                <a:effectLst/>
                <a:uFillTx/>
                <a:latin typeface="DejaVu Sans"/>
                <a:ea typeface="DejaVu Sans"/>
              </a:rPr>
              <a:t> Minimize ecological damage by choosing the most sustainable way of heating</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GB" sz="1800" strike="noStrike" u="sng">
                <a:solidFill>
                  <a:srgbClr val="ffffff"/>
                </a:solidFill>
                <a:effectLst/>
                <a:uFillTx/>
                <a:latin typeface="DejaVu Sans"/>
                <a:ea typeface="DejaVu Sans"/>
              </a:rPr>
              <a:t>Sufficiency:</a:t>
            </a:r>
            <a:r>
              <a:rPr b="0" lang="en-GB" sz="1800" strike="noStrike" u="none">
                <a:solidFill>
                  <a:srgbClr val="ffffff"/>
                </a:solidFill>
                <a:effectLst/>
                <a:uFillTx/>
                <a:latin typeface="DejaVu Sans"/>
                <a:ea typeface="DejaVu Sans"/>
              </a:rPr>
              <a:t> Live in a smaller apartment (or utilize less space per person)</a:t>
            </a:r>
            <a:endParaRPr b="0" lang="en-GB" sz="1800" strike="noStrike" u="none">
              <a:solidFill>
                <a:srgbClr val="000000"/>
              </a:solidFill>
              <a:effectLst/>
              <a:uFillTx/>
              <a:latin typeface="Arial"/>
            </a:endParaRPr>
          </a:p>
        </p:txBody>
      </p:sp>
      <p:sp>
        <p:nvSpPr>
          <p:cNvPr id="1227" name="CustomShape 47"/>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Example – New Apartment</a:t>
            </a:r>
            <a:r>
              <a:rPr b="1" lang="en-GB" sz="2200" strike="noStrike" u="none">
                <a:solidFill>
                  <a:srgbClr val="666666"/>
                </a:solidFill>
                <a:effectLst/>
                <a:uFillTx/>
                <a:latin typeface="DejaVu Sans"/>
                <a:ea typeface="DejaVu Sans"/>
              </a:rPr>
              <a:t>	</a:t>
            </a:r>
            <a:endParaRPr b="0" lang="en-GB" sz="2200" strike="noStrike" u="none">
              <a:solidFill>
                <a:srgbClr val="000000"/>
              </a:solidFill>
              <a:effectLst/>
              <a:uFillTx/>
              <a:latin typeface="Arial"/>
            </a:endParaRPr>
          </a:p>
        </p:txBody>
      </p:sp>
      <p:sp>
        <p:nvSpPr>
          <p:cNvPr id="1228" name="CustomShape 66"/>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9" name="CustomShape 50"/>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230" name="CustomShape 51"/>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none">
                <a:solidFill>
                  <a:srgbClr val="000000"/>
                </a:solidFill>
                <a:effectLst/>
                <a:uFillTx/>
                <a:latin typeface="DejaVu Sans"/>
                <a:ea typeface="DejaVu Sans"/>
              </a:rPr>
              <a:t>Scenario:</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Size: 120m²</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Heat demand: 130 kWh pro m² and year</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sng">
                <a:solidFill>
                  <a:srgbClr val="000000"/>
                </a:solidFill>
                <a:effectLst/>
                <a:uFillTx/>
                <a:latin typeface="DejaVu Sans"/>
                <a:ea typeface="DejaVu Sans"/>
              </a:rPr>
              <a:t>(Energy-)efficiency:</a:t>
            </a:r>
            <a:r>
              <a:rPr b="0" lang="en-GB" sz="1800" strike="noStrike" u="none">
                <a:solidFill>
                  <a:srgbClr val="000000"/>
                </a:solidFill>
                <a:effectLst/>
                <a:uFillTx/>
                <a:latin typeface="DejaVu Sans"/>
                <a:ea typeface="DejaVu Sans"/>
              </a:rPr>
              <a:t> Well-insulated houses and highly-efficient heating systems require less energy to heat the apartment, i.e., minimize the heat demand as much as possible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sng">
                <a:solidFill>
                  <a:srgbClr val="000000"/>
                </a:solidFill>
                <a:effectLst/>
                <a:uFillTx/>
                <a:latin typeface="DejaVu Sans"/>
                <a:ea typeface="DejaVu Sans"/>
              </a:rPr>
              <a:t>Consistency:</a:t>
            </a:r>
            <a:r>
              <a:rPr b="0" lang="en-GB" sz="1800" strike="noStrike" u="none">
                <a:solidFill>
                  <a:srgbClr val="000000"/>
                </a:solidFill>
                <a:effectLst/>
                <a:uFillTx/>
                <a:latin typeface="DejaVu Sans"/>
                <a:ea typeface="DejaVu Sans"/>
              </a:rPr>
              <a:t> Minimize ecological damage by choosing the most sustainable way of heating</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GB" sz="1800" strike="noStrike" u="sng">
                <a:solidFill>
                  <a:srgbClr val="ffffff"/>
                </a:solidFill>
                <a:effectLst/>
                <a:uFillTx/>
                <a:latin typeface="DejaVu Sans"/>
                <a:ea typeface="DejaVu Sans"/>
              </a:rPr>
              <a:t>Sufficiency:</a:t>
            </a:r>
            <a:r>
              <a:rPr b="0" lang="en-GB" sz="1800" strike="noStrike" u="none">
                <a:solidFill>
                  <a:srgbClr val="ffffff"/>
                </a:solidFill>
                <a:effectLst/>
                <a:uFillTx/>
                <a:latin typeface="DejaVu Sans"/>
                <a:ea typeface="DejaVu Sans"/>
              </a:rPr>
              <a:t> Live in a smaller apartment (or utilize less space per person)</a:t>
            </a:r>
            <a:endParaRPr b="0" lang="en-GB" sz="1800" strike="noStrike" u="none">
              <a:solidFill>
                <a:srgbClr val="000000"/>
              </a:solidFill>
              <a:effectLst/>
              <a:uFillTx/>
              <a:latin typeface="Arial"/>
            </a:endParaRPr>
          </a:p>
        </p:txBody>
      </p:sp>
      <p:sp>
        <p:nvSpPr>
          <p:cNvPr id="1231" name="CustomShape 52"/>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Example – New Apartment</a:t>
            </a:r>
            <a:r>
              <a:rPr b="1" lang="en-GB" sz="2200" strike="noStrike" u="none">
                <a:solidFill>
                  <a:srgbClr val="666666"/>
                </a:solidFill>
                <a:effectLst/>
                <a:uFillTx/>
                <a:latin typeface="DejaVu Sans"/>
                <a:ea typeface="DejaVu Sans"/>
              </a:rPr>
              <a:t>	</a:t>
            </a:r>
            <a:endParaRPr b="0" lang="en-GB" sz="2200" strike="noStrike" u="none">
              <a:solidFill>
                <a:srgbClr val="000000"/>
              </a:solidFill>
              <a:effectLst/>
              <a:uFillTx/>
              <a:latin typeface="Arial"/>
            </a:endParaRPr>
          </a:p>
        </p:txBody>
      </p:sp>
      <p:sp>
        <p:nvSpPr>
          <p:cNvPr id="1232" name="CustomShape 53"/>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3" name="CustomShape 39"/>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234" name="CustomShape 40"/>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none">
                <a:solidFill>
                  <a:srgbClr val="000000"/>
                </a:solidFill>
                <a:effectLst/>
                <a:uFillTx/>
                <a:latin typeface="DejaVu Sans"/>
                <a:ea typeface="DejaVu Sans"/>
              </a:rPr>
              <a:t>Scenario:</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Size: 120m²</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Heat demand: 130 kWh pro m² and year</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sng">
                <a:solidFill>
                  <a:srgbClr val="000000"/>
                </a:solidFill>
                <a:effectLst/>
                <a:uFillTx/>
                <a:latin typeface="DejaVu Sans"/>
                <a:ea typeface="DejaVu Sans"/>
              </a:rPr>
              <a:t>(Energy-)efficiency:</a:t>
            </a:r>
            <a:r>
              <a:rPr b="0" lang="en-GB" sz="1800" strike="noStrike" u="none">
                <a:solidFill>
                  <a:srgbClr val="000000"/>
                </a:solidFill>
                <a:effectLst/>
                <a:uFillTx/>
                <a:latin typeface="DejaVu Sans"/>
                <a:ea typeface="DejaVu Sans"/>
              </a:rPr>
              <a:t> Well-insulated houses and highly-efficient heating systems require less energy to heat the apartment, i.e., minimize the heat demand as much as possible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sng">
                <a:solidFill>
                  <a:srgbClr val="000000"/>
                </a:solidFill>
                <a:effectLst/>
                <a:uFillTx/>
                <a:latin typeface="DejaVu Sans"/>
                <a:ea typeface="DejaVu Sans"/>
              </a:rPr>
              <a:t>Consistency:</a:t>
            </a:r>
            <a:r>
              <a:rPr b="0" lang="en-GB" sz="1800" strike="noStrike" u="none">
                <a:solidFill>
                  <a:srgbClr val="000000"/>
                </a:solidFill>
                <a:effectLst/>
                <a:uFillTx/>
                <a:latin typeface="DejaVu Sans"/>
                <a:ea typeface="DejaVu Sans"/>
              </a:rPr>
              <a:t> Minimize ecological damage by choosing the most sustainable way of heating</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GB" sz="1800" strike="noStrike" u="sng">
                <a:solidFill>
                  <a:srgbClr val="000000"/>
                </a:solidFill>
                <a:effectLst/>
                <a:uFillTx/>
                <a:latin typeface="DejaVu Sans"/>
                <a:ea typeface="DejaVu Sans"/>
              </a:rPr>
              <a:t>Sufficiency:</a:t>
            </a:r>
            <a:r>
              <a:rPr b="0" lang="en-GB" sz="1800" strike="noStrike" u="none">
                <a:solidFill>
                  <a:srgbClr val="000000"/>
                </a:solidFill>
                <a:effectLst/>
                <a:uFillTx/>
                <a:latin typeface="DejaVu Sans"/>
                <a:ea typeface="DejaVu Sans"/>
              </a:rPr>
              <a:t> Live in a smaller apartment (or utilize less space per person)</a:t>
            </a:r>
            <a:endParaRPr b="0" lang="en-GB" sz="1800" strike="noStrike" u="none">
              <a:solidFill>
                <a:srgbClr val="000000"/>
              </a:solidFill>
              <a:effectLst/>
              <a:uFillTx/>
              <a:latin typeface="Arial"/>
            </a:endParaRPr>
          </a:p>
        </p:txBody>
      </p:sp>
      <p:sp>
        <p:nvSpPr>
          <p:cNvPr id="1235" name="CustomShape 41"/>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Example – New Apartment</a:t>
            </a:r>
            <a:r>
              <a:rPr b="1" lang="en-GB" sz="2200" strike="noStrike" u="none">
                <a:solidFill>
                  <a:srgbClr val="666666"/>
                </a:solidFill>
                <a:effectLst/>
                <a:uFillTx/>
                <a:latin typeface="DejaVu Sans"/>
                <a:ea typeface="DejaVu Sans"/>
              </a:rPr>
              <a:t>	</a:t>
            </a:r>
            <a:endParaRPr b="0" lang="en-GB" sz="2200" strike="noStrike" u="none">
              <a:solidFill>
                <a:srgbClr val="000000"/>
              </a:solidFill>
              <a:effectLst/>
              <a:uFillTx/>
              <a:latin typeface="Arial"/>
            </a:endParaRPr>
          </a:p>
        </p:txBody>
      </p:sp>
      <p:sp>
        <p:nvSpPr>
          <p:cNvPr id="1236" name="CustomShape 42"/>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7" name="CustomShape 79"/>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238" name="CustomShape 80"/>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OpenSymbol"/>
              <a:buChar char="■"/>
            </a:pPr>
            <a:r>
              <a:rPr b="0" lang="en-GB" sz="1800" strike="noStrike" u="sng">
                <a:solidFill>
                  <a:srgbClr val="000000"/>
                </a:solidFill>
                <a:effectLst/>
                <a:uFillTx/>
                <a:latin typeface="DejaVu Sans"/>
                <a:ea typeface="DejaVu Sans"/>
              </a:rPr>
              <a:t>Problem(s):</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Efficiency and consistency allow us to either: </a:t>
            </a:r>
            <a:endParaRPr b="0" lang="en-GB" sz="1800" strike="noStrike" u="none">
              <a:solidFill>
                <a:srgbClr val="000000"/>
              </a:solidFill>
              <a:effectLst/>
              <a:uFillTx/>
              <a:latin typeface="Arial"/>
            </a:endParaRPr>
          </a:p>
          <a:p>
            <a:pPr lvl="2" marL="648000" indent="-216000">
              <a:lnSpc>
                <a:spcPct val="100000"/>
              </a:lnSpc>
              <a:spcBef>
                <a:spcPts val="360"/>
              </a:spcBef>
              <a:buClr>
                <a:srgbClr val="008c4f"/>
              </a:buClr>
              <a:buSzPct val="45000"/>
              <a:buFont typeface="DejaVu Sans"/>
              <a:buChar char="—"/>
            </a:pPr>
            <a:r>
              <a:rPr b="0" lang="en-GB" sz="1800" strike="noStrike" u="none">
                <a:solidFill>
                  <a:srgbClr val="000000"/>
                </a:solidFill>
                <a:effectLst/>
                <a:uFillTx/>
                <a:latin typeface="DejaVu Sans"/>
                <a:ea typeface="DejaVu Sans"/>
              </a:rPr>
              <a:t>a) continue living a nice life using less resources</a:t>
            </a:r>
            <a:endParaRPr b="0" lang="en-GB" sz="1800" strike="noStrike" u="none">
              <a:solidFill>
                <a:srgbClr val="000000"/>
              </a:solidFill>
              <a:effectLst/>
              <a:uFillTx/>
              <a:latin typeface="Arial"/>
            </a:endParaRPr>
          </a:p>
          <a:p>
            <a:pPr lvl="2" marL="648000" indent="-216000">
              <a:lnSpc>
                <a:spcPct val="100000"/>
              </a:lnSpc>
              <a:spcBef>
                <a:spcPts val="360"/>
              </a:spcBef>
              <a:buClr>
                <a:srgbClr val="008c4f"/>
              </a:buClr>
              <a:buSzPct val="45000"/>
              <a:buFont typeface="DejaVu Sans"/>
              <a:buChar char="—"/>
            </a:pPr>
            <a:r>
              <a:rPr b="0" lang="en-GB" sz="1800" strike="noStrike" u="none">
                <a:solidFill>
                  <a:srgbClr val="000000"/>
                </a:solidFill>
                <a:effectLst/>
                <a:uFillTx/>
                <a:latin typeface="DejaVu Sans"/>
                <a:ea typeface="DejaVu Sans"/>
              </a:rPr>
              <a:t>b) Live even more comfortably using the same amount of resources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ffffff"/>
                </a:solidFill>
                <a:effectLst/>
                <a:highlight>
                  <a:srgbClr val="ffffff"/>
                </a:highlight>
                <a:uFillTx/>
                <a:latin typeface="DejaVu Sans"/>
                <a:ea typeface="DejaVu Sans"/>
              </a:rPr>
              <a:t>They promise to maintain your individual freedom (of choices) by fixing ecological challenges/downsides using technological/political action</a:t>
            </a:r>
            <a:endParaRPr b="0" lang="en-GB" sz="1800" strike="noStrike" u="none">
              <a:solidFill>
                <a:srgbClr val="000000"/>
              </a:solidFill>
              <a:effectLst/>
              <a:uFillTx/>
              <a:latin typeface="Arial"/>
            </a:endParaRPr>
          </a:p>
          <a:p>
            <a:pPr lvl="2" marL="648000" indent="-216000">
              <a:lnSpc>
                <a:spcPct val="100000"/>
              </a:lnSpc>
              <a:spcBef>
                <a:spcPts val="360"/>
              </a:spcBef>
              <a:buClr>
                <a:srgbClr val="008c4f"/>
              </a:buClr>
              <a:buSzPct val="45000"/>
              <a:buFont typeface="DejaVu Sans"/>
              <a:buChar char="—"/>
            </a:pPr>
            <a:r>
              <a:rPr b="0" lang="en-GB" sz="1800" strike="noStrike" u="none">
                <a:solidFill>
                  <a:srgbClr val="ffffff"/>
                </a:solidFill>
                <a:effectLst/>
                <a:highlight>
                  <a:srgbClr val="ffffff"/>
                </a:highlight>
                <a:uFillTx/>
                <a:latin typeface="DejaVu Sans"/>
                <a:ea typeface="DejaVu Sans"/>
              </a:rPr>
              <a:t>Also personal responsibility by buying yourself out of this mess → just buy high-prices eco-friendly products and everything will be fine. No need to consume less.</a:t>
            </a:r>
            <a:endParaRPr b="0" lang="en-GB" sz="1800" strike="noStrike" u="none">
              <a:solidFill>
                <a:srgbClr val="000000"/>
              </a:solidFill>
              <a:effectLst/>
              <a:uFillTx/>
              <a:latin typeface="Arial"/>
            </a:endParaRPr>
          </a:p>
        </p:txBody>
      </p:sp>
      <p:sp>
        <p:nvSpPr>
          <p:cNvPr id="1239" name="CustomShape 81"/>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Example – New Apartment</a:t>
            </a:r>
            <a:r>
              <a:rPr b="1" lang="en-GB" sz="2200" strike="noStrike" u="none">
                <a:solidFill>
                  <a:srgbClr val="666666"/>
                </a:solidFill>
                <a:effectLst/>
                <a:uFillTx/>
                <a:latin typeface="DejaVu Sans"/>
                <a:ea typeface="DejaVu Sans"/>
              </a:rPr>
              <a:t>	</a:t>
            </a:r>
            <a:endParaRPr b="0" lang="en-GB" sz="2200" strike="noStrike" u="none">
              <a:solidFill>
                <a:srgbClr val="000000"/>
              </a:solidFill>
              <a:effectLst/>
              <a:uFillTx/>
              <a:latin typeface="Arial"/>
            </a:endParaRPr>
          </a:p>
        </p:txBody>
      </p:sp>
      <p:sp>
        <p:nvSpPr>
          <p:cNvPr id="1240" name="CustomShape 82"/>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1" name="CustomShape 67"/>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242" name="CustomShape 68"/>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OpenSymbol"/>
              <a:buChar char="■"/>
            </a:pPr>
            <a:r>
              <a:rPr b="0" lang="en-GB" sz="1800" strike="noStrike" u="sng">
                <a:solidFill>
                  <a:srgbClr val="000000"/>
                </a:solidFill>
                <a:effectLst/>
                <a:uFillTx/>
                <a:latin typeface="DejaVu Sans"/>
                <a:ea typeface="DejaVu Sans"/>
              </a:rPr>
              <a:t>Problem(s):</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Efficiency and consistency allow us to either: </a:t>
            </a:r>
            <a:endParaRPr b="0" lang="en-GB" sz="1800" strike="noStrike" u="none">
              <a:solidFill>
                <a:srgbClr val="000000"/>
              </a:solidFill>
              <a:effectLst/>
              <a:uFillTx/>
              <a:latin typeface="Arial"/>
            </a:endParaRPr>
          </a:p>
          <a:p>
            <a:pPr lvl="2" marL="648000" indent="-216000">
              <a:lnSpc>
                <a:spcPct val="100000"/>
              </a:lnSpc>
              <a:spcBef>
                <a:spcPts val="360"/>
              </a:spcBef>
              <a:buClr>
                <a:srgbClr val="008c4f"/>
              </a:buClr>
              <a:buSzPct val="45000"/>
              <a:buFont typeface="DejaVu Sans"/>
              <a:buChar char="—"/>
            </a:pPr>
            <a:r>
              <a:rPr b="0" lang="en-GB" sz="1800" strike="noStrike" u="none">
                <a:solidFill>
                  <a:srgbClr val="000000"/>
                </a:solidFill>
                <a:effectLst/>
                <a:uFillTx/>
                <a:latin typeface="DejaVu Sans"/>
                <a:ea typeface="DejaVu Sans"/>
              </a:rPr>
              <a:t>a) continue living a nice life using less resources</a:t>
            </a:r>
            <a:endParaRPr b="0" lang="en-GB" sz="1800" strike="noStrike" u="none">
              <a:solidFill>
                <a:srgbClr val="000000"/>
              </a:solidFill>
              <a:effectLst/>
              <a:uFillTx/>
              <a:latin typeface="Arial"/>
            </a:endParaRPr>
          </a:p>
          <a:p>
            <a:pPr lvl="2" marL="648000" indent="-216000">
              <a:lnSpc>
                <a:spcPct val="100000"/>
              </a:lnSpc>
              <a:spcBef>
                <a:spcPts val="360"/>
              </a:spcBef>
              <a:buClr>
                <a:srgbClr val="008c4f"/>
              </a:buClr>
              <a:buSzPct val="45000"/>
              <a:buFont typeface="DejaVu Sans"/>
              <a:buChar char="—"/>
            </a:pPr>
            <a:r>
              <a:rPr b="0" lang="en-GB" sz="1800" strike="noStrike" u="none">
                <a:solidFill>
                  <a:srgbClr val="000000"/>
                </a:solidFill>
                <a:effectLst/>
                <a:uFillTx/>
                <a:latin typeface="DejaVu Sans"/>
                <a:ea typeface="DejaVu Sans"/>
              </a:rPr>
              <a:t>b) Live even more comfortably using the same amount of resources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They promise to maintain your individual freedom (of choices) by fixing ecological challenges/downsides using technological/political action</a:t>
            </a:r>
            <a:endParaRPr b="0" lang="en-GB" sz="1800" strike="noStrike" u="none">
              <a:solidFill>
                <a:srgbClr val="000000"/>
              </a:solidFill>
              <a:effectLst/>
              <a:uFillTx/>
              <a:latin typeface="Arial"/>
            </a:endParaRPr>
          </a:p>
          <a:p>
            <a:pPr lvl="2" marL="648000" indent="-216000">
              <a:lnSpc>
                <a:spcPct val="100000"/>
              </a:lnSpc>
              <a:spcBef>
                <a:spcPts val="360"/>
              </a:spcBef>
              <a:buClr>
                <a:srgbClr val="008c4f"/>
              </a:buClr>
              <a:buSzPct val="45000"/>
              <a:buFont typeface="DejaVu Sans"/>
              <a:buChar char="—"/>
            </a:pPr>
            <a:r>
              <a:rPr b="0" lang="en-GB" sz="1800" strike="noStrike" u="none">
                <a:solidFill>
                  <a:srgbClr val="000000"/>
                </a:solidFill>
                <a:effectLst/>
                <a:uFillTx/>
                <a:latin typeface="DejaVu Sans"/>
                <a:ea typeface="DejaVu Sans"/>
              </a:rPr>
              <a:t>Also personal responsibility by buying yourself out of this mess → just buy high-prices eco-friendly products and everything will be fine. No need to consume less.</a:t>
            </a:r>
            <a:endParaRPr b="0" lang="en-GB" sz="1800" strike="noStrike" u="none">
              <a:solidFill>
                <a:srgbClr val="000000"/>
              </a:solidFill>
              <a:effectLst/>
              <a:uFillTx/>
              <a:latin typeface="Arial"/>
            </a:endParaRPr>
          </a:p>
        </p:txBody>
      </p:sp>
      <p:sp>
        <p:nvSpPr>
          <p:cNvPr id="1243" name="CustomShape 69"/>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Example – New Apartment</a:t>
            </a:r>
            <a:r>
              <a:rPr b="1" lang="en-GB" sz="2200" strike="noStrike" u="none">
                <a:solidFill>
                  <a:srgbClr val="666666"/>
                </a:solidFill>
                <a:effectLst/>
                <a:uFillTx/>
                <a:latin typeface="DejaVu Sans"/>
                <a:ea typeface="DejaVu Sans"/>
              </a:rPr>
              <a:t>	</a:t>
            </a:r>
            <a:endParaRPr b="0" lang="en-GB" sz="2200" strike="noStrike" u="none">
              <a:solidFill>
                <a:srgbClr val="000000"/>
              </a:solidFill>
              <a:effectLst/>
              <a:uFillTx/>
              <a:latin typeface="Arial"/>
            </a:endParaRPr>
          </a:p>
        </p:txBody>
      </p:sp>
      <p:sp>
        <p:nvSpPr>
          <p:cNvPr id="1244" name="CustomShape 70"/>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Manfred Folkers, Niko Paech (2020) – All you need is less </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5" name="CustomShape 6"/>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Eco-Sufficiency</a:t>
            </a:r>
            <a:endParaRPr b="0" lang="en-GB" sz="2400" strike="noStrike" u="none">
              <a:solidFill>
                <a:srgbClr val="000000"/>
              </a:solidFill>
              <a:effectLst/>
              <a:uFillTx/>
              <a:latin typeface="Arial"/>
            </a:endParaRPr>
          </a:p>
        </p:txBody>
      </p:sp>
      <p:sp>
        <p:nvSpPr>
          <p:cNvPr id="1246" name="CustomShape 7"/>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a typeface="DejaVu Sans"/>
            </a:endParaRPr>
          </a:p>
        </p:txBody>
      </p:sp>
      <p:sp>
        <p:nvSpPr>
          <p:cNvPr id="1247" name="CustomShape 72"/>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GB" sz="2200" strike="noStrike" u="none">
                <a:solidFill>
                  <a:srgbClr val="666666"/>
                </a:solidFill>
                <a:effectLst/>
                <a:uFillTx/>
                <a:latin typeface="DejaVu Sans"/>
                <a:ea typeface="DejaVu Sans"/>
              </a:rPr>
              <a:t>Sufficiency vs. Overconsumption</a:t>
            </a:r>
            <a:endParaRPr b="0" lang="en-GB" sz="2200" strike="noStrike" u="none">
              <a:solidFill>
                <a:srgbClr val="000000"/>
              </a:solidFill>
              <a:effectLst/>
              <a:uFillTx/>
              <a:latin typeface="Arial"/>
            </a:endParaRPr>
          </a:p>
        </p:txBody>
      </p:sp>
      <p:sp>
        <p:nvSpPr>
          <p:cNvPr id="1248" name="CustomShape 73"/>
          <p:cNvSpPr/>
          <p:nvPr/>
        </p:nvSpPr>
        <p:spPr>
          <a:xfrm>
            <a:off x="263520" y="6411600"/>
            <a:ext cx="11070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Image recreated from „Manfred Folkers, Niko Paech (2020) – All you need is less“ </a:t>
            </a:r>
            <a:endParaRPr b="0" lang="en-GB" sz="900" strike="noStrike" u="none">
              <a:solidFill>
                <a:srgbClr val="000000"/>
              </a:solidFill>
              <a:effectLst/>
              <a:uFillTx/>
              <a:latin typeface="Arial"/>
            </a:endParaRPr>
          </a:p>
        </p:txBody>
      </p:sp>
      <p:pic>
        <p:nvPicPr>
          <p:cNvPr id="1249" name="Picture 326" descr=""/>
          <p:cNvPicPr/>
          <p:nvPr/>
        </p:nvPicPr>
        <p:blipFill>
          <a:blip r:embed="rId1"/>
          <a:stretch/>
        </p:blipFill>
        <p:spPr>
          <a:xfrm>
            <a:off x="2231280" y="1833480"/>
            <a:ext cx="6289200" cy="3416760"/>
          </a:xfrm>
          <a:prstGeom prst="rect">
            <a:avLst/>
          </a:prstGeom>
          <a:noFill/>
          <a:ln w="0">
            <a:noFill/>
          </a:ln>
        </p:spPr>
      </p:pic>
      <p:sp>
        <p:nvSpPr>
          <p:cNvPr id="1250" name="Speech Bubble: Rectangle 327"/>
          <p:cNvSpPr/>
          <p:nvPr/>
        </p:nvSpPr>
        <p:spPr>
          <a:xfrm>
            <a:off x="1620000" y="5511600"/>
            <a:ext cx="1616040" cy="769320"/>
          </a:xfrm>
          <a:prstGeom prst="wedgeRectCallout">
            <a:avLst>
              <a:gd name="adj1" fmla="val 40953"/>
              <a:gd name="adj2" fmla="val -93787"/>
            </a:avLst>
          </a:prstGeom>
          <a:solidFill>
            <a:srgbClr val="ffffff"/>
          </a:solidFill>
          <a:ln w="0">
            <a:solidFill>
              <a:srgbClr val="254061"/>
            </a:solidFill>
          </a:ln>
        </p:spPr>
        <p:style>
          <a:lnRef idx="0"/>
          <a:fillRef idx="0"/>
          <a:effectRef idx="0"/>
          <a:fontRef idx="minor"/>
        </p:style>
        <p:txBody>
          <a:bodyPr lIns="90000" rIns="90000" tIns="45000" bIns="45000" anchor="ctr">
            <a:noAutofit/>
          </a:bodyPr>
          <a:p>
            <a:pPr algn="ctr">
              <a:lnSpc>
                <a:spcPct val="100000"/>
              </a:lnSpc>
            </a:pPr>
            <a:endParaRPr b="0" lang="en-GB" sz="1400" strike="noStrike" u="none">
              <a:solidFill>
                <a:srgbClr val="000000"/>
              </a:solidFill>
              <a:effectLst/>
              <a:uFillTx/>
              <a:latin typeface="Arial"/>
            </a:endParaRPr>
          </a:p>
          <a:p>
            <a:pPr algn="ctr">
              <a:lnSpc>
                <a:spcPct val="100000"/>
              </a:lnSpc>
            </a:pPr>
            <a:r>
              <a:rPr b="0" lang="en-GB" sz="1400" strike="noStrike" u="none">
                <a:solidFill>
                  <a:srgbClr val="000000"/>
                </a:solidFill>
                <a:effectLst/>
                <a:uFillTx/>
                <a:latin typeface="Arial"/>
                <a:ea typeface="DejaVu Sans"/>
              </a:rPr>
              <a:t>Shortage; global south; emerging countries</a:t>
            </a:r>
            <a:endParaRPr b="0" lang="en-GB" sz="1400" strike="noStrike" u="none">
              <a:solidFill>
                <a:srgbClr val="000000"/>
              </a:solidFill>
              <a:effectLst/>
              <a:uFillTx/>
              <a:latin typeface="Arial"/>
            </a:endParaRPr>
          </a:p>
          <a:p>
            <a:pPr algn="ctr">
              <a:lnSpc>
                <a:spcPct val="100000"/>
              </a:lnSpc>
            </a:pPr>
            <a:endParaRPr b="0" lang="en-GB" sz="1400" strike="noStrike" u="none">
              <a:solidFill>
                <a:srgbClr val="000000"/>
              </a:solidFill>
              <a:effectLst/>
              <a:uFillTx/>
              <a:latin typeface="Arial"/>
            </a:endParaRPr>
          </a:p>
        </p:txBody>
      </p:sp>
      <p:sp>
        <p:nvSpPr>
          <p:cNvPr id="1251" name="Speech Bubble: Rectangle 328"/>
          <p:cNvSpPr/>
          <p:nvPr/>
        </p:nvSpPr>
        <p:spPr>
          <a:xfrm>
            <a:off x="3600000" y="5511600"/>
            <a:ext cx="1436040" cy="769320"/>
          </a:xfrm>
          <a:prstGeom prst="wedgeRectCallout">
            <a:avLst>
              <a:gd name="adj1" fmla="val -5064"/>
              <a:gd name="adj2" fmla="val -99740"/>
            </a:avLst>
          </a:prstGeom>
          <a:solidFill>
            <a:srgbClr val="ffffff"/>
          </a:solidFill>
          <a:ln w="0">
            <a:solidFill>
              <a:srgbClr val="254061"/>
            </a:solidFill>
          </a:ln>
        </p:spPr>
        <p:style>
          <a:lnRef idx="0"/>
          <a:fillRef idx="0"/>
          <a:effectRef idx="0"/>
          <a:fontRef idx="minor"/>
        </p:style>
        <p:txBody>
          <a:bodyPr lIns="90000" rIns="90000" tIns="45000" bIns="45000" anchor="ctr">
            <a:noAutofit/>
          </a:bodyPr>
          <a:p>
            <a:pPr algn="ctr">
              <a:lnSpc>
                <a:spcPct val="100000"/>
              </a:lnSpc>
            </a:pPr>
            <a:endParaRPr b="0" lang="en-GB" sz="1400" strike="noStrike" u="none">
              <a:solidFill>
                <a:srgbClr val="000000"/>
              </a:solidFill>
              <a:effectLst/>
              <a:uFillTx/>
              <a:latin typeface="Arial"/>
            </a:endParaRPr>
          </a:p>
          <a:p>
            <a:pPr algn="ctr">
              <a:lnSpc>
                <a:spcPct val="100000"/>
              </a:lnSpc>
            </a:pPr>
            <a:r>
              <a:rPr b="0" lang="en-GB" sz="1400" strike="noStrike" u="none">
                <a:solidFill>
                  <a:srgbClr val="000000"/>
                </a:solidFill>
                <a:effectLst/>
                <a:uFillTx/>
                <a:latin typeface="Arial"/>
                <a:ea typeface="DejaVu Sans"/>
              </a:rPr>
              <a:t>Saturation in consumption-oriented society</a:t>
            </a:r>
            <a:endParaRPr b="0" lang="en-GB" sz="1400" strike="noStrike" u="none">
              <a:solidFill>
                <a:srgbClr val="000000"/>
              </a:solidFill>
              <a:effectLst/>
              <a:uFillTx/>
              <a:latin typeface="Arial"/>
            </a:endParaRPr>
          </a:p>
          <a:p>
            <a:pPr algn="ctr">
              <a:lnSpc>
                <a:spcPct val="100000"/>
              </a:lnSpc>
            </a:pPr>
            <a:endParaRPr b="0" lang="en-GB" sz="1400" strike="noStrike" u="none">
              <a:solidFill>
                <a:srgbClr val="000000"/>
              </a:solidFill>
              <a:effectLst/>
              <a:uFillTx/>
              <a:latin typeface="Arial"/>
            </a:endParaRPr>
          </a:p>
        </p:txBody>
      </p:sp>
      <p:sp>
        <p:nvSpPr>
          <p:cNvPr id="1252" name="Speech Bubble: Rectangle 329"/>
          <p:cNvSpPr/>
          <p:nvPr/>
        </p:nvSpPr>
        <p:spPr>
          <a:xfrm>
            <a:off x="5400000" y="5580000"/>
            <a:ext cx="2876040" cy="700920"/>
          </a:xfrm>
          <a:prstGeom prst="wedgeRectCallout">
            <a:avLst>
              <a:gd name="adj1" fmla="val -42703"/>
              <a:gd name="adj2" fmla="val -107731"/>
            </a:avLst>
          </a:prstGeom>
          <a:solidFill>
            <a:srgbClr val="ffffff"/>
          </a:solidFill>
          <a:ln w="0">
            <a:solidFill>
              <a:srgbClr val="254061"/>
            </a:solidFill>
          </a:ln>
        </p:spPr>
        <p:style>
          <a:lnRef idx="0"/>
          <a:fillRef idx="0"/>
          <a:effectRef idx="0"/>
          <a:fontRef idx="minor"/>
        </p:style>
        <p:txBody>
          <a:bodyPr lIns="90000" rIns="90000" tIns="45000" bIns="45000" anchor="ctr">
            <a:noAutofit/>
          </a:bodyPr>
          <a:p>
            <a:pPr algn="ctr">
              <a:lnSpc>
                <a:spcPct val="100000"/>
              </a:lnSpc>
            </a:pPr>
            <a:endParaRPr b="0" lang="en-GB" sz="1400" strike="noStrike" u="none">
              <a:solidFill>
                <a:srgbClr val="000000"/>
              </a:solidFill>
              <a:effectLst/>
              <a:uFillTx/>
              <a:latin typeface="Arial"/>
            </a:endParaRPr>
          </a:p>
          <a:p>
            <a:pPr algn="ctr">
              <a:lnSpc>
                <a:spcPct val="100000"/>
              </a:lnSpc>
            </a:pPr>
            <a:r>
              <a:rPr b="0" lang="en-GB" sz="1400" strike="noStrike" u="none">
                <a:solidFill>
                  <a:srgbClr val="000000"/>
                </a:solidFill>
                <a:effectLst/>
                <a:uFillTx/>
                <a:latin typeface="Arial"/>
                <a:ea typeface="DejaVu Sans"/>
              </a:rPr>
              <a:t>Overstimulation, lack of time, stress</a:t>
            </a:r>
            <a:endParaRPr b="0" lang="en-GB" sz="1400" strike="noStrike" u="none">
              <a:solidFill>
                <a:srgbClr val="000000"/>
              </a:solidFill>
              <a:effectLst/>
              <a:uFillTx/>
              <a:latin typeface="Arial"/>
            </a:endParaRPr>
          </a:p>
          <a:p>
            <a:pPr algn="ctr">
              <a:lnSpc>
                <a:spcPct val="100000"/>
              </a:lnSpc>
            </a:pPr>
            <a:r>
              <a:rPr b="0" lang="en-GB" sz="1400" strike="noStrike" u="none">
                <a:solidFill>
                  <a:srgbClr val="000000"/>
                </a:solidFill>
                <a:effectLst/>
                <a:uFillTx/>
                <a:latin typeface="Arial"/>
                <a:ea typeface="DejaVu Sans"/>
              </a:rPr>
              <a:t>&lt;”Consumer congestion”&gt;</a:t>
            </a:r>
            <a:endParaRPr b="0" lang="en-GB" sz="1400" strike="noStrike" u="none">
              <a:solidFill>
                <a:srgbClr val="000000"/>
              </a:solidFill>
              <a:effectLst/>
              <a:uFillTx/>
              <a:latin typeface="Arial"/>
            </a:endParaRPr>
          </a:p>
          <a:p>
            <a:pPr algn="ctr">
              <a:lnSpc>
                <a:spcPct val="100000"/>
              </a:lnSpc>
            </a:pPr>
            <a:endParaRPr b="0" lang="en-GB"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3" name="CustomShape 8"/>
          <p:cNvSpPr/>
          <p:nvPr/>
        </p:nvSpPr>
        <p:spPr>
          <a:xfrm>
            <a:off x="335520" y="4406760"/>
            <a:ext cx="10720440" cy="1329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3000" strike="noStrike" u="none" cap="all">
                <a:solidFill>
                  <a:srgbClr val="008c4f"/>
                </a:solidFill>
                <a:effectLst/>
                <a:uFillTx/>
                <a:latin typeface="Arial Unicode MS"/>
                <a:ea typeface="DejaVu Sans"/>
              </a:rPr>
              <a:t>Detour</a:t>
            </a:r>
            <a:endParaRPr b="0" lang="en-GB" sz="3000" strike="noStrike" u="none">
              <a:solidFill>
                <a:srgbClr val="000000"/>
              </a:solidFill>
              <a:effectLst/>
              <a:uFillTx/>
              <a:latin typeface="Arial"/>
            </a:endParaRPr>
          </a:p>
        </p:txBody>
      </p:sp>
      <p:sp>
        <p:nvSpPr>
          <p:cNvPr id="1254" name="CustomShape 12"/>
          <p:cNvSpPr/>
          <p:nvPr/>
        </p:nvSpPr>
        <p:spPr>
          <a:xfrm>
            <a:off x="335520" y="2906640"/>
            <a:ext cx="10720440" cy="1467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5" name="CustomShape 3"/>
          <p:cNvSpPr/>
          <p:nvPr/>
        </p:nvSpPr>
        <p:spPr>
          <a:xfrm>
            <a:off x="335520" y="764640"/>
            <a:ext cx="10729800" cy="480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256" name="CustomShape 13"/>
          <p:cNvSpPr/>
          <p:nvPr/>
        </p:nvSpPr>
        <p:spPr>
          <a:xfrm>
            <a:off x="335520" y="1244520"/>
            <a:ext cx="10729800" cy="4329360"/>
          </a:xfrm>
          <a:prstGeom prst="rect">
            <a:avLst/>
          </a:prstGeom>
          <a:noFill/>
          <a:ln w="0">
            <a:noFill/>
          </a:ln>
        </p:spPr>
        <p:style>
          <a:lnRef idx="0"/>
          <a:fillRef idx="0"/>
          <a:effectRef idx="0"/>
          <a:fontRef idx="minor"/>
        </p:style>
        <p:txBody>
          <a:bodyPr lIns="90000" rIns="90000" tIns="45000" bIns="45000" anchor="ctr">
            <a:noAutofit/>
          </a:bodyPr>
          <a:p>
            <a:pPr marL="360" algn="ctr">
              <a:lnSpc>
                <a:spcPct val="100000"/>
              </a:lnSpc>
              <a:spcBef>
                <a:spcPts val="360"/>
              </a:spcBef>
            </a:pPr>
            <a:r>
              <a:rPr b="1" lang="en-US" sz="1800" strike="noStrike" u="none">
                <a:solidFill>
                  <a:srgbClr val="000000"/>
                </a:solidFill>
                <a:effectLst/>
                <a:uFillTx/>
                <a:latin typeface="DejaVu Sans"/>
                <a:ea typeface="DejaVu Sans"/>
              </a:rPr>
              <a:t>Sustainability</a:t>
            </a:r>
            <a:r>
              <a:rPr b="0" lang="de-DE" sz="1800" strike="noStrike" u="none">
                <a:solidFill>
                  <a:srgbClr val="000000"/>
                </a:solidFill>
                <a:effectLst/>
                <a:uFillTx/>
                <a:latin typeface="DejaVu Sans"/>
                <a:ea typeface="DejaVu Sans"/>
              </a:rPr>
              <a:t> → </a:t>
            </a:r>
            <a:r>
              <a:rPr b="1" lang="en-GB" sz="1800" strike="noStrike" u="none">
                <a:solidFill>
                  <a:srgbClr val="000000"/>
                </a:solidFill>
                <a:effectLst/>
                <a:uFillTx/>
                <a:latin typeface="DejaVu Sans"/>
                <a:ea typeface="DejaVu Sans"/>
              </a:rPr>
              <a:t>Consume less</a:t>
            </a:r>
            <a:endParaRPr b="0" lang="en-GB" sz="1800" strike="noStrike" u="none">
              <a:solidFill>
                <a:srgbClr val="000000"/>
              </a:solidFill>
              <a:effectLst/>
              <a:uFillTx/>
              <a:latin typeface="Arial"/>
            </a:endParaRPr>
          </a:p>
        </p:txBody>
      </p:sp>
      <p:sp>
        <p:nvSpPr>
          <p:cNvPr id="1257" name="CustomShape 14"/>
          <p:cNvSpPr/>
          <p:nvPr/>
        </p:nvSpPr>
        <p:spPr>
          <a:xfrm>
            <a:off x="432720" y="1148040"/>
            <a:ext cx="10338840" cy="479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Sustainability</a:t>
            </a:r>
            <a:endParaRPr b="0" lang="en-GB" sz="2200" strike="noStrike" u="none">
              <a:solidFill>
                <a:srgbClr val="000000"/>
              </a:solidFill>
              <a:effectLst/>
              <a:uFillTx/>
              <a:latin typeface="Arial"/>
            </a:endParaRPr>
          </a:p>
        </p:txBody>
      </p:sp>
      <p:sp>
        <p:nvSpPr>
          <p:cNvPr id="1258" name="CustomShape 15"/>
          <p:cNvSpPr/>
          <p:nvPr/>
        </p:nvSpPr>
        <p:spPr>
          <a:xfrm>
            <a:off x="335520" y="2778480"/>
            <a:ext cx="10778760" cy="135540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259" name="CustomShape 21"/>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US" sz="1800" strike="noStrike" u="none">
                <a:solidFill>
                  <a:srgbClr val="000000"/>
                </a:solidFill>
                <a:effectLst/>
                <a:uFillTx/>
                <a:latin typeface="DejaVu Sans"/>
                <a:ea typeface="DejaVu Sans"/>
              </a:rPr>
              <a:t>Consume less → Less money spend, i.e. lower living costs?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Lower living costs → less work hours required pay costs, e.g., 20h work week?</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Technological advances reducing workload even further?</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0" name="CustomShape 22"/>
          <p:cNvSpPr/>
          <p:nvPr/>
        </p:nvSpPr>
        <p:spPr>
          <a:xfrm>
            <a:off x="335520" y="764640"/>
            <a:ext cx="10729800" cy="480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261" name="CustomShape 23"/>
          <p:cNvSpPr/>
          <p:nvPr/>
        </p:nvSpPr>
        <p:spPr>
          <a:xfrm>
            <a:off x="335520" y="1244520"/>
            <a:ext cx="10729800" cy="4329360"/>
          </a:xfrm>
          <a:prstGeom prst="rect">
            <a:avLst/>
          </a:prstGeom>
          <a:noFill/>
          <a:ln w="0">
            <a:noFill/>
          </a:ln>
        </p:spPr>
        <p:style>
          <a:lnRef idx="0"/>
          <a:fillRef idx="0"/>
          <a:effectRef idx="0"/>
          <a:fontRef idx="minor"/>
        </p:style>
        <p:txBody>
          <a:bodyPr lIns="90000" rIns="90000" tIns="45000" bIns="45000" anchor="ctr">
            <a:noAutofit/>
          </a:bodyPr>
          <a:p>
            <a:pPr marL="360" algn="ctr">
              <a:lnSpc>
                <a:spcPct val="100000"/>
              </a:lnSpc>
              <a:spcBef>
                <a:spcPts val="360"/>
              </a:spcBef>
            </a:pPr>
            <a:r>
              <a:rPr b="1" lang="en-US" sz="1800" strike="noStrike" u="none">
                <a:solidFill>
                  <a:srgbClr val="000000"/>
                </a:solidFill>
                <a:effectLst/>
                <a:uFillTx/>
                <a:latin typeface="DejaVu Sans"/>
                <a:ea typeface="DejaVu Sans"/>
              </a:rPr>
              <a:t>Sustainability</a:t>
            </a:r>
            <a:r>
              <a:rPr b="0" lang="de-DE" sz="1800" strike="noStrike" u="none">
                <a:solidFill>
                  <a:srgbClr val="000000"/>
                </a:solidFill>
                <a:effectLst/>
                <a:uFillTx/>
                <a:latin typeface="DejaVu Sans"/>
                <a:ea typeface="DejaVu Sans"/>
              </a:rPr>
              <a:t> → </a:t>
            </a:r>
            <a:r>
              <a:rPr b="1" lang="en-GB" sz="1800" strike="noStrike" u="none">
                <a:solidFill>
                  <a:srgbClr val="000000"/>
                </a:solidFill>
                <a:effectLst/>
                <a:uFillTx/>
                <a:latin typeface="DejaVu Sans"/>
                <a:ea typeface="DejaVu Sans"/>
              </a:rPr>
              <a:t>Consume less</a:t>
            </a:r>
            <a:endParaRPr b="0" lang="en-GB" sz="1800" strike="noStrike" u="none">
              <a:solidFill>
                <a:srgbClr val="000000"/>
              </a:solidFill>
              <a:effectLst/>
              <a:uFillTx/>
              <a:latin typeface="Arial"/>
            </a:endParaRPr>
          </a:p>
        </p:txBody>
      </p:sp>
      <p:sp>
        <p:nvSpPr>
          <p:cNvPr id="1262" name="CustomShape 60"/>
          <p:cNvSpPr/>
          <p:nvPr/>
        </p:nvSpPr>
        <p:spPr>
          <a:xfrm>
            <a:off x="432720" y="1148040"/>
            <a:ext cx="10338840" cy="479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Sustainability</a:t>
            </a:r>
            <a:endParaRPr b="0" lang="en-GB" sz="2200" strike="noStrike" u="none">
              <a:solidFill>
                <a:srgbClr val="000000"/>
              </a:solidFill>
              <a:effectLst/>
              <a:uFillTx/>
              <a:latin typeface="Arial"/>
            </a:endParaRPr>
          </a:p>
        </p:txBody>
      </p:sp>
      <p:sp>
        <p:nvSpPr>
          <p:cNvPr id="1263" name="CustomShape 87"/>
          <p:cNvSpPr/>
          <p:nvPr/>
        </p:nvSpPr>
        <p:spPr>
          <a:xfrm>
            <a:off x="335520" y="2778480"/>
            <a:ext cx="10778760" cy="135540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264" name="CustomShape 88"/>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US" sz="1800" strike="noStrike" u="none">
                <a:solidFill>
                  <a:srgbClr val="000000"/>
                </a:solidFill>
                <a:effectLst/>
                <a:uFillTx/>
                <a:latin typeface="DejaVu Sans"/>
                <a:ea typeface="DejaVu Sans"/>
              </a:rPr>
              <a:t>Consume less → Less money spend, i.e. lower living costs?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US" sz="1800" strike="noStrike" u="none">
                <a:solidFill>
                  <a:srgbClr val="000000"/>
                </a:solidFill>
                <a:effectLst/>
                <a:uFillTx/>
                <a:latin typeface="DejaVu Sans"/>
                <a:ea typeface="DejaVu Sans"/>
              </a:rPr>
              <a:t>Lower living costs → Less work hours required cover costs, e.g., 20h work week?</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Technological advances reducing workload even further?</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5" name="CustomShape 109"/>
          <p:cNvSpPr/>
          <p:nvPr/>
        </p:nvSpPr>
        <p:spPr>
          <a:xfrm>
            <a:off x="335520" y="764640"/>
            <a:ext cx="10729800" cy="480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266" name="CustomShape 110"/>
          <p:cNvSpPr/>
          <p:nvPr/>
        </p:nvSpPr>
        <p:spPr>
          <a:xfrm>
            <a:off x="335520" y="1244520"/>
            <a:ext cx="10729800" cy="4329360"/>
          </a:xfrm>
          <a:prstGeom prst="rect">
            <a:avLst/>
          </a:prstGeom>
          <a:noFill/>
          <a:ln w="0">
            <a:noFill/>
          </a:ln>
        </p:spPr>
        <p:style>
          <a:lnRef idx="0"/>
          <a:fillRef idx="0"/>
          <a:effectRef idx="0"/>
          <a:fontRef idx="minor"/>
        </p:style>
        <p:txBody>
          <a:bodyPr lIns="90000" rIns="90000" tIns="45000" bIns="45000" anchor="ctr">
            <a:noAutofit/>
          </a:bodyPr>
          <a:p>
            <a:pPr marL="360" algn="ctr">
              <a:lnSpc>
                <a:spcPct val="100000"/>
              </a:lnSpc>
              <a:spcBef>
                <a:spcPts val="360"/>
              </a:spcBef>
            </a:pPr>
            <a:r>
              <a:rPr b="1" lang="en-US" sz="1800" strike="noStrike" u="none">
                <a:solidFill>
                  <a:srgbClr val="000000"/>
                </a:solidFill>
                <a:effectLst/>
                <a:uFillTx/>
                <a:latin typeface="DejaVu Sans"/>
                <a:ea typeface="DejaVu Sans"/>
              </a:rPr>
              <a:t>Sustainability</a:t>
            </a:r>
            <a:r>
              <a:rPr b="0" lang="de-DE" sz="1800" strike="noStrike" u="none">
                <a:solidFill>
                  <a:srgbClr val="000000"/>
                </a:solidFill>
                <a:effectLst/>
                <a:uFillTx/>
                <a:latin typeface="DejaVu Sans"/>
                <a:ea typeface="DejaVu Sans"/>
              </a:rPr>
              <a:t> → </a:t>
            </a:r>
            <a:r>
              <a:rPr b="1" lang="en-GB" sz="1800" strike="noStrike" u="none">
                <a:solidFill>
                  <a:srgbClr val="000000"/>
                </a:solidFill>
                <a:effectLst/>
                <a:uFillTx/>
                <a:latin typeface="DejaVu Sans"/>
                <a:ea typeface="DejaVu Sans"/>
              </a:rPr>
              <a:t>Consume less</a:t>
            </a:r>
            <a:endParaRPr b="0" lang="en-GB" sz="1800" strike="noStrike" u="none">
              <a:solidFill>
                <a:srgbClr val="000000"/>
              </a:solidFill>
              <a:effectLst/>
              <a:uFillTx/>
              <a:latin typeface="Arial"/>
            </a:endParaRPr>
          </a:p>
        </p:txBody>
      </p:sp>
      <p:sp>
        <p:nvSpPr>
          <p:cNvPr id="1267" name="CustomShape 111"/>
          <p:cNvSpPr/>
          <p:nvPr/>
        </p:nvSpPr>
        <p:spPr>
          <a:xfrm>
            <a:off x="432720" y="1148040"/>
            <a:ext cx="10338840" cy="479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Sustainability</a:t>
            </a:r>
            <a:endParaRPr b="0" lang="en-GB" sz="2200" strike="noStrike" u="none">
              <a:solidFill>
                <a:srgbClr val="000000"/>
              </a:solidFill>
              <a:effectLst/>
              <a:uFillTx/>
              <a:latin typeface="Arial"/>
            </a:endParaRPr>
          </a:p>
        </p:txBody>
      </p:sp>
      <p:sp>
        <p:nvSpPr>
          <p:cNvPr id="1268" name="CustomShape 112"/>
          <p:cNvSpPr/>
          <p:nvPr/>
        </p:nvSpPr>
        <p:spPr>
          <a:xfrm>
            <a:off x="335520" y="2778480"/>
            <a:ext cx="10778760" cy="135540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269" name="CustomShape 113"/>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US" sz="1800" strike="noStrike" u="none">
                <a:solidFill>
                  <a:srgbClr val="000000"/>
                </a:solidFill>
                <a:effectLst/>
                <a:uFillTx/>
                <a:latin typeface="DejaVu Sans"/>
                <a:ea typeface="DejaVu Sans"/>
              </a:rPr>
              <a:t>Consume less → Less money spend, </a:t>
            </a:r>
            <a:r>
              <a:rPr b="0" lang="en-GB" sz="1800" strike="noStrike" u="none">
                <a:solidFill>
                  <a:srgbClr val="000000"/>
                </a:solidFill>
                <a:effectLst/>
                <a:uFillTx/>
                <a:latin typeface="DejaVu Sans"/>
                <a:ea typeface="DejaVu Sans"/>
              </a:rPr>
              <a:t>i.e.</a:t>
            </a:r>
            <a:r>
              <a:rPr b="0" lang="en-US" sz="1800" strike="noStrike" u="none">
                <a:solidFill>
                  <a:srgbClr val="000000"/>
                </a:solidFill>
                <a:effectLst/>
                <a:uFillTx/>
                <a:latin typeface="DejaVu Sans"/>
                <a:ea typeface="DejaVu Sans"/>
              </a:rPr>
              <a:t> lower living costs?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US" sz="1800" strike="noStrike" u="none">
                <a:solidFill>
                  <a:srgbClr val="000000"/>
                </a:solidFill>
                <a:effectLst/>
                <a:uFillTx/>
                <a:latin typeface="DejaVu Sans"/>
                <a:ea typeface="DejaVu Sans"/>
              </a:rPr>
              <a:t>Lower living costs → Less work hours required to cover costs, e.g., 20h work week?</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US" sz="1800" strike="noStrike" u="none">
                <a:solidFill>
                  <a:srgbClr val="000000"/>
                </a:solidFill>
                <a:effectLst/>
                <a:uFillTx/>
                <a:latin typeface="DejaVu Sans"/>
                <a:ea typeface="DejaVu Sans"/>
              </a:rPr>
              <a:t>Technological advances reducing workload even further?</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0" name="CustomShape 114"/>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271" name="CustomShape 115"/>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gn="ctr">
              <a:lnSpc>
                <a:spcPct val="100000"/>
              </a:lnSpc>
              <a:spcBef>
                <a:spcPts val="360"/>
              </a:spcBef>
            </a:pPr>
            <a:r>
              <a:rPr b="0" lang="en-US" sz="1800" strike="noStrike" u="none">
                <a:solidFill>
                  <a:srgbClr val="000000"/>
                </a:solidFill>
                <a:effectLst/>
                <a:uFillTx/>
                <a:latin typeface="DejaVu Sans"/>
                <a:ea typeface="DejaVu Sans"/>
              </a:rPr>
              <a:t>John Maynard Keynes predicted a 15h work week in his 1930 essay </a:t>
            </a:r>
            <a:r>
              <a:rPr b="0" i="1" lang="en-US" sz="1800" strike="noStrike" u="none">
                <a:solidFill>
                  <a:srgbClr val="000000"/>
                </a:solidFill>
                <a:effectLst/>
                <a:uFillTx/>
                <a:latin typeface="DejaVu Sans"/>
                <a:ea typeface="DejaVu Sans"/>
              </a:rPr>
              <a:t>“Economic Possibilities for our Grandchildren”</a:t>
            </a:r>
            <a:endParaRPr b="0" lang="en-GB" sz="1800" strike="noStrike" u="none">
              <a:solidFill>
                <a:srgbClr val="000000"/>
              </a:solidFill>
              <a:effectLst/>
              <a:uFillTx/>
              <a:latin typeface="Arial"/>
            </a:endParaRPr>
          </a:p>
        </p:txBody>
      </p:sp>
      <p:sp>
        <p:nvSpPr>
          <p:cNvPr id="1272" name="CustomShape 116"/>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15h Work Week</a:t>
            </a:r>
            <a:endParaRPr b="0" lang="en-GB" sz="2200" strike="noStrike" u="none">
              <a:solidFill>
                <a:srgbClr val="000000"/>
              </a:solidFill>
              <a:effectLst/>
              <a:uFillTx/>
              <a:latin typeface="Arial"/>
            </a:endParaRPr>
          </a:p>
        </p:txBody>
      </p:sp>
      <p:sp>
        <p:nvSpPr>
          <p:cNvPr id="1273" name="CustomShape 117"/>
          <p:cNvSpPr/>
          <p:nvPr/>
        </p:nvSpPr>
        <p:spPr>
          <a:xfrm>
            <a:off x="198000" y="3420000"/>
            <a:ext cx="10775880" cy="99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4" name="CustomShape 118"/>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275" name="CustomShape 119"/>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Why am I working 40+h a week?</a:t>
            </a:r>
            <a:endParaRPr b="0" lang="en-GB" sz="2200" strike="noStrike" u="none">
              <a:solidFill>
                <a:srgbClr val="000000"/>
              </a:solidFill>
              <a:effectLst/>
              <a:uFillTx/>
              <a:latin typeface="Arial"/>
            </a:endParaRPr>
          </a:p>
        </p:txBody>
      </p:sp>
      <p:sp>
        <p:nvSpPr>
          <p:cNvPr id="1276" name="CustomShape 120"/>
          <p:cNvSpPr/>
          <p:nvPr/>
        </p:nvSpPr>
        <p:spPr>
          <a:xfrm>
            <a:off x="335520" y="1268280"/>
            <a:ext cx="10720800" cy="500832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Font typeface="Wingdings" charset="2"/>
              <a:buChar char=""/>
            </a:pPr>
            <a:r>
              <a:rPr b="0" lang="en-US" sz="1800" strike="noStrike" u="none">
                <a:solidFill>
                  <a:srgbClr val="000000"/>
                </a:solidFill>
                <a:effectLst/>
                <a:uFillTx/>
                <a:latin typeface="DejaVu Sans"/>
                <a:ea typeface="DejaVu Sans"/>
              </a:rPr>
              <a:t>Lively debates pertaining to Keynes prediction – especially among economists.</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marL="216000" indent="-216000">
              <a:lnSpc>
                <a:spcPct val="100000"/>
              </a:lnSpc>
              <a:buClr>
                <a:srgbClr val="008c4f"/>
              </a:buClr>
              <a:buFont typeface="Wingdings" charset="2"/>
              <a:buChar char=""/>
            </a:pPr>
            <a:r>
              <a:rPr b="0" lang="en-US" sz="1800" strike="noStrike" u="sng">
                <a:solidFill>
                  <a:srgbClr val="000000"/>
                </a:solidFill>
                <a:effectLst/>
                <a:uFillTx/>
                <a:latin typeface="DejaVu Sans"/>
                <a:ea typeface="DejaVu Sans"/>
              </a:rPr>
              <a:t>Main problem:</a:t>
            </a:r>
            <a:r>
              <a:rPr b="0" lang="en-US" sz="1800" strike="noStrike" u="none">
                <a:solidFill>
                  <a:srgbClr val="000000"/>
                </a:solidFill>
                <a:effectLst/>
                <a:uFillTx/>
                <a:latin typeface="DejaVu Sans"/>
                <a:ea typeface="DejaVu Sans"/>
              </a:rPr>
              <a:t> Keynes did not account for the massive increase in consumerism → Majority of people chooses more toys and pleasure over less work hours </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gn="ctr">
              <a:lnSpc>
                <a:spcPct val="100000"/>
              </a:lnSpc>
            </a:pPr>
            <a:r>
              <a:rPr b="0" lang="en-US" sz="1800" strike="noStrike" u="none">
                <a:solidFill>
                  <a:srgbClr val="ffffff"/>
                </a:solidFill>
                <a:effectLst/>
                <a:uFillTx/>
                <a:latin typeface="DejaVu Sans"/>
                <a:ea typeface="DejaVu Sans"/>
              </a:rPr>
              <a:t>↔ </a:t>
            </a:r>
            <a:endParaRPr b="0" lang="en-GB" sz="1800" strike="noStrike" u="none">
              <a:solidFill>
                <a:srgbClr val="000000"/>
              </a:solidFill>
              <a:effectLst/>
              <a:uFillTx/>
              <a:latin typeface="Arial"/>
            </a:endParaRPr>
          </a:p>
          <a:p>
            <a:pPr algn="ctr">
              <a:lnSpc>
                <a:spcPct val="100000"/>
              </a:lnSpc>
            </a:pPr>
            <a:endParaRPr b="0" lang="en-GB" sz="1800" strike="noStrike" u="none">
              <a:solidFill>
                <a:srgbClr val="000000"/>
              </a:solidFill>
              <a:effectLst/>
              <a:uFillTx/>
              <a:latin typeface="Arial"/>
            </a:endParaRPr>
          </a:p>
          <a:p>
            <a:pPr algn="ctr">
              <a:lnSpc>
                <a:spcPct val="100000"/>
              </a:lnSpc>
            </a:pPr>
            <a:r>
              <a:rPr b="0" lang="en-US" sz="1800" strike="noStrike" u="none">
                <a:solidFill>
                  <a:srgbClr val="ffffff"/>
                </a:solidFill>
                <a:effectLst/>
                <a:uFillTx/>
                <a:latin typeface="DejaVu Sans"/>
                <a:ea typeface="DejaVu Sans"/>
              </a:rPr>
              <a:t>Contradicts our sustainability paradigm (consume less).</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7" name="CustomShape 121"/>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278" name="CustomShape 122"/>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Why am I working 40+h a week?</a:t>
            </a:r>
            <a:endParaRPr b="0" lang="en-GB" sz="2200" strike="noStrike" u="none">
              <a:solidFill>
                <a:srgbClr val="000000"/>
              </a:solidFill>
              <a:effectLst/>
              <a:uFillTx/>
              <a:latin typeface="Arial"/>
            </a:endParaRPr>
          </a:p>
        </p:txBody>
      </p:sp>
      <p:sp>
        <p:nvSpPr>
          <p:cNvPr id="1279" name="CustomShape 123"/>
          <p:cNvSpPr/>
          <p:nvPr/>
        </p:nvSpPr>
        <p:spPr>
          <a:xfrm>
            <a:off x="335520" y="1268280"/>
            <a:ext cx="10720800" cy="500832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Font typeface="Wingdings" charset="2"/>
              <a:buChar char=""/>
            </a:pPr>
            <a:r>
              <a:rPr b="0" lang="en-US" sz="1800" strike="noStrike" u="none">
                <a:solidFill>
                  <a:srgbClr val="000000"/>
                </a:solidFill>
                <a:effectLst/>
                <a:uFillTx/>
                <a:latin typeface="DejaVu Sans"/>
                <a:ea typeface="DejaVu Sans"/>
              </a:rPr>
              <a:t>Lively debates pertaining to Keynes prediction – especially among economists.</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marL="216000" indent="-216000">
              <a:lnSpc>
                <a:spcPct val="100000"/>
              </a:lnSpc>
              <a:buClr>
                <a:srgbClr val="008c4f"/>
              </a:buClr>
              <a:buFont typeface="Wingdings" charset="2"/>
              <a:buChar char=""/>
            </a:pPr>
            <a:r>
              <a:rPr b="0" lang="en-US" sz="1800" strike="noStrike" u="sng">
                <a:solidFill>
                  <a:srgbClr val="000000"/>
                </a:solidFill>
                <a:effectLst/>
                <a:uFillTx/>
                <a:latin typeface="DejaVu Sans"/>
                <a:ea typeface="DejaVu Sans"/>
              </a:rPr>
              <a:t>Main problem:</a:t>
            </a:r>
            <a:r>
              <a:rPr b="0" lang="en-US" sz="1800" strike="noStrike" u="none">
                <a:solidFill>
                  <a:srgbClr val="000000"/>
                </a:solidFill>
                <a:effectLst/>
                <a:uFillTx/>
                <a:latin typeface="DejaVu Sans"/>
                <a:ea typeface="DejaVu Sans"/>
              </a:rPr>
              <a:t> Keynes did not account for the massive increase in consumerism → Majority of people chooses more toys and pleasure over less work hours </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gn="ctr">
              <a:lnSpc>
                <a:spcPct val="100000"/>
              </a:lnSpc>
            </a:pPr>
            <a:r>
              <a:rPr b="0" lang="en-US"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algn="ctr">
              <a:lnSpc>
                <a:spcPct val="100000"/>
              </a:lnSpc>
            </a:pPr>
            <a:endParaRPr b="0" lang="en-GB" sz="1800" strike="noStrike" u="none">
              <a:solidFill>
                <a:srgbClr val="000000"/>
              </a:solidFill>
              <a:effectLst/>
              <a:uFillTx/>
              <a:latin typeface="Arial"/>
            </a:endParaRPr>
          </a:p>
          <a:p>
            <a:pPr algn="ctr">
              <a:lnSpc>
                <a:spcPct val="100000"/>
              </a:lnSpc>
            </a:pPr>
            <a:r>
              <a:rPr b="1" lang="en-US" sz="1800" strike="noStrike" u="none">
                <a:solidFill>
                  <a:srgbClr val="000000"/>
                </a:solidFill>
                <a:effectLst/>
                <a:uFillTx/>
                <a:latin typeface="DejaVu Sans"/>
                <a:ea typeface="DejaVu Sans"/>
              </a:rPr>
              <a:t>Contradicts our sustainability paradigm (consume less).</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0" name="CustomShape 124"/>
          <p:cNvSpPr/>
          <p:nvPr/>
        </p:nvSpPr>
        <p:spPr>
          <a:xfrm>
            <a:off x="335520" y="764640"/>
            <a:ext cx="10726920" cy="477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281" name="CustomShape 125"/>
          <p:cNvSpPr/>
          <p:nvPr/>
        </p:nvSpPr>
        <p:spPr>
          <a:xfrm>
            <a:off x="432720" y="1148040"/>
            <a:ext cx="10335960" cy="4766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Shift in Labor Force 1850 – 2010 </a:t>
            </a:r>
            <a:endParaRPr b="0" lang="en-GB" sz="2200" strike="noStrike" u="none">
              <a:solidFill>
                <a:srgbClr val="000000"/>
              </a:solidFill>
              <a:effectLst/>
              <a:uFillTx/>
              <a:latin typeface="Arial"/>
            </a:endParaRPr>
          </a:p>
        </p:txBody>
      </p:sp>
      <p:sp>
        <p:nvSpPr>
          <p:cNvPr id="1282" name="AutoShape 2"/>
          <p:cNvSpPr/>
          <p:nvPr/>
        </p:nvSpPr>
        <p:spPr>
          <a:xfrm>
            <a:off x="5943600" y="3276720"/>
            <a:ext cx="4216680" cy="421668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1283" name="CustomShape 126"/>
          <p:cNvSpPr/>
          <p:nvPr/>
        </p:nvSpPr>
        <p:spPr>
          <a:xfrm>
            <a:off x="263520" y="6442920"/>
            <a:ext cx="10781640" cy="500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Image recreated from: International Historical Statistics (2013): “Market Services Productivity Across Europe and the U.S.” by Robert Inklaar, Marcel P. Timmer and Bart van Ark, </a:t>
            </a:r>
            <a:r>
              <a:rPr b="0" i="1" lang="en-US" sz="900" strike="noStrike" u="none">
                <a:solidFill>
                  <a:srgbClr val="a6a6a6"/>
                </a:solidFill>
                <a:effectLst/>
                <a:uFillTx/>
                <a:latin typeface="DejaVu Sans"/>
                <a:ea typeface="Roboto"/>
              </a:rPr>
              <a:t>Economic Policy</a:t>
            </a:r>
            <a:r>
              <a:rPr b="0" lang="en-US" sz="900" strike="noStrike" u="none">
                <a:solidFill>
                  <a:srgbClr val="a6a6a6"/>
                </a:solidFill>
                <a:effectLst/>
                <a:uFillTx/>
                <a:latin typeface="DejaVu Sans"/>
                <a:ea typeface="Roboto"/>
              </a:rPr>
              <a:t>, Vol. 23, No. 53, 2008, pp. 139-94; authors calculations.</a:t>
            </a:r>
            <a:endParaRPr b="0" lang="en-GB" sz="900" strike="noStrike" u="none">
              <a:solidFill>
                <a:srgbClr val="000000"/>
              </a:solidFill>
              <a:effectLst/>
              <a:uFillTx/>
              <a:latin typeface="Arial"/>
            </a:endParaRPr>
          </a:p>
          <a:p>
            <a:pPr>
              <a:lnSpc>
                <a:spcPct val="100000"/>
              </a:lnSpc>
            </a:pPr>
            <a:endParaRPr b="0" lang="en-GB" sz="900" strike="noStrike" u="none">
              <a:solidFill>
                <a:srgbClr val="000000"/>
              </a:solidFill>
              <a:effectLst/>
              <a:uFillTx/>
              <a:latin typeface="Arial"/>
            </a:endParaRPr>
          </a:p>
        </p:txBody>
      </p:sp>
      <p:pic>
        <p:nvPicPr>
          <p:cNvPr id="1284" name="Grafik 2" descr=""/>
          <p:cNvPicPr/>
          <p:nvPr/>
        </p:nvPicPr>
        <p:blipFill>
          <a:blip r:embed="rId1"/>
          <a:stretch/>
        </p:blipFill>
        <p:spPr>
          <a:xfrm>
            <a:off x="1347120" y="1853640"/>
            <a:ext cx="8311320" cy="4393440"/>
          </a:xfrm>
          <a:prstGeom prst="rect">
            <a:avLst/>
          </a:prstGeom>
          <a:noFill/>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5" name="CustomShape 127"/>
          <p:cNvSpPr/>
          <p:nvPr/>
        </p:nvSpPr>
        <p:spPr>
          <a:xfrm>
            <a:off x="335520" y="764640"/>
            <a:ext cx="10726920" cy="477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286" name="CustomShape 128"/>
          <p:cNvSpPr/>
          <p:nvPr/>
        </p:nvSpPr>
        <p:spPr>
          <a:xfrm>
            <a:off x="432720" y="1148040"/>
            <a:ext cx="10335960" cy="4766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 – Essay and Book by David Graeber</a:t>
            </a:r>
            <a:endParaRPr b="0" lang="en-GB" sz="2200" strike="noStrike" u="none">
              <a:solidFill>
                <a:srgbClr val="000000"/>
              </a:solidFill>
              <a:effectLst/>
              <a:uFillTx/>
              <a:latin typeface="Arial"/>
            </a:endParaRPr>
          </a:p>
        </p:txBody>
      </p:sp>
      <p:sp>
        <p:nvSpPr>
          <p:cNvPr id="1287" name="CustomShape 129"/>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US" sz="1800" strike="noStrike" u="none">
                <a:solidFill>
                  <a:srgbClr val="000000"/>
                </a:solidFill>
                <a:effectLst/>
                <a:uFillTx/>
                <a:latin typeface="DejaVu Sans"/>
                <a:ea typeface="DejaVu Sans"/>
              </a:rPr>
              <a:t>Essay: </a:t>
            </a:r>
            <a:r>
              <a:rPr b="0" i="1" lang="en-US" sz="1800" strike="noStrike" u="none">
                <a:solidFill>
                  <a:srgbClr val="000000"/>
                </a:solidFill>
                <a:effectLst/>
                <a:uFillTx/>
                <a:latin typeface="DejaVu Sans"/>
                <a:ea typeface="DejaVu Sans"/>
              </a:rPr>
              <a:t>On the Phenomenon of Bullshit Jobs: A Work Rant</a:t>
            </a:r>
            <a:r>
              <a:rPr b="0" lang="en-US" sz="1800" strike="noStrike" u="none">
                <a:solidFill>
                  <a:srgbClr val="000000"/>
                </a:solidFill>
                <a:effectLst/>
                <a:uFillTx/>
                <a:latin typeface="DejaVu Sans"/>
                <a:ea typeface="DejaVu Sans"/>
              </a:rPr>
              <a:t> (2013) – </a:t>
            </a:r>
            <a:r>
              <a:rPr b="0" lang="en-US" sz="1800" strike="noStrike" u="sng">
                <a:solidFill>
                  <a:srgbClr val="0000ff"/>
                </a:solidFill>
                <a:effectLst/>
                <a:uFillTx/>
                <a:latin typeface="DejaVu Sans"/>
                <a:ea typeface="DejaVu Sans"/>
                <a:hlinkClick r:id="rId1"/>
              </a:rPr>
              <a:t>Link</a:t>
            </a: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Monotype Sorts" charset="2"/>
              <a:buChar char=""/>
            </a:pPr>
            <a:r>
              <a:rPr b="0" lang="en-US" sz="1800" strike="noStrike" u="none">
                <a:solidFill>
                  <a:srgbClr val="000000"/>
                </a:solidFill>
                <a:effectLst/>
                <a:uFillTx/>
                <a:latin typeface="DejaVu Sans"/>
                <a:ea typeface="DejaVu Sans"/>
              </a:rPr>
              <a:t>Book: </a:t>
            </a:r>
            <a:r>
              <a:rPr b="0" i="1" lang="en-US" sz="1800" strike="noStrike" u="none">
                <a:solidFill>
                  <a:srgbClr val="000000"/>
                </a:solidFill>
                <a:effectLst/>
                <a:uFillTx/>
                <a:latin typeface="DejaVu Sans"/>
                <a:ea typeface="DejaVu Sans"/>
              </a:rPr>
              <a:t>Bullshit Jobs: A Theory</a:t>
            </a:r>
            <a:r>
              <a:rPr b="0" lang="en-US" sz="1800" strike="noStrike" u="none">
                <a:solidFill>
                  <a:srgbClr val="000000"/>
                </a:solidFill>
                <a:effectLst/>
                <a:uFillTx/>
                <a:latin typeface="DejaVu Sans"/>
                <a:ea typeface="DejaVu Sans"/>
              </a:rPr>
              <a:t> (2018)</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8" name="CustomShape 130"/>
          <p:cNvSpPr/>
          <p:nvPr/>
        </p:nvSpPr>
        <p:spPr>
          <a:xfrm>
            <a:off x="335520" y="764640"/>
            <a:ext cx="10726920" cy="477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289" name="CustomShape 131"/>
          <p:cNvSpPr/>
          <p:nvPr/>
        </p:nvSpPr>
        <p:spPr>
          <a:xfrm>
            <a:off x="335520" y="1268280"/>
            <a:ext cx="10726920" cy="50144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endParaRPr b="0" lang="en-GB" sz="1800" strike="noStrike" u="none">
              <a:solidFill>
                <a:srgbClr val="000000"/>
              </a:solidFill>
              <a:effectLst/>
              <a:uFillTx/>
              <a:latin typeface="Arial"/>
            </a:endParaRPr>
          </a:p>
          <a:p>
            <a:pPr algn="ctr">
              <a:lnSpc>
                <a:spcPct val="100000"/>
              </a:lnSpc>
              <a:spcBef>
                <a:spcPts val="360"/>
              </a:spcBef>
            </a:pPr>
            <a:r>
              <a:rPr b="0" i="1" lang="en-US" sz="1800" strike="noStrike" u="none">
                <a:solidFill>
                  <a:srgbClr val="000000"/>
                </a:solidFill>
                <a:effectLst/>
                <a:uFillTx/>
                <a:latin typeface="DejaVu Sans"/>
                <a:ea typeface="DejaVu Sans"/>
              </a:rPr>
              <a:t>„Form of paid employment that is so completely pointless, unnecessary, or pernicious that even the employee cannot justify its existence even though, as part of the conditions of employment, the employee feels obliged to pretend that this is not the case.”</a:t>
            </a:r>
            <a:endParaRPr b="0" lang="en-GB" sz="1800" strike="noStrike" u="none">
              <a:solidFill>
                <a:srgbClr val="000000"/>
              </a:solidFill>
              <a:effectLst/>
              <a:uFillTx/>
              <a:latin typeface="Arial"/>
            </a:endParaRPr>
          </a:p>
        </p:txBody>
      </p:sp>
      <p:sp>
        <p:nvSpPr>
          <p:cNvPr id="1290" name="CustomShape 132"/>
          <p:cNvSpPr/>
          <p:nvPr/>
        </p:nvSpPr>
        <p:spPr>
          <a:xfrm>
            <a:off x="432720" y="1148040"/>
            <a:ext cx="10335960" cy="4766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 – Definition</a:t>
            </a:r>
            <a:endParaRPr b="0" lang="en-GB" sz="2200" strike="noStrike" u="none">
              <a:solidFill>
                <a:srgbClr val="000000"/>
              </a:solidFill>
              <a:effectLst/>
              <a:uFillTx/>
              <a:latin typeface="Arial"/>
            </a:endParaRPr>
          </a:p>
        </p:txBody>
      </p:sp>
      <p:sp>
        <p:nvSpPr>
          <p:cNvPr id="1291" name="CustomShape 133"/>
          <p:cNvSpPr/>
          <p:nvPr/>
        </p:nvSpPr>
        <p:spPr>
          <a:xfrm>
            <a:off x="335520" y="3291840"/>
            <a:ext cx="10775880" cy="135252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292" name="CustomShape 134"/>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293" name="CustomShape 135"/>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4" name="CustomShape 136"/>
          <p:cNvSpPr/>
          <p:nvPr/>
        </p:nvSpPr>
        <p:spPr>
          <a:xfrm>
            <a:off x="335520" y="764640"/>
            <a:ext cx="10726920" cy="477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295" name="CustomShape 137"/>
          <p:cNvSpPr/>
          <p:nvPr/>
        </p:nvSpPr>
        <p:spPr>
          <a:xfrm>
            <a:off x="335520" y="1268280"/>
            <a:ext cx="10726920" cy="50144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endParaRPr b="0" lang="en-GB" sz="1800" strike="noStrike" u="none">
              <a:solidFill>
                <a:srgbClr val="000000"/>
              </a:solidFill>
              <a:effectLst/>
              <a:uFillTx/>
              <a:latin typeface="Arial"/>
            </a:endParaRPr>
          </a:p>
          <a:p>
            <a:pPr algn="ctr">
              <a:lnSpc>
                <a:spcPct val="100000"/>
              </a:lnSpc>
              <a:spcBef>
                <a:spcPts val="360"/>
              </a:spcBef>
            </a:pPr>
            <a:r>
              <a:rPr b="0" i="1" lang="en-US" sz="1800" strike="noStrike" u="none">
                <a:solidFill>
                  <a:srgbClr val="000000"/>
                </a:solidFill>
                <a:effectLst/>
                <a:uFillTx/>
                <a:latin typeface="DejaVu Sans"/>
                <a:ea typeface="DejaVu Sans"/>
              </a:rPr>
              <a:t>„Form of paid employment that is so completely pointless, unnecessary, or pernicious that even the employee cannot justify its existence even though, as part of the conditions of employment, the employee feels obliged to pretend that this is not the case.”</a:t>
            </a:r>
            <a:endParaRPr b="0" lang="en-GB" sz="1800" strike="noStrike" u="none">
              <a:solidFill>
                <a:srgbClr val="000000"/>
              </a:solidFill>
              <a:effectLst/>
              <a:uFillTx/>
              <a:latin typeface="Arial"/>
            </a:endParaRPr>
          </a:p>
        </p:txBody>
      </p:sp>
      <p:sp>
        <p:nvSpPr>
          <p:cNvPr id="1296" name="CustomShape 138"/>
          <p:cNvSpPr/>
          <p:nvPr/>
        </p:nvSpPr>
        <p:spPr>
          <a:xfrm>
            <a:off x="432720" y="1148040"/>
            <a:ext cx="10335960" cy="4766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 – Definition</a:t>
            </a:r>
            <a:endParaRPr b="0" lang="en-GB" sz="2200" strike="noStrike" u="none">
              <a:solidFill>
                <a:srgbClr val="000000"/>
              </a:solidFill>
              <a:effectLst/>
              <a:uFillTx/>
              <a:latin typeface="Arial"/>
            </a:endParaRPr>
          </a:p>
        </p:txBody>
      </p:sp>
      <p:sp>
        <p:nvSpPr>
          <p:cNvPr id="1297" name="CustomShape 139"/>
          <p:cNvSpPr/>
          <p:nvPr/>
        </p:nvSpPr>
        <p:spPr>
          <a:xfrm>
            <a:off x="335520" y="3291840"/>
            <a:ext cx="10775880" cy="135252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298" name="CustomShape 140"/>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299" name="CustomShape 141"/>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
        <p:nvSpPr>
          <p:cNvPr id="1300" name="CustomShape 142"/>
          <p:cNvSpPr/>
          <p:nvPr/>
        </p:nvSpPr>
        <p:spPr>
          <a:xfrm>
            <a:off x="0" y="5140080"/>
            <a:ext cx="11419200" cy="3448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n-US" sz="1800" strike="noStrike" u="none">
                <a:solidFill>
                  <a:srgbClr val="000000"/>
                </a:solidFill>
                <a:effectLst/>
                <a:uFillTx/>
                <a:latin typeface="DejaVu Sans"/>
                <a:ea typeface="DejaVu Sans"/>
              </a:rPr>
              <a:t>→ Inefficiencies in capitalism? </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1" name="CustomShape 143"/>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02" name="CustomShape 144"/>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Categories</a:t>
            </a:r>
            <a:endParaRPr b="0" lang="en-GB" sz="2200" strike="noStrike" u="none">
              <a:solidFill>
                <a:srgbClr val="000000"/>
              </a:solidFill>
              <a:effectLst/>
              <a:uFillTx/>
              <a:latin typeface="Arial"/>
            </a:endParaRPr>
          </a:p>
        </p:txBody>
      </p:sp>
      <p:sp>
        <p:nvSpPr>
          <p:cNvPr id="1303" name="CustomShape 145"/>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04" name="CustomShape 146"/>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5" name="CustomShape 147"/>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06" name="CustomShape 148"/>
          <p:cNvSpPr/>
          <p:nvPr/>
        </p:nvSpPr>
        <p:spPr>
          <a:xfrm>
            <a:off x="335520" y="1268280"/>
            <a:ext cx="10720800" cy="500832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Flunkies:</a:t>
            </a:r>
            <a:r>
              <a:rPr b="0" lang="en-US" sz="1800" strike="noStrike" u="none">
                <a:solidFill>
                  <a:srgbClr val="000000"/>
                </a:solidFill>
                <a:effectLst/>
                <a:uFillTx/>
                <a:latin typeface="DejaVu Sans"/>
                <a:ea typeface="DejaVu Sans"/>
              </a:rPr>
              <a:t> Serve to make their superiors feel important, e.g., receptionists, administrative assistants, door attendants, store greeters, makers of websites whose sites neglect ease of use and speed for looks</a:t>
            </a:r>
            <a:endParaRPr b="0" lang="en-GB" sz="1800" strike="noStrike" u="none">
              <a:solidFill>
                <a:srgbClr val="000000"/>
              </a:solidFill>
              <a:effectLst/>
              <a:uFillTx/>
              <a:latin typeface="Arial"/>
            </a:endParaRPr>
          </a:p>
          <a:p>
            <a:pPr>
              <a:lnSpc>
                <a:spcPct val="100000"/>
              </a:lnSpc>
              <a:spcBef>
                <a:spcPts val="360"/>
              </a:spcBef>
            </a:pPr>
            <a:r>
              <a:rPr b="0" lang="en-US" sz="1800" strike="noStrike" u="sng">
                <a:solidFill>
                  <a:srgbClr val="ffffff"/>
                </a:solidFill>
                <a:effectLst/>
                <a:uFillTx/>
                <a:latin typeface="DejaVu Sans"/>
                <a:ea typeface="DejaVu Sans"/>
              </a:rPr>
              <a:t>Goons:</a:t>
            </a:r>
            <a:r>
              <a:rPr b="0" lang="en-US" sz="1800" strike="noStrike" u="none">
                <a:solidFill>
                  <a:srgbClr val="ffffff"/>
                </a:solidFill>
                <a:effectLst/>
                <a:uFillTx/>
                <a:latin typeface="DejaVu Sans"/>
                <a:ea typeface="DejaVu Sans"/>
              </a:rPr>
              <a:t> Act to harm or deceive others on behalf of their employer, e.g., lobbyists, corporate lawyers, telemarketers, public relations specialists, community managers;</a:t>
            </a:r>
            <a:endParaRPr b="0" lang="en-GB" sz="1800" strike="noStrike" u="none">
              <a:solidFill>
                <a:srgbClr val="000000"/>
              </a:solidFill>
              <a:effectLst/>
              <a:uFillTx/>
              <a:latin typeface="Arial"/>
            </a:endParaRPr>
          </a:p>
          <a:p>
            <a:pPr>
              <a:lnSpc>
                <a:spcPct val="100000"/>
              </a:lnSpc>
              <a:spcBef>
                <a:spcPts val="360"/>
              </a:spcBef>
            </a:pPr>
            <a:r>
              <a:rPr b="0" lang="en-US" sz="1800" strike="noStrike" u="sng">
                <a:solidFill>
                  <a:srgbClr val="ffffff"/>
                </a:solidFill>
                <a:effectLst/>
                <a:uFillTx/>
                <a:latin typeface="DejaVu Sans"/>
                <a:ea typeface="DejaVu Sans"/>
              </a:rPr>
              <a:t>Duct tapers:</a:t>
            </a:r>
            <a:r>
              <a:rPr b="0" lang="en-US" sz="1800" strike="noStrike" u="none">
                <a:solidFill>
                  <a:srgbClr val="ffffff"/>
                </a:solidFill>
                <a:effectLst/>
                <a:uFillTx/>
                <a:latin typeface="DejaVu Sans"/>
                <a:ea typeface="DejaVu Sans"/>
              </a:rPr>
              <a:t> Temporarily fix problems that could be fixed permanently, e.g., programmers repairing bloated code, airline desk staff who calm passengers whose bags do not arrive;</a:t>
            </a:r>
            <a:endParaRPr b="0" lang="en-GB" sz="1800" strike="noStrike" u="none">
              <a:solidFill>
                <a:srgbClr val="000000"/>
              </a:solidFill>
              <a:effectLst/>
              <a:uFillTx/>
              <a:latin typeface="Arial"/>
            </a:endParaRPr>
          </a:p>
          <a:p>
            <a:pPr>
              <a:lnSpc>
                <a:spcPct val="100000"/>
              </a:lnSpc>
              <a:spcBef>
                <a:spcPts val="360"/>
              </a:spcBef>
            </a:pPr>
            <a:r>
              <a:rPr b="0" lang="en-US" sz="1800" strike="noStrike" u="sng">
                <a:solidFill>
                  <a:srgbClr val="ffffff"/>
                </a:solidFill>
                <a:effectLst/>
                <a:uFillTx/>
                <a:latin typeface="DejaVu Sans"/>
                <a:ea typeface="DejaVu Sans"/>
              </a:rPr>
              <a:t>Box tickers:</a:t>
            </a:r>
            <a:r>
              <a:rPr b="0" lang="en-US" sz="1800" strike="noStrike" u="none">
                <a:solidFill>
                  <a:srgbClr val="ffffff"/>
                </a:solidFill>
                <a:effectLst/>
                <a:uFillTx/>
                <a:latin typeface="DejaVu Sans"/>
                <a:ea typeface="DejaVu Sans"/>
              </a:rPr>
              <a:t> Create the appearance that something useful is being done when it is not, e.g., survey administrators, in-house magazine journalists, corporate compliance officers, quality service managers;</a:t>
            </a:r>
            <a:endParaRPr b="0" lang="en-GB" sz="1800" strike="noStrike" u="none">
              <a:solidFill>
                <a:srgbClr val="000000"/>
              </a:solidFill>
              <a:effectLst/>
              <a:uFillTx/>
              <a:latin typeface="Arial"/>
            </a:endParaRPr>
          </a:p>
          <a:p>
            <a:pPr>
              <a:lnSpc>
                <a:spcPct val="100000"/>
              </a:lnSpc>
              <a:spcBef>
                <a:spcPts val="360"/>
              </a:spcBef>
            </a:pPr>
            <a:r>
              <a:rPr b="0" lang="en-US" sz="1800" strike="noStrike" u="sng">
                <a:solidFill>
                  <a:srgbClr val="ffffff"/>
                </a:solidFill>
                <a:effectLst/>
                <a:uFillTx/>
                <a:latin typeface="DejaVu Sans"/>
                <a:ea typeface="DejaVu Sans"/>
              </a:rPr>
              <a:t>Taskmasters:</a:t>
            </a:r>
            <a:r>
              <a:rPr b="0" lang="en-US" sz="1800" strike="noStrike" u="none">
                <a:solidFill>
                  <a:srgbClr val="ffffff"/>
                </a:solidFill>
                <a:effectLst/>
                <a:uFillTx/>
                <a:latin typeface="DejaVu Sans"/>
                <a:ea typeface="DejaVu Sans"/>
              </a:rPr>
              <a:t> Create extra work for those who do not need it, e.g., middle management, leadership professionals.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p:txBody>
      </p:sp>
      <p:sp>
        <p:nvSpPr>
          <p:cNvPr id="1307" name="CustomShape 149"/>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Categories</a:t>
            </a:r>
            <a:endParaRPr b="0" lang="en-GB" sz="2200" strike="noStrike" u="none">
              <a:solidFill>
                <a:srgbClr val="000000"/>
              </a:solidFill>
              <a:effectLst/>
              <a:uFillTx/>
              <a:latin typeface="Arial"/>
            </a:endParaRPr>
          </a:p>
        </p:txBody>
      </p:sp>
      <p:sp>
        <p:nvSpPr>
          <p:cNvPr id="1308" name="CustomShape 150"/>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09" name="CustomShape 151"/>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0" name="CustomShape 152"/>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11" name="CustomShape 153"/>
          <p:cNvSpPr/>
          <p:nvPr/>
        </p:nvSpPr>
        <p:spPr>
          <a:xfrm>
            <a:off x="335520" y="1268280"/>
            <a:ext cx="10720800" cy="500832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Flunkies:</a:t>
            </a:r>
            <a:r>
              <a:rPr b="0" lang="en-US" sz="1800" strike="noStrike" u="none">
                <a:solidFill>
                  <a:srgbClr val="000000"/>
                </a:solidFill>
                <a:effectLst/>
                <a:uFillTx/>
                <a:latin typeface="DejaVu Sans"/>
                <a:ea typeface="DejaVu Sans"/>
              </a:rPr>
              <a:t> Serve to make their superiors feel important, e.g., receptionists, administrative assistants, door attendants, store greeters, makers of websites whose sites neglect ease of use and speed for looks</a:t>
            </a: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Goons:</a:t>
            </a:r>
            <a:r>
              <a:rPr b="0" lang="en-US" sz="1800" strike="noStrike" u="none">
                <a:solidFill>
                  <a:srgbClr val="000000"/>
                </a:solidFill>
                <a:effectLst/>
                <a:uFillTx/>
                <a:latin typeface="DejaVu Sans"/>
                <a:ea typeface="DejaVu Sans"/>
              </a:rPr>
              <a:t> Act to harm or deceive others on behalf of their employer, e.g., lobbyists, corporate lawyers, telemarketers, public relations specialists, community managers</a:t>
            </a:r>
            <a:endParaRPr b="0" lang="en-GB" sz="1800" strike="noStrike" u="none">
              <a:solidFill>
                <a:srgbClr val="000000"/>
              </a:solidFill>
              <a:effectLst/>
              <a:uFillTx/>
              <a:latin typeface="Arial"/>
            </a:endParaRPr>
          </a:p>
          <a:p>
            <a:pPr>
              <a:lnSpc>
                <a:spcPct val="100000"/>
              </a:lnSpc>
              <a:spcBef>
                <a:spcPts val="360"/>
              </a:spcBef>
            </a:pPr>
            <a:r>
              <a:rPr b="0" lang="en-US" sz="1800" strike="noStrike" u="sng">
                <a:solidFill>
                  <a:srgbClr val="ffffff"/>
                </a:solidFill>
                <a:effectLst/>
                <a:uFillTx/>
                <a:latin typeface="DejaVu Sans"/>
                <a:ea typeface="DejaVu Sans"/>
              </a:rPr>
              <a:t>Duct tapers:</a:t>
            </a:r>
            <a:r>
              <a:rPr b="0" lang="en-US" sz="1800" strike="noStrike" u="none">
                <a:solidFill>
                  <a:srgbClr val="ffffff"/>
                </a:solidFill>
                <a:effectLst/>
                <a:uFillTx/>
                <a:latin typeface="DejaVu Sans"/>
                <a:ea typeface="DejaVu Sans"/>
              </a:rPr>
              <a:t> Temporarily fix problems that could be fixed permanently, e.g., programmers repairing bloated code, airline desk staff who calm passengers whose bags do not arrive;</a:t>
            </a:r>
            <a:endParaRPr b="0" lang="en-GB" sz="1800" strike="noStrike" u="none">
              <a:solidFill>
                <a:srgbClr val="000000"/>
              </a:solidFill>
              <a:effectLst/>
              <a:uFillTx/>
              <a:latin typeface="Arial"/>
            </a:endParaRPr>
          </a:p>
          <a:p>
            <a:pPr>
              <a:lnSpc>
                <a:spcPct val="100000"/>
              </a:lnSpc>
              <a:spcBef>
                <a:spcPts val="360"/>
              </a:spcBef>
            </a:pPr>
            <a:r>
              <a:rPr b="0" lang="en-US" sz="1800" strike="noStrike" u="sng">
                <a:solidFill>
                  <a:srgbClr val="ffffff"/>
                </a:solidFill>
                <a:effectLst/>
                <a:uFillTx/>
                <a:latin typeface="DejaVu Sans"/>
                <a:ea typeface="DejaVu Sans"/>
              </a:rPr>
              <a:t>Box tickers:</a:t>
            </a:r>
            <a:r>
              <a:rPr b="0" lang="en-US" sz="1800" strike="noStrike" u="none">
                <a:solidFill>
                  <a:srgbClr val="ffffff"/>
                </a:solidFill>
                <a:effectLst/>
                <a:uFillTx/>
                <a:latin typeface="DejaVu Sans"/>
                <a:ea typeface="DejaVu Sans"/>
              </a:rPr>
              <a:t> Create the appearance that something useful is being done when it is not, e.g., survey administrators, in-house magazine journalists, corporate compliance officers, quality service managers;</a:t>
            </a:r>
            <a:endParaRPr b="0" lang="en-GB" sz="1800" strike="noStrike" u="none">
              <a:solidFill>
                <a:srgbClr val="000000"/>
              </a:solidFill>
              <a:effectLst/>
              <a:uFillTx/>
              <a:latin typeface="Arial"/>
            </a:endParaRPr>
          </a:p>
          <a:p>
            <a:pPr>
              <a:lnSpc>
                <a:spcPct val="100000"/>
              </a:lnSpc>
              <a:spcBef>
                <a:spcPts val="360"/>
              </a:spcBef>
            </a:pPr>
            <a:r>
              <a:rPr b="0" lang="en-US" sz="1800" strike="noStrike" u="sng">
                <a:solidFill>
                  <a:srgbClr val="ffffff"/>
                </a:solidFill>
                <a:effectLst/>
                <a:uFillTx/>
                <a:latin typeface="DejaVu Sans"/>
                <a:ea typeface="DejaVu Sans"/>
              </a:rPr>
              <a:t>Taskmasters:</a:t>
            </a:r>
            <a:r>
              <a:rPr b="0" lang="en-US" sz="1800" strike="noStrike" u="none">
                <a:solidFill>
                  <a:srgbClr val="ffffff"/>
                </a:solidFill>
                <a:effectLst/>
                <a:uFillTx/>
                <a:latin typeface="DejaVu Sans"/>
                <a:ea typeface="DejaVu Sans"/>
              </a:rPr>
              <a:t> Create extra work for those who do not need it, e.g., middle management, leadership professionals.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p:txBody>
      </p:sp>
      <p:sp>
        <p:nvSpPr>
          <p:cNvPr id="1312" name="CustomShape 154"/>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Categories</a:t>
            </a:r>
            <a:endParaRPr b="0" lang="en-GB" sz="2200" strike="noStrike" u="none">
              <a:solidFill>
                <a:srgbClr val="000000"/>
              </a:solidFill>
              <a:effectLst/>
              <a:uFillTx/>
              <a:latin typeface="Arial"/>
            </a:endParaRPr>
          </a:p>
        </p:txBody>
      </p:sp>
      <p:sp>
        <p:nvSpPr>
          <p:cNvPr id="1313" name="CustomShape 155"/>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14" name="CustomShape 156"/>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5" name="CustomShape 157"/>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16" name="CustomShape 158"/>
          <p:cNvSpPr/>
          <p:nvPr/>
        </p:nvSpPr>
        <p:spPr>
          <a:xfrm>
            <a:off x="335520" y="1268280"/>
            <a:ext cx="10720800" cy="500832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Flunkies:</a:t>
            </a:r>
            <a:r>
              <a:rPr b="0" lang="en-US" sz="1800" strike="noStrike" u="none">
                <a:solidFill>
                  <a:srgbClr val="000000"/>
                </a:solidFill>
                <a:effectLst/>
                <a:uFillTx/>
                <a:latin typeface="DejaVu Sans"/>
                <a:ea typeface="DejaVu Sans"/>
              </a:rPr>
              <a:t> Serve to make their superiors feel important, e.g., receptionists, administrative assistants, door attendants, store greeters, makers of websites whose sites neglect ease of use and speed for looks</a:t>
            </a: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Goons:</a:t>
            </a:r>
            <a:r>
              <a:rPr b="0" lang="en-US" sz="1800" strike="noStrike" u="none">
                <a:solidFill>
                  <a:srgbClr val="000000"/>
                </a:solidFill>
                <a:effectLst/>
                <a:uFillTx/>
                <a:latin typeface="DejaVu Sans"/>
                <a:ea typeface="DejaVu Sans"/>
              </a:rPr>
              <a:t> Act to harm or deceive others on behalf of their employer, e.g., lobbyists, corporate lawyers, telemarketers, public relations specialists, community managers</a:t>
            </a: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Duct tapers:</a:t>
            </a:r>
            <a:r>
              <a:rPr b="0" lang="en-US" sz="1800" strike="noStrike" u="none">
                <a:solidFill>
                  <a:srgbClr val="000000"/>
                </a:solidFill>
                <a:effectLst/>
                <a:uFillTx/>
                <a:latin typeface="DejaVu Sans"/>
                <a:ea typeface="DejaVu Sans"/>
              </a:rPr>
              <a:t> Temporarily fix problems that could be fixed permanently, e.g., programmers repairing bloated code, airline desk staff who calm passengers whose bags do not arrive</a:t>
            </a:r>
            <a:endParaRPr b="0" lang="en-GB" sz="1800" strike="noStrike" u="none">
              <a:solidFill>
                <a:srgbClr val="000000"/>
              </a:solidFill>
              <a:effectLst/>
              <a:uFillTx/>
              <a:latin typeface="Arial"/>
            </a:endParaRPr>
          </a:p>
          <a:p>
            <a:pPr>
              <a:lnSpc>
                <a:spcPct val="100000"/>
              </a:lnSpc>
              <a:spcBef>
                <a:spcPts val="360"/>
              </a:spcBef>
            </a:pPr>
            <a:r>
              <a:rPr b="0" lang="en-US" sz="1800" strike="noStrike" u="sng">
                <a:solidFill>
                  <a:srgbClr val="ffffff"/>
                </a:solidFill>
                <a:effectLst/>
                <a:uFillTx/>
                <a:latin typeface="DejaVu Sans"/>
                <a:ea typeface="DejaVu Sans"/>
              </a:rPr>
              <a:t>Box tickers:</a:t>
            </a:r>
            <a:r>
              <a:rPr b="0" lang="en-US" sz="1800" strike="noStrike" u="none">
                <a:solidFill>
                  <a:srgbClr val="ffffff"/>
                </a:solidFill>
                <a:effectLst/>
                <a:uFillTx/>
                <a:latin typeface="DejaVu Sans"/>
                <a:ea typeface="DejaVu Sans"/>
              </a:rPr>
              <a:t> Create the appearance that something useful is being done when it is not, e.g., survey administrators, in-house magazine journalists, corporate compliance officers, quality service managers;</a:t>
            </a:r>
            <a:endParaRPr b="0" lang="en-GB" sz="1800" strike="noStrike" u="none">
              <a:solidFill>
                <a:srgbClr val="000000"/>
              </a:solidFill>
              <a:effectLst/>
              <a:uFillTx/>
              <a:latin typeface="Arial"/>
            </a:endParaRPr>
          </a:p>
          <a:p>
            <a:pPr>
              <a:lnSpc>
                <a:spcPct val="100000"/>
              </a:lnSpc>
              <a:spcBef>
                <a:spcPts val="360"/>
              </a:spcBef>
            </a:pPr>
            <a:r>
              <a:rPr b="0" lang="en-US" sz="1800" strike="noStrike" u="sng">
                <a:solidFill>
                  <a:srgbClr val="ffffff"/>
                </a:solidFill>
                <a:effectLst/>
                <a:uFillTx/>
                <a:latin typeface="DejaVu Sans"/>
                <a:ea typeface="DejaVu Sans"/>
              </a:rPr>
              <a:t>Taskmasters:</a:t>
            </a:r>
            <a:r>
              <a:rPr b="0" lang="en-US" sz="1800" strike="noStrike" u="none">
                <a:solidFill>
                  <a:srgbClr val="ffffff"/>
                </a:solidFill>
                <a:effectLst/>
                <a:uFillTx/>
                <a:latin typeface="DejaVu Sans"/>
                <a:ea typeface="DejaVu Sans"/>
              </a:rPr>
              <a:t> Create extra work for those who do not need it, e.g., middle management, leadership professionals.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p:txBody>
      </p:sp>
      <p:sp>
        <p:nvSpPr>
          <p:cNvPr id="1317" name="CustomShape 159"/>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Categories</a:t>
            </a:r>
            <a:endParaRPr b="0" lang="en-GB" sz="2200" strike="noStrike" u="none">
              <a:solidFill>
                <a:srgbClr val="000000"/>
              </a:solidFill>
              <a:effectLst/>
              <a:uFillTx/>
              <a:latin typeface="Arial"/>
            </a:endParaRPr>
          </a:p>
        </p:txBody>
      </p:sp>
      <p:sp>
        <p:nvSpPr>
          <p:cNvPr id="1318" name="CustomShape 160"/>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19" name="CustomShape 161"/>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0" name="CustomShape 162"/>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21" name="CustomShape 163"/>
          <p:cNvSpPr/>
          <p:nvPr/>
        </p:nvSpPr>
        <p:spPr>
          <a:xfrm>
            <a:off x="335520" y="1268280"/>
            <a:ext cx="10720800" cy="500832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Flunkies:</a:t>
            </a:r>
            <a:r>
              <a:rPr b="0" lang="en-US" sz="1800" strike="noStrike" u="none">
                <a:solidFill>
                  <a:srgbClr val="000000"/>
                </a:solidFill>
                <a:effectLst/>
                <a:uFillTx/>
                <a:latin typeface="DejaVu Sans"/>
                <a:ea typeface="DejaVu Sans"/>
              </a:rPr>
              <a:t> Serve to make their superiors feel important, e.g., receptionists, administrative assistants, door attendants, store greeters, makers of websites whose sites neglect ease of use and speed for looks</a:t>
            </a: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Goons:</a:t>
            </a:r>
            <a:r>
              <a:rPr b="0" lang="en-US" sz="1800" strike="noStrike" u="none">
                <a:solidFill>
                  <a:srgbClr val="000000"/>
                </a:solidFill>
                <a:effectLst/>
                <a:uFillTx/>
                <a:latin typeface="DejaVu Sans"/>
                <a:ea typeface="DejaVu Sans"/>
              </a:rPr>
              <a:t> Act to harm or deceive others on behalf of their employer, e.g., lobbyists, corporate lawyers, telemarketers, public relations specialists, community managers</a:t>
            </a: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Duct tapers:</a:t>
            </a:r>
            <a:r>
              <a:rPr b="0" lang="en-US" sz="1800" strike="noStrike" u="none">
                <a:solidFill>
                  <a:srgbClr val="000000"/>
                </a:solidFill>
                <a:effectLst/>
                <a:uFillTx/>
                <a:latin typeface="DejaVu Sans"/>
                <a:ea typeface="DejaVu Sans"/>
              </a:rPr>
              <a:t> Temporarily fix problems that could be fixed permanently, e.g., programmers repairing bloated code, airline desk staff who calm passengers whose bags do not arrive</a:t>
            </a: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Box tickers:</a:t>
            </a:r>
            <a:r>
              <a:rPr b="0" lang="en-US" sz="1800" strike="noStrike" u="none">
                <a:solidFill>
                  <a:srgbClr val="000000"/>
                </a:solidFill>
                <a:effectLst/>
                <a:uFillTx/>
                <a:latin typeface="DejaVu Sans"/>
                <a:ea typeface="DejaVu Sans"/>
              </a:rPr>
              <a:t> Create the appearance that something useful is being done when it is not, e.g., survey administrators, in-house magazine journalists, corporate compliance officers, quality service managers</a:t>
            </a:r>
            <a:endParaRPr b="0" lang="en-GB" sz="1800" strike="noStrike" u="none">
              <a:solidFill>
                <a:srgbClr val="000000"/>
              </a:solidFill>
              <a:effectLst/>
              <a:uFillTx/>
              <a:latin typeface="Arial"/>
            </a:endParaRPr>
          </a:p>
          <a:p>
            <a:pPr>
              <a:lnSpc>
                <a:spcPct val="100000"/>
              </a:lnSpc>
              <a:spcBef>
                <a:spcPts val="360"/>
              </a:spcBef>
            </a:pPr>
            <a:r>
              <a:rPr b="0" lang="en-US" sz="1800" strike="noStrike" u="sng">
                <a:solidFill>
                  <a:srgbClr val="ffffff"/>
                </a:solidFill>
                <a:effectLst/>
                <a:uFillTx/>
                <a:latin typeface="DejaVu Sans"/>
                <a:ea typeface="DejaVu Sans"/>
              </a:rPr>
              <a:t>Taskmasters:</a:t>
            </a:r>
            <a:r>
              <a:rPr b="0" lang="en-US" sz="1800" strike="noStrike" u="none">
                <a:solidFill>
                  <a:srgbClr val="ffffff"/>
                </a:solidFill>
                <a:effectLst/>
                <a:uFillTx/>
                <a:latin typeface="DejaVu Sans"/>
                <a:ea typeface="DejaVu Sans"/>
              </a:rPr>
              <a:t> Create extra work for those who do not need it, e.g., middle management, leadership professionals.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p:txBody>
      </p:sp>
      <p:sp>
        <p:nvSpPr>
          <p:cNvPr id="1322" name="CustomShape 164"/>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Categories</a:t>
            </a:r>
            <a:endParaRPr b="0" lang="en-GB" sz="2200" strike="noStrike" u="none">
              <a:solidFill>
                <a:srgbClr val="000000"/>
              </a:solidFill>
              <a:effectLst/>
              <a:uFillTx/>
              <a:latin typeface="Arial"/>
            </a:endParaRPr>
          </a:p>
        </p:txBody>
      </p:sp>
      <p:sp>
        <p:nvSpPr>
          <p:cNvPr id="1323" name="CustomShape 165"/>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24" name="CustomShape 166"/>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5" name="CustomShape 167"/>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26" name="CustomShape 168"/>
          <p:cNvSpPr/>
          <p:nvPr/>
        </p:nvSpPr>
        <p:spPr>
          <a:xfrm>
            <a:off x="335520" y="1268280"/>
            <a:ext cx="10720800" cy="500832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Flunkies:</a:t>
            </a:r>
            <a:r>
              <a:rPr b="0" lang="en-US" sz="1800" strike="noStrike" u="none">
                <a:solidFill>
                  <a:srgbClr val="000000"/>
                </a:solidFill>
                <a:effectLst/>
                <a:uFillTx/>
                <a:latin typeface="DejaVu Sans"/>
                <a:ea typeface="DejaVu Sans"/>
              </a:rPr>
              <a:t> Serve to make their superiors feel important, e.g., receptionists, administrative assistants, door attendants, store greeters, makers of websites whose sites neglect ease of use and speed for looks</a:t>
            </a: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Goons:</a:t>
            </a:r>
            <a:r>
              <a:rPr b="0" lang="en-US" sz="1800" strike="noStrike" u="none">
                <a:solidFill>
                  <a:srgbClr val="000000"/>
                </a:solidFill>
                <a:effectLst/>
                <a:uFillTx/>
                <a:latin typeface="DejaVu Sans"/>
                <a:ea typeface="DejaVu Sans"/>
              </a:rPr>
              <a:t> Act to harm or deceive others on behalf of their employer, e.g., lobbyists, corporate lawyers, telemarketers, public relations specialists, community managers</a:t>
            </a: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Duct tapers:</a:t>
            </a:r>
            <a:r>
              <a:rPr b="0" lang="en-US" sz="1800" strike="noStrike" u="none">
                <a:solidFill>
                  <a:srgbClr val="000000"/>
                </a:solidFill>
                <a:effectLst/>
                <a:uFillTx/>
                <a:latin typeface="DejaVu Sans"/>
                <a:ea typeface="DejaVu Sans"/>
              </a:rPr>
              <a:t> Temporarily fix problems that could be fixed permanently, e.g., programmers repairing bloated code, airline desk staff who calm passengers whose bags do not arrive</a:t>
            </a: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Box tickers:</a:t>
            </a:r>
            <a:r>
              <a:rPr b="0" lang="en-US" sz="1800" strike="noStrike" u="none">
                <a:solidFill>
                  <a:srgbClr val="000000"/>
                </a:solidFill>
                <a:effectLst/>
                <a:uFillTx/>
                <a:latin typeface="DejaVu Sans"/>
                <a:ea typeface="DejaVu Sans"/>
              </a:rPr>
              <a:t> Create the appearance that something useful is being done when it is not, e.g., survey administrators, in-house magazine journalists, corporate compliance officers, quality service managers</a:t>
            </a: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0" lang="en-US" sz="1800" strike="noStrike" u="sng">
                <a:solidFill>
                  <a:srgbClr val="000000"/>
                </a:solidFill>
                <a:effectLst/>
                <a:uFillTx/>
                <a:latin typeface="DejaVu Sans"/>
                <a:ea typeface="DejaVu Sans"/>
              </a:rPr>
              <a:t>Taskmasters:</a:t>
            </a:r>
            <a:r>
              <a:rPr b="0" lang="en-US" sz="1800" strike="noStrike" u="none">
                <a:solidFill>
                  <a:srgbClr val="000000"/>
                </a:solidFill>
                <a:effectLst/>
                <a:uFillTx/>
                <a:latin typeface="DejaVu Sans"/>
                <a:ea typeface="DejaVu Sans"/>
              </a:rPr>
              <a:t> Create extra work for those who do not need it, e.g., middle management, leadership professionals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p:txBody>
      </p:sp>
      <p:sp>
        <p:nvSpPr>
          <p:cNvPr id="1327" name="CustomShape 169"/>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Categories</a:t>
            </a:r>
            <a:endParaRPr b="0" lang="en-GB" sz="2200" strike="noStrike" u="none">
              <a:solidFill>
                <a:srgbClr val="000000"/>
              </a:solidFill>
              <a:effectLst/>
              <a:uFillTx/>
              <a:latin typeface="Arial"/>
            </a:endParaRPr>
          </a:p>
        </p:txBody>
      </p:sp>
      <p:sp>
        <p:nvSpPr>
          <p:cNvPr id="1328" name="CustomShape 170"/>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29" name="CustomShape 171"/>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0" name="CustomShape 172"/>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31" name="CustomShape 173"/>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Bullshitization</a:t>
            </a:r>
            <a:endParaRPr b="0" lang="en-GB" sz="2200" strike="noStrike" u="none">
              <a:solidFill>
                <a:srgbClr val="000000"/>
              </a:solidFill>
              <a:effectLst/>
              <a:uFillTx/>
              <a:latin typeface="Arial"/>
            </a:endParaRPr>
          </a:p>
        </p:txBody>
      </p:sp>
      <p:sp>
        <p:nvSpPr>
          <p:cNvPr id="1332" name="CustomShape 174"/>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Are You in a BS Job? In Academe, You’re Hardly Alone (Chronicle of Higher Education) – </a:t>
            </a:r>
            <a:r>
              <a:rPr b="0" lang="en-US" sz="900" strike="noStrike" u="sng">
                <a:solidFill>
                  <a:srgbClr val="0000ff"/>
                </a:solidFill>
                <a:effectLst/>
                <a:uFillTx/>
                <a:latin typeface="DejaVu Sans"/>
                <a:ea typeface="Roboto"/>
                <a:hlinkClick r:id="rId1"/>
              </a:rPr>
              <a:t>Link</a:t>
            </a:r>
            <a:r>
              <a:rPr b="0" lang="en-US" sz="900" strike="noStrike" u="none">
                <a:solidFill>
                  <a:srgbClr val="a6a6a6"/>
                </a:solidFill>
                <a:effectLst/>
                <a:uFillTx/>
                <a:latin typeface="DejaVu Sans"/>
                <a:ea typeface="Roboto"/>
              </a:rPr>
              <a:t> </a:t>
            </a:r>
            <a:endParaRPr b="0" lang="en-GB" sz="900" strike="noStrike" u="none">
              <a:solidFill>
                <a:srgbClr val="000000"/>
              </a:solidFill>
              <a:effectLst/>
              <a:uFillTx/>
              <a:latin typeface="Arial"/>
            </a:endParaRPr>
          </a:p>
        </p:txBody>
      </p:sp>
      <p:sp>
        <p:nvSpPr>
          <p:cNvPr id="1333" name="CustomShape 175"/>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34" name="CustomShape 176"/>
          <p:cNvSpPr/>
          <p:nvPr/>
        </p:nvSpPr>
        <p:spPr>
          <a:xfrm>
            <a:off x="327960" y="3165120"/>
            <a:ext cx="10775880" cy="135252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335" name="CustomShape 177"/>
          <p:cNvSpPr/>
          <p:nvPr/>
        </p:nvSpPr>
        <p:spPr>
          <a:xfrm>
            <a:off x="335520" y="1268280"/>
            <a:ext cx="10726920" cy="50144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i="1" lang="en-US" sz="1800" strike="noStrike" u="none">
                <a:solidFill>
                  <a:srgbClr val="000000"/>
                </a:solidFill>
                <a:effectLst/>
                <a:uFillTx/>
                <a:latin typeface="Arial"/>
                <a:ea typeface="DejaVu Sans"/>
              </a:rPr>
              <a:t>Transition of a meaningful job into a bullshit job through corporatization, </a:t>
            </a:r>
            <a:endParaRPr b="0" lang="en-GB" sz="1800" strike="noStrike" u="none">
              <a:solidFill>
                <a:srgbClr val="000000"/>
              </a:solidFill>
              <a:effectLst/>
              <a:uFillTx/>
              <a:latin typeface="Arial"/>
            </a:endParaRPr>
          </a:p>
          <a:p>
            <a:pPr algn="ctr">
              <a:lnSpc>
                <a:spcPct val="100000"/>
              </a:lnSpc>
            </a:pPr>
            <a:r>
              <a:rPr b="0" i="1" lang="en-US" sz="1800" strike="noStrike" u="none">
                <a:solidFill>
                  <a:srgbClr val="000000"/>
                </a:solidFill>
                <a:effectLst/>
                <a:uFillTx/>
                <a:latin typeface="Arial"/>
                <a:ea typeface="DejaVu Sans"/>
              </a:rPr>
              <a:t>marketization or managerialism.</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6" name="CustomShape 178"/>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37" name="CustomShape 179"/>
          <p:cNvSpPr/>
          <p:nvPr/>
        </p:nvSpPr>
        <p:spPr>
          <a:xfrm>
            <a:off x="432720" y="123552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Changes in full-time staff size and student enrollment </a:t>
            </a:r>
            <a:endParaRPr b="0" lang="en-GB" sz="2200" strike="noStrike" u="none">
              <a:solidFill>
                <a:srgbClr val="000000"/>
              </a:solidFill>
              <a:effectLst/>
              <a:uFillTx/>
              <a:latin typeface="Arial"/>
            </a:endParaRPr>
          </a:p>
          <a:p>
            <a:pPr>
              <a:lnSpc>
                <a:spcPct val="100000"/>
              </a:lnSpc>
            </a:pPr>
            <a:r>
              <a:rPr b="1" lang="en-US" sz="2200" strike="noStrike" u="none">
                <a:solidFill>
                  <a:srgbClr val="666666"/>
                </a:solidFill>
                <a:effectLst/>
                <a:uFillTx/>
                <a:latin typeface="DejaVu Sans"/>
                <a:ea typeface="DejaVu Sans"/>
              </a:rPr>
              <a:t>(1976–2011 and 1976–2018)</a:t>
            </a:r>
            <a:endParaRPr b="0" lang="en-GB" sz="2200" strike="noStrike" u="none">
              <a:solidFill>
                <a:srgbClr val="000000"/>
              </a:solidFill>
              <a:effectLst/>
              <a:uFillTx/>
              <a:latin typeface="Arial"/>
            </a:endParaRPr>
          </a:p>
        </p:txBody>
      </p:sp>
      <p:sp>
        <p:nvSpPr>
          <p:cNvPr id="1338" name="CustomShape 180"/>
          <p:cNvSpPr/>
          <p:nvPr/>
        </p:nvSpPr>
        <p:spPr>
          <a:xfrm>
            <a:off x="259200" y="6424200"/>
            <a:ext cx="11056320" cy="36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Michael Delucchi, Richard B. Dadzie, Erik Dean &amp; Xuan Pham (2021) What’s that smell? Bullshit jobs in higher education, Review of Social Economy, DOI: 10.1080/00346764.2021.1940255</a:t>
            </a:r>
            <a:endParaRPr b="0" lang="en-GB" sz="900" strike="noStrike" u="none">
              <a:solidFill>
                <a:srgbClr val="000000"/>
              </a:solidFill>
              <a:effectLst/>
              <a:uFillTx/>
              <a:latin typeface="Arial"/>
            </a:endParaRPr>
          </a:p>
          <a:p>
            <a:pPr>
              <a:lnSpc>
                <a:spcPct val="100000"/>
              </a:lnSpc>
            </a:pPr>
            <a:endParaRPr b="0" lang="en-GB" sz="900" strike="noStrike" u="none">
              <a:solidFill>
                <a:srgbClr val="000000"/>
              </a:solidFill>
              <a:effectLst/>
              <a:uFillTx/>
              <a:latin typeface="Arial"/>
            </a:endParaRPr>
          </a:p>
        </p:txBody>
      </p:sp>
      <p:pic>
        <p:nvPicPr>
          <p:cNvPr id="1339" name="Grafik 1" descr=""/>
          <p:cNvPicPr/>
          <p:nvPr/>
        </p:nvPicPr>
        <p:blipFill>
          <a:blip r:embed="rId1"/>
          <a:stretch/>
        </p:blipFill>
        <p:spPr>
          <a:xfrm>
            <a:off x="620280" y="2789280"/>
            <a:ext cx="10423440" cy="1490400"/>
          </a:xfrm>
          <a:prstGeom prst="rect">
            <a:avLst/>
          </a:prstGeom>
          <a:noFill/>
          <a:ln w="0">
            <a:noFill/>
          </a:ln>
        </p:spPr>
      </p:pic>
      <p:sp>
        <p:nvSpPr>
          <p:cNvPr id="1340" name="Pfeil: nach oben 3"/>
          <p:cNvSpPr/>
          <p:nvPr/>
        </p:nvSpPr>
        <p:spPr>
          <a:xfrm>
            <a:off x="5760720" y="4249800"/>
            <a:ext cx="244080" cy="697680"/>
          </a:xfrm>
          <a:prstGeom prst="upArrow">
            <a:avLst>
              <a:gd name="adj1" fmla="val 50000"/>
              <a:gd name="adj2" fmla="val 70324"/>
            </a:avLst>
          </a:prstGeom>
          <a:solidFill>
            <a:srgbClr val="ff0000"/>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a typeface="DejaVu Sans"/>
            </a:endParaRPr>
          </a:p>
        </p:txBody>
      </p:sp>
      <p:sp>
        <p:nvSpPr>
          <p:cNvPr id="1341" name="Pfeil: nach oben 4"/>
          <p:cNvSpPr/>
          <p:nvPr/>
        </p:nvSpPr>
        <p:spPr>
          <a:xfrm>
            <a:off x="9410040" y="4279680"/>
            <a:ext cx="244080" cy="697680"/>
          </a:xfrm>
          <a:prstGeom prst="upArrow">
            <a:avLst>
              <a:gd name="adj1" fmla="val 50000"/>
              <a:gd name="adj2" fmla="val 70324"/>
            </a:avLst>
          </a:prstGeom>
          <a:solidFill>
            <a:srgbClr val="ff0000"/>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2" name="CustomShape 181"/>
          <p:cNvSpPr/>
          <p:nvPr/>
        </p:nvSpPr>
        <p:spPr>
          <a:xfrm>
            <a:off x="335520" y="764640"/>
            <a:ext cx="10725120" cy="47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43" name="CustomShape 182"/>
          <p:cNvSpPr/>
          <p:nvPr/>
        </p:nvSpPr>
        <p:spPr>
          <a:xfrm>
            <a:off x="335520" y="1268280"/>
            <a:ext cx="10725120" cy="50126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gn="ctr">
              <a:lnSpc>
                <a:spcPct val="100000"/>
              </a:lnSpc>
              <a:spcBef>
                <a:spcPts val="360"/>
              </a:spcBef>
            </a:pPr>
            <a:r>
              <a:rPr b="0" lang="en-US" sz="1800" strike="noStrike" u="none">
                <a:solidFill>
                  <a:srgbClr val="000000"/>
                </a:solidFill>
                <a:effectLst/>
                <a:uFillTx/>
                <a:latin typeface="DejaVu Sans"/>
                <a:ea typeface="DejaVu Sans"/>
              </a:rPr>
              <a:t>John Maynard Keynes predicted a 15h work week in his 1930 essay </a:t>
            </a:r>
            <a:r>
              <a:rPr b="0" i="1" lang="en-US" sz="1800" strike="noStrike" u="none">
                <a:solidFill>
                  <a:srgbClr val="000000"/>
                </a:solidFill>
                <a:effectLst/>
                <a:uFillTx/>
                <a:latin typeface="DejaVu Sans"/>
                <a:ea typeface="DejaVu Sans"/>
              </a:rPr>
              <a:t>“Economic Possibilities for our Grandchildren”</a:t>
            </a:r>
            <a:endParaRPr b="0" lang="en-GB" sz="1800" strike="noStrike" u="none">
              <a:solidFill>
                <a:srgbClr val="000000"/>
              </a:solidFill>
              <a:effectLst/>
              <a:uFillTx/>
              <a:latin typeface="Arial"/>
            </a:endParaRPr>
          </a:p>
        </p:txBody>
      </p:sp>
      <p:sp>
        <p:nvSpPr>
          <p:cNvPr id="1344" name="CustomShape 183"/>
          <p:cNvSpPr/>
          <p:nvPr/>
        </p:nvSpPr>
        <p:spPr>
          <a:xfrm>
            <a:off x="432720" y="1148040"/>
            <a:ext cx="10330560" cy="471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15h Work Week</a:t>
            </a:r>
            <a:endParaRPr b="0" lang="en-GB" sz="2200" strike="noStrike" u="none">
              <a:solidFill>
                <a:srgbClr val="000000"/>
              </a:solidFill>
              <a:effectLst/>
              <a:uFillTx/>
              <a:latin typeface="Arial"/>
            </a:endParaRPr>
          </a:p>
        </p:txBody>
      </p:sp>
      <p:sp>
        <p:nvSpPr>
          <p:cNvPr id="1345" name="CustomShape 184"/>
          <p:cNvSpPr/>
          <p:nvPr/>
        </p:nvSpPr>
        <p:spPr>
          <a:xfrm>
            <a:off x="198000" y="3420000"/>
            <a:ext cx="10775880" cy="9950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6" name="CustomShape 185"/>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47" name="CustomShape 186"/>
          <p:cNvSpPr/>
          <p:nvPr/>
        </p:nvSpPr>
        <p:spPr>
          <a:xfrm>
            <a:off x="335520" y="1268280"/>
            <a:ext cx="7386120" cy="500832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SzPct val="45000"/>
              <a:buFont typeface="Wingdings" charset="2"/>
              <a:buChar char=""/>
            </a:pPr>
            <a:r>
              <a:rPr b="0" lang="en-US" sz="1800" strike="noStrike" u="none">
                <a:solidFill>
                  <a:srgbClr val="000000"/>
                </a:solidFill>
                <a:effectLst/>
                <a:uFillTx/>
                <a:latin typeface="DejaVu Sans"/>
                <a:ea typeface="DejaVu Sans"/>
              </a:rPr>
              <a:t>Assumption → Capitalism does not allow for inefficiencies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Hypothesis → Maybe this is not capitalism and rather just  "managerial feudalism"?</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The pains of dull work as a justification for the ability to fulfill consumer desires</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Fulfilling those desires → Reward for suffering through pointless work</a:t>
            </a:r>
            <a:endParaRPr b="0" lang="en-GB" sz="1800" strike="noStrike" u="none">
              <a:solidFill>
                <a:srgbClr val="000000"/>
              </a:solidFill>
              <a:effectLst/>
              <a:uFillTx/>
              <a:latin typeface="Arial"/>
            </a:endParaRPr>
          </a:p>
        </p:txBody>
      </p:sp>
      <p:sp>
        <p:nvSpPr>
          <p:cNvPr id="1348" name="CustomShape 187"/>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Why?</a:t>
            </a:r>
            <a:endParaRPr b="0" lang="en-GB" sz="2200" strike="noStrike" u="none">
              <a:solidFill>
                <a:srgbClr val="000000"/>
              </a:solidFill>
              <a:effectLst/>
              <a:uFillTx/>
              <a:latin typeface="Arial"/>
            </a:endParaRPr>
          </a:p>
        </p:txBody>
      </p:sp>
      <p:sp>
        <p:nvSpPr>
          <p:cNvPr id="1349" name="CustomShape 188"/>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50" name="CustomShape 189"/>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
        <p:nvSpPr>
          <p:cNvPr id="1351" name="CustomShape 190"/>
          <p:cNvSpPr/>
          <p:nvPr/>
        </p:nvSpPr>
        <p:spPr>
          <a:xfrm>
            <a:off x="8076600" y="1268280"/>
            <a:ext cx="3175200" cy="4952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600" strike="noStrike" u="none">
                <a:solidFill>
                  <a:srgbClr val="ffffff"/>
                </a:solidFill>
                <a:effectLst/>
                <a:uFillTx/>
                <a:latin typeface="DejaVu Sans"/>
                <a:ea typeface="DejaVu Sans"/>
              </a:rPr>
              <a:t>Feudalism:</a:t>
            </a:r>
            <a:r>
              <a:rPr b="0" i="1" lang="en-US" sz="1600" strike="noStrike" u="none">
                <a:solidFill>
                  <a:srgbClr val="ffffff"/>
                </a:solidFill>
                <a:effectLst/>
                <a:uFillTx/>
                <a:latin typeface="DejaVu Sans"/>
                <a:ea typeface="DejaVu Sans"/>
              </a:rPr>
              <a:t> „The dominant social system in medieval Europe, in which the nobility held lands from the Crown in exchange for military service, and vassals were in turn tenants of the nobles, while the peasants (villeins or serfs) were obliged to live on their lord's land and give him homage, labour, and a share of the produce, notionally in exchange for military protection.” </a:t>
            </a:r>
            <a:endParaRPr b="0" lang="en-GB" sz="1600" strike="noStrike" u="none">
              <a:solidFill>
                <a:srgbClr val="000000"/>
              </a:solidFill>
              <a:effectLst/>
              <a:uFillTx/>
              <a:latin typeface="Arial"/>
            </a:endParaRPr>
          </a:p>
          <a:p>
            <a:pPr algn="ctr">
              <a:lnSpc>
                <a:spcPct val="100000"/>
              </a:lnSpc>
            </a:pPr>
            <a:endParaRPr b="0" lang="en-GB" sz="1600" strike="noStrike" u="none">
              <a:solidFill>
                <a:srgbClr val="000000"/>
              </a:solidFill>
              <a:effectLst/>
              <a:uFillTx/>
              <a:latin typeface="Arial"/>
            </a:endParaRPr>
          </a:p>
          <a:p>
            <a:pPr algn="ctr">
              <a:lnSpc>
                <a:spcPct val="100000"/>
              </a:lnSpc>
            </a:pPr>
            <a:r>
              <a:rPr b="0" i="1" lang="en-US" sz="1600" strike="noStrike" u="none">
                <a:solidFill>
                  <a:srgbClr val="ffffff"/>
                </a:solidFill>
                <a:effectLst/>
                <a:uFillTx/>
                <a:latin typeface="DejaVu Sans"/>
                <a:ea typeface="DejaVu Sans"/>
              </a:rPr>
              <a:t>(Oxford Dictionary)</a:t>
            </a:r>
            <a:endParaRPr b="0" lang="en-GB"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2" name="CustomShape 191"/>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53" name="CustomShape 192"/>
          <p:cNvSpPr/>
          <p:nvPr/>
        </p:nvSpPr>
        <p:spPr>
          <a:xfrm>
            <a:off x="335520" y="1268280"/>
            <a:ext cx="7386120" cy="500832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SzPct val="45000"/>
              <a:buFont typeface="Wingdings" charset="2"/>
              <a:buChar char=""/>
            </a:pPr>
            <a:r>
              <a:rPr b="0" lang="en-US" sz="1800" strike="noStrike" u="none">
                <a:solidFill>
                  <a:srgbClr val="000000"/>
                </a:solidFill>
                <a:effectLst/>
                <a:uFillTx/>
                <a:latin typeface="DejaVu Sans"/>
                <a:ea typeface="DejaVu Sans"/>
              </a:rPr>
              <a:t>Assumption → Capitalism does not allow for inefficiencies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Hypothesis → Maybe this is not capitalism and rather just  "managerial feudalism"?</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The pains of dull work as a justification for the ability to fulfill consumer desires</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Fulfilling those desires → Reward for suffering through pointless work</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Bullshit jobs also serve political ends, in which political parties are more concerned about having jobs than whether the jobs are fulfilling.</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Also → Populations occupied with busy work have less time to revolt</a:t>
            </a:r>
            <a:endParaRPr b="0" lang="en-GB" sz="1800" strike="noStrike" u="none">
              <a:solidFill>
                <a:srgbClr val="000000"/>
              </a:solidFill>
              <a:effectLst/>
              <a:uFillTx/>
              <a:latin typeface="Arial"/>
            </a:endParaRPr>
          </a:p>
        </p:txBody>
      </p:sp>
      <p:sp>
        <p:nvSpPr>
          <p:cNvPr id="1354" name="CustomShape 193"/>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Why?</a:t>
            </a:r>
            <a:endParaRPr b="0" lang="en-GB" sz="2200" strike="noStrike" u="none">
              <a:solidFill>
                <a:srgbClr val="000000"/>
              </a:solidFill>
              <a:effectLst/>
              <a:uFillTx/>
              <a:latin typeface="Arial"/>
            </a:endParaRPr>
          </a:p>
        </p:txBody>
      </p:sp>
      <p:sp>
        <p:nvSpPr>
          <p:cNvPr id="1355" name="CustomShape 194"/>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56" name="CustomShape 195"/>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
        <p:nvSpPr>
          <p:cNvPr id="1357" name="CustomShape 196"/>
          <p:cNvSpPr/>
          <p:nvPr/>
        </p:nvSpPr>
        <p:spPr>
          <a:xfrm>
            <a:off x="8076600" y="1268280"/>
            <a:ext cx="3175200" cy="4952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600" strike="noStrike" u="none">
                <a:solidFill>
                  <a:srgbClr val="ffffff"/>
                </a:solidFill>
                <a:effectLst/>
                <a:uFillTx/>
                <a:latin typeface="DejaVu Sans"/>
                <a:ea typeface="DejaVu Sans"/>
              </a:rPr>
              <a:t>Feudalism:</a:t>
            </a:r>
            <a:r>
              <a:rPr b="0" i="1" lang="en-US" sz="1600" strike="noStrike" u="none">
                <a:solidFill>
                  <a:srgbClr val="ffffff"/>
                </a:solidFill>
                <a:effectLst/>
                <a:uFillTx/>
                <a:latin typeface="DejaVu Sans"/>
                <a:ea typeface="DejaVu Sans"/>
              </a:rPr>
              <a:t> „The dominant social system in medieval Europe, in which the nobility held lands from the Crown in exchange for military service, and vassals were in turn tenants of the nobles, while the peasants (villeins or serfs) were obliged to live on their lord's land and give him homage, labour, and a share of the produce, notionally in exchange for military protection.” </a:t>
            </a:r>
            <a:endParaRPr b="0" lang="en-GB" sz="1600" strike="noStrike" u="none">
              <a:solidFill>
                <a:srgbClr val="000000"/>
              </a:solidFill>
              <a:effectLst/>
              <a:uFillTx/>
              <a:latin typeface="Arial"/>
            </a:endParaRPr>
          </a:p>
          <a:p>
            <a:pPr algn="ctr">
              <a:lnSpc>
                <a:spcPct val="100000"/>
              </a:lnSpc>
            </a:pPr>
            <a:endParaRPr b="0" lang="en-GB" sz="1600" strike="noStrike" u="none">
              <a:solidFill>
                <a:srgbClr val="000000"/>
              </a:solidFill>
              <a:effectLst/>
              <a:uFillTx/>
              <a:latin typeface="Arial"/>
            </a:endParaRPr>
          </a:p>
          <a:p>
            <a:pPr algn="ctr">
              <a:lnSpc>
                <a:spcPct val="100000"/>
              </a:lnSpc>
            </a:pPr>
            <a:r>
              <a:rPr b="0" i="1" lang="en-US" sz="1600" strike="noStrike" u="none">
                <a:solidFill>
                  <a:srgbClr val="ffffff"/>
                </a:solidFill>
                <a:effectLst/>
                <a:uFillTx/>
                <a:latin typeface="DejaVu Sans"/>
                <a:ea typeface="DejaVu Sans"/>
              </a:rPr>
              <a:t>(Oxford Dictionary)</a:t>
            </a:r>
            <a:endParaRPr b="0" lang="en-GB"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8" name="CustomShape 197"/>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59" name="CustomShape 198"/>
          <p:cNvSpPr/>
          <p:nvPr/>
        </p:nvSpPr>
        <p:spPr>
          <a:xfrm>
            <a:off x="335520" y="1268280"/>
            <a:ext cx="7386120" cy="500832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SzPct val="45000"/>
              <a:buFont typeface="Wingdings" charset="2"/>
              <a:buChar char=""/>
            </a:pPr>
            <a:r>
              <a:rPr b="0" lang="en-US" sz="1800" strike="noStrike" u="none">
                <a:solidFill>
                  <a:srgbClr val="000000"/>
                </a:solidFill>
                <a:effectLst/>
                <a:uFillTx/>
                <a:latin typeface="DejaVu Sans"/>
                <a:ea typeface="DejaVu Sans"/>
              </a:rPr>
              <a:t>Assumption → Capitalism does not allow for inefficiencies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Hypothesis → Maybe this is not capitalism and rather just  "managerial feudalism"?</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The pains of dull work as a justification for the ability to fulfill consumer desires</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Fulfilling those desires → Reward for suffering through pointless work</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Bullshit jobs also serve political ends, in which political parties are more concerned about having jobs than whether the jobs are fulfilling.</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Also → Populations occupied with busy work have less time to revolt</a:t>
            </a:r>
            <a:endParaRPr b="0" lang="en-GB" sz="1800" strike="noStrike" u="none">
              <a:solidFill>
                <a:srgbClr val="000000"/>
              </a:solidFill>
              <a:effectLst/>
              <a:uFillTx/>
              <a:latin typeface="Arial"/>
            </a:endParaRPr>
          </a:p>
        </p:txBody>
      </p:sp>
      <p:sp>
        <p:nvSpPr>
          <p:cNvPr id="1360" name="CustomShape 199"/>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Why?</a:t>
            </a:r>
            <a:endParaRPr b="0" lang="en-GB" sz="2200" strike="noStrike" u="none">
              <a:solidFill>
                <a:srgbClr val="000000"/>
              </a:solidFill>
              <a:effectLst/>
              <a:uFillTx/>
              <a:latin typeface="Arial"/>
            </a:endParaRPr>
          </a:p>
        </p:txBody>
      </p:sp>
      <p:sp>
        <p:nvSpPr>
          <p:cNvPr id="1361" name="CustomShape 200"/>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62" name="CustomShape 201"/>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
        <p:nvSpPr>
          <p:cNvPr id="1363" name="CustomShape 202"/>
          <p:cNvSpPr/>
          <p:nvPr/>
        </p:nvSpPr>
        <p:spPr>
          <a:xfrm>
            <a:off x="8076600" y="1268280"/>
            <a:ext cx="3175200" cy="4952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600" strike="noStrike" u="none">
                <a:solidFill>
                  <a:srgbClr val="000000"/>
                </a:solidFill>
                <a:effectLst/>
                <a:uFillTx/>
                <a:latin typeface="DejaVu Sans"/>
                <a:ea typeface="DejaVu Sans"/>
              </a:rPr>
              <a:t>Feudalism:</a:t>
            </a:r>
            <a:r>
              <a:rPr b="0" i="1" lang="en-US" sz="1600" strike="noStrike" u="none">
                <a:solidFill>
                  <a:srgbClr val="000000"/>
                </a:solidFill>
                <a:effectLst/>
                <a:uFillTx/>
                <a:latin typeface="DejaVu Sans"/>
                <a:ea typeface="DejaVu Sans"/>
              </a:rPr>
              <a:t> „The dominant social system in medieval Europe, in which the nobility held lands from the Crown in exchange for military service, and vassals were in turn tenants of the nobles, while the peasants (villeins or serfs) were obliged to live on their lord's land and give him homage, labour, and a share of the produce, notionally in exchange for military protection.” </a:t>
            </a:r>
            <a:endParaRPr b="0" lang="en-GB" sz="1600" strike="noStrike" u="none">
              <a:solidFill>
                <a:srgbClr val="000000"/>
              </a:solidFill>
              <a:effectLst/>
              <a:uFillTx/>
              <a:latin typeface="Arial"/>
            </a:endParaRPr>
          </a:p>
          <a:p>
            <a:pPr algn="ctr">
              <a:lnSpc>
                <a:spcPct val="100000"/>
              </a:lnSpc>
            </a:pPr>
            <a:endParaRPr b="0" lang="en-GB" sz="1600" strike="noStrike" u="none">
              <a:solidFill>
                <a:srgbClr val="000000"/>
              </a:solidFill>
              <a:effectLst/>
              <a:uFillTx/>
              <a:latin typeface="Arial"/>
            </a:endParaRPr>
          </a:p>
          <a:p>
            <a:pPr algn="ctr">
              <a:lnSpc>
                <a:spcPct val="100000"/>
              </a:lnSpc>
            </a:pPr>
            <a:r>
              <a:rPr b="0" i="1" lang="en-US" sz="1600" strike="noStrike" u="none">
                <a:solidFill>
                  <a:srgbClr val="000000"/>
                </a:solidFill>
                <a:effectLst/>
                <a:uFillTx/>
                <a:latin typeface="DejaVu Sans"/>
                <a:ea typeface="DejaVu Sans"/>
              </a:rPr>
              <a:t>(Oxford Dictionary)</a:t>
            </a:r>
            <a:endParaRPr b="0" lang="en-GB"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4" name="CustomShape 203"/>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65" name="CustomShape 204"/>
          <p:cNvSpPr/>
          <p:nvPr/>
        </p:nvSpPr>
        <p:spPr>
          <a:xfrm>
            <a:off x="335520" y="1268280"/>
            <a:ext cx="7386120" cy="500832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SzPct val="45000"/>
              <a:buFont typeface="Wingdings" charset="2"/>
              <a:buChar char=""/>
            </a:pPr>
            <a:r>
              <a:rPr b="0" lang="en-US" sz="1800" strike="noStrike" u="none">
                <a:solidFill>
                  <a:srgbClr val="000000"/>
                </a:solidFill>
                <a:effectLst/>
                <a:uFillTx/>
                <a:latin typeface="DejaVu Sans"/>
                <a:ea typeface="DejaVu Sans"/>
              </a:rPr>
              <a:t>Assumption → Capitalism does not allow for inefficiencies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Hypothesis → Maybe this is not capitalism and rather just  "managerial feudalism"?</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The pains of dull work as a justification for the ability to fulfill consumer desires</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Fulfilling those desires → Reward for suffering through pointless work</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Bullshit jobs also serve political ends, in which political parties are more concerned about having jobs than whether the jobs are fulfilling.</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DejaVu Sans"/>
                <a:ea typeface="DejaVu Sans"/>
              </a:rPr>
              <a:t>Also → Populations occupied with busy work have less time to revolt</a:t>
            </a:r>
            <a:endParaRPr b="0" lang="en-GB" sz="1800" strike="noStrike" u="none">
              <a:solidFill>
                <a:srgbClr val="000000"/>
              </a:solidFill>
              <a:effectLst/>
              <a:uFillTx/>
              <a:latin typeface="Arial"/>
            </a:endParaRPr>
          </a:p>
        </p:txBody>
      </p:sp>
      <p:sp>
        <p:nvSpPr>
          <p:cNvPr id="1366" name="CustomShape 205"/>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Why?</a:t>
            </a:r>
            <a:endParaRPr b="0" lang="en-GB" sz="2200" strike="noStrike" u="none">
              <a:solidFill>
                <a:srgbClr val="000000"/>
              </a:solidFill>
              <a:effectLst/>
              <a:uFillTx/>
              <a:latin typeface="Arial"/>
            </a:endParaRPr>
          </a:p>
        </p:txBody>
      </p:sp>
      <p:sp>
        <p:nvSpPr>
          <p:cNvPr id="1367" name="CustomShape 206"/>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68" name="CustomShape 207"/>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
        <p:nvSpPr>
          <p:cNvPr id="1369" name="CustomShape 208"/>
          <p:cNvSpPr/>
          <p:nvPr/>
        </p:nvSpPr>
        <p:spPr>
          <a:xfrm>
            <a:off x="8076600" y="1268280"/>
            <a:ext cx="3175200" cy="4952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600" strike="noStrike" u="none">
                <a:solidFill>
                  <a:srgbClr val="000000"/>
                </a:solidFill>
                <a:effectLst/>
                <a:uFillTx/>
                <a:latin typeface="DejaVu Sans"/>
                <a:ea typeface="DejaVu Sans"/>
              </a:rPr>
              <a:t>Feudalism:</a:t>
            </a:r>
            <a:r>
              <a:rPr b="0" i="1" lang="en-US" sz="1600" strike="noStrike" u="none">
                <a:solidFill>
                  <a:srgbClr val="000000"/>
                </a:solidFill>
                <a:effectLst/>
                <a:uFillTx/>
                <a:latin typeface="DejaVu Sans"/>
                <a:ea typeface="DejaVu Sans"/>
              </a:rPr>
              <a:t> „The dominant social system in medieval Europe, in which the nobility held lands from the Crown in exchange for military service, and vassals were in turn tenants of the nobles, while the peasants (villeins or serfs) were obliged to live on their lord's land and give him homage, labour, and a share of the produce, notionally in exchange for military protection.” </a:t>
            </a:r>
            <a:endParaRPr b="0" lang="en-GB" sz="1600" strike="noStrike" u="none">
              <a:solidFill>
                <a:srgbClr val="000000"/>
              </a:solidFill>
              <a:effectLst/>
              <a:uFillTx/>
              <a:latin typeface="Arial"/>
            </a:endParaRPr>
          </a:p>
          <a:p>
            <a:pPr algn="ctr">
              <a:lnSpc>
                <a:spcPct val="100000"/>
              </a:lnSpc>
            </a:pPr>
            <a:endParaRPr b="0" lang="en-GB" sz="1600" strike="noStrike" u="none">
              <a:solidFill>
                <a:srgbClr val="000000"/>
              </a:solidFill>
              <a:effectLst/>
              <a:uFillTx/>
              <a:latin typeface="Arial"/>
            </a:endParaRPr>
          </a:p>
          <a:p>
            <a:pPr algn="ctr">
              <a:lnSpc>
                <a:spcPct val="100000"/>
              </a:lnSpc>
            </a:pPr>
            <a:r>
              <a:rPr b="0" i="1" lang="en-US" sz="1600" strike="noStrike" u="none">
                <a:solidFill>
                  <a:srgbClr val="000000"/>
                </a:solidFill>
                <a:effectLst/>
                <a:uFillTx/>
                <a:latin typeface="DejaVu Sans"/>
                <a:ea typeface="DejaVu Sans"/>
              </a:rPr>
              <a:t>(Oxford Dictionary)</a:t>
            </a:r>
            <a:endParaRPr b="0" lang="en-GB"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0" name="CustomShape 209"/>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71" name="CustomShape 210"/>
          <p:cNvSpPr/>
          <p:nvPr/>
        </p:nvSpPr>
        <p:spPr>
          <a:xfrm>
            <a:off x="335520" y="1268280"/>
            <a:ext cx="7386120" cy="500832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SzPct val="45000"/>
              <a:buFont typeface="Wingdings" charset="2"/>
              <a:buChar char=""/>
            </a:pPr>
            <a:r>
              <a:rPr b="0" lang="en-US" sz="1800" strike="noStrike" u="none">
                <a:solidFill>
                  <a:srgbClr val="000000"/>
                </a:solidFill>
                <a:effectLst/>
                <a:uFillTx/>
                <a:latin typeface="DejaVu Sans"/>
                <a:ea typeface="DejaVu Sans"/>
              </a:rPr>
              <a:t>Assumption → Capitalism does not allow for inefficiencies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16000">
              <a:lnSpc>
                <a:spcPct val="100000"/>
              </a:lnSpc>
              <a:spcBef>
                <a:spcPts val="360"/>
              </a:spcBef>
              <a:buClr>
                <a:srgbClr val="008c4f"/>
              </a:buClr>
              <a:buSzPct val="45000"/>
              <a:buFont typeface="Wingdings" charset="2"/>
              <a:buChar char=""/>
            </a:pPr>
            <a:r>
              <a:rPr b="0" lang="en-US" sz="1800" strike="noStrike" u="none">
                <a:solidFill>
                  <a:srgbClr val="000000"/>
                </a:solidFill>
                <a:effectLst/>
                <a:uFillTx/>
                <a:latin typeface="DejaVu Sans"/>
                <a:ea typeface="DejaVu Sans"/>
              </a:rPr>
              <a:t>Hypothesis → Maybe this is not capitalism and rather just  "managerial feudalism"?</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The pains of dull work as a justification for the ability to fulfill consumer desires</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Fulfilling those desires → Reward for suffering through pointless work</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Bullshit jobs also serve political ends, in which political parties are more concerned about having jobs than whether the jobs are fulfilling.</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DejaVu Sans"/>
                <a:ea typeface="DejaVu Sans"/>
              </a:rPr>
              <a:t>Also → Populations occupied with busy work have less time to revolt</a:t>
            </a:r>
            <a:endParaRPr b="0" lang="en-GB" sz="1800" strike="noStrike" u="none">
              <a:solidFill>
                <a:srgbClr val="000000"/>
              </a:solidFill>
              <a:effectLst/>
              <a:uFillTx/>
              <a:latin typeface="Arial"/>
            </a:endParaRPr>
          </a:p>
        </p:txBody>
      </p:sp>
      <p:sp>
        <p:nvSpPr>
          <p:cNvPr id="1372" name="CustomShape 211"/>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Why?</a:t>
            </a:r>
            <a:endParaRPr b="0" lang="en-GB" sz="2200" strike="noStrike" u="none">
              <a:solidFill>
                <a:srgbClr val="000000"/>
              </a:solidFill>
              <a:effectLst/>
              <a:uFillTx/>
              <a:latin typeface="Arial"/>
            </a:endParaRPr>
          </a:p>
        </p:txBody>
      </p:sp>
      <p:sp>
        <p:nvSpPr>
          <p:cNvPr id="1373" name="CustomShape 212"/>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74" name="CustomShape 213"/>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
        <p:nvSpPr>
          <p:cNvPr id="1375" name="CustomShape 214"/>
          <p:cNvSpPr/>
          <p:nvPr/>
        </p:nvSpPr>
        <p:spPr>
          <a:xfrm>
            <a:off x="8076600" y="1268280"/>
            <a:ext cx="3175200" cy="4952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1600" strike="noStrike" u="none">
                <a:solidFill>
                  <a:srgbClr val="000000"/>
                </a:solidFill>
                <a:effectLst/>
                <a:uFillTx/>
                <a:latin typeface="DejaVu Sans"/>
                <a:ea typeface="DejaVu Sans"/>
              </a:rPr>
              <a:t>Feudalism:</a:t>
            </a:r>
            <a:r>
              <a:rPr b="0" i="1" lang="en-US" sz="1600" strike="noStrike" u="none">
                <a:solidFill>
                  <a:srgbClr val="000000"/>
                </a:solidFill>
                <a:effectLst/>
                <a:uFillTx/>
                <a:latin typeface="DejaVu Sans"/>
                <a:ea typeface="DejaVu Sans"/>
              </a:rPr>
              <a:t> „The dominant social system in medieval Europe, in which the nobility held lands from the Crown in exchange for military service, and vassals were in turn tenants of the nobles, while the peasants (villeins or serfs) were obliged to live on their lord's land and give him homage, labour, and a share of the produce, notionally in exchange for military protection.” </a:t>
            </a:r>
            <a:endParaRPr b="0" lang="en-GB" sz="1600" strike="noStrike" u="none">
              <a:solidFill>
                <a:srgbClr val="000000"/>
              </a:solidFill>
              <a:effectLst/>
              <a:uFillTx/>
              <a:latin typeface="Arial"/>
            </a:endParaRPr>
          </a:p>
          <a:p>
            <a:pPr algn="ctr">
              <a:lnSpc>
                <a:spcPct val="100000"/>
              </a:lnSpc>
            </a:pPr>
            <a:endParaRPr b="0" lang="en-GB" sz="1600" strike="noStrike" u="none">
              <a:solidFill>
                <a:srgbClr val="000000"/>
              </a:solidFill>
              <a:effectLst/>
              <a:uFillTx/>
              <a:latin typeface="Arial"/>
            </a:endParaRPr>
          </a:p>
          <a:p>
            <a:pPr algn="ctr">
              <a:lnSpc>
                <a:spcPct val="100000"/>
              </a:lnSpc>
            </a:pPr>
            <a:r>
              <a:rPr b="0" i="1" lang="en-US" sz="1600" strike="noStrike" u="none">
                <a:solidFill>
                  <a:srgbClr val="000000"/>
                </a:solidFill>
                <a:effectLst/>
                <a:uFillTx/>
                <a:latin typeface="DejaVu Sans"/>
                <a:ea typeface="DejaVu Sans"/>
              </a:rPr>
              <a:t>(Oxford Dictionary)</a:t>
            </a:r>
            <a:endParaRPr b="0" lang="en-GB"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6" name="CustomShape 215"/>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77" name="CustomShape 216"/>
          <p:cNvSpPr/>
          <p:nvPr/>
        </p:nvSpPr>
        <p:spPr>
          <a:xfrm>
            <a:off x="335520" y="1268280"/>
            <a:ext cx="10720800" cy="500832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a typeface="DejaVu Sans"/>
            </a:endParaRPr>
          </a:p>
        </p:txBody>
      </p:sp>
      <p:sp>
        <p:nvSpPr>
          <p:cNvPr id="1378" name="CustomShape 217"/>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Now What?</a:t>
            </a:r>
            <a:endParaRPr b="0" lang="en-GB" sz="2200" strike="noStrike" u="none">
              <a:solidFill>
                <a:srgbClr val="000000"/>
              </a:solidFill>
              <a:effectLst/>
              <a:uFillTx/>
              <a:latin typeface="Arial"/>
            </a:endParaRPr>
          </a:p>
        </p:txBody>
      </p:sp>
      <p:sp>
        <p:nvSpPr>
          <p:cNvPr id="1379" name="CustomShape 218"/>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80" name="CustomShape 219"/>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1" name="CustomShape 220"/>
          <p:cNvSpPr/>
          <p:nvPr/>
        </p:nvSpPr>
        <p:spPr>
          <a:xfrm>
            <a:off x="335520" y="764640"/>
            <a:ext cx="10720800" cy="471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Detour</a:t>
            </a:r>
            <a:endParaRPr b="0" lang="en-GB" sz="2400" strike="noStrike" u="none">
              <a:solidFill>
                <a:srgbClr val="000000"/>
              </a:solidFill>
              <a:effectLst/>
              <a:uFillTx/>
              <a:latin typeface="Arial"/>
            </a:endParaRPr>
          </a:p>
        </p:txBody>
      </p:sp>
      <p:sp>
        <p:nvSpPr>
          <p:cNvPr id="1382" name="CustomShape 221"/>
          <p:cNvSpPr/>
          <p:nvPr/>
        </p:nvSpPr>
        <p:spPr>
          <a:xfrm>
            <a:off x="335520" y="1268280"/>
            <a:ext cx="10720800" cy="500832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195120" indent="-174960">
              <a:lnSpc>
                <a:spcPct val="100000"/>
              </a:lnSpc>
              <a:spcBef>
                <a:spcPts val="360"/>
              </a:spcBef>
              <a:buClr>
                <a:srgbClr val="008c4f"/>
              </a:buClr>
              <a:buSzPct val="80000"/>
              <a:buFont typeface="Wingdings" charset="2"/>
              <a:buChar char=""/>
            </a:pPr>
            <a:r>
              <a:rPr b="1" lang="en-US" sz="1800" strike="noStrike" u="none">
                <a:solidFill>
                  <a:srgbClr val="000000"/>
                </a:solidFill>
                <a:effectLst/>
                <a:uFillTx/>
                <a:latin typeface="DejaVu Sans"/>
                <a:ea typeface="DejaVu Sans"/>
              </a:rPr>
              <a:t>Graeber’s solution → Universal Basic Income (UBI) → Livable benefit paid to all, thus letting people work at their leisure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p:txBody>
      </p:sp>
      <p:sp>
        <p:nvSpPr>
          <p:cNvPr id="1383" name="CustomShape 222"/>
          <p:cNvSpPr/>
          <p:nvPr/>
        </p:nvSpPr>
        <p:spPr>
          <a:xfrm>
            <a:off x="432720" y="1148040"/>
            <a:ext cx="10329840" cy="47052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Bullshit Jobs – Now What?</a:t>
            </a:r>
            <a:endParaRPr b="0" lang="en-GB" sz="2200" strike="noStrike" u="none">
              <a:solidFill>
                <a:srgbClr val="000000"/>
              </a:solidFill>
              <a:effectLst/>
              <a:uFillTx/>
              <a:latin typeface="Arial"/>
            </a:endParaRPr>
          </a:p>
        </p:txBody>
      </p:sp>
      <p:sp>
        <p:nvSpPr>
          <p:cNvPr id="1384" name="CustomShape 223"/>
          <p:cNvSpPr/>
          <p:nvPr/>
        </p:nvSpPr>
        <p:spPr>
          <a:xfrm>
            <a:off x="263520" y="649224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(2018) – Bullshit Jobs: A Theory</a:t>
            </a:r>
            <a:endParaRPr b="0" lang="en-GB" sz="900" strike="noStrike" u="none">
              <a:solidFill>
                <a:srgbClr val="000000"/>
              </a:solidFill>
              <a:effectLst/>
              <a:uFillTx/>
              <a:latin typeface="Arial"/>
            </a:endParaRPr>
          </a:p>
        </p:txBody>
      </p:sp>
      <p:sp>
        <p:nvSpPr>
          <p:cNvPr id="1385" name="CustomShape 224"/>
          <p:cNvSpPr/>
          <p:nvPr/>
        </p:nvSpPr>
        <p:spPr>
          <a:xfrm>
            <a:off x="263520" y="6309360"/>
            <a:ext cx="1078164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D. Graeber (2013) – On the Phenomenon of Bullshit Jobs – Essay – </a:t>
            </a:r>
            <a:r>
              <a:rPr b="0" lang="en-US" sz="900" strike="noStrike" u="sng">
                <a:solidFill>
                  <a:srgbClr val="0000ff"/>
                </a:solidFill>
                <a:effectLst/>
                <a:uFillTx/>
                <a:latin typeface="DejaVu Sans"/>
                <a:ea typeface="Roboto"/>
                <a:hlinkClick r:id="rId1"/>
              </a:rPr>
              <a:t>Link</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6" name="CustomShape 20"/>
          <p:cNvSpPr/>
          <p:nvPr/>
        </p:nvSpPr>
        <p:spPr>
          <a:xfrm>
            <a:off x="335520" y="4406760"/>
            <a:ext cx="10722600" cy="133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3000" strike="noStrike" u="none" cap="all">
                <a:solidFill>
                  <a:srgbClr val="008c4f"/>
                </a:solidFill>
                <a:effectLst/>
                <a:uFillTx/>
                <a:latin typeface="Arial Unicode MS"/>
                <a:ea typeface="DejaVu Sans"/>
              </a:rPr>
              <a:t>Universal basic income</a:t>
            </a:r>
            <a:endParaRPr b="0" lang="en-GB" sz="3000" strike="noStrike" u="none">
              <a:solidFill>
                <a:srgbClr val="000000"/>
              </a:solidFill>
              <a:effectLst/>
              <a:uFillTx/>
              <a:latin typeface="Arial"/>
            </a:endParaRPr>
          </a:p>
        </p:txBody>
      </p:sp>
      <p:sp>
        <p:nvSpPr>
          <p:cNvPr id="1387" name="CustomShape 71"/>
          <p:cNvSpPr/>
          <p:nvPr/>
        </p:nvSpPr>
        <p:spPr>
          <a:xfrm>
            <a:off x="335520" y="2906640"/>
            <a:ext cx="10722600" cy="1469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8" name="CustomShape 74"/>
          <p:cNvSpPr/>
          <p:nvPr/>
        </p:nvSpPr>
        <p:spPr>
          <a:xfrm>
            <a:off x="335520" y="764640"/>
            <a:ext cx="10722960" cy="473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389" name="CustomShape 75"/>
          <p:cNvSpPr/>
          <p:nvPr/>
        </p:nvSpPr>
        <p:spPr>
          <a:xfrm>
            <a:off x="335520" y="1268640"/>
            <a:ext cx="10722960" cy="5010480"/>
          </a:xfrm>
          <a:prstGeom prst="rect">
            <a:avLst/>
          </a:prstGeom>
          <a:noFill/>
          <a:ln w="0">
            <a:noFill/>
          </a:ln>
        </p:spPr>
        <p:style>
          <a:lnRef idx="0"/>
          <a:fillRef idx="0"/>
          <a:effectRef idx="0"/>
          <a:fontRef idx="minor"/>
        </p:style>
        <p:txBody>
          <a:bodyPr lIns="90000" rIns="90000" tIns="45000" bIns="45000" anchor="ctr">
            <a:noAutofit/>
          </a:bodyPr>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Short → UBI</a:t>
            </a:r>
            <a:endParaRPr b="0" lang="en-GB" sz="1800" strike="noStrike" u="none">
              <a:solidFill>
                <a:srgbClr val="000000"/>
              </a:solidFill>
              <a:effectLst/>
              <a:uFillTx/>
              <a:latin typeface="Arial"/>
            </a:endParaRPr>
          </a:p>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Synonym(s):</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Basic Income Guarantee (BIG) </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Unconditional Basic Income</a:t>
            </a:r>
            <a:endParaRPr b="0" lang="en-GB" sz="1800" strike="noStrike" u="none">
              <a:solidFill>
                <a:srgbClr val="000000"/>
              </a:solidFill>
              <a:effectLst/>
              <a:uFillTx/>
              <a:latin typeface="Arial"/>
            </a:endParaRPr>
          </a:p>
          <a:p>
            <a:pPr>
              <a:lnSpc>
                <a:spcPct val="100000"/>
              </a:lnSpc>
              <a:spcBef>
                <a:spcPts val="360"/>
              </a:spcBef>
            </a:pPr>
            <a:r>
              <a:rPr b="0" lang="en-GB" sz="1800" strike="noStrike" u="none">
                <a:solidFill>
                  <a:srgbClr val="ffffff"/>
                </a:solidFill>
                <a:effectLst/>
                <a:uFillTx/>
                <a:latin typeface="DejaVu Sans"/>
                <a:ea typeface="DejaVu Sans"/>
              </a:rPr>
              <a:t>Currently not implemented by any country</a:t>
            </a:r>
            <a:endParaRPr b="0" lang="en-GB" sz="1800" strike="noStrike" u="none">
              <a:solidFill>
                <a:srgbClr val="000000"/>
              </a:solidFill>
              <a:effectLst/>
              <a:uFillTx/>
              <a:latin typeface="Arial"/>
            </a:endParaRPr>
          </a:p>
          <a:p>
            <a:pPr>
              <a:lnSpc>
                <a:spcPct val="100000"/>
              </a:lnSpc>
              <a:spcBef>
                <a:spcPts val="360"/>
              </a:spcBef>
            </a:pPr>
            <a:r>
              <a:rPr b="0" lang="en-GB" sz="1800" strike="noStrike" u="none">
                <a:solidFill>
                  <a:srgbClr val="ffffff"/>
                </a:solidFill>
                <a:effectLst/>
                <a:uFillTx/>
                <a:latin typeface="DejaVu Sans"/>
                <a:ea typeface="DejaVu Sans"/>
              </a:rPr>
              <a:t>Several small-scal pilots and a few large-scale experiments have been conducted or are still being conducted</a:t>
            </a:r>
            <a:endParaRPr b="0" lang="en-GB" sz="1800" strike="noStrike" u="none">
              <a:solidFill>
                <a:srgbClr val="000000"/>
              </a:solidFill>
              <a:effectLst/>
              <a:uFillTx/>
              <a:latin typeface="Arial"/>
            </a:endParaRPr>
          </a:p>
        </p:txBody>
      </p:sp>
      <p:sp>
        <p:nvSpPr>
          <p:cNvPr id="1390" name="CustomShape 76"/>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Overview</a:t>
            </a:r>
            <a:endParaRPr b="0" lang="en-GB"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1" name="CustomShape 77"/>
          <p:cNvSpPr/>
          <p:nvPr/>
        </p:nvSpPr>
        <p:spPr>
          <a:xfrm>
            <a:off x="335520" y="764640"/>
            <a:ext cx="10722960" cy="473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392" name="CustomShape 78"/>
          <p:cNvSpPr/>
          <p:nvPr/>
        </p:nvSpPr>
        <p:spPr>
          <a:xfrm>
            <a:off x="335520" y="1268640"/>
            <a:ext cx="10722960" cy="5010480"/>
          </a:xfrm>
          <a:prstGeom prst="rect">
            <a:avLst/>
          </a:prstGeom>
          <a:noFill/>
          <a:ln w="0">
            <a:noFill/>
          </a:ln>
        </p:spPr>
        <p:style>
          <a:lnRef idx="0"/>
          <a:fillRef idx="0"/>
          <a:effectRef idx="0"/>
          <a:fontRef idx="minor"/>
        </p:style>
        <p:txBody>
          <a:bodyPr lIns="90000" rIns="90000" tIns="45000" bIns="45000" anchor="ctr">
            <a:noAutofit/>
          </a:bodyPr>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Short → UBI</a:t>
            </a:r>
            <a:endParaRPr b="0" lang="en-GB" sz="1800" strike="noStrike" u="none">
              <a:solidFill>
                <a:srgbClr val="000000"/>
              </a:solidFill>
              <a:effectLst/>
              <a:uFillTx/>
              <a:latin typeface="Arial"/>
            </a:endParaRPr>
          </a:p>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Synonym(s):</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Basic Income Guarantee (BIG) </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Unconditional Basic Income</a:t>
            </a:r>
            <a:endParaRPr b="0" lang="en-GB" sz="1800" strike="noStrike" u="none">
              <a:solidFill>
                <a:srgbClr val="000000"/>
              </a:solidFill>
              <a:effectLst/>
              <a:uFillTx/>
              <a:latin typeface="Arial"/>
            </a:endParaRPr>
          </a:p>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Currently not implemented by any country</a:t>
            </a:r>
            <a:endParaRPr b="0" lang="en-GB" sz="1800" strike="noStrike" u="none">
              <a:solidFill>
                <a:srgbClr val="000000"/>
              </a:solidFill>
              <a:effectLst/>
              <a:uFillTx/>
              <a:latin typeface="Arial"/>
            </a:endParaRPr>
          </a:p>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Several small-scale pilots and a few large-scale experiments have been conducted or are still being conducted</a:t>
            </a:r>
            <a:endParaRPr b="0" lang="en-GB" sz="1800" strike="noStrike" u="none">
              <a:solidFill>
                <a:srgbClr val="000000"/>
              </a:solidFill>
              <a:effectLst/>
              <a:uFillTx/>
              <a:latin typeface="Arial"/>
            </a:endParaRPr>
          </a:p>
        </p:txBody>
      </p:sp>
      <p:sp>
        <p:nvSpPr>
          <p:cNvPr id="1393" name="CustomShape 83"/>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Overview</a:t>
            </a:r>
            <a:endParaRPr b="0" lang="en-GB"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4" name="CustomShape 84"/>
          <p:cNvSpPr/>
          <p:nvPr/>
        </p:nvSpPr>
        <p:spPr>
          <a:xfrm>
            <a:off x="335520" y="764640"/>
            <a:ext cx="10722960" cy="473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395" name="CustomShape 85"/>
          <p:cNvSpPr/>
          <p:nvPr/>
        </p:nvSpPr>
        <p:spPr>
          <a:xfrm>
            <a:off x="335520" y="1268640"/>
            <a:ext cx="10722960" cy="5010480"/>
          </a:xfrm>
          <a:prstGeom prst="rect">
            <a:avLst/>
          </a:prstGeom>
          <a:noFill/>
          <a:ln w="0">
            <a:noFill/>
          </a:ln>
        </p:spPr>
        <p:style>
          <a:lnRef idx="0"/>
          <a:fillRef idx="0"/>
          <a:effectRef idx="0"/>
          <a:fontRef idx="minor"/>
        </p:style>
        <p:txBody>
          <a:bodyPr lIns="90000" rIns="90000" tIns="45000" bIns="45000" anchor="ctr">
            <a:noAutofit/>
          </a:bodyPr>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Everyone receives a minimum income in the form of an unconditional transfer payment → no strings attached | no extra conditions (e.g., work, etc.)</a:t>
            </a:r>
            <a:endParaRPr b="0" lang="en-GB" sz="1800" strike="noStrike" u="none">
              <a:solidFill>
                <a:srgbClr val="000000"/>
              </a:solidFill>
              <a:effectLst/>
              <a:uFillTx/>
              <a:latin typeface="Arial"/>
            </a:endParaRPr>
          </a:p>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Different forms, e.g.:</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Guaranteed minimum income → Paid to those who do not make enough money to live </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Universal basic income → Indepent of any other income</a:t>
            </a:r>
            <a:endParaRPr b="0" lang="en-GB" sz="1800" strike="noStrike" u="none">
              <a:solidFill>
                <a:srgbClr val="000000"/>
              </a:solidFill>
              <a:effectLst/>
              <a:uFillTx/>
              <a:latin typeface="Arial"/>
            </a:endParaRPr>
          </a:p>
          <a:p>
            <a:pPr lvl="2" marL="648000" indent="-216000">
              <a:lnSpc>
                <a:spcPct val="100000"/>
              </a:lnSpc>
              <a:spcBef>
                <a:spcPts val="360"/>
              </a:spcBef>
              <a:buClr>
                <a:srgbClr val="008c4f"/>
              </a:buClr>
              <a:buSzPct val="45000"/>
              <a:buFont typeface="Symbol"/>
              <a:buChar char=""/>
            </a:pPr>
            <a:r>
              <a:rPr b="0" lang="en-GB" sz="1800" strike="noStrike" u="none">
                <a:solidFill>
                  <a:srgbClr val="000000"/>
                </a:solidFill>
                <a:effectLst/>
                <a:uFillTx/>
                <a:latin typeface="DejaVu Sans"/>
                <a:ea typeface="DejaVu Sans"/>
              </a:rPr>
              <a:t>Full basic income → Sufficient to meet a person's basic needs (above poverty level)</a:t>
            </a:r>
            <a:endParaRPr b="0" lang="en-GB" sz="1800" strike="noStrike" u="none">
              <a:solidFill>
                <a:srgbClr val="000000"/>
              </a:solidFill>
              <a:effectLst/>
              <a:uFillTx/>
              <a:latin typeface="Arial"/>
            </a:endParaRPr>
          </a:p>
          <a:p>
            <a:pPr lvl="2" marL="648000" indent="-216000">
              <a:lnSpc>
                <a:spcPct val="100000"/>
              </a:lnSpc>
              <a:spcBef>
                <a:spcPts val="360"/>
              </a:spcBef>
              <a:buClr>
                <a:srgbClr val="008c4f"/>
              </a:buClr>
              <a:buSzPct val="45000"/>
              <a:buFont typeface="Symbol"/>
              <a:buChar char=""/>
            </a:pPr>
            <a:r>
              <a:rPr b="0" lang="en-GB" sz="1800" strike="noStrike" u="none">
                <a:solidFill>
                  <a:srgbClr val="000000"/>
                </a:solidFill>
                <a:effectLst/>
                <a:uFillTx/>
                <a:latin typeface="DejaVu Sans"/>
                <a:ea typeface="DejaVu Sans"/>
              </a:rPr>
              <a:t>Partial basic income → Below poverty level</a:t>
            </a:r>
            <a:endParaRPr b="0" lang="en-GB" sz="1800" strike="noStrike" u="none">
              <a:solidFill>
                <a:srgbClr val="000000"/>
              </a:solidFill>
              <a:effectLst/>
              <a:uFillTx/>
              <a:latin typeface="Arial"/>
            </a:endParaRPr>
          </a:p>
        </p:txBody>
      </p:sp>
      <p:sp>
        <p:nvSpPr>
          <p:cNvPr id="1396" name="CustomShape 86"/>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Overview</a:t>
            </a:r>
            <a:endParaRPr b="0" lang="en-GB" sz="2200" strike="noStrike" u="none">
              <a:solidFill>
                <a:srgbClr val="000000"/>
              </a:solidFill>
              <a:effectLst/>
              <a:uFillTx/>
              <a:latin typeface="Arial"/>
            </a:endParaRPr>
          </a:p>
        </p:txBody>
      </p:sp>
      <p:sp>
        <p:nvSpPr>
          <p:cNvPr id="1397" name="Rechteck 2"/>
          <p:cNvSpPr/>
          <p:nvPr/>
        </p:nvSpPr>
        <p:spPr>
          <a:xfrm>
            <a:off x="180000" y="5940000"/>
            <a:ext cx="10617840" cy="8560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1" lang="en-GB" sz="1800" strike="noStrike" u="none">
                <a:solidFill>
                  <a:srgbClr val="c9211e"/>
                </a:solidFill>
                <a:effectLst/>
                <a:uFillTx/>
                <a:latin typeface="Arial"/>
                <a:ea typeface="DejaVu Sans"/>
              </a:rPr>
              <a:t>This is just a very short teaser on UBI </a:t>
            </a:r>
            <a:r>
              <a:rPr b="1" lang="en-GB" sz="1800" strike="noStrike" u="none">
                <a:solidFill>
                  <a:srgbClr val="c9211e"/>
                </a:solidFill>
                <a:effectLst/>
                <a:uFillTx/>
                <a:latin typeface="Arial"/>
                <a:ea typeface="Arial"/>
              </a:rPr>
              <a:t>→ You can do a complete lecture series just on UBI.</a:t>
            </a:r>
            <a:endParaRPr b="0" lang="en-GB" sz="1800" strike="noStrike" u="none">
              <a:solidFill>
                <a:srgbClr val="000000"/>
              </a:solidFill>
              <a:effectLst/>
              <a:uFillTx/>
              <a:latin typeface="Arial"/>
            </a:endParaRPr>
          </a:p>
        </p:txBody>
      </p:sp>
      <p:sp>
        <p:nvSpPr>
          <p:cNvPr id="1398" name="CustomShape 89"/>
          <p:cNvSpPr/>
          <p:nvPr/>
        </p:nvSpPr>
        <p:spPr>
          <a:xfrm>
            <a:off x="335520" y="5760000"/>
            <a:ext cx="10282320" cy="71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9" name="CustomShape 90"/>
          <p:cNvSpPr/>
          <p:nvPr/>
        </p:nvSpPr>
        <p:spPr>
          <a:xfrm>
            <a:off x="335520" y="764640"/>
            <a:ext cx="10722960" cy="473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00" name="CustomShape 91"/>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Overview</a:t>
            </a:r>
            <a:endParaRPr b="0" lang="en-GB" sz="2200" strike="noStrike" u="none">
              <a:solidFill>
                <a:srgbClr val="000000"/>
              </a:solidFill>
              <a:effectLst/>
              <a:uFillTx/>
              <a:latin typeface="Arial"/>
            </a:endParaRPr>
          </a:p>
        </p:txBody>
      </p:sp>
      <p:sp>
        <p:nvSpPr>
          <p:cNvPr id="1401" name="CustomShape 92"/>
          <p:cNvSpPr/>
          <p:nvPr/>
        </p:nvSpPr>
        <p:spPr>
          <a:xfrm>
            <a:off x="263520" y="6433200"/>
            <a:ext cx="10782360" cy="36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Figure adapted from Gentilini, Ugo, Margaret Grosh, Jamele Rigolini, and Ruslan Yemtsov, eds. Exploring universal basic income: A guide to navigating concepts, evidence, and practices. World Bank Publications, 2019.</a:t>
            </a:r>
            <a:endParaRPr b="0" lang="en-GB" sz="900" strike="noStrike" u="none">
              <a:solidFill>
                <a:srgbClr val="000000"/>
              </a:solidFill>
              <a:effectLst/>
              <a:uFillTx/>
              <a:latin typeface="Arial"/>
            </a:endParaRPr>
          </a:p>
        </p:txBody>
      </p:sp>
      <p:pic>
        <p:nvPicPr>
          <p:cNvPr id="1402" name="Grafik 3" descr=""/>
          <p:cNvPicPr/>
          <p:nvPr/>
        </p:nvPicPr>
        <p:blipFill>
          <a:blip r:embed="rId1"/>
          <a:stretch/>
        </p:blipFill>
        <p:spPr>
          <a:xfrm>
            <a:off x="2590920" y="522360"/>
            <a:ext cx="8747280" cy="6135840"/>
          </a:xfrm>
          <a:prstGeom prst="rect">
            <a:avLst/>
          </a:prstGeom>
          <a:noFill/>
          <a:ln w="72000">
            <a:noFill/>
          </a:ln>
        </p:spPr>
      </p:pic>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403" name="CustomShape 252"/>
          <p:cNvSpPr/>
          <p:nvPr/>
        </p:nvSpPr>
        <p:spPr>
          <a:xfrm>
            <a:off x="335520" y="764640"/>
            <a:ext cx="10722960" cy="473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04" name="CustomShape 225"/>
          <p:cNvSpPr/>
          <p:nvPr/>
        </p:nvSpPr>
        <p:spPr>
          <a:xfrm>
            <a:off x="335520" y="1268640"/>
            <a:ext cx="10722960" cy="5010480"/>
          </a:xfrm>
          <a:prstGeom prst="rect">
            <a:avLst/>
          </a:prstGeom>
          <a:noFill/>
          <a:ln w="0">
            <a:noFill/>
          </a:ln>
        </p:spPr>
        <p:style>
          <a:lnRef idx="0"/>
          <a:fillRef idx="0"/>
          <a:effectRef idx="0"/>
          <a:fontRef idx="minor"/>
        </p:style>
        <p:txBody>
          <a:bodyPr lIns="90000" rIns="90000" tIns="45000" bIns="45000" anchor="ctr">
            <a:noAutofit/>
          </a:bodyPr>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TODO – future iterations of the course</a:t>
            </a:r>
            <a:endParaRPr b="0" lang="en-GB" sz="1800" strike="noStrike" u="none">
              <a:solidFill>
                <a:srgbClr val="000000"/>
              </a:solidFill>
              <a:effectLst/>
              <a:uFillTx/>
              <a:latin typeface="Arial"/>
            </a:endParaRPr>
          </a:p>
        </p:txBody>
      </p:sp>
      <p:sp>
        <p:nvSpPr>
          <p:cNvPr id="1405" name="CustomShape 226"/>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A Short History</a:t>
            </a:r>
            <a:endParaRPr b="0" lang="en-GB" sz="2200" strike="noStrike" u="none">
              <a:solidFill>
                <a:srgbClr val="000000"/>
              </a:solidFill>
              <a:effectLst/>
              <a:uFillTx/>
              <a:latin typeface="Arial"/>
            </a:endParaRPr>
          </a:p>
        </p:txBody>
      </p:sp>
      <p:sp>
        <p:nvSpPr>
          <p:cNvPr id="1406" name="Rechteck 3"/>
          <p:cNvSpPr/>
          <p:nvPr/>
        </p:nvSpPr>
        <p:spPr>
          <a:xfrm>
            <a:off x="5760000" y="1080000"/>
            <a:ext cx="359784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7" name="CustomShape 255"/>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08" name="CustomShape 256"/>
          <p:cNvSpPr/>
          <p:nvPr/>
        </p:nvSpPr>
        <p:spPr>
          <a:xfrm>
            <a:off x="335520" y="1268280"/>
            <a:ext cx="10725840" cy="19695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r>
              <a:rPr b="0" lang="en-GB" sz="1800" strike="noStrike" u="none">
                <a:solidFill>
                  <a:srgbClr val="000000"/>
                </a:solidFill>
                <a:effectLst/>
                <a:uFillTx/>
                <a:latin typeface="DejaVu Sans"/>
                <a:ea typeface="DejaVu Sans"/>
              </a:rPr>
              <a:t>“A transfer that is provided universally, unconditionally, and in cash” – World Bank</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gn="ct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r>
              <a:rPr b="0" lang="en-US" sz="1800" strike="noStrike" u="none">
                <a:solidFill>
                  <a:srgbClr val="000000"/>
                </a:solidFill>
                <a:effectLst/>
                <a:uFillTx/>
                <a:latin typeface="DejaVu Sans"/>
                <a:ea typeface="DejaVu Sans"/>
              </a:rPr>
              <a:t>“A Basic Income is a periodic cash payment unconditionally delivered to all on an individual basis, without means-test or work requirement.” - Basic Income Earth Network</a:t>
            </a:r>
            <a:endParaRPr b="0" lang="en-GB" sz="1800" strike="noStrike" u="none">
              <a:solidFill>
                <a:srgbClr val="000000"/>
              </a:solidFill>
              <a:effectLst/>
              <a:uFillTx/>
              <a:latin typeface="Arial"/>
            </a:endParaRPr>
          </a:p>
        </p:txBody>
      </p:sp>
      <p:sp>
        <p:nvSpPr>
          <p:cNvPr id="1409" name="CustomShape 257"/>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Definition(s)</a:t>
            </a:r>
            <a:endParaRPr b="0" lang="en-GB" sz="2200" strike="noStrike" u="none">
              <a:solidFill>
                <a:srgbClr val="000000"/>
              </a:solidFill>
              <a:effectLst/>
              <a:uFillTx/>
              <a:latin typeface="Arial"/>
            </a:endParaRPr>
          </a:p>
        </p:txBody>
      </p:sp>
      <p:sp>
        <p:nvSpPr>
          <p:cNvPr id="1410" name="CustomShape 258"/>
          <p:cNvSpPr/>
          <p:nvPr/>
        </p:nvSpPr>
        <p:spPr>
          <a:xfrm>
            <a:off x="201240" y="2160000"/>
            <a:ext cx="10776600" cy="71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411" name="CustomShape 259"/>
          <p:cNvSpPr/>
          <p:nvPr/>
        </p:nvSpPr>
        <p:spPr>
          <a:xfrm>
            <a:off x="264600" y="6300000"/>
            <a:ext cx="11071080" cy="38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1.) The World Bank (2020) – Exploring Universal Basic Income : A Guide to Navigating Concepts, Evidence, and Practices - </a:t>
            </a:r>
            <a:r>
              <a:rPr b="0" lang="de-DE" sz="900" strike="noStrike" u="sng">
                <a:solidFill>
                  <a:srgbClr val="0000ff"/>
                </a:solidFill>
                <a:effectLst/>
                <a:uFillTx/>
                <a:latin typeface="Roboto"/>
                <a:ea typeface="Roboto"/>
                <a:hlinkClick r:id="rId1"/>
              </a:rPr>
              <a:t>Link</a:t>
            </a:r>
            <a:endParaRPr b="0" lang="en-GB" sz="900" strike="noStrike" u="none">
              <a:solidFill>
                <a:srgbClr val="000000"/>
              </a:solidFill>
              <a:effectLst/>
              <a:uFillTx/>
              <a:latin typeface="Arial"/>
            </a:endParaRPr>
          </a:p>
          <a:p>
            <a:pPr>
              <a:lnSpc>
                <a:spcPct val="100000"/>
              </a:lnSpc>
            </a:pPr>
            <a:r>
              <a:rPr b="0" lang="de-DE" sz="900" strike="noStrike" u="none">
                <a:solidFill>
                  <a:srgbClr val="a6a6a6"/>
                </a:solidFill>
                <a:effectLst/>
                <a:uFillTx/>
                <a:latin typeface="Roboto"/>
                <a:ea typeface="Roboto"/>
              </a:rPr>
              <a:t>2.) BIEN (Basic Income Earth Network) – https://basicincome.org/about-basic-income</a:t>
            </a:r>
            <a:endParaRPr b="0" lang="en-GB" sz="900" strike="noStrike" u="none">
              <a:solidFill>
                <a:srgbClr val="000000"/>
              </a:solidFill>
              <a:effectLst/>
              <a:uFillTx/>
              <a:latin typeface="Arial"/>
            </a:endParaRPr>
          </a:p>
        </p:txBody>
      </p:sp>
      <p:sp>
        <p:nvSpPr>
          <p:cNvPr id="1412" name="CustomShape 260"/>
          <p:cNvSpPr/>
          <p:nvPr/>
        </p:nvSpPr>
        <p:spPr>
          <a:xfrm>
            <a:off x="201240" y="3060000"/>
            <a:ext cx="10776600" cy="89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3" name="CustomShape 261"/>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14" name="CustomShape 262"/>
          <p:cNvSpPr/>
          <p:nvPr/>
        </p:nvSpPr>
        <p:spPr>
          <a:xfrm>
            <a:off x="335520" y="1268280"/>
            <a:ext cx="10725840" cy="19695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r>
              <a:rPr b="0" lang="en-GB" sz="1800" strike="noStrike" u="none">
                <a:solidFill>
                  <a:srgbClr val="000000"/>
                </a:solidFill>
                <a:effectLst/>
                <a:uFillTx/>
                <a:latin typeface="DejaVu Sans"/>
                <a:ea typeface="DejaVu Sans"/>
              </a:rPr>
              <a:t>“A transfer that is provided universally, unconditionally, and in cash” – World Bank</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gn="ct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r>
              <a:rPr b="0" lang="en-US" sz="1800" strike="noStrike" u="none">
                <a:solidFill>
                  <a:srgbClr val="000000"/>
                </a:solidFill>
                <a:effectLst/>
                <a:uFillTx/>
                <a:latin typeface="DejaVu Sans"/>
                <a:ea typeface="DejaVu Sans"/>
              </a:rPr>
              <a:t>“A Basic Income is a periodic cash payment unconditionally delivered to all on an individual basis, without means-test or work requirement.” - Basic Income Earth Network</a:t>
            </a:r>
            <a:endParaRPr b="0" lang="en-GB" sz="1800" strike="noStrike" u="none">
              <a:solidFill>
                <a:srgbClr val="000000"/>
              </a:solidFill>
              <a:effectLst/>
              <a:uFillTx/>
              <a:latin typeface="Arial"/>
            </a:endParaRPr>
          </a:p>
        </p:txBody>
      </p:sp>
      <p:sp>
        <p:nvSpPr>
          <p:cNvPr id="1415" name="CustomShape 263"/>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Definition(s)</a:t>
            </a:r>
            <a:endParaRPr b="0" lang="en-GB" sz="2200" strike="noStrike" u="none">
              <a:solidFill>
                <a:srgbClr val="000000"/>
              </a:solidFill>
              <a:effectLst/>
              <a:uFillTx/>
              <a:latin typeface="Arial"/>
            </a:endParaRPr>
          </a:p>
        </p:txBody>
      </p:sp>
      <p:sp>
        <p:nvSpPr>
          <p:cNvPr id="1416" name="CustomShape 264"/>
          <p:cNvSpPr/>
          <p:nvPr/>
        </p:nvSpPr>
        <p:spPr>
          <a:xfrm>
            <a:off x="201240" y="2160000"/>
            <a:ext cx="10776600" cy="71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417" name="CustomShape 265"/>
          <p:cNvSpPr/>
          <p:nvPr/>
        </p:nvSpPr>
        <p:spPr>
          <a:xfrm>
            <a:off x="264600" y="6300000"/>
            <a:ext cx="11071080" cy="38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1.) The World Bank (2020) – Exploring Universal Basic Income : A Guide to Navigating Concepts, Evidence, and Practices - </a:t>
            </a:r>
            <a:r>
              <a:rPr b="0" lang="de-DE" sz="900" strike="noStrike" u="sng">
                <a:solidFill>
                  <a:srgbClr val="0000ff"/>
                </a:solidFill>
                <a:effectLst/>
                <a:uFillTx/>
                <a:latin typeface="Roboto"/>
                <a:ea typeface="Roboto"/>
                <a:hlinkClick r:id="rId1"/>
              </a:rPr>
              <a:t>Link</a:t>
            </a:r>
            <a:endParaRPr b="0" lang="en-GB" sz="900" strike="noStrike" u="none">
              <a:solidFill>
                <a:srgbClr val="000000"/>
              </a:solidFill>
              <a:effectLst/>
              <a:uFillTx/>
              <a:latin typeface="Arial"/>
            </a:endParaRPr>
          </a:p>
          <a:p>
            <a:pPr>
              <a:lnSpc>
                <a:spcPct val="100000"/>
              </a:lnSpc>
            </a:pPr>
            <a:r>
              <a:rPr b="0" lang="de-DE" sz="900" strike="noStrike" u="none">
                <a:solidFill>
                  <a:srgbClr val="a6a6a6"/>
                </a:solidFill>
                <a:effectLst/>
                <a:uFillTx/>
                <a:latin typeface="Roboto"/>
                <a:ea typeface="Roboto"/>
              </a:rPr>
              <a:t>2.) BIEN (Basic Income Earth Network) – https://basicincome.org/about-basic-income</a:t>
            </a:r>
            <a:endParaRPr b="0" lang="en-GB" sz="900" strike="noStrike" u="none">
              <a:solidFill>
                <a:srgbClr val="000000"/>
              </a:solidFill>
              <a:effectLst/>
              <a:uFillTx/>
              <a:latin typeface="Arial"/>
            </a:endParaRPr>
          </a:p>
        </p:txBody>
      </p:sp>
      <p:sp>
        <p:nvSpPr>
          <p:cNvPr id="1418" name="CustomShape 266"/>
          <p:cNvSpPr/>
          <p:nvPr/>
        </p:nvSpPr>
        <p:spPr>
          <a:xfrm>
            <a:off x="252000" y="4140000"/>
            <a:ext cx="10725840" cy="196956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Periodic → Paid at regular intervals</a:t>
            </a:r>
            <a:endParaRPr b="0" lang="en-GB" sz="1800" strike="noStrike" u="none">
              <a:solidFill>
                <a:srgbClr val="000000"/>
              </a:solidFill>
              <a:effectLst/>
              <a:uFillTx/>
              <a:latin typeface="Arial"/>
            </a:endParaRPr>
          </a:p>
          <a:p>
            <a:pPr>
              <a:lnSpc>
                <a:spcPct val="100000"/>
              </a:lnSpc>
            </a:pPr>
            <a:r>
              <a:rPr b="0" lang="en-GB" sz="1800" strike="noStrike" u="none">
                <a:solidFill>
                  <a:srgbClr val="ffffff"/>
                </a:solidFill>
                <a:effectLst/>
                <a:uFillTx/>
                <a:latin typeface="DejaVu Sans"/>
                <a:ea typeface="DejaVu Sans"/>
              </a:rPr>
              <a:t>Cash payment → Paid in an appropriate medium of exchange</a:t>
            </a:r>
            <a:endParaRPr b="0" lang="en-GB" sz="1800" strike="noStrike" u="none">
              <a:solidFill>
                <a:srgbClr val="000000"/>
              </a:solidFill>
              <a:effectLst/>
              <a:uFillTx/>
              <a:latin typeface="Arial"/>
            </a:endParaRPr>
          </a:p>
          <a:p>
            <a:pPr>
              <a:lnSpc>
                <a:spcPct val="100000"/>
              </a:lnSpc>
            </a:pPr>
            <a:r>
              <a:rPr b="0" lang="en-GB" sz="1800" strike="noStrike" u="none">
                <a:solidFill>
                  <a:srgbClr val="ffffff"/>
                </a:solidFill>
                <a:effectLst/>
                <a:uFillTx/>
                <a:latin typeface="DejaVu Sans"/>
                <a:ea typeface="DejaVu Sans"/>
              </a:rPr>
              <a:t>Individual → Paid on an individual basis (e.g., not to households)</a:t>
            </a:r>
            <a:endParaRPr b="0" lang="en-GB" sz="1800" strike="noStrike" u="none">
              <a:solidFill>
                <a:srgbClr val="000000"/>
              </a:solidFill>
              <a:effectLst/>
              <a:uFillTx/>
              <a:latin typeface="Arial"/>
            </a:endParaRPr>
          </a:p>
          <a:p>
            <a:pPr>
              <a:lnSpc>
                <a:spcPct val="100000"/>
              </a:lnSpc>
            </a:pPr>
            <a:r>
              <a:rPr b="0" lang="en-GB" sz="1800" strike="noStrike" u="none">
                <a:solidFill>
                  <a:srgbClr val="ffffff"/>
                </a:solidFill>
                <a:effectLst/>
                <a:uFillTx/>
                <a:latin typeface="DejaVu Sans"/>
                <a:ea typeface="DejaVu Sans"/>
              </a:rPr>
              <a:t>Universal → Paid to everyone</a:t>
            </a:r>
            <a:endParaRPr b="0" lang="en-GB" sz="1800" strike="noStrike" u="none">
              <a:solidFill>
                <a:srgbClr val="000000"/>
              </a:solidFill>
              <a:effectLst/>
              <a:uFillTx/>
              <a:latin typeface="Arial"/>
            </a:endParaRPr>
          </a:p>
          <a:p>
            <a:pPr>
              <a:lnSpc>
                <a:spcPct val="100000"/>
              </a:lnSpc>
            </a:pPr>
            <a:r>
              <a:rPr b="0" lang="en-GB" sz="1800" strike="noStrike" u="none">
                <a:solidFill>
                  <a:srgbClr val="ffffff"/>
                </a:solidFill>
                <a:effectLst/>
                <a:uFillTx/>
                <a:latin typeface="DejaVu Sans"/>
                <a:ea typeface="DejaVu Sans"/>
              </a:rPr>
              <a:t>Unconditional → Paid without means test and without a requirement to work or to demonstrate willingness-to-work</a:t>
            </a:r>
            <a:endParaRPr b="0" lang="en-GB" sz="1800" strike="noStrike" u="none">
              <a:solidFill>
                <a:srgbClr val="000000"/>
              </a:solidFill>
              <a:effectLst/>
              <a:uFillTx/>
              <a:latin typeface="Arial"/>
            </a:endParaRPr>
          </a:p>
        </p:txBody>
      </p:sp>
      <p:sp>
        <p:nvSpPr>
          <p:cNvPr id="1419" name="CustomShape 267"/>
          <p:cNvSpPr/>
          <p:nvPr/>
        </p:nvSpPr>
        <p:spPr>
          <a:xfrm>
            <a:off x="201240" y="3060000"/>
            <a:ext cx="10776600" cy="89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0" name="CustomShape 268"/>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21" name="CustomShape 269"/>
          <p:cNvSpPr/>
          <p:nvPr/>
        </p:nvSpPr>
        <p:spPr>
          <a:xfrm>
            <a:off x="335520" y="1268280"/>
            <a:ext cx="10725840" cy="19695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r>
              <a:rPr b="0" lang="en-GB" sz="1800" strike="noStrike" u="none">
                <a:solidFill>
                  <a:srgbClr val="000000"/>
                </a:solidFill>
                <a:effectLst/>
                <a:uFillTx/>
                <a:latin typeface="DejaVu Sans"/>
                <a:ea typeface="DejaVu Sans"/>
              </a:rPr>
              <a:t>“A transfer that is provided universally, unconditionally, and in cash” – World Bank</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gn="ct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r>
              <a:rPr b="0" lang="en-US" sz="1800" strike="noStrike" u="none">
                <a:solidFill>
                  <a:srgbClr val="000000"/>
                </a:solidFill>
                <a:effectLst/>
                <a:uFillTx/>
                <a:latin typeface="DejaVu Sans"/>
                <a:ea typeface="DejaVu Sans"/>
              </a:rPr>
              <a:t>“A Basic Income is a periodic cash payment unconditionally delivered to all on an individual basis, without means-test or work requirement.” - Basic Income Earth Network</a:t>
            </a:r>
            <a:endParaRPr b="0" lang="en-GB" sz="1800" strike="noStrike" u="none">
              <a:solidFill>
                <a:srgbClr val="000000"/>
              </a:solidFill>
              <a:effectLst/>
              <a:uFillTx/>
              <a:latin typeface="Arial"/>
            </a:endParaRPr>
          </a:p>
        </p:txBody>
      </p:sp>
      <p:sp>
        <p:nvSpPr>
          <p:cNvPr id="1422" name="CustomShape 270"/>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Definition(s)</a:t>
            </a:r>
            <a:endParaRPr b="0" lang="en-GB" sz="2200" strike="noStrike" u="none">
              <a:solidFill>
                <a:srgbClr val="000000"/>
              </a:solidFill>
              <a:effectLst/>
              <a:uFillTx/>
              <a:latin typeface="Arial"/>
            </a:endParaRPr>
          </a:p>
        </p:txBody>
      </p:sp>
      <p:sp>
        <p:nvSpPr>
          <p:cNvPr id="1423" name="CustomShape 271"/>
          <p:cNvSpPr/>
          <p:nvPr/>
        </p:nvSpPr>
        <p:spPr>
          <a:xfrm>
            <a:off x="201240" y="2160000"/>
            <a:ext cx="10776600" cy="71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424" name="CustomShape 272"/>
          <p:cNvSpPr/>
          <p:nvPr/>
        </p:nvSpPr>
        <p:spPr>
          <a:xfrm>
            <a:off x="264600" y="6300000"/>
            <a:ext cx="11071080" cy="38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1.) The World Bank (2020) – Exploring Universal Basic Income : A Guide to Navigating Concepts, Evidence, and Practices - </a:t>
            </a:r>
            <a:r>
              <a:rPr b="0" lang="de-DE" sz="900" strike="noStrike" u="sng">
                <a:solidFill>
                  <a:srgbClr val="0000ff"/>
                </a:solidFill>
                <a:effectLst/>
                <a:uFillTx/>
                <a:latin typeface="Roboto"/>
                <a:ea typeface="Roboto"/>
                <a:hlinkClick r:id="rId1"/>
              </a:rPr>
              <a:t>Link</a:t>
            </a:r>
            <a:endParaRPr b="0" lang="en-GB" sz="900" strike="noStrike" u="none">
              <a:solidFill>
                <a:srgbClr val="000000"/>
              </a:solidFill>
              <a:effectLst/>
              <a:uFillTx/>
              <a:latin typeface="Arial"/>
            </a:endParaRPr>
          </a:p>
          <a:p>
            <a:pPr>
              <a:lnSpc>
                <a:spcPct val="100000"/>
              </a:lnSpc>
            </a:pPr>
            <a:r>
              <a:rPr b="0" lang="de-DE" sz="900" strike="noStrike" u="none">
                <a:solidFill>
                  <a:srgbClr val="a6a6a6"/>
                </a:solidFill>
                <a:effectLst/>
                <a:uFillTx/>
                <a:latin typeface="Roboto"/>
                <a:ea typeface="Roboto"/>
              </a:rPr>
              <a:t>2.) BIEN (Basic Income Earth Network) – https://basicincome.org/about-basic-income</a:t>
            </a:r>
            <a:endParaRPr b="0" lang="en-GB" sz="900" strike="noStrike" u="none">
              <a:solidFill>
                <a:srgbClr val="000000"/>
              </a:solidFill>
              <a:effectLst/>
              <a:uFillTx/>
              <a:latin typeface="Arial"/>
            </a:endParaRPr>
          </a:p>
        </p:txBody>
      </p:sp>
      <p:sp>
        <p:nvSpPr>
          <p:cNvPr id="1425" name="CustomShape 273"/>
          <p:cNvSpPr/>
          <p:nvPr/>
        </p:nvSpPr>
        <p:spPr>
          <a:xfrm>
            <a:off x="252000" y="4140000"/>
            <a:ext cx="10725840" cy="196956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Periodic → Paid at regular intervals</a:t>
            </a:r>
            <a:endParaRPr b="0" lang="en-GB" sz="1800" strike="noStrike" u="none">
              <a:solidFill>
                <a:srgbClr val="000000"/>
              </a:solidFill>
              <a:effectLst/>
              <a:uFillTx/>
              <a:latin typeface="Arial"/>
            </a:endParaRPr>
          </a:p>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Cash payment → Paid in an appropriate medium of exchange</a:t>
            </a:r>
            <a:endParaRPr b="0" lang="en-GB" sz="1800" strike="noStrike" u="none">
              <a:solidFill>
                <a:srgbClr val="000000"/>
              </a:solidFill>
              <a:effectLst/>
              <a:uFillTx/>
              <a:latin typeface="Arial"/>
            </a:endParaRPr>
          </a:p>
          <a:p>
            <a:pPr>
              <a:lnSpc>
                <a:spcPct val="100000"/>
              </a:lnSpc>
            </a:pPr>
            <a:r>
              <a:rPr b="0" lang="en-GB" sz="1800" strike="noStrike" u="none">
                <a:solidFill>
                  <a:srgbClr val="ffffff"/>
                </a:solidFill>
                <a:effectLst/>
                <a:uFillTx/>
                <a:latin typeface="DejaVu Sans"/>
                <a:ea typeface="DejaVu Sans"/>
              </a:rPr>
              <a:t>Individual → Paid on an individual basis (e.g., not to households)</a:t>
            </a:r>
            <a:endParaRPr b="0" lang="en-GB" sz="1800" strike="noStrike" u="none">
              <a:solidFill>
                <a:srgbClr val="000000"/>
              </a:solidFill>
              <a:effectLst/>
              <a:uFillTx/>
              <a:latin typeface="Arial"/>
            </a:endParaRPr>
          </a:p>
          <a:p>
            <a:pPr>
              <a:lnSpc>
                <a:spcPct val="100000"/>
              </a:lnSpc>
            </a:pPr>
            <a:r>
              <a:rPr b="0" lang="en-GB" sz="1800" strike="noStrike" u="none">
                <a:solidFill>
                  <a:srgbClr val="ffffff"/>
                </a:solidFill>
                <a:effectLst/>
                <a:uFillTx/>
                <a:latin typeface="DejaVu Sans"/>
                <a:ea typeface="DejaVu Sans"/>
              </a:rPr>
              <a:t>Universal → Paid to everyone</a:t>
            </a:r>
            <a:endParaRPr b="0" lang="en-GB" sz="1800" strike="noStrike" u="none">
              <a:solidFill>
                <a:srgbClr val="000000"/>
              </a:solidFill>
              <a:effectLst/>
              <a:uFillTx/>
              <a:latin typeface="Arial"/>
            </a:endParaRPr>
          </a:p>
          <a:p>
            <a:pPr>
              <a:lnSpc>
                <a:spcPct val="100000"/>
              </a:lnSpc>
            </a:pPr>
            <a:r>
              <a:rPr b="0" lang="en-GB" sz="1800" strike="noStrike" u="none">
                <a:solidFill>
                  <a:srgbClr val="ffffff"/>
                </a:solidFill>
                <a:effectLst/>
                <a:uFillTx/>
                <a:latin typeface="DejaVu Sans"/>
                <a:ea typeface="DejaVu Sans"/>
              </a:rPr>
              <a:t>Unconditional → Paid without means test and without a requirement to work or to demonstrate willingness-to-work</a:t>
            </a:r>
            <a:endParaRPr b="0" lang="en-GB" sz="1800" strike="noStrike" u="none">
              <a:solidFill>
                <a:srgbClr val="000000"/>
              </a:solidFill>
              <a:effectLst/>
              <a:uFillTx/>
              <a:latin typeface="Arial"/>
            </a:endParaRPr>
          </a:p>
        </p:txBody>
      </p:sp>
      <p:sp>
        <p:nvSpPr>
          <p:cNvPr id="1426" name="CustomShape 274"/>
          <p:cNvSpPr/>
          <p:nvPr/>
        </p:nvSpPr>
        <p:spPr>
          <a:xfrm>
            <a:off x="201240" y="3060000"/>
            <a:ext cx="10776600" cy="89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7" name="CustomShape 275"/>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28" name="CustomShape 276"/>
          <p:cNvSpPr/>
          <p:nvPr/>
        </p:nvSpPr>
        <p:spPr>
          <a:xfrm>
            <a:off x="335520" y="1268280"/>
            <a:ext cx="10725840" cy="19695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r>
              <a:rPr b="0" lang="en-GB" sz="1800" strike="noStrike" u="none">
                <a:solidFill>
                  <a:srgbClr val="000000"/>
                </a:solidFill>
                <a:effectLst/>
                <a:uFillTx/>
                <a:latin typeface="DejaVu Sans"/>
                <a:ea typeface="DejaVu Sans"/>
              </a:rPr>
              <a:t>“A transfer that is provided universally, unconditionally, and in cash” – World Bank</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gn="ct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r>
              <a:rPr b="0" lang="en-US" sz="1800" strike="noStrike" u="none">
                <a:solidFill>
                  <a:srgbClr val="000000"/>
                </a:solidFill>
                <a:effectLst/>
                <a:uFillTx/>
                <a:latin typeface="DejaVu Sans"/>
                <a:ea typeface="DejaVu Sans"/>
              </a:rPr>
              <a:t>“A Basic Income is a periodic cash payment unconditionally delivered to all on an individual basis, without means-test or work requirement.” - Basic Income Earth Network</a:t>
            </a:r>
            <a:endParaRPr b="0" lang="en-GB" sz="1800" strike="noStrike" u="none">
              <a:solidFill>
                <a:srgbClr val="000000"/>
              </a:solidFill>
              <a:effectLst/>
              <a:uFillTx/>
              <a:latin typeface="Arial"/>
            </a:endParaRPr>
          </a:p>
        </p:txBody>
      </p:sp>
      <p:sp>
        <p:nvSpPr>
          <p:cNvPr id="1429" name="CustomShape 277"/>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Definition(s)</a:t>
            </a:r>
            <a:endParaRPr b="0" lang="en-GB" sz="2200" strike="noStrike" u="none">
              <a:solidFill>
                <a:srgbClr val="000000"/>
              </a:solidFill>
              <a:effectLst/>
              <a:uFillTx/>
              <a:latin typeface="Arial"/>
            </a:endParaRPr>
          </a:p>
        </p:txBody>
      </p:sp>
      <p:sp>
        <p:nvSpPr>
          <p:cNvPr id="1430" name="CustomShape 278"/>
          <p:cNvSpPr/>
          <p:nvPr/>
        </p:nvSpPr>
        <p:spPr>
          <a:xfrm>
            <a:off x="201240" y="2160000"/>
            <a:ext cx="10776600" cy="71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431" name="CustomShape 279"/>
          <p:cNvSpPr/>
          <p:nvPr/>
        </p:nvSpPr>
        <p:spPr>
          <a:xfrm>
            <a:off x="264600" y="6300000"/>
            <a:ext cx="11071080" cy="38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1.) The World Bank (2020) – Exploring Universal Basic Income : A Guide to Navigating Concepts, Evidence, and Practices - </a:t>
            </a:r>
            <a:r>
              <a:rPr b="0" lang="de-DE" sz="900" strike="noStrike" u="sng">
                <a:solidFill>
                  <a:srgbClr val="0000ff"/>
                </a:solidFill>
                <a:effectLst/>
                <a:uFillTx/>
                <a:latin typeface="Roboto"/>
                <a:ea typeface="Roboto"/>
                <a:hlinkClick r:id="rId1"/>
              </a:rPr>
              <a:t>Link</a:t>
            </a:r>
            <a:endParaRPr b="0" lang="en-GB" sz="900" strike="noStrike" u="none">
              <a:solidFill>
                <a:srgbClr val="000000"/>
              </a:solidFill>
              <a:effectLst/>
              <a:uFillTx/>
              <a:latin typeface="Arial"/>
            </a:endParaRPr>
          </a:p>
          <a:p>
            <a:pPr>
              <a:lnSpc>
                <a:spcPct val="100000"/>
              </a:lnSpc>
            </a:pPr>
            <a:r>
              <a:rPr b="0" lang="de-DE" sz="900" strike="noStrike" u="none">
                <a:solidFill>
                  <a:srgbClr val="a6a6a6"/>
                </a:solidFill>
                <a:effectLst/>
                <a:uFillTx/>
                <a:latin typeface="Roboto"/>
                <a:ea typeface="Roboto"/>
              </a:rPr>
              <a:t>2.) BIEN (Basic Income Earth Network) – https://basicincome.org/about-basic-income</a:t>
            </a:r>
            <a:endParaRPr b="0" lang="en-GB" sz="900" strike="noStrike" u="none">
              <a:solidFill>
                <a:srgbClr val="000000"/>
              </a:solidFill>
              <a:effectLst/>
              <a:uFillTx/>
              <a:latin typeface="Arial"/>
            </a:endParaRPr>
          </a:p>
        </p:txBody>
      </p:sp>
      <p:sp>
        <p:nvSpPr>
          <p:cNvPr id="1432" name="CustomShape 280"/>
          <p:cNvSpPr/>
          <p:nvPr/>
        </p:nvSpPr>
        <p:spPr>
          <a:xfrm>
            <a:off x="252000" y="4140000"/>
            <a:ext cx="10725840" cy="196956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Periodic → Paid at regular intervals</a:t>
            </a:r>
            <a:endParaRPr b="0" lang="en-GB" sz="1800" strike="noStrike" u="none">
              <a:solidFill>
                <a:srgbClr val="000000"/>
              </a:solidFill>
              <a:effectLst/>
              <a:uFillTx/>
              <a:latin typeface="Arial"/>
            </a:endParaRPr>
          </a:p>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Cash payment → Paid in an appropriate medium of exchange</a:t>
            </a:r>
            <a:endParaRPr b="0" lang="en-GB" sz="1800" strike="noStrike" u="none">
              <a:solidFill>
                <a:srgbClr val="000000"/>
              </a:solidFill>
              <a:effectLst/>
              <a:uFillTx/>
              <a:latin typeface="Arial"/>
            </a:endParaRPr>
          </a:p>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Individual → Paid on an individual basis (e.g., not to households)</a:t>
            </a:r>
            <a:endParaRPr b="0" lang="en-GB" sz="1800" strike="noStrike" u="none">
              <a:solidFill>
                <a:srgbClr val="000000"/>
              </a:solidFill>
              <a:effectLst/>
              <a:uFillTx/>
              <a:latin typeface="Arial"/>
            </a:endParaRPr>
          </a:p>
          <a:p>
            <a:pPr>
              <a:lnSpc>
                <a:spcPct val="100000"/>
              </a:lnSpc>
            </a:pPr>
            <a:r>
              <a:rPr b="0" lang="en-GB" sz="1800" strike="noStrike" u="none">
                <a:solidFill>
                  <a:srgbClr val="ffffff"/>
                </a:solidFill>
                <a:effectLst/>
                <a:uFillTx/>
                <a:latin typeface="DejaVu Sans"/>
                <a:ea typeface="DejaVu Sans"/>
              </a:rPr>
              <a:t>Universal → Paid to everyone</a:t>
            </a:r>
            <a:endParaRPr b="0" lang="en-GB" sz="1800" strike="noStrike" u="none">
              <a:solidFill>
                <a:srgbClr val="000000"/>
              </a:solidFill>
              <a:effectLst/>
              <a:uFillTx/>
              <a:latin typeface="Arial"/>
            </a:endParaRPr>
          </a:p>
          <a:p>
            <a:pPr>
              <a:lnSpc>
                <a:spcPct val="100000"/>
              </a:lnSpc>
            </a:pPr>
            <a:r>
              <a:rPr b="0" lang="en-GB" sz="1800" strike="noStrike" u="none">
                <a:solidFill>
                  <a:srgbClr val="ffffff"/>
                </a:solidFill>
                <a:effectLst/>
                <a:uFillTx/>
                <a:latin typeface="DejaVu Sans"/>
                <a:ea typeface="DejaVu Sans"/>
              </a:rPr>
              <a:t>Unconditional → Paid without means test and without a requirement to work or to demonstrate willingness-to-work</a:t>
            </a:r>
            <a:endParaRPr b="0" lang="en-GB" sz="1800" strike="noStrike" u="none">
              <a:solidFill>
                <a:srgbClr val="000000"/>
              </a:solidFill>
              <a:effectLst/>
              <a:uFillTx/>
              <a:latin typeface="Arial"/>
            </a:endParaRPr>
          </a:p>
        </p:txBody>
      </p:sp>
      <p:sp>
        <p:nvSpPr>
          <p:cNvPr id="1433" name="CustomShape 281"/>
          <p:cNvSpPr/>
          <p:nvPr/>
        </p:nvSpPr>
        <p:spPr>
          <a:xfrm>
            <a:off x="201240" y="3060000"/>
            <a:ext cx="10776600" cy="89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4" name="CustomShape 282"/>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35" name="CustomShape 283"/>
          <p:cNvSpPr/>
          <p:nvPr/>
        </p:nvSpPr>
        <p:spPr>
          <a:xfrm>
            <a:off x="335520" y="1268280"/>
            <a:ext cx="10725840" cy="19695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r>
              <a:rPr b="0" lang="en-GB" sz="1800" strike="noStrike" u="none">
                <a:solidFill>
                  <a:srgbClr val="000000"/>
                </a:solidFill>
                <a:effectLst/>
                <a:uFillTx/>
                <a:latin typeface="DejaVu Sans"/>
                <a:ea typeface="DejaVu Sans"/>
              </a:rPr>
              <a:t>“A transfer that is provided universally, unconditionally, and in cash” – World Bank</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gn="ct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r>
              <a:rPr b="0" lang="en-US" sz="1800" strike="noStrike" u="none">
                <a:solidFill>
                  <a:srgbClr val="000000"/>
                </a:solidFill>
                <a:effectLst/>
                <a:uFillTx/>
                <a:latin typeface="DejaVu Sans"/>
                <a:ea typeface="DejaVu Sans"/>
              </a:rPr>
              <a:t>“A Basic Income is a periodic cash payment unconditionally delivered to all on an individual basis, without means-test or work requirement.” - Basic Income Earth Network</a:t>
            </a:r>
            <a:endParaRPr b="0" lang="en-GB" sz="1800" strike="noStrike" u="none">
              <a:solidFill>
                <a:srgbClr val="000000"/>
              </a:solidFill>
              <a:effectLst/>
              <a:uFillTx/>
              <a:latin typeface="Arial"/>
            </a:endParaRPr>
          </a:p>
        </p:txBody>
      </p:sp>
      <p:sp>
        <p:nvSpPr>
          <p:cNvPr id="1436" name="CustomShape 284"/>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Definition(s)</a:t>
            </a:r>
            <a:endParaRPr b="0" lang="en-GB" sz="2200" strike="noStrike" u="none">
              <a:solidFill>
                <a:srgbClr val="000000"/>
              </a:solidFill>
              <a:effectLst/>
              <a:uFillTx/>
              <a:latin typeface="Arial"/>
            </a:endParaRPr>
          </a:p>
        </p:txBody>
      </p:sp>
      <p:sp>
        <p:nvSpPr>
          <p:cNvPr id="1437" name="CustomShape 285"/>
          <p:cNvSpPr/>
          <p:nvPr/>
        </p:nvSpPr>
        <p:spPr>
          <a:xfrm>
            <a:off x="201240" y="2160000"/>
            <a:ext cx="10776600" cy="71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438" name="CustomShape 286"/>
          <p:cNvSpPr/>
          <p:nvPr/>
        </p:nvSpPr>
        <p:spPr>
          <a:xfrm>
            <a:off x="264600" y="6300000"/>
            <a:ext cx="11071080" cy="38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1.) The World Bank (2020) – Exploring Universal Basic Income : A Guide to Navigating Concepts, Evidence, and Practices - </a:t>
            </a:r>
            <a:r>
              <a:rPr b="0" lang="de-DE" sz="900" strike="noStrike" u="sng">
                <a:solidFill>
                  <a:srgbClr val="0000ff"/>
                </a:solidFill>
                <a:effectLst/>
                <a:uFillTx/>
                <a:latin typeface="Roboto"/>
                <a:ea typeface="Roboto"/>
                <a:hlinkClick r:id="rId1"/>
              </a:rPr>
              <a:t>Link</a:t>
            </a:r>
            <a:endParaRPr b="0" lang="en-GB" sz="900" strike="noStrike" u="none">
              <a:solidFill>
                <a:srgbClr val="000000"/>
              </a:solidFill>
              <a:effectLst/>
              <a:uFillTx/>
              <a:latin typeface="Arial"/>
            </a:endParaRPr>
          </a:p>
          <a:p>
            <a:pPr>
              <a:lnSpc>
                <a:spcPct val="100000"/>
              </a:lnSpc>
            </a:pPr>
            <a:r>
              <a:rPr b="0" lang="de-DE" sz="900" strike="noStrike" u="none">
                <a:solidFill>
                  <a:srgbClr val="a6a6a6"/>
                </a:solidFill>
                <a:effectLst/>
                <a:uFillTx/>
                <a:latin typeface="Roboto"/>
                <a:ea typeface="Roboto"/>
              </a:rPr>
              <a:t>2.) BIEN (Basic Income Earth Network) – https://basicincome.org/about-basic-income</a:t>
            </a:r>
            <a:endParaRPr b="0" lang="en-GB" sz="900" strike="noStrike" u="none">
              <a:solidFill>
                <a:srgbClr val="000000"/>
              </a:solidFill>
              <a:effectLst/>
              <a:uFillTx/>
              <a:latin typeface="Arial"/>
            </a:endParaRPr>
          </a:p>
        </p:txBody>
      </p:sp>
      <p:sp>
        <p:nvSpPr>
          <p:cNvPr id="1439" name="CustomShape 287"/>
          <p:cNvSpPr/>
          <p:nvPr/>
        </p:nvSpPr>
        <p:spPr>
          <a:xfrm>
            <a:off x="252000" y="4140000"/>
            <a:ext cx="10725840" cy="196956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Periodic → Paid at regular intervals</a:t>
            </a:r>
            <a:endParaRPr b="0" lang="en-GB" sz="1800" strike="noStrike" u="none">
              <a:solidFill>
                <a:srgbClr val="000000"/>
              </a:solidFill>
              <a:effectLst/>
              <a:uFillTx/>
              <a:latin typeface="Arial"/>
            </a:endParaRPr>
          </a:p>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Cash payment → Paid in an appropriate medium of exchange</a:t>
            </a:r>
            <a:endParaRPr b="0" lang="en-GB" sz="1800" strike="noStrike" u="none">
              <a:solidFill>
                <a:srgbClr val="000000"/>
              </a:solidFill>
              <a:effectLst/>
              <a:uFillTx/>
              <a:latin typeface="Arial"/>
            </a:endParaRPr>
          </a:p>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Individual → Paid on an individual basis (e.g., not to households)</a:t>
            </a:r>
            <a:endParaRPr b="0" lang="en-GB" sz="1800" strike="noStrike" u="none">
              <a:solidFill>
                <a:srgbClr val="000000"/>
              </a:solidFill>
              <a:effectLst/>
              <a:uFillTx/>
              <a:latin typeface="Arial"/>
            </a:endParaRPr>
          </a:p>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Universal → Paid to everyone</a:t>
            </a:r>
            <a:endParaRPr b="0" lang="en-GB" sz="1800" strike="noStrike" u="none">
              <a:solidFill>
                <a:srgbClr val="000000"/>
              </a:solidFill>
              <a:effectLst/>
              <a:uFillTx/>
              <a:latin typeface="Arial"/>
            </a:endParaRPr>
          </a:p>
          <a:p>
            <a:pPr>
              <a:lnSpc>
                <a:spcPct val="100000"/>
              </a:lnSpc>
            </a:pPr>
            <a:r>
              <a:rPr b="0" lang="en-GB" sz="1800" strike="noStrike" u="none">
                <a:solidFill>
                  <a:srgbClr val="ffffff"/>
                </a:solidFill>
                <a:effectLst/>
                <a:uFillTx/>
                <a:latin typeface="DejaVu Sans"/>
                <a:ea typeface="DejaVu Sans"/>
              </a:rPr>
              <a:t>Unconditional → Paid without means test and without a requirement to work or to demonstrate willingness-to-work</a:t>
            </a:r>
            <a:endParaRPr b="0" lang="en-GB" sz="1800" strike="noStrike" u="none">
              <a:solidFill>
                <a:srgbClr val="000000"/>
              </a:solidFill>
              <a:effectLst/>
              <a:uFillTx/>
              <a:latin typeface="Arial"/>
            </a:endParaRPr>
          </a:p>
        </p:txBody>
      </p:sp>
      <p:sp>
        <p:nvSpPr>
          <p:cNvPr id="1440" name="CustomShape 288"/>
          <p:cNvSpPr/>
          <p:nvPr/>
        </p:nvSpPr>
        <p:spPr>
          <a:xfrm>
            <a:off x="201240" y="3060000"/>
            <a:ext cx="10776600" cy="89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1" name="CustomShape 289"/>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42" name="CustomShape 290"/>
          <p:cNvSpPr/>
          <p:nvPr/>
        </p:nvSpPr>
        <p:spPr>
          <a:xfrm>
            <a:off x="335520" y="1268280"/>
            <a:ext cx="10725840" cy="19695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nSpc>
                <a:spcPct val="100000"/>
              </a:lnSpc>
            </a:pPr>
            <a:r>
              <a:rPr b="0" lang="en-GB" sz="1800" strike="noStrike" u="none">
                <a:solidFill>
                  <a:srgbClr val="000000"/>
                </a:solidFill>
                <a:effectLst/>
                <a:uFillTx/>
                <a:latin typeface="DejaVu Sans"/>
                <a:ea typeface="DejaVu Sans"/>
              </a:rPr>
              <a:t>“A transfer that is provided universally, unconditionally, and in cash” – World Bank</a:t>
            </a:r>
            <a:endParaRPr b="0" lang="en-GB" sz="1800" strike="noStrike" u="none">
              <a:solidFill>
                <a:srgbClr val="000000"/>
              </a:solidFill>
              <a:effectLst/>
              <a:uFillTx/>
              <a:latin typeface="Arial"/>
            </a:endParaRPr>
          </a:p>
          <a:p>
            <a:pPr>
              <a:lnSpc>
                <a:spcPct val="100000"/>
              </a:lnSpc>
            </a:pPr>
            <a:endParaRPr b="0" lang="en-GB" sz="1800" strike="noStrike" u="none">
              <a:solidFill>
                <a:srgbClr val="000000"/>
              </a:solidFill>
              <a:effectLst/>
              <a:uFillTx/>
              <a:latin typeface="Arial"/>
            </a:endParaRPr>
          </a:p>
          <a:p>
            <a:pPr algn="ctr">
              <a:lnSpc>
                <a:spcPct val="100000"/>
              </a:lnSpc>
              <a:spcBef>
                <a:spcPts val="360"/>
              </a:spcBef>
            </a:pPr>
            <a:endParaRPr b="0" lang="en-GB" sz="1800" strike="noStrike" u="none">
              <a:solidFill>
                <a:srgbClr val="000000"/>
              </a:solidFill>
              <a:effectLst/>
              <a:uFillTx/>
              <a:latin typeface="Arial"/>
            </a:endParaRPr>
          </a:p>
          <a:p>
            <a:pPr algn="ctr">
              <a:lnSpc>
                <a:spcPct val="100000"/>
              </a:lnSpc>
              <a:spcBef>
                <a:spcPts val="360"/>
              </a:spcBef>
            </a:pPr>
            <a:r>
              <a:rPr b="0" lang="en-US" sz="1800" strike="noStrike" u="none">
                <a:solidFill>
                  <a:srgbClr val="000000"/>
                </a:solidFill>
                <a:effectLst/>
                <a:uFillTx/>
                <a:latin typeface="DejaVu Sans"/>
                <a:ea typeface="DejaVu Sans"/>
              </a:rPr>
              <a:t>“A Basic Income is a periodic cash payment unconditionally delivered to all on an individual basis, without means-test or work requirement.” - Basic Income Earth Network</a:t>
            </a:r>
            <a:endParaRPr b="0" lang="en-GB" sz="1800" strike="noStrike" u="none">
              <a:solidFill>
                <a:srgbClr val="000000"/>
              </a:solidFill>
              <a:effectLst/>
              <a:uFillTx/>
              <a:latin typeface="Arial"/>
            </a:endParaRPr>
          </a:p>
        </p:txBody>
      </p:sp>
      <p:sp>
        <p:nvSpPr>
          <p:cNvPr id="1443" name="CustomShape 291"/>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Definition(s)</a:t>
            </a:r>
            <a:endParaRPr b="0" lang="en-GB" sz="2200" strike="noStrike" u="none">
              <a:solidFill>
                <a:srgbClr val="000000"/>
              </a:solidFill>
              <a:effectLst/>
              <a:uFillTx/>
              <a:latin typeface="Arial"/>
            </a:endParaRPr>
          </a:p>
        </p:txBody>
      </p:sp>
      <p:sp>
        <p:nvSpPr>
          <p:cNvPr id="1444" name="CustomShape 292"/>
          <p:cNvSpPr/>
          <p:nvPr/>
        </p:nvSpPr>
        <p:spPr>
          <a:xfrm>
            <a:off x="201240" y="2160000"/>
            <a:ext cx="10776600" cy="71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445" name="CustomShape 293"/>
          <p:cNvSpPr/>
          <p:nvPr/>
        </p:nvSpPr>
        <p:spPr>
          <a:xfrm>
            <a:off x="264600" y="6300000"/>
            <a:ext cx="11071080" cy="381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900" strike="noStrike" u="none">
                <a:solidFill>
                  <a:srgbClr val="a6a6a6"/>
                </a:solidFill>
                <a:effectLst/>
                <a:uFillTx/>
                <a:latin typeface="Roboto"/>
                <a:ea typeface="Roboto"/>
              </a:rPr>
              <a:t>1.) The World Bank (2020) – Exploring Universal Basic Income : A Guide to Navigating Concepts, Evidence, and Practices - </a:t>
            </a:r>
            <a:r>
              <a:rPr b="0" lang="de-DE" sz="900" strike="noStrike" u="sng">
                <a:solidFill>
                  <a:srgbClr val="0000ff"/>
                </a:solidFill>
                <a:effectLst/>
                <a:uFillTx/>
                <a:latin typeface="Roboto"/>
                <a:ea typeface="Roboto"/>
                <a:hlinkClick r:id="rId1"/>
              </a:rPr>
              <a:t>Link</a:t>
            </a:r>
            <a:endParaRPr b="0" lang="en-GB" sz="900" strike="noStrike" u="none">
              <a:solidFill>
                <a:srgbClr val="000000"/>
              </a:solidFill>
              <a:effectLst/>
              <a:uFillTx/>
              <a:latin typeface="Arial"/>
            </a:endParaRPr>
          </a:p>
          <a:p>
            <a:pPr>
              <a:lnSpc>
                <a:spcPct val="100000"/>
              </a:lnSpc>
            </a:pPr>
            <a:r>
              <a:rPr b="0" lang="de-DE" sz="900" strike="noStrike" u="none">
                <a:solidFill>
                  <a:srgbClr val="a6a6a6"/>
                </a:solidFill>
                <a:effectLst/>
                <a:uFillTx/>
                <a:latin typeface="Roboto"/>
                <a:ea typeface="Roboto"/>
              </a:rPr>
              <a:t>2.) BIEN (Basic Income Earth Network) – https://basicincome.org/about-basic-income</a:t>
            </a:r>
            <a:endParaRPr b="0" lang="en-GB" sz="900" strike="noStrike" u="none">
              <a:solidFill>
                <a:srgbClr val="000000"/>
              </a:solidFill>
              <a:effectLst/>
              <a:uFillTx/>
              <a:latin typeface="Arial"/>
            </a:endParaRPr>
          </a:p>
        </p:txBody>
      </p:sp>
      <p:sp>
        <p:nvSpPr>
          <p:cNvPr id="1446" name="CustomShape 294"/>
          <p:cNvSpPr/>
          <p:nvPr/>
        </p:nvSpPr>
        <p:spPr>
          <a:xfrm>
            <a:off x="252000" y="4140000"/>
            <a:ext cx="10725840" cy="1969560"/>
          </a:xfrm>
          <a:prstGeom prst="rect">
            <a:avLst/>
          </a:prstGeom>
          <a:noFill/>
          <a:ln w="0">
            <a:noFill/>
          </a:ln>
        </p:spPr>
        <p:style>
          <a:lnRef idx="0"/>
          <a:fillRef idx="0"/>
          <a:effectRef idx="0"/>
          <a:fontRef idx="minor"/>
        </p:style>
        <p:txBody>
          <a:bodyPr lIns="90000" rIns="90000" tIns="45000" bIns="45000" anchor="ctr">
            <a:noAutofit/>
          </a:bodyPr>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Periodic → Paid at regular intervals</a:t>
            </a:r>
            <a:endParaRPr b="0" lang="en-GB" sz="1800" strike="noStrike" u="none">
              <a:solidFill>
                <a:srgbClr val="000000"/>
              </a:solidFill>
              <a:effectLst/>
              <a:uFillTx/>
              <a:latin typeface="Arial"/>
            </a:endParaRPr>
          </a:p>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Cash payment → Paid in an appropriate medium of exchange</a:t>
            </a:r>
            <a:endParaRPr b="0" lang="en-GB" sz="1800" strike="noStrike" u="none">
              <a:solidFill>
                <a:srgbClr val="000000"/>
              </a:solidFill>
              <a:effectLst/>
              <a:uFillTx/>
              <a:latin typeface="Arial"/>
            </a:endParaRPr>
          </a:p>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Individual → Paid on an individual basis (e.g., not to households)</a:t>
            </a:r>
            <a:endParaRPr b="0" lang="en-GB" sz="1800" strike="noStrike" u="none">
              <a:solidFill>
                <a:srgbClr val="000000"/>
              </a:solidFill>
              <a:effectLst/>
              <a:uFillTx/>
              <a:latin typeface="Arial"/>
            </a:endParaRPr>
          </a:p>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Universal → Paid to everyone</a:t>
            </a:r>
            <a:endParaRPr b="0" lang="en-GB" sz="1800" strike="noStrike" u="none">
              <a:solidFill>
                <a:srgbClr val="000000"/>
              </a:solidFill>
              <a:effectLst/>
              <a:uFillTx/>
              <a:latin typeface="Arial"/>
            </a:endParaRPr>
          </a:p>
          <a:p>
            <a:pPr marL="216000" indent="-216000">
              <a:lnSpc>
                <a:spcPct val="100000"/>
              </a:lnSpc>
              <a:buClr>
                <a:srgbClr val="008c4f"/>
              </a:buClr>
              <a:buSzPct val="45000"/>
              <a:buFont typeface="OpenSymbol"/>
              <a:buChar char="■"/>
            </a:pPr>
            <a:r>
              <a:rPr b="0" lang="en-GB" sz="1800" strike="noStrike" u="none">
                <a:solidFill>
                  <a:srgbClr val="000000"/>
                </a:solidFill>
                <a:effectLst/>
                <a:uFillTx/>
                <a:latin typeface="DejaVu Sans"/>
                <a:ea typeface="DejaVu Sans"/>
              </a:rPr>
              <a:t>Unconditional → Paid without means test and without a requirement to work or to demonstrate willingness-to-work</a:t>
            </a:r>
            <a:endParaRPr b="0" lang="en-GB" sz="1800" strike="noStrike" u="none">
              <a:solidFill>
                <a:srgbClr val="000000"/>
              </a:solidFill>
              <a:effectLst/>
              <a:uFillTx/>
              <a:latin typeface="Arial"/>
            </a:endParaRPr>
          </a:p>
        </p:txBody>
      </p:sp>
      <p:sp>
        <p:nvSpPr>
          <p:cNvPr id="1447" name="CustomShape 295"/>
          <p:cNvSpPr/>
          <p:nvPr/>
        </p:nvSpPr>
        <p:spPr>
          <a:xfrm>
            <a:off x="201240" y="3060000"/>
            <a:ext cx="10776600" cy="897840"/>
          </a:xfrm>
          <a:prstGeom prst="roundRect">
            <a:avLst>
              <a:gd name="adj" fmla="val 16667"/>
            </a:avLst>
          </a:prstGeom>
          <a:noFill/>
          <a:ln>
            <a:solidFill>
              <a:srgbClr val="008c4f"/>
            </a:solidFill>
            <a:round/>
          </a:ln>
        </p:spPr>
        <p:style>
          <a:lnRef idx="2">
            <a:schemeClr val="accent5"/>
          </a:lnRef>
          <a:fillRef idx="1">
            <a:schemeClr val="lt1"/>
          </a:fillRef>
          <a:effectRef idx="0">
            <a:schemeClr val="accent5"/>
          </a:effectRef>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8" name="CustomShape 296"/>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49" name="CustomShape 297"/>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Detour – AI Propaganda</a:t>
            </a:r>
            <a:endParaRPr b="0" lang="en-GB" sz="2200" strike="noStrike" u="none">
              <a:solidFill>
                <a:srgbClr val="000000"/>
              </a:solidFill>
              <a:effectLst/>
              <a:uFillTx/>
              <a:latin typeface="Arial"/>
            </a:endParaRPr>
          </a:p>
        </p:txBody>
      </p:sp>
      <p:pic>
        <p:nvPicPr>
          <p:cNvPr id="1450" name="Grafik 4" descr=""/>
          <p:cNvPicPr/>
          <p:nvPr/>
        </p:nvPicPr>
        <p:blipFill>
          <a:blip r:embed="rId1"/>
          <a:stretch/>
        </p:blipFill>
        <p:spPr>
          <a:xfrm>
            <a:off x="4500000" y="180000"/>
            <a:ext cx="5647320" cy="6298200"/>
          </a:xfrm>
          <a:prstGeom prst="rect">
            <a:avLst/>
          </a:prstGeom>
          <a:noFill/>
          <a:ln w="72000">
            <a:noFill/>
          </a:ln>
        </p:spPr>
      </p:pic>
      <p:sp>
        <p:nvSpPr>
          <p:cNvPr id="1451" name="CustomShape 298"/>
          <p:cNvSpPr/>
          <p:nvPr/>
        </p:nvSpPr>
        <p:spPr>
          <a:xfrm>
            <a:off x="263520" y="6433200"/>
            <a:ext cx="10782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https://www.forbes.com/sites/miltonezrati/2019/01/15/universal-basic-income-a-thoroughly-wrongheaded-idea/</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2" name="CustomShape 299"/>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53" name="CustomShape 300"/>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Detour – AI Propaganda</a:t>
            </a:r>
            <a:endParaRPr b="0" lang="en-GB" sz="2200" strike="noStrike" u="none">
              <a:solidFill>
                <a:srgbClr val="000000"/>
              </a:solidFill>
              <a:effectLst/>
              <a:uFillTx/>
              <a:latin typeface="Arial"/>
            </a:endParaRPr>
          </a:p>
        </p:txBody>
      </p:sp>
      <p:pic>
        <p:nvPicPr>
          <p:cNvPr id="1454" name="Grafik 5" descr=""/>
          <p:cNvPicPr/>
          <p:nvPr/>
        </p:nvPicPr>
        <p:blipFill>
          <a:blip r:embed="rId1"/>
          <a:stretch/>
        </p:blipFill>
        <p:spPr>
          <a:xfrm>
            <a:off x="4500000" y="180000"/>
            <a:ext cx="5647320" cy="6298200"/>
          </a:xfrm>
          <a:prstGeom prst="rect">
            <a:avLst/>
          </a:prstGeom>
          <a:noFill/>
          <a:ln w="72000">
            <a:noFill/>
          </a:ln>
        </p:spPr>
      </p:pic>
      <p:sp>
        <p:nvSpPr>
          <p:cNvPr id="1455" name="CustomShape 301"/>
          <p:cNvSpPr/>
          <p:nvPr/>
        </p:nvSpPr>
        <p:spPr>
          <a:xfrm>
            <a:off x="263520" y="6433200"/>
            <a:ext cx="10782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https://www.forbes.com/sites/miltonezrati/2019/01/15/universal-basic-income-a-thoroughly-wrongheaded-idea/</a:t>
            </a:r>
            <a:endParaRPr b="0" lang="en-GB" sz="900" strike="noStrike" u="none">
              <a:solidFill>
                <a:srgbClr val="000000"/>
              </a:solidFill>
              <a:effectLst/>
              <a:uFillTx/>
              <a:latin typeface="Arial"/>
            </a:endParaRPr>
          </a:p>
        </p:txBody>
      </p:sp>
      <p:sp>
        <p:nvSpPr>
          <p:cNvPr id="1456" name="CustomShape 302"/>
          <p:cNvSpPr/>
          <p:nvPr/>
        </p:nvSpPr>
        <p:spPr>
          <a:xfrm flipV="1">
            <a:off x="4500000" y="3055680"/>
            <a:ext cx="5758200" cy="1258200"/>
          </a:xfrm>
          <a:prstGeom prst="roundRect">
            <a:avLst>
              <a:gd name="adj" fmla="val 16667"/>
            </a:avLst>
          </a:prstGeom>
          <a:noFill/>
          <a:ln w="38160">
            <a:solidFill>
              <a:srgbClr val="c9211e"/>
            </a:solidFill>
            <a:round/>
          </a:ln>
        </p:spPr>
        <p:style>
          <a:lnRef idx="2">
            <a:schemeClr val="accent5"/>
          </a:lnRef>
          <a:fillRef idx="1">
            <a:schemeClr val="lt1"/>
          </a:fillRef>
          <a:effectRef idx="0">
            <a:schemeClr val="accent5"/>
          </a:effectRef>
          <a:fontRef idx="minor"/>
        </p:style>
        <p:txBody>
          <a:bodyPr lIns="102600" rIns="102600" tIns="57600" bIns="57600" anchor="t">
            <a:noAutofit/>
          </a:bodyPr>
          <a:p>
            <a:pPr>
              <a:lnSpc>
                <a:spcPct val="100000"/>
              </a:lnSpc>
            </a:pPr>
            <a:endParaRPr b="0" lang="en-GB" sz="1800" strike="noStrike" u="none">
              <a:solidFill>
                <a:srgbClr val="000000"/>
              </a:solidFill>
              <a:effectLst/>
              <a:uFillTx/>
              <a:latin typeface="Arial"/>
              <a:ea typeface="DejaVu Sans"/>
            </a:endParaRPr>
          </a:p>
        </p:txBody>
      </p:sp>
      <p:sp>
        <p:nvSpPr>
          <p:cNvPr id="1457" name="Gerader Verbinder 2"/>
          <p:cNvSpPr/>
          <p:nvPr/>
        </p:nvSpPr>
        <p:spPr>
          <a:xfrm>
            <a:off x="2160000" y="3600000"/>
            <a:ext cx="1980000" cy="360"/>
          </a:xfrm>
          <a:prstGeom prst="line">
            <a:avLst/>
          </a:prstGeom>
          <a:ln w="72000">
            <a:solidFill>
              <a:srgbClr val="c9211e"/>
            </a:solidFill>
            <a:round/>
            <a:tailEnd len="med" type="triangle" w="med"/>
          </a:ln>
        </p:spPr>
        <p:style>
          <a:lnRef idx="0"/>
          <a:fillRef idx="0"/>
          <a:effectRef idx="0"/>
          <a:fontRef idx="minor"/>
        </p:style>
        <p:txBody>
          <a:bodyPr lIns="90000" rIns="90000" tIns="-45000" bIns="-45000" anchor="ctr" anchorCtr="1">
            <a:noAutofit/>
          </a:bodyPr>
          <a:p>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8" name="CustomShape 303"/>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59" name="CustomShape 304"/>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Funding (Germany)</a:t>
            </a:r>
            <a:endParaRPr b="0" lang="en-GB" sz="2200" strike="noStrike" u="none">
              <a:solidFill>
                <a:srgbClr val="000000"/>
              </a:solidFill>
              <a:effectLst/>
              <a:uFillTx/>
              <a:latin typeface="Arial"/>
            </a:endParaRPr>
          </a:p>
        </p:txBody>
      </p:sp>
      <p:sp>
        <p:nvSpPr>
          <p:cNvPr id="1460" name="CustomShape 305"/>
          <p:cNvSpPr/>
          <p:nvPr/>
        </p:nvSpPr>
        <p:spPr>
          <a:xfrm>
            <a:off x="335520" y="1268280"/>
            <a:ext cx="10634400" cy="5336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German population: 84 million</a:t>
            </a: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UBI per person → 1.200€</a:t>
            </a: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Cost for a German UBI ~ 1 trillion Euro</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461" name="Diagramm 6"/>
          <p:cNvGraphicFramePr/>
          <p:nvPr/>
        </p:nvGraphicFramePr>
        <p:xfrm>
          <a:off x="2664360" y="1059120"/>
          <a:ext cx="8766720" cy="5600160"/>
        </p:xfrm>
        <a:graphic>
          <a:graphicData uri="http://schemas.openxmlformats.org/drawingml/2006/chart">
            <c:chart xmlns:c="http://schemas.openxmlformats.org/drawingml/2006/chart" xmlns:r="http://schemas.openxmlformats.org/officeDocument/2006/relationships" r:id="rId1"/>
          </a:graphicData>
        </a:graphic>
      </p:graphicFrame>
      <p:sp>
        <p:nvSpPr>
          <p:cNvPr id="1462" name="CustomShape 306"/>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63" name="CustomShape 307"/>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Funding (Germany)</a:t>
            </a:r>
            <a:endParaRPr b="0" lang="en-GB" sz="2200" strike="noStrike" u="none">
              <a:solidFill>
                <a:srgbClr val="000000"/>
              </a:solidFill>
              <a:effectLst/>
              <a:uFillTx/>
              <a:latin typeface="Arial"/>
            </a:endParaRPr>
          </a:p>
        </p:txBody>
      </p:sp>
      <p:sp>
        <p:nvSpPr>
          <p:cNvPr id="1464" name="CustomShape 308"/>
          <p:cNvSpPr/>
          <p:nvPr/>
        </p:nvSpPr>
        <p:spPr>
          <a:xfrm>
            <a:off x="0" y="6519960"/>
            <a:ext cx="623592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Adapted from https://www.bundeshaushalt.de/DE/Bundeshaushalt-digital/bundeshaushalt-digital.html</a:t>
            </a:r>
            <a:endParaRPr b="0" lang="en-GB" sz="900" strike="noStrike" u="none">
              <a:solidFill>
                <a:srgbClr val="000000"/>
              </a:solidFill>
              <a:effectLst/>
              <a:uFillTx/>
              <a:latin typeface="Arial"/>
            </a:endParaRPr>
          </a:p>
        </p:txBody>
      </p:sp>
      <p:sp>
        <p:nvSpPr>
          <p:cNvPr id="1465" name="CustomShape 309"/>
          <p:cNvSpPr/>
          <p:nvPr/>
        </p:nvSpPr>
        <p:spPr>
          <a:xfrm>
            <a:off x="131400" y="6130800"/>
            <a:ext cx="2090160" cy="196200"/>
          </a:xfrm>
          <a:prstGeom prst="rect">
            <a:avLst/>
          </a:prstGeom>
          <a:solidFill>
            <a:srgbClr val="ffffff"/>
          </a:solidFill>
          <a:ln>
            <a:solidFill>
              <a:srgbClr val="77933c"/>
            </a:solidFill>
          </a:ln>
        </p:spPr>
        <p:style>
          <a:lnRef idx="2">
            <a:schemeClr val="accent4"/>
          </a:lnRef>
          <a:fillRef idx="1">
            <a:schemeClr val="lt1"/>
          </a:fillRef>
          <a:effectRef idx="0">
            <a:schemeClr val="accent4"/>
          </a:effectRef>
          <a:fontRef idx="minor"/>
        </p:style>
        <p:txBody>
          <a:bodyPr lIns="90000" rIns="90000" tIns="45000" bIns="45000" anchor="t">
            <a:spAutoFit/>
          </a:bodyPr>
          <a:p>
            <a:pPr>
              <a:lnSpc>
                <a:spcPct val="100000"/>
              </a:lnSpc>
            </a:pPr>
            <a:r>
              <a:rPr b="0" i="1" lang="de-DE" sz="700" strike="noStrike" u="none">
                <a:solidFill>
                  <a:srgbClr val="a6a6a6"/>
                </a:solidFill>
                <a:effectLst/>
                <a:uFillTx/>
                <a:latin typeface="DejaVu Sans"/>
                <a:ea typeface="Roboto"/>
              </a:rPr>
              <a:t>Bundesministerium der Finanzen 2025</a:t>
            </a:r>
            <a:endParaRPr b="0" lang="en-GB"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6" name="CustomShape 310"/>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67" name="CustomShape 311"/>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Funding (Germany)</a:t>
            </a:r>
            <a:endParaRPr b="0" lang="en-GB" sz="2200" strike="noStrike" u="none">
              <a:solidFill>
                <a:srgbClr val="000000"/>
              </a:solidFill>
              <a:effectLst/>
              <a:uFillTx/>
              <a:latin typeface="Arial"/>
            </a:endParaRPr>
          </a:p>
        </p:txBody>
      </p:sp>
      <p:sp>
        <p:nvSpPr>
          <p:cNvPr id="1468" name="CustomShape 312"/>
          <p:cNvSpPr/>
          <p:nvPr/>
        </p:nvSpPr>
        <p:spPr>
          <a:xfrm>
            <a:off x="201600" y="6424560"/>
            <a:ext cx="4195800" cy="36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Adapted from https://www.bundeshaushalt.de/DE/Bundeshaushalt-digital/bundeshaushalt-digital.html</a:t>
            </a:r>
            <a:endParaRPr b="0" lang="en-GB" sz="900" strike="noStrike" u="none">
              <a:solidFill>
                <a:srgbClr val="000000"/>
              </a:solidFill>
              <a:effectLst/>
              <a:uFillTx/>
              <a:latin typeface="Arial"/>
            </a:endParaRPr>
          </a:p>
        </p:txBody>
      </p:sp>
      <p:sp>
        <p:nvSpPr>
          <p:cNvPr id="1469" name="CustomShape 313"/>
          <p:cNvSpPr/>
          <p:nvPr/>
        </p:nvSpPr>
        <p:spPr>
          <a:xfrm>
            <a:off x="9319320" y="6494040"/>
            <a:ext cx="2090160" cy="196200"/>
          </a:xfrm>
          <a:prstGeom prst="rect">
            <a:avLst/>
          </a:prstGeom>
          <a:solidFill>
            <a:srgbClr val="ffffff"/>
          </a:solidFill>
          <a:ln>
            <a:solidFill>
              <a:srgbClr val="77933c"/>
            </a:solidFill>
          </a:ln>
        </p:spPr>
        <p:style>
          <a:lnRef idx="2">
            <a:schemeClr val="accent4"/>
          </a:lnRef>
          <a:fillRef idx="1">
            <a:schemeClr val="lt1"/>
          </a:fillRef>
          <a:effectRef idx="0">
            <a:schemeClr val="accent4"/>
          </a:effectRef>
          <a:fontRef idx="minor"/>
        </p:style>
        <p:txBody>
          <a:bodyPr lIns="90000" rIns="90000" tIns="45000" bIns="45000" anchor="t">
            <a:spAutoFit/>
          </a:bodyPr>
          <a:p>
            <a:pPr>
              <a:lnSpc>
                <a:spcPct val="100000"/>
              </a:lnSpc>
            </a:pPr>
            <a:r>
              <a:rPr b="0" i="1" lang="de-DE" sz="700" strike="noStrike" u="none">
                <a:solidFill>
                  <a:srgbClr val="a6a6a6"/>
                </a:solidFill>
                <a:effectLst/>
                <a:uFillTx/>
                <a:latin typeface="DejaVu Sans"/>
                <a:ea typeface="Roboto"/>
              </a:rPr>
              <a:t>Bundesministerium der Finanzen 2025</a:t>
            </a:r>
            <a:endParaRPr b="0" lang="en-GB" sz="700" strike="noStrike" u="none">
              <a:solidFill>
                <a:srgbClr val="000000"/>
              </a:solidFill>
              <a:effectLst/>
              <a:uFillTx/>
              <a:latin typeface="Arial"/>
            </a:endParaRPr>
          </a:p>
        </p:txBody>
      </p:sp>
      <p:pic>
        <p:nvPicPr>
          <p:cNvPr id="1470" name="Diagramm 2" descr=""/>
          <p:cNvPicPr/>
          <p:nvPr/>
        </p:nvPicPr>
        <p:blipFill>
          <a:blip r:embed="rId1"/>
          <a:stretch/>
        </p:blipFill>
        <p:spPr>
          <a:xfrm>
            <a:off x="2410920" y="1016640"/>
            <a:ext cx="9267480" cy="5060160"/>
          </a:xfrm>
          <a:prstGeom prst="rect">
            <a:avLst/>
          </a:prstGeom>
          <a:noFill/>
          <a:ln w="0">
            <a:noFill/>
          </a:ln>
        </p:spPr>
      </p:pic>
      <p:sp>
        <p:nvSpPr>
          <p:cNvPr id="1471" name="Textfeld 7"/>
          <p:cNvSpPr/>
          <p:nvPr/>
        </p:nvSpPr>
        <p:spPr>
          <a:xfrm>
            <a:off x="8846280" y="3661920"/>
            <a:ext cx="1470600" cy="591480"/>
          </a:xfrm>
          <a:prstGeom prst="rect">
            <a:avLst/>
          </a:prstGeom>
          <a:solidFill>
            <a:srgbClr val="181717">
              <a:alpha val="50000"/>
            </a:srgbClr>
          </a:solidFill>
          <a:ln w="6350">
            <a:solidFill>
              <a:srgbClr val="000000"/>
            </a:solidFill>
            <a:prstDash val="lgDash"/>
            <a:round/>
          </a:ln>
          <a:effectLst>
            <a:outerShdw algn="l" blurRad="50760" dist="38160" rotWithShape="0">
              <a:srgbClr val="000000">
                <a:alpha val="40000"/>
              </a:srgbClr>
            </a:outerShdw>
          </a:effectLst>
        </p:spPr>
        <p:style>
          <a:lnRef idx="0"/>
          <a:fillRef idx="0"/>
          <a:effectRef idx="0"/>
          <a:fontRef idx="minor"/>
        </p:style>
        <p:txBody>
          <a:bodyPr lIns="90000" rIns="90000" tIns="45000" bIns="45000" anchor="t">
            <a:spAutoFit/>
          </a:bodyPr>
          <a:p>
            <a:pPr algn="ctr">
              <a:lnSpc>
                <a:spcPct val="100000"/>
              </a:lnSpc>
              <a:tabLst>
                <a:tab algn="l" pos="0"/>
              </a:tabLst>
            </a:pPr>
            <a:r>
              <a:rPr b="0" lang="de-DE" sz="1100" strike="noStrike" u="none">
                <a:solidFill>
                  <a:srgbClr val="ffffff"/>
                </a:solidFill>
                <a:effectLst/>
                <a:uFillTx/>
                <a:latin typeface="StoneSerITCStd SemiBold"/>
                <a:ea typeface="DejaVu Sans"/>
              </a:rPr>
              <a:t>36,69%</a:t>
            </a:r>
            <a:endParaRPr b="0" lang="en-GB" sz="1100" strike="noStrike" u="none">
              <a:solidFill>
                <a:srgbClr val="ffffff"/>
              </a:solidFill>
              <a:effectLst/>
              <a:uFillTx/>
              <a:latin typeface="Arial"/>
            </a:endParaRPr>
          </a:p>
          <a:p>
            <a:pPr>
              <a:lnSpc>
                <a:spcPct val="100000"/>
              </a:lnSpc>
              <a:tabLst>
                <a:tab algn="l" pos="0"/>
              </a:tabLst>
            </a:pPr>
            <a:r>
              <a:rPr b="0" lang="de-DE" sz="1100" strike="noStrike" u="none">
                <a:solidFill>
                  <a:srgbClr val="ffffff"/>
                </a:solidFill>
                <a:effectLst/>
                <a:uFillTx/>
                <a:latin typeface="StoneSerITCStd SemiBold"/>
                <a:ea typeface="DejaVu Sans"/>
              </a:rPr>
              <a:t>179.257.094 </a:t>
            </a:r>
            <a:r>
              <a:rPr b="0" i="1" lang="de-DE" sz="1100" strike="noStrike" u="none">
                <a:solidFill>
                  <a:srgbClr val="ffffff"/>
                </a:solidFill>
                <a:effectLst/>
                <a:uFillTx/>
                <a:latin typeface="StoneSerITCStd SemiBold"/>
                <a:ea typeface="DejaVu Sans"/>
              </a:rPr>
              <a:t>(in Tausend Euro)</a:t>
            </a:r>
            <a:endParaRPr b="0" lang="en-GB" sz="1100" strike="noStrike" u="none">
              <a:solidFill>
                <a:srgbClr val="ffffff"/>
              </a:solidFill>
              <a:effectLst/>
              <a:uFillTx/>
              <a:latin typeface="Arial"/>
            </a:endParaRPr>
          </a:p>
        </p:txBody>
      </p:sp>
      <p:sp>
        <p:nvSpPr>
          <p:cNvPr id="1472" name="Textfeld 8"/>
          <p:cNvSpPr/>
          <p:nvPr/>
        </p:nvSpPr>
        <p:spPr>
          <a:xfrm>
            <a:off x="7588080" y="5794920"/>
            <a:ext cx="1317960" cy="591480"/>
          </a:xfrm>
          <a:prstGeom prst="rect">
            <a:avLst/>
          </a:prstGeom>
          <a:solidFill>
            <a:srgbClr val="181717">
              <a:alpha val="50000"/>
            </a:srgbClr>
          </a:solidFill>
          <a:ln w="6350">
            <a:solidFill>
              <a:srgbClr val="000000"/>
            </a:solidFill>
            <a:prstDash val="lgDash"/>
            <a:round/>
          </a:ln>
          <a:effectLst>
            <a:outerShdw algn="l" blurRad="50760" dist="38160" rotWithShape="0">
              <a:srgbClr val="000000">
                <a:alpha val="40000"/>
              </a:srgbClr>
            </a:outerShdw>
          </a:effectLst>
        </p:spPr>
        <p:style>
          <a:lnRef idx="0"/>
          <a:fillRef idx="0"/>
          <a:effectRef idx="0"/>
          <a:fontRef idx="minor"/>
        </p:style>
        <p:txBody>
          <a:bodyPr lIns="90000" rIns="90000" tIns="45000" bIns="45000" anchor="t">
            <a:spAutoFit/>
          </a:bodyPr>
          <a:p>
            <a:pPr algn="ctr">
              <a:lnSpc>
                <a:spcPct val="100000"/>
              </a:lnSpc>
              <a:tabLst>
                <a:tab algn="l" pos="0"/>
              </a:tabLst>
            </a:pPr>
            <a:r>
              <a:rPr b="0" lang="de-DE" sz="1100" strike="noStrike" u="none">
                <a:solidFill>
                  <a:srgbClr val="ffffff"/>
                </a:solidFill>
                <a:effectLst/>
                <a:uFillTx/>
                <a:latin typeface="StoneSerITCStd SemiBold"/>
                <a:ea typeface="DejaVu Sans"/>
              </a:rPr>
              <a:t>10,09%</a:t>
            </a:r>
            <a:endParaRPr b="0" lang="en-GB" sz="1100" strike="noStrike" u="none">
              <a:solidFill>
                <a:srgbClr val="ffffff"/>
              </a:solidFill>
              <a:effectLst/>
              <a:uFillTx/>
              <a:latin typeface="Arial"/>
            </a:endParaRPr>
          </a:p>
          <a:p>
            <a:pPr>
              <a:lnSpc>
                <a:spcPct val="100000"/>
              </a:lnSpc>
              <a:tabLst>
                <a:tab algn="l" pos="0"/>
              </a:tabLst>
            </a:pPr>
            <a:r>
              <a:rPr b="0" lang="de-DE" sz="1100" strike="noStrike" u="none">
                <a:solidFill>
                  <a:srgbClr val="ffffff"/>
                </a:solidFill>
                <a:effectLst/>
                <a:uFillTx/>
                <a:latin typeface="StoneSerITCStd SemiBold"/>
                <a:ea typeface="DejaVu Sans"/>
              </a:rPr>
              <a:t>53.250.000 </a:t>
            </a:r>
            <a:r>
              <a:rPr b="0" i="1" lang="de-DE" sz="1100" strike="noStrike" u="none">
                <a:solidFill>
                  <a:srgbClr val="ffffff"/>
                </a:solidFill>
                <a:effectLst/>
                <a:uFillTx/>
                <a:latin typeface="StoneSerITCStd SemiBold"/>
                <a:ea typeface="DejaVu Sans"/>
              </a:rPr>
              <a:t>(in Tausend Euro)</a:t>
            </a:r>
            <a:endParaRPr b="0" lang="en-GB" sz="1100" strike="noStrike" u="none">
              <a:solidFill>
                <a:srgbClr val="ffffff"/>
              </a:solidFill>
              <a:effectLst/>
              <a:uFillTx/>
              <a:latin typeface="Arial"/>
            </a:endParaRPr>
          </a:p>
        </p:txBody>
      </p:sp>
      <p:sp>
        <p:nvSpPr>
          <p:cNvPr id="1473" name="Textfeld 9"/>
          <p:cNvSpPr/>
          <p:nvPr/>
        </p:nvSpPr>
        <p:spPr>
          <a:xfrm rot="20240400">
            <a:off x="5359320" y="5808600"/>
            <a:ext cx="1156320" cy="591480"/>
          </a:xfrm>
          <a:prstGeom prst="rect">
            <a:avLst/>
          </a:prstGeom>
          <a:solidFill>
            <a:srgbClr val="181717">
              <a:alpha val="50000"/>
            </a:srgbClr>
          </a:solidFill>
          <a:ln w="6350">
            <a:solidFill>
              <a:srgbClr val="000000"/>
            </a:solidFill>
            <a:prstDash val="lgDash"/>
            <a:round/>
          </a:ln>
          <a:effectLst>
            <a:outerShdw algn="l" blurRad="50760" dist="38160" rotWithShape="0">
              <a:srgbClr val="000000">
                <a:alpha val="40000"/>
              </a:srgbClr>
            </a:outerShdw>
          </a:effectLst>
        </p:spPr>
        <p:style>
          <a:lnRef idx="0"/>
          <a:fillRef idx="0"/>
          <a:effectRef idx="0"/>
          <a:fontRef idx="minor"/>
        </p:style>
        <p:txBody>
          <a:bodyPr lIns="90000" rIns="90000" tIns="45000" bIns="45000" anchor="t">
            <a:spAutoFit/>
          </a:bodyPr>
          <a:p>
            <a:pPr algn="ctr">
              <a:lnSpc>
                <a:spcPct val="100000"/>
              </a:lnSpc>
              <a:tabLst>
                <a:tab algn="l" pos="0"/>
              </a:tabLst>
            </a:pPr>
            <a:r>
              <a:rPr b="0" lang="de-DE" sz="1100" strike="noStrike" u="none">
                <a:solidFill>
                  <a:srgbClr val="ffffff"/>
                </a:solidFill>
                <a:effectLst/>
                <a:uFillTx/>
                <a:latin typeface="StoneSerITCStd SemiBold"/>
                <a:ea typeface="DejaVu Sans"/>
              </a:rPr>
              <a:t>10,17%</a:t>
            </a:r>
            <a:endParaRPr b="0" lang="en-GB" sz="1100" strike="noStrike" u="none">
              <a:solidFill>
                <a:srgbClr val="ffffff"/>
              </a:solidFill>
              <a:effectLst/>
              <a:uFillTx/>
              <a:latin typeface="Arial"/>
            </a:endParaRPr>
          </a:p>
          <a:p>
            <a:pPr>
              <a:lnSpc>
                <a:spcPct val="100000"/>
              </a:lnSpc>
              <a:tabLst>
                <a:tab algn="l" pos="0"/>
              </a:tabLst>
            </a:pPr>
            <a:r>
              <a:rPr b="0" lang="de-DE" sz="1100" strike="noStrike" u="none">
                <a:solidFill>
                  <a:srgbClr val="ffffff"/>
                </a:solidFill>
                <a:effectLst/>
                <a:uFillTx/>
                <a:latin typeface="StoneSerITCStd SemiBold"/>
                <a:ea typeface="DejaVu Sans"/>
              </a:rPr>
              <a:t>49.667.947 </a:t>
            </a:r>
            <a:r>
              <a:rPr b="0" i="1" lang="de-DE" sz="1100" strike="noStrike" u="none">
                <a:solidFill>
                  <a:srgbClr val="ffffff"/>
                </a:solidFill>
                <a:effectLst/>
                <a:uFillTx/>
                <a:latin typeface="StoneSerITCStd SemiBold"/>
                <a:ea typeface="DejaVu Sans"/>
              </a:rPr>
              <a:t>(in Tausend Euro)</a:t>
            </a:r>
            <a:endParaRPr b="0" lang="en-GB" sz="1100" strike="noStrike" u="none">
              <a:solidFill>
                <a:srgbClr val="ffffff"/>
              </a:solidFill>
              <a:effectLst/>
              <a:uFillTx/>
              <a:latin typeface="Arial"/>
            </a:endParaRPr>
          </a:p>
        </p:txBody>
      </p:sp>
      <p:sp>
        <p:nvSpPr>
          <p:cNvPr id="1474" name="Textfeld 10"/>
          <p:cNvSpPr/>
          <p:nvPr/>
        </p:nvSpPr>
        <p:spPr>
          <a:xfrm>
            <a:off x="4022280" y="4932000"/>
            <a:ext cx="1298160" cy="591480"/>
          </a:xfrm>
          <a:prstGeom prst="rect">
            <a:avLst/>
          </a:prstGeom>
          <a:solidFill>
            <a:srgbClr val="181717">
              <a:alpha val="50000"/>
            </a:srgbClr>
          </a:solidFill>
          <a:ln w="6350">
            <a:solidFill>
              <a:srgbClr val="000000"/>
            </a:solidFill>
            <a:prstDash val="lgDash"/>
            <a:round/>
          </a:ln>
          <a:effectLst>
            <a:outerShdw algn="l" blurRad="50760" dist="38160" rotWithShape="0">
              <a:srgbClr val="000000">
                <a:alpha val="40000"/>
              </a:srgbClr>
            </a:outerShdw>
          </a:effectLst>
        </p:spPr>
        <p:style>
          <a:lnRef idx="0"/>
          <a:fillRef idx="0"/>
          <a:effectRef idx="0"/>
          <a:fontRef idx="minor"/>
        </p:style>
        <p:txBody>
          <a:bodyPr lIns="90000" rIns="90000" tIns="45000" bIns="45000" anchor="t">
            <a:spAutoFit/>
          </a:bodyPr>
          <a:p>
            <a:pPr algn="ctr">
              <a:lnSpc>
                <a:spcPct val="100000"/>
              </a:lnSpc>
              <a:tabLst>
                <a:tab algn="l" pos="0"/>
              </a:tabLst>
            </a:pPr>
            <a:r>
              <a:rPr b="0" lang="de-DE" sz="1100" strike="noStrike" u="none">
                <a:solidFill>
                  <a:srgbClr val="ffffff"/>
                </a:solidFill>
                <a:effectLst/>
                <a:uFillTx/>
                <a:latin typeface="StoneSerITCStd SemiBold"/>
                <a:ea typeface="DejaVu Sans"/>
              </a:rPr>
              <a:t>9,45%</a:t>
            </a:r>
            <a:endParaRPr b="0" lang="en-GB" sz="1100" strike="noStrike" u="none">
              <a:solidFill>
                <a:srgbClr val="ffffff"/>
              </a:solidFill>
              <a:effectLst/>
              <a:uFillTx/>
              <a:latin typeface="Arial"/>
            </a:endParaRPr>
          </a:p>
          <a:p>
            <a:pPr>
              <a:lnSpc>
                <a:spcPct val="100000"/>
              </a:lnSpc>
              <a:tabLst>
                <a:tab algn="l" pos="0"/>
              </a:tabLst>
            </a:pPr>
            <a:r>
              <a:rPr b="0" lang="de-DE" sz="1100" strike="noStrike" u="none">
                <a:solidFill>
                  <a:srgbClr val="ffffff"/>
                </a:solidFill>
                <a:effectLst/>
                <a:uFillTx/>
                <a:latin typeface="StoneSerITCStd SemiBold"/>
                <a:ea typeface="DejaVu Sans"/>
              </a:rPr>
              <a:t>46.170.579 </a:t>
            </a:r>
            <a:r>
              <a:rPr b="0" i="1" lang="de-DE" sz="1100" strike="noStrike" u="none">
                <a:solidFill>
                  <a:srgbClr val="ffffff"/>
                </a:solidFill>
                <a:effectLst/>
                <a:uFillTx/>
                <a:latin typeface="StoneSerITCStd SemiBold"/>
                <a:ea typeface="DejaVu Sans"/>
              </a:rPr>
              <a:t>(in Tausend Euro)</a:t>
            </a:r>
            <a:endParaRPr b="0" lang="en-GB" sz="1100" strike="noStrike" u="none">
              <a:solidFill>
                <a:srgbClr val="ffffff"/>
              </a:solidFill>
              <a:effectLst/>
              <a:uFillTx/>
              <a:latin typeface="Arial"/>
            </a:endParaRPr>
          </a:p>
        </p:txBody>
      </p:sp>
      <p:sp>
        <p:nvSpPr>
          <p:cNvPr id="1475" name="Textfeld 11"/>
          <p:cNvSpPr/>
          <p:nvPr/>
        </p:nvSpPr>
        <p:spPr>
          <a:xfrm>
            <a:off x="3670920" y="4004640"/>
            <a:ext cx="1220760" cy="591480"/>
          </a:xfrm>
          <a:prstGeom prst="rect">
            <a:avLst/>
          </a:prstGeom>
          <a:solidFill>
            <a:srgbClr val="181717">
              <a:alpha val="50000"/>
            </a:srgbClr>
          </a:solidFill>
          <a:ln w="6350">
            <a:solidFill>
              <a:srgbClr val="000000"/>
            </a:solidFill>
            <a:prstDash val="lgDash"/>
            <a:round/>
          </a:ln>
          <a:effectLst>
            <a:outerShdw algn="l" blurRad="50760" dist="38160" rotWithShape="0">
              <a:srgbClr val="000000">
                <a:alpha val="40000"/>
              </a:srgbClr>
            </a:outerShdw>
          </a:effectLst>
        </p:spPr>
        <p:style>
          <a:lnRef idx="0"/>
          <a:fillRef idx="0"/>
          <a:effectRef idx="0"/>
          <a:fontRef idx="minor"/>
        </p:style>
        <p:txBody>
          <a:bodyPr lIns="90000" rIns="90000" tIns="45000" bIns="45000" anchor="t">
            <a:spAutoFit/>
          </a:bodyPr>
          <a:p>
            <a:pPr algn="ctr">
              <a:lnSpc>
                <a:spcPct val="100000"/>
              </a:lnSpc>
              <a:tabLst>
                <a:tab algn="l" pos="0"/>
              </a:tabLst>
            </a:pPr>
            <a:r>
              <a:rPr b="0" lang="de-DE" sz="1100" strike="noStrike" u="none">
                <a:solidFill>
                  <a:srgbClr val="ffffff"/>
                </a:solidFill>
                <a:effectLst/>
                <a:uFillTx/>
                <a:latin typeface="StoneSerITCStd SemiBold"/>
                <a:ea typeface="DejaVu Sans"/>
              </a:rPr>
              <a:t>6,8%</a:t>
            </a:r>
            <a:endParaRPr b="0" lang="en-GB" sz="1100" strike="noStrike" u="none">
              <a:solidFill>
                <a:srgbClr val="ffffff"/>
              </a:solidFill>
              <a:effectLst/>
              <a:uFillTx/>
              <a:latin typeface="Arial"/>
            </a:endParaRPr>
          </a:p>
          <a:p>
            <a:pPr>
              <a:lnSpc>
                <a:spcPct val="100000"/>
              </a:lnSpc>
              <a:tabLst>
                <a:tab algn="l" pos="0"/>
              </a:tabLst>
            </a:pPr>
            <a:r>
              <a:rPr b="0" lang="de-DE" sz="1100" strike="noStrike" u="none">
                <a:solidFill>
                  <a:srgbClr val="ffffff"/>
                </a:solidFill>
                <a:effectLst/>
                <a:uFillTx/>
                <a:latin typeface="StoneSerITCStd SemiBold"/>
                <a:ea typeface="DejaVu Sans"/>
              </a:rPr>
              <a:t>33.216.446 </a:t>
            </a:r>
            <a:r>
              <a:rPr b="0" i="1" lang="de-DE" sz="1100" strike="noStrike" u="none">
                <a:solidFill>
                  <a:srgbClr val="ffffff"/>
                </a:solidFill>
                <a:effectLst/>
                <a:uFillTx/>
                <a:latin typeface="StoneSerITCStd SemiBold"/>
                <a:ea typeface="DejaVu Sans"/>
              </a:rPr>
              <a:t>(in Tausend Euro)</a:t>
            </a:r>
            <a:endParaRPr b="0" lang="en-GB" sz="1100" strike="noStrike" u="none">
              <a:solidFill>
                <a:srgbClr val="ffffff"/>
              </a:solidFill>
              <a:effectLst/>
              <a:uFillTx/>
              <a:latin typeface="Arial"/>
            </a:endParaRPr>
          </a:p>
        </p:txBody>
      </p:sp>
      <p:sp>
        <p:nvSpPr>
          <p:cNvPr id="1476" name="Textfeld 12"/>
          <p:cNvSpPr/>
          <p:nvPr/>
        </p:nvSpPr>
        <p:spPr>
          <a:xfrm>
            <a:off x="9555120" y="1621080"/>
            <a:ext cx="1854360" cy="606600"/>
          </a:xfrm>
          <a:prstGeom prst="rect">
            <a:avLst/>
          </a:prstGeom>
          <a:gradFill rotWithShape="0">
            <a:gsLst>
              <a:gs pos="0">
                <a:srgbClr val="f7bca4"/>
              </a:gs>
              <a:gs pos="100000">
                <a:srgbClr val="f4b196"/>
              </a:gs>
            </a:gsLst>
            <a:lin ang="5400000"/>
          </a:gradFill>
          <a:ln w="6350">
            <a:solidFill>
              <a:srgbClr val="ed7d31"/>
            </a:solidFill>
            <a:miter/>
          </a:ln>
        </p:spPr>
        <p:style>
          <a:lnRef idx="0"/>
          <a:fillRef idx="0"/>
          <a:effectRef idx="0"/>
          <a:fontRef idx="minor"/>
        </p:style>
        <p:txBody>
          <a:bodyPr lIns="90000" rIns="90000" tIns="45000" bIns="45000" anchor="t">
            <a:spAutoFit/>
          </a:bodyPr>
          <a:p>
            <a:pPr algn="ctr">
              <a:lnSpc>
                <a:spcPct val="100000"/>
              </a:lnSpc>
              <a:tabLst>
                <a:tab algn="l" pos="0"/>
              </a:tabLst>
            </a:pPr>
            <a:r>
              <a:rPr b="0" lang="en-GB" sz="1100" strike="noStrike" u="none">
                <a:solidFill>
                  <a:srgbClr val="000000"/>
                </a:solidFill>
                <a:effectLst/>
                <a:uFillTx/>
                <a:latin typeface="StoneSerITCStd SemiBold"/>
                <a:ea typeface="DejaVu Sans"/>
              </a:rPr>
              <a:t>Amount </a:t>
            </a:r>
            <a:r>
              <a:rPr b="0" i="1" lang="en-GB" sz="1100" strike="noStrike" u="none">
                <a:solidFill>
                  <a:srgbClr val="000000"/>
                </a:solidFill>
                <a:effectLst/>
                <a:uFillTx/>
                <a:latin typeface="StoneSerITCStd SemiBold"/>
                <a:ea typeface="DejaVu Sans"/>
              </a:rPr>
              <a:t>in thousands of </a:t>
            </a:r>
            <a:r>
              <a:rPr b="0" i="1" lang="de-DE" sz="1100" strike="noStrike" u="none">
                <a:solidFill>
                  <a:srgbClr val="000000"/>
                </a:solidFill>
                <a:effectLst/>
                <a:uFillTx/>
                <a:latin typeface="StoneSerITCStd SemiBold"/>
                <a:ea typeface="DejaVu Sans"/>
              </a:rPr>
              <a:t>Euro</a:t>
            </a:r>
            <a:endParaRPr b="0" lang="en-GB" sz="1100" strike="noStrike" u="none">
              <a:solidFill>
                <a:srgbClr val="000000"/>
              </a:solidFill>
              <a:effectLst/>
              <a:uFillTx/>
              <a:latin typeface="Arial"/>
            </a:endParaRPr>
          </a:p>
          <a:p>
            <a:pPr algn="ctr">
              <a:lnSpc>
                <a:spcPct val="100000"/>
              </a:lnSpc>
              <a:tabLst>
                <a:tab algn="l" pos="0"/>
              </a:tabLst>
            </a:pPr>
            <a:r>
              <a:rPr b="1" i="1" lang="de-DE" sz="1200" strike="noStrike" u="none">
                <a:solidFill>
                  <a:srgbClr val="000000"/>
                </a:solidFill>
                <a:effectLst/>
                <a:uFillTx/>
                <a:latin typeface="StoneSerITCStd SemiBold"/>
                <a:ea typeface="DejaVu Sans"/>
              </a:rPr>
              <a:t>488.609.000</a:t>
            </a:r>
            <a:endParaRPr b="0" lang="en-GB"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7" name="CustomShape 314"/>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78" name="CustomShape 315"/>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Funding (Germany) – Financial Transaction Tax</a:t>
            </a:r>
            <a:endParaRPr b="0" lang="en-GB" sz="2200" strike="noStrike" u="none">
              <a:solidFill>
                <a:srgbClr val="000000"/>
              </a:solidFill>
              <a:effectLst/>
              <a:uFillTx/>
              <a:latin typeface="Arial"/>
            </a:endParaRPr>
          </a:p>
        </p:txBody>
      </p:sp>
      <p:sp>
        <p:nvSpPr>
          <p:cNvPr id="1479" name="CustomShape 316"/>
          <p:cNvSpPr/>
          <p:nvPr/>
        </p:nvSpPr>
        <p:spPr>
          <a:xfrm>
            <a:off x="335520" y="1268280"/>
            <a:ext cx="10634400" cy="5336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Financial transaction tax </a:t>
            </a:r>
            <a:endParaRPr b="0" lang="en-GB" sz="1800" strike="noStrike" u="none">
              <a:solidFill>
                <a:srgbClr val="000000"/>
              </a:solidFill>
              <a:effectLst/>
              <a:uFillTx/>
              <a:latin typeface="Arial"/>
            </a:endParaRPr>
          </a:p>
          <a:p>
            <a:pPr lvl="1" marL="432000" indent="-216000">
              <a:lnSpc>
                <a:spcPct val="100000"/>
              </a:lnSpc>
              <a:spcBef>
                <a:spcPts val="360"/>
              </a:spcBef>
              <a:buClr>
                <a:srgbClr val="000000"/>
              </a:buClr>
              <a:buSzPct val="45000"/>
              <a:buFont typeface="Wingdings" charset="2"/>
              <a:buChar char=""/>
            </a:pPr>
            <a:r>
              <a:rPr b="0" lang="en-US" sz="1800" strike="noStrike" u="none">
                <a:solidFill>
                  <a:srgbClr val="000000"/>
                </a:solidFill>
                <a:effectLst/>
                <a:uFillTx/>
                <a:latin typeface="Arial"/>
                <a:ea typeface="DejaVu Sans"/>
              </a:rPr>
              <a:t>Tax financial transactions (stock exchange, etc. - not everyday transactions, e.g., supermarket)</a:t>
            </a:r>
            <a:endParaRPr b="0" lang="en-GB" sz="1800" strike="noStrike" u="none">
              <a:solidFill>
                <a:srgbClr val="000000"/>
              </a:solidFill>
              <a:effectLst/>
              <a:uFillTx/>
              <a:latin typeface="Arial"/>
            </a:endParaRPr>
          </a:p>
          <a:p>
            <a:pPr lvl="1" marL="432000" indent="-216000">
              <a:lnSpc>
                <a:spcPct val="100000"/>
              </a:lnSpc>
              <a:spcBef>
                <a:spcPts val="360"/>
              </a:spcBef>
              <a:buClr>
                <a:srgbClr val="000000"/>
              </a:buClr>
              <a:buSzPct val="45000"/>
              <a:buFont typeface="Wingdings" charset="2"/>
              <a:buChar char=""/>
            </a:pPr>
            <a:r>
              <a:rPr b="0" lang="en-US" sz="1800" strike="noStrike" u="none">
                <a:solidFill>
                  <a:srgbClr val="000000"/>
                </a:solidFill>
                <a:effectLst/>
                <a:uFillTx/>
                <a:latin typeface="Arial"/>
                <a:ea typeface="DejaVu Sans"/>
              </a:rPr>
              <a:t>Prevent financial market speculation from being more profitable than investments in the real economy.</a:t>
            </a:r>
            <a:endParaRPr b="0" lang="en-GB" sz="1800" strike="noStrike" u="none">
              <a:solidFill>
                <a:srgbClr val="000000"/>
              </a:solidFill>
              <a:effectLst/>
              <a:uFillTx/>
              <a:latin typeface="Arial"/>
            </a:endParaRPr>
          </a:p>
          <a:p>
            <a:pPr marL="216000">
              <a:lnSpc>
                <a:spcPct val="100000"/>
              </a:lnSpc>
              <a:spcBef>
                <a:spcPts val="360"/>
              </a:spcBef>
            </a:pPr>
            <a:r>
              <a:rPr b="0" lang="en-US" sz="1800" strike="noStrike" u="none">
                <a:solidFill>
                  <a:srgbClr val="ffffff"/>
                </a:solidFill>
                <a:effectLst/>
                <a:uFillTx/>
                <a:latin typeface="Arial"/>
                <a:ea typeface="DejaVu Sans"/>
              </a:rPr>
              <a:t>→ Less gambline in the finance sector</a:t>
            </a:r>
            <a:endParaRPr b="0" lang="en-GB" sz="1800" strike="noStrike" u="none">
              <a:solidFill>
                <a:srgbClr val="000000"/>
              </a:solidFill>
              <a:effectLst/>
              <a:uFillTx/>
              <a:latin typeface="Arial"/>
            </a:endParaRPr>
          </a:p>
          <a:p>
            <a:pPr marL="216000">
              <a:lnSpc>
                <a:spcPct val="100000"/>
              </a:lnSpc>
              <a:spcBef>
                <a:spcPts val="360"/>
              </a:spcBef>
            </a:pPr>
            <a:r>
              <a:rPr b="0" lang="en-US" sz="1800" strike="noStrike" u="none">
                <a:solidFill>
                  <a:srgbClr val="ffffff"/>
                </a:solidFill>
                <a:effectLst/>
                <a:uFillTx/>
                <a:latin typeface="Arial"/>
                <a:ea typeface="DejaVu Sans"/>
              </a:rPr>
              <a:t>→ Only professional finanance gamblers loose money, nobody else</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0" name="CustomShape 317"/>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81" name="CustomShape 318"/>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Funding (Germany) – Financial Transaction Tax</a:t>
            </a:r>
            <a:endParaRPr b="0" lang="en-GB" sz="2200" strike="noStrike" u="none">
              <a:solidFill>
                <a:srgbClr val="000000"/>
              </a:solidFill>
              <a:effectLst/>
              <a:uFillTx/>
              <a:latin typeface="Arial"/>
            </a:endParaRPr>
          </a:p>
        </p:txBody>
      </p:sp>
      <p:sp>
        <p:nvSpPr>
          <p:cNvPr id="1482" name="CustomShape 319"/>
          <p:cNvSpPr/>
          <p:nvPr/>
        </p:nvSpPr>
        <p:spPr>
          <a:xfrm>
            <a:off x="335520" y="1268280"/>
            <a:ext cx="10634400" cy="5336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Financial transaction tax </a:t>
            </a:r>
            <a:endParaRPr b="0" lang="en-GB" sz="1800" strike="noStrike" u="none">
              <a:solidFill>
                <a:srgbClr val="000000"/>
              </a:solidFill>
              <a:effectLst/>
              <a:uFillTx/>
              <a:latin typeface="Arial"/>
            </a:endParaRPr>
          </a:p>
          <a:p>
            <a:pPr lvl="1" marL="432000" indent="-216000">
              <a:lnSpc>
                <a:spcPct val="100000"/>
              </a:lnSpc>
              <a:spcBef>
                <a:spcPts val="360"/>
              </a:spcBef>
              <a:buClr>
                <a:srgbClr val="000000"/>
              </a:buClr>
              <a:buSzPct val="45000"/>
              <a:buFont typeface="Wingdings" charset="2"/>
              <a:buChar char=""/>
            </a:pPr>
            <a:r>
              <a:rPr b="0" lang="en-US" sz="1800" strike="noStrike" u="none">
                <a:solidFill>
                  <a:srgbClr val="000000"/>
                </a:solidFill>
                <a:effectLst/>
                <a:uFillTx/>
                <a:latin typeface="Arial"/>
                <a:ea typeface="DejaVu Sans"/>
              </a:rPr>
              <a:t>Tax financial transactions (stock exchange, etc. - not everyday transactions, e.g., supermarket)</a:t>
            </a:r>
            <a:endParaRPr b="0" lang="en-GB" sz="1800" strike="noStrike" u="none">
              <a:solidFill>
                <a:srgbClr val="000000"/>
              </a:solidFill>
              <a:effectLst/>
              <a:uFillTx/>
              <a:latin typeface="Arial"/>
            </a:endParaRPr>
          </a:p>
          <a:p>
            <a:pPr lvl="1" marL="432000" indent="-216000">
              <a:lnSpc>
                <a:spcPct val="100000"/>
              </a:lnSpc>
              <a:spcBef>
                <a:spcPts val="360"/>
              </a:spcBef>
              <a:buClr>
                <a:srgbClr val="000000"/>
              </a:buClr>
              <a:buSzPct val="45000"/>
              <a:buFont typeface="Wingdings" charset="2"/>
              <a:buChar char=""/>
            </a:pPr>
            <a:r>
              <a:rPr b="0" lang="en-US" sz="1800" strike="noStrike" u="none">
                <a:solidFill>
                  <a:srgbClr val="000000"/>
                </a:solidFill>
                <a:effectLst/>
                <a:uFillTx/>
                <a:latin typeface="Arial"/>
                <a:ea typeface="DejaVu Sans"/>
              </a:rPr>
              <a:t>Prevent financial market speculation from being more profitable than investments in the real economy.</a:t>
            </a:r>
            <a:endParaRPr b="0" lang="en-GB" sz="1800" strike="noStrike" u="none">
              <a:solidFill>
                <a:srgbClr val="000000"/>
              </a:solidFill>
              <a:effectLst/>
              <a:uFillTx/>
              <a:latin typeface="Arial"/>
            </a:endParaRPr>
          </a:p>
          <a:p>
            <a:pPr marL="216000">
              <a:lnSpc>
                <a:spcPct val="100000"/>
              </a:lnSpc>
              <a:spcBef>
                <a:spcPts val="360"/>
              </a:spcBef>
            </a:pPr>
            <a:r>
              <a:rPr b="0" lang="en-US" sz="1800" strike="noStrike" u="none">
                <a:solidFill>
                  <a:srgbClr val="000000"/>
                </a:solidFill>
                <a:effectLst/>
                <a:uFillTx/>
                <a:latin typeface="Arial"/>
                <a:ea typeface="DejaVu Sans"/>
              </a:rPr>
              <a:t>→ Less gambling in the finance sector</a:t>
            </a:r>
            <a:endParaRPr b="0" lang="en-GB" sz="1800" strike="noStrike" u="none">
              <a:solidFill>
                <a:srgbClr val="000000"/>
              </a:solidFill>
              <a:effectLst/>
              <a:uFillTx/>
              <a:latin typeface="Arial"/>
            </a:endParaRPr>
          </a:p>
          <a:p>
            <a:pPr marL="216000">
              <a:lnSpc>
                <a:spcPct val="100000"/>
              </a:lnSpc>
              <a:spcBef>
                <a:spcPts val="360"/>
              </a:spcBef>
            </a:pPr>
            <a:r>
              <a:rPr b="0" lang="en-US" sz="1800" strike="noStrike" u="none">
                <a:solidFill>
                  <a:srgbClr val="000000"/>
                </a:solidFill>
                <a:effectLst/>
                <a:uFillTx/>
                <a:latin typeface="Arial"/>
                <a:ea typeface="DejaVu Sans"/>
              </a:rPr>
              <a:t>→ Only professional finanance gamblers loose money, nobody else</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3" name="CustomShape 320"/>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84" name="CustomShape 321"/>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Funding (Germany) – Various Other Tax Apporaches</a:t>
            </a:r>
            <a:endParaRPr b="0" lang="en-GB" sz="2200" strike="noStrike" u="none">
              <a:solidFill>
                <a:srgbClr val="000000"/>
              </a:solidFill>
              <a:effectLst/>
              <a:uFillTx/>
              <a:latin typeface="Arial"/>
            </a:endParaRPr>
          </a:p>
        </p:txBody>
      </p:sp>
      <p:sp>
        <p:nvSpPr>
          <p:cNvPr id="1485" name="CustomShape 322"/>
          <p:cNvSpPr/>
          <p:nvPr/>
        </p:nvSpPr>
        <p:spPr>
          <a:xfrm>
            <a:off x="335520" y="1268280"/>
            <a:ext cx="10634400" cy="5336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Negative income tax </a:t>
            </a:r>
            <a:endParaRPr b="0" lang="en-GB" sz="1800" strike="noStrike" u="none">
              <a:solidFill>
                <a:srgbClr val="000000"/>
              </a:solidFill>
              <a:effectLst/>
              <a:uFillTx/>
              <a:latin typeface="Arial"/>
            </a:endParaRPr>
          </a:p>
          <a:p>
            <a:pPr lvl="1" marL="432000" indent="-216000">
              <a:lnSpc>
                <a:spcPct val="100000"/>
              </a:lnSpc>
              <a:spcBef>
                <a:spcPts val="360"/>
              </a:spcBef>
              <a:buClr>
                <a:srgbClr val="000000"/>
              </a:buClr>
              <a:buSzPct val="45000"/>
              <a:buFont typeface="Wingdings" charset="2"/>
              <a:buChar char=""/>
            </a:pPr>
            <a:r>
              <a:rPr b="0" lang="en-US" sz="1800" strike="noStrike" u="none">
                <a:solidFill>
                  <a:srgbClr val="000000"/>
                </a:solidFill>
                <a:effectLst/>
                <a:uFillTx/>
                <a:latin typeface="Arial"/>
                <a:ea typeface="DejaVu Sans"/>
              </a:rPr>
              <a:t>→ Individuals earning below a certain threshold receive supplemental pay from the government instead of paying taxes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Arial"/>
                <a:ea typeface="DejaVu Sans"/>
              </a:rPr>
              <a:t>Taxation of consumption</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Arial"/>
                <a:ea typeface="DejaVu Sans"/>
              </a:rPr>
              <a:t>→ Financed by a value-added tax (VAT), which replaces all other taxes and social security contributions levied to date.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Arial"/>
                <a:ea typeface="DejaVu Sans"/>
              </a:rPr>
              <a:t>Taxation of natural ressources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Arial"/>
                <a:ea typeface="DejaVu Sans"/>
              </a:rPr>
              <a:t>Etc.</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6" name="CustomShape 323"/>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87" name="CustomShape 324"/>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Funding (Germany) – Various Other Tax Apporaches</a:t>
            </a:r>
            <a:endParaRPr b="0" lang="en-GB" sz="2200" strike="noStrike" u="none">
              <a:solidFill>
                <a:srgbClr val="000000"/>
              </a:solidFill>
              <a:effectLst/>
              <a:uFillTx/>
              <a:latin typeface="Arial"/>
            </a:endParaRPr>
          </a:p>
        </p:txBody>
      </p:sp>
      <p:sp>
        <p:nvSpPr>
          <p:cNvPr id="1488" name="CustomShape 325"/>
          <p:cNvSpPr/>
          <p:nvPr/>
        </p:nvSpPr>
        <p:spPr>
          <a:xfrm>
            <a:off x="335520" y="1268280"/>
            <a:ext cx="10634400" cy="5336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Negative income tax </a:t>
            </a:r>
            <a:endParaRPr b="0" lang="en-GB" sz="1800" strike="noStrike" u="none">
              <a:solidFill>
                <a:srgbClr val="000000"/>
              </a:solidFill>
              <a:effectLst/>
              <a:uFillTx/>
              <a:latin typeface="Arial"/>
            </a:endParaRPr>
          </a:p>
          <a:p>
            <a:pPr lvl="1" marL="432000" indent="-216000">
              <a:lnSpc>
                <a:spcPct val="100000"/>
              </a:lnSpc>
              <a:spcBef>
                <a:spcPts val="360"/>
              </a:spcBef>
              <a:buClr>
                <a:srgbClr val="000000"/>
              </a:buClr>
              <a:buSzPct val="45000"/>
              <a:buFont typeface="Wingdings" charset="2"/>
              <a:buChar char=""/>
            </a:pPr>
            <a:r>
              <a:rPr b="0" lang="en-US" sz="1800" strike="noStrike" u="none">
                <a:solidFill>
                  <a:srgbClr val="000000"/>
                </a:solidFill>
                <a:effectLst/>
                <a:uFillTx/>
                <a:latin typeface="Arial"/>
                <a:ea typeface="DejaVu Sans"/>
              </a:rPr>
              <a:t>→ Individuals earning below a certain threshold receive supplemental pay from the government instead of paying taxes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Arial"/>
                <a:ea typeface="DejaVu Sans"/>
              </a:rPr>
              <a:t>Taxation of consumption</a:t>
            </a: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Arial"/>
                <a:ea typeface="DejaVu Sans"/>
              </a:rPr>
              <a:t>→ Financed by a value-added tax (VAT), which replaces all other taxes and social security contributions levied to date.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Arial"/>
                <a:ea typeface="DejaVu Sans"/>
              </a:rPr>
              <a:t>Taxation of natural ressources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a:lnSpc>
                <a:spcPct val="100000"/>
              </a:lnSpc>
              <a:spcBef>
                <a:spcPts val="360"/>
              </a:spcBef>
            </a:pPr>
            <a:r>
              <a:rPr b="0" lang="en-US" sz="1800" strike="noStrike" u="none">
                <a:solidFill>
                  <a:srgbClr val="ffffff"/>
                </a:solidFill>
                <a:effectLst/>
                <a:uFillTx/>
                <a:latin typeface="Arial"/>
                <a:ea typeface="DejaVu Sans"/>
              </a:rPr>
              <a:t>Etc.</a:t>
            </a:r>
            <a:endParaRPr b="0" lang="en-GB" sz="1800" strike="noStrike" u="none">
              <a:solidFill>
                <a:srgbClr val="000000"/>
              </a:solidFill>
              <a:effectLst/>
              <a:uFillTx/>
              <a:latin typeface="Arial"/>
            </a:endParaRPr>
          </a:p>
        </p:txBody>
      </p:sp>
      <p:pic>
        <p:nvPicPr>
          <p:cNvPr id="1489" name="Grafik 6" descr=""/>
          <p:cNvPicPr/>
          <p:nvPr/>
        </p:nvPicPr>
        <p:blipFill>
          <a:blip r:embed="rId1"/>
          <a:stretch/>
        </p:blipFill>
        <p:spPr>
          <a:xfrm>
            <a:off x="5760000" y="3113640"/>
            <a:ext cx="4544280" cy="3364560"/>
          </a:xfrm>
          <a:prstGeom prst="rect">
            <a:avLst/>
          </a:prstGeom>
          <a:noFill/>
          <a:ln w="72000">
            <a:noFill/>
          </a:ln>
        </p:spPr>
      </p:pic>
      <p:sp>
        <p:nvSpPr>
          <p:cNvPr id="1490" name="CustomShape 326"/>
          <p:cNvSpPr/>
          <p:nvPr/>
        </p:nvSpPr>
        <p:spPr>
          <a:xfrm>
            <a:off x="263520" y="6433200"/>
            <a:ext cx="10782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Figure adapted from Frank Murmann - https://de.wikipedia.org/wiki/Datei:Negative_Einkommenssteuer.svg</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1" name="CustomShape 327"/>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92" name="CustomShape 328"/>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Funding (Germany) – Various Other Tax Apporaches</a:t>
            </a:r>
            <a:endParaRPr b="0" lang="en-GB" sz="2200" strike="noStrike" u="none">
              <a:solidFill>
                <a:srgbClr val="000000"/>
              </a:solidFill>
              <a:effectLst/>
              <a:uFillTx/>
              <a:latin typeface="Arial"/>
            </a:endParaRPr>
          </a:p>
        </p:txBody>
      </p:sp>
      <p:sp>
        <p:nvSpPr>
          <p:cNvPr id="1493" name="CustomShape 329"/>
          <p:cNvSpPr/>
          <p:nvPr/>
        </p:nvSpPr>
        <p:spPr>
          <a:xfrm>
            <a:off x="335520" y="1268280"/>
            <a:ext cx="10634400" cy="533628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Negative income tax </a:t>
            </a:r>
            <a:endParaRPr b="0" lang="en-GB" sz="1800" strike="noStrike" u="none">
              <a:solidFill>
                <a:srgbClr val="000000"/>
              </a:solidFill>
              <a:effectLst/>
              <a:uFillTx/>
              <a:latin typeface="Arial"/>
            </a:endParaRPr>
          </a:p>
          <a:p>
            <a:pPr lvl="1" marL="432000" indent="-216000">
              <a:lnSpc>
                <a:spcPct val="100000"/>
              </a:lnSpc>
              <a:spcBef>
                <a:spcPts val="360"/>
              </a:spcBef>
              <a:buClr>
                <a:srgbClr val="000000"/>
              </a:buClr>
              <a:buSzPct val="45000"/>
              <a:buFont typeface="Wingdings" charset="2"/>
              <a:buChar char=""/>
            </a:pPr>
            <a:r>
              <a:rPr b="0" lang="en-US" sz="1800" strike="noStrike" u="none">
                <a:solidFill>
                  <a:srgbClr val="000000"/>
                </a:solidFill>
                <a:effectLst/>
                <a:uFillTx/>
                <a:latin typeface="Arial"/>
                <a:ea typeface="DejaVu Sans"/>
              </a:rPr>
              <a:t>→ Individuals earning below a certain threshold receive supplemental pay from the government instead of paying taxes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Taxation of consumption</a:t>
            </a:r>
            <a:endParaRPr b="0" lang="en-GB" sz="1800" strike="noStrike" u="none">
              <a:solidFill>
                <a:srgbClr val="000000"/>
              </a:solidFill>
              <a:effectLst/>
              <a:uFillTx/>
              <a:latin typeface="Arial"/>
            </a:endParaRPr>
          </a:p>
          <a:p>
            <a:pPr lvl="1" marL="432000" indent="-216000">
              <a:lnSpc>
                <a:spcPct val="100000"/>
              </a:lnSpc>
              <a:spcBef>
                <a:spcPts val="360"/>
              </a:spcBef>
              <a:buClr>
                <a:srgbClr val="000000"/>
              </a:buClr>
              <a:buSzPct val="45000"/>
              <a:buFont typeface="Wingdings" charset="2"/>
              <a:buChar char=""/>
            </a:pPr>
            <a:r>
              <a:rPr b="0" lang="en-US" sz="1800" strike="noStrike" u="none">
                <a:solidFill>
                  <a:srgbClr val="000000"/>
                </a:solidFill>
                <a:effectLst/>
                <a:uFillTx/>
                <a:latin typeface="Arial"/>
                <a:ea typeface="DejaVu Sans"/>
              </a:rPr>
              <a:t>→ Financed by a value-added tax (VAT), which replaces all other taxes and social security contributions levied to date.</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Taxation of natural ressources</a:t>
            </a:r>
            <a:endParaRPr b="0" lang="en-GB" sz="1800" strike="noStrike" u="none">
              <a:solidFill>
                <a:srgbClr val="000000"/>
              </a:solidFill>
              <a:effectLst/>
              <a:uFillTx/>
              <a:latin typeface="Arial"/>
            </a:endParaRPr>
          </a:p>
          <a:p>
            <a:pPr>
              <a:lnSpc>
                <a:spcPct val="100000"/>
              </a:lnSpc>
              <a:spcBef>
                <a:spcPts val="360"/>
              </a:spcBef>
            </a:pPr>
            <a:endParaRPr b="0" lang="en-GB" sz="1800" strike="noStrike" u="none">
              <a:solidFill>
                <a:srgbClr val="000000"/>
              </a:solidFill>
              <a:effectLst/>
              <a:uFillTx/>
              <a:latin typeface="Arial"/>
            </a:endParaRPr>
          </a:p>
          <a:p>
            <a:pPr marL="216000" indent="-207720">
              <a:lnSpc>
                <a:spcPct val="100000"/>
              </a:lnSpc>
              <a:spcBef>
                <a:spcPts val="360"/>
              </a:spcBef>
              <a:buClr>
                <a:srgbClr val="008c4f"/>
              </a:buClr>
              <a:buSzPct val="45000"/>
              <a:buFont typeface="OpenSymbol"/>
              <a:buChar char="■"/>
            </a:pPr>
            <a:r>
              <a:rPr b="0" lang="en-US" sz="1800" strike="noStrike" u="none">
                <a:solidFill>
                  <a:srgbClr val="000000"/>
                </a:solidFill>
                <a:effectLst/>
                <a:uFillTx/>
                <a:latin typeface="Arial"/>
                <a:ea typeface="DejaVu Sans"/>
              </a:rPr>
              <a:t>Etc.</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4" name="CustomShape 330"/>
          <p:cNvSpPr/>
          <p:nvPr/>
        </p:nvSpPr>
        <p:spPr>
          <a:xfrm>
            <a:off x="335520" y="764640"/>
            <a:ext cx="10725840" cy="476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trike="noStrike" u="none">
                <a:solidFill>
                  <a:srgbClr val="000000"/>
                </a:solidFill>
                <a:effectLst/>
                <a:uFillTx/>
                <a:latin typeface="DejaVu Sans"/>
                <a:ea typeface="DejaVu Sans"/>
              </a:rPr>
              <a:t>Universal Basic Income</a:t>
            </a:r>
            <a:endParaRPr b="0" lang="en-GB" sz="2400" strike="noStrike" u="none">
              <a:solidFill>
                <a:srgbClr val="000000"/>
              </a:solidFill>
              <a:effectLst/>
              <a:uFillTx/>
              <a:latin typeface="Arial"/>
            </a:endParaRPr>
          </a:p>
        </p:txBody>
      </p:sp>
      <p:sp>
        <p:nvSpPr>
          <p:cNvPr id="1495" name="CustomShape 331"/>
          <p:cNvSpPr/>
          <p:nvPr/>
        </p:nvSpPr>
        <p:spPr>
          <a:xfrm>
            <a:off x="432720" y="1148040"/>
            <a:ext cx="10331280" cy="47196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en-US" sz="2200" strike="noStrike" u="none">
                <a:solidFill>
                  <a:srgbClr val="666666"/>
                </a:solidFill>
                <a:effectLst/>
                <a:uFillTx/>
                <a:latin typeface="DejaVu Sans"/>
                <a:ea typeface="DejaVu Sans"/>
              </a:rPr>
              <a:t>UBI Raffle – Get a UBI for Free</a:t>
            </a:r>
            <a:endParaRPr b="0" lang="en-GB" sz="2200" strike="noStrike" u="none">
              <a:solidFill>
                <a:srgbClr val="000000"/>
              </a:solidFill>
              <a:effectLst/>
              <a:uFillTx/>
              <a:latin typeface="Arial"/>
            </a:endParaRPr>
          </a:p>
        </p:txBody>
      </p:sp>
      <p:pic>
        <p:nvPicPr>
          <p:cNvPr id="1496" name="Grafik 7" descr=""/>
          <p:cNvPicPr/>
          <p:nvPr/>
        </p:nvPicPr>
        <p:blipFill>
          <a:blip r:embed="rId1"/>
          <a:stretch/>
        </p:blipFill>
        <p:spPr>
          <a:xfrm>
            <a:off x="5760000" y="567360"/>
            <a:ext cx="5413680" cy="5910480"/>
          </a:xfrm>
          <a:prstGeom prst="rect">
            <a:avLst/>
          </a:prstGeom>
          <a:noFill/>
          <a:ln w="0">
            <a:noFill/>
          </a:ln>
        </p:spPr>
      </p:pic>
      <p:sp>
        <p:nvSpPr>
          <p:cNvPr id="1497" name="CustomShape 332"/>
          <p:cNvSpPr/>
          <p:nvPr/>
        </p:nvSpPr>
        <p:spPr>
          <a:xfrm>
            <a:off x="263520" y="6433200"/>
            <a:ext cx="10782360" cy="226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900" strike="noStrike" u="none">
                <a:solidFill>
                  <a:srgbClr val="a6a6a6"/>
                </a:solidFill>
                <a:effectLst/>
                <a:uFillTx/>
                <a:latin typeface="DejaVu Sans"/>
                <a:ea typeface="Roboto"/>
              </a:rPr>
              <a:t>https://www.mein-grundeinkommen.de</a:t>
            </a:r>
            <a:endParaRPr b="0" lang="en-GB"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8" name="CustomShape 337"/>
          <p:cNvSpPr/>
          <p:nvPr/>
        </p:nvSpPr>
        <p:spPr>
          <a:xfrm>
            <a:off x="335520" y="4406760"/>
            <a:ext cx="10722600" cy="133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3000" strike="noStrike" u="none" cap="all">
                <a:solidFill>
                  <a:srgbClr val="008c4f"/>
                </a:solidFill>
                <a:effectLst/>
                <a:uFillTx/>
                <a:latin typeface="Arial Unicode MS"/>
                <a:ea typeface="DejaVu Sans"/>
              </a:rPr>
              <a:t>Conclusion</a:t>
            </a:r>
            <a:endParaRPr b="0" lang="en-GB" sz="3000" strike="noStrike" u="none">
              <a:solidFill>
                <a:srgbClr val="000000"/>
              </a:solidFill>
              <a:effectLst/>
              <a:uFillTx/>
              <a:latin typeface="Arial"/>
            </a:endParaRPr>
          </a:p>
        </p:txBody>
      </p:sp>
      <p:sp>
        <p:nvSpPr>
          <p:cNvPr id="1499" name="CustomShape 338"/>
          <p:cNvSpPr/>
          <p:nvPr/>
        </p:nvSpPr>
        <p:spPr>
          <a:xfrm>
            <a:off x="335520" y="2906640"/>
            <a:ext cx="10722600" cy="1469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0" name="CustomShape 339"/>
          <p:cNvSpPr/>
          <p:nvPr/>
        </p:nvSpPr>
        <p:spPr>
          <a:xfrm>
            <a:off x="335520" y="764640"/>
            <a:ext cx="10722960" cy="473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Conclusion</a:t>
            </a:r>
            <a:endParaRPr b="0" lang="en-GB" sz="2400" strike="noStrike" u="none">
              <a:solidFill>
                <a:srgbClr val="000000"/>
              </a:solidFill>
              <a:effectLst/>
              <a:uFillTx/>
              <a:latin typeface="Arial"/>
            </a:endParaRPr>
          </a:p>
        </p:txBody>
      </p:sp>
      <p:sp>
        <p:nvSpPr>
          <p:cNvPr id="1501" name="CustomShape 340"/>
          <p:cNvSpPr/>
          <p:nvPr/>
        </p:nvSpPr>
        <p:spPr>
          <a:xfrm>
            <a:off x="335520" y="1268640"/>
            <a:ext cx="10722960" cy="5010480"/>
          </a:xfrm>
          <a:prstGeom prst="rect">
            <a:avLst/>
          </a:prstGeom>
          <a:noFill/>
          <a:ln w="0">
            <a:noFill/>
          </a:ln>
        </p:spPr>
        <p:style>
          <a:lnRef idx="0"/>
          <a:fillRef idx="0"/>
          <a:effectRef idx="0"/>
          <a:fontRef idx="minor"/>
        </p:style>
        <p:txBody>
          <a:bodyPr lIns="90000" rIns="90000" tIns="45000" bIns="45000" anchor="ctr">
            <a:noAutofit/>
          </a:bodyPr>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Everyone receives a minimum income in the form of an unconditional transfer payment → no strings attached | no extra conditions (e.g., work, etc.)</a:t>
            </a:r>
            <a:endParaRPr b="0" lang="en-GB" sz="1800" strike="noStrike" u="none">
              <a:solidFill>
                <a:srgbClr val="000000"/>
              </a:solidFill>
              <a:effectLst/>
              <a:uFillTx/>
              <a:latin typeface="Arial"/>
            </a:endParaRPr>
          </a:p>
          <a:p>
            <a:pPr lvl="1" marL="432000" indent="-216000">
              <a:lnSpc>
                <a:spcPct val="100000"/>
              </a:lnSpc>
              <a:spcBef>
                <a:spcPts val="360"/>
              </a:spcBef>
              <a:buClr>
                <a:srgbClr val="008c4f"/>
              </a:buClr>
              <a:buSzPct val="45000"/>
              <a:buFont typeface="OpenSymbol"/>
              <a:buChar char="—"/>
            </a:pPr>
            <a:r>
              <a:rPr b="0" lang="en-GB" sz="1800" strike="noStrike" u="none">
                <a:solidFill>
                  <a:srgbClr val="000000"/>
                </a:solidFill>
                <a:effectLst/>
                <a:uFillTx/>
                <a:latin typeface="DejaVu Sans"/>
                <a:ea typeface="DejaVu Sans"/>
              </a:rPr>
              <a:t>Different forms, e.g.: Guaranteed minimum income vs. Universal basic income (full | partial)</a:t>
            </a:r>
            <a:endParaRPr b="0" lang="en-GB" sz="1800" strike="noStrike" u="none">
              <a:solidFill>
                <a:srgbClr val="000000"/>
              </a:solidFill>
              <a:effectLst/>
              <a:uFillTx/>
              <a:latin typeface="Arial"/>
            </a:endParaRPr>
          </a:p>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UBI funding is challenging, various approaches have been discussed</a:t>
            </a:r>
            <a:endParaRPr b="0" lang="en-GB" sz="1800" strike="noStrike" u="none">
              <a:solidFill>
                <a:srgbClr val="000000"/>
              </a:solidFill>
              <a:effectLst/>
              <a:uFillTx/>
              <a:latin typeface="Arial"/>
            </a:endParaRPr>
          </a:p>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Currently not implemented by any country</a:t>
            </a:r>
            <a:endParaRPr b="0" lang="en-GB" sz="1800" strike="noStrike" u="none">
              <a:solidFill>
                <a:srgbClr val="000000"/>
              </a:solidFill>
              <a:effectLst/>
              <a:uFillTx/>
              <a:latin typeface="Arial"/>
            </a:endParaRPr>
          </a:p>
          <a:p>
            <a:pPr marL="195120" indent="-174600">
              <a:lnSpc>
                <a:spcPct val="100000"/>
              </a:lnSpc>
              <a:spcBef>
                <a:spcPts val="360"/>
              </a:spcBef>
              <a:buClr>
                <a:srgbClr val="008c4f"/>
              </a:buClr>
              <a:buSzPct val="80000"/>
              <a:buFont typeface="Wingdings" charset="2"/>
              <a:buChar char=""/>
            </a:pPr>
            <a:r>
              <a:rPr b="0" lang="en-GB" sz="1800" strike="noStrike" u="none">
                <a:solidFill>
                  <a:srgbClr val="000000"/>
                </a:solidFill>
                <a:effectLst/>
                <a:uFillTx/>
                <a:latin typeface="DejaVu Sans"/>
                <a:ea typeface="DejaVu Sans"/>
              </a:rPr>
              <a:t>Several small-scale pilots and a few large-scale experiments have been conducted or are still being conducted</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2" name="CustomShape 341"/>
          <p:cNvSpPr/>
          <p:nvPr/>
        </p:nvSpPr>
        <p:spPr>
          <a:xfrm>
            <a:off x="335520" y="764640"/>
            <a:ext cx="10731960" cy="482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GB" sz="2400" strike="noStrike" u="none">
                <a:solidFill>
                  <a:srgbClr val="000000"/>
                </a:solidFill>
                <a:effectLst/>
                <a:uFillTx/>
                <a:latin typeface="DejaVu Sans"/>
                <a:ea typeface="DejaVu Sans"/>
              </a:rPr>
              <a:t>Additional Resources</a:t>
            </a:r>
            <a:endParaRPr b="0" lang="en-GB" sz="2400" strike="noStrike" u="none">
              <a:solidFill>
                <a:srgbClr val="000000"/>
              </a:solidFill>
              <a:effectLst/>
              <a:uFillTx/>
              <a:latin typeface="Arial"/>
            </a:endParaRPr>
          </a:p>
        </p:txBody>
      </p:sp>
      <p:sp>
        <p:nvSpPr>
          <p:cNvPr id="1503" name="CustomShape 342"/>
          <p:cNvSpPr/>
          <p:nvPr/>
        </p:nvSpPr>
        <p:spPr>
          <a:xfrm>
            <a:off x="335520" y="1268640"/>
            <a:ext cx="10731960" cy="5019480"/>
          </a:xfrm>
          <a:prstGeom prst="rect">
            <a:avLst/>
          </a:prstGeom>
          <a:noFill/>
          <a:ln w="0">
            <a:noFill/>
          </a:ln>
        </p:spPr>
        <p:style>
          <a:lnRef idx="0"/>
          <a:fillRef idx="0"/>
          <a:effectRef idx="0"/>
          <a:fontRef idx="minor"/>
        </p:style>
        <p:txBody>
          <a:bodyPr lIns="90000" rIns="90000" tIns="45000" bIns="45000" anchor="ctr">
            <a:noAutofit/>
          </a:bodyPr>
          <a:p>
            <a:pPr marL="195120" indent="-186840">
              <a:lnSpc>
                <a:spcPct val="100000"/>
              </a:lnSpc>
              <a:spcBef>
                <a:spcPts val="360"/>
              </a:spcBef>
              <a:buClr>
                <a:srgbClr val="008c4f"/>
              </a:buClr>
              <a:buSzPct val="115000"/>
              <a:buFont typeface="Wingdings" charset="2"/>
              <a:buChar char=""/>
            </a:pPr>
            <a:r>
              <a:rPr b="0" lang="en-GB" sz="1800" strike="noStrike" u="none">
                <a:solidFill>
                  <a:srgbClr val="000000"/>
                </a:solidFill>
                <a:effectLst/>
                <a:uFillTx/>
                <a:latin typeface="DejaVu Sans"/>
                <a:ea typeface="DejaVu Sans"/>
              </a:rPr>
              <a:t>Manfred Folkers, Niko Paech (2020) – All you need is less</a:t>
            </a:r>
            <a:endParaRPr b="0" lang="en-GB" sz="1800" strike="noStrike" u="none">
              <a:solidFill>
                <a:srgbClr val="000000"/>
              </a:solidFill>
              <a:effectLst/>
              <a:uFillTx/>
              <a:latin typeface="Arial"/>
            </a:endParaRPr>
          </a:p>
          <a:p>
            <a:pPr marL="195120" indent="-186840">
              <a:lnSpc>
                <a:spcPct val="100000"/>
              </a:lnSpc>
              <a:spcBef>
                <a:spcPts val="360"/>
              </a:spcBef>
              <a:buClr>
                <a:srgbClr val="008c4f"/>
              </a:buClr>
              <a:buSzPct val="115000"/>
              <a:buFont typeface="Wingdings" charset="2"/>
              <a:buChar char=""/>
            </a:pPr>
            <a:r>
              <a:rPr b="0" lang="en-GB" sz="1800" strike="noStrike" u="none">
                <a:solidFill>
                  <a:srgbClr val="000000"/>
                </a:solidFill>
                <a:effectLst/>
                <a:uFillTx/>
                <a:latin typeface="DejaVu Sans"/>
                <a:ea typeface="DejaVu Sans"/>
              </a:rPr>
              <a:t>Christian Felber (2010) - Die Gemeinwohl-Ökonomie – Das Wirtschaftsmodell der Zukunft</a:t>
            </a:r>
            <a:endParaRPr b="0" lang="en-GB" sz="1800" strike="noStrike" u="none">
              <a:solidFill>
                <a:srgbClr val="000000"/>
              </a:solidFill>
              <a:effectLst/>
              <a:uFillTx/>
              <a:latin typeface="Arial"/>
            </a:endParaRPr>
          </a:p>
          <a:p>
            <a:pPr marL="195120" indent="-186840">
              <a:lnSpc>
                <a:spcPct val="100000"/>
              </a:lnSpc>
              <a:spcBef>
                <a:spcPts val="360"/>
              </a:spcBef>
              <a:buClr>
                <a:srgbClr val="008c4f"/>
              </a:buClr>
              <a:buSzPct val="115000"/>
              <a:buFont typeface="Wingdings" charset="2"/>
              <a:buChar char=""/>
            </a:pPr>
            <a:r>
              <a:rPr b="0" lang="en-GB" sz="1800" strike="noStrike" u="none">
                <a:solidFill>
                  <a:srgbClr val="000000"/>
                </a:solidFill>
                <a:effectLst/>
                <a:uFillTx/>
                <a:latin typeface="DejaVu Sans"/>
                <a:ea typeface="DejaVu Sans"/>
              </a:rPr>
              <a:t>Christian Felber, Gus Hagelberg (2017) – The Economy for the Common Good: A Workbable, Transformative Ethics-Based Alternative – </a:t>
            </a:r>
            <a:r>
              <a:rPr b="0" lang="en-GB" sz="1800" strike="noStrike" u="sng">
                <a:solidFill>
                  <a:srgbClr val="0000ff"/>
                </a:solidFill>
                <a:effectLst/>
                <a:uFillTx/>
                <a:latin typeface="DejaVu Sans"/>
                <a:ea typeface="DejaVu Sans"/>
                <a:hlinkClick r:id="rId1"/>
              </a:rPr>
              <a:t>Link</a:t>
            </a: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a:p>
            <a:pPr marL="195120" indent="-186840">
              <a:lnSpc>
                <a:spcPct val="100000"/>
              </a:lnSpc>
              <a:spcBef>
                <a:spcPts val="360"/>
              </a:spcBef>
              <a:buClr>
                <a:srgbClr val="008c4f"/>
              </a:buClr>
              <a:buSzPct val="115000"/>
              <a:buFont typeface="Wingdings" charset="2"/>
              <a:buChar char=""/>
            </a:pPr>
            <a:r>
              <a:rPr b="0" lang="en-GB" sz="1800" strike="noStrike" u="none">
                <a:solidFill>
                  <a:srgbClr val="000000"/>
                </a:solidFill>
                <a:effectLst/>
                <a:uFillTx/>
                <a:latin typeface="DejaVu Sans"/>
                <a:ea typeface="DejaVu Sans"/>
              </a:rPr>
              <a:t>Rutger Bregman (2017) – Utopia for Realists: And How We Can Get There</a:t>
            </a:r>
            <a:endParaRPr b="0" lang="en-GB" sz="1800" strike="noStrike" u="none">
              <a:solidFill>
                <a:srgbClr val="000000"/>
              </a:solidFill>
              <a:effectLst/>
              <a:uFillTx/>
              <a:latin typeface="Arial"/>
            </a:endParaRPr>
          </a:p>
          <a:p>
            <a:pPr marL="195120" indent="-186840">
              <a:lnSpc>
                <a:spcPct val="100000"/>
              </a:lnSpc>
              <a:spcBef>
                <a:spcPts val="360"/>
              </a:spcBef>
              <a:buClr>
                <a:srgbClr val="008c4f"/>
              </a:buClr>
              <a:buSzPct val="115000"/>
              <a:buFont typeface="Wingdings" charset="2"/>
              <a:buChar char=""/>
            </a:pPr>
            <a:r>
              <a:rPr b="0" lang="en-GB" sz="1800" strike="noStrike" u="none">
                <a:solidFill>
                  <a:srgbClr val="000000"/>
                </a:solidFill>
                <a:effectLst/>
                <a:uFillTx/>
                <a:latin typeface="DejaVu Sans"/>
                <a:ea typeface="DejaVu Sans"/>
              </a:rPr>
              <a:t>Mein Grund Einkommen (Berlin based non-profit organization) – </a:t>
            </a:r>
            <a:r>
              <a:rPr b="0" lang="en-GB" sz="1800" strike="noStrike" u="sng">
                <a:solidFill>
                  <a:srgbClr val="0000ff"/>
                </a:solidFill>
                <a:effectLst/>
                <a:uFillTx/>
                <a:latin typeface="DejaVu Sans"/>
                <a:ea typeface="DejaVu Sans"/>
                <a:hlinkClick r:id="rId2"/>
              </a:rPr>
              <a:t>Link</a:t>
            </a:r>
            <a:endParaRPr b="0" lang="en-GB" sz="1800" strike="noStrike" u="none">
              <a:solidFill>
                <a:srgbClr val="000000"/>
              </a:solidFill>
              <a:effectLst/>
              <a:uFillTx/>
              <a:latin typeface="Arial"/>
            </a:endParaRPr>
          </a:p>
          <a:p>
            <a:pPr marL="195120" indent="-186840">
              <a:lnSpc>
                <a:spcPct val="100000"/>
              </a:lnSpc>
              <a:spcBef>
                <a:spcPts val="360"/>
              </a:spcBef>
              <a:buClr>
                <a:srgbClr val="008c4f"/>
              </a:buClr>
              <a:buSzPct val="115000"/>
              <a:buFont typeface="Wingdings" charset="2"/>
              <a:buChar char=""/>
            </a:pPr>
            <a:r>
              <a:rPr b="0" lang="en-US" sz="1800" strike="noStrike" u="none">
                <a:solidFill>
                  <a:srgbClr val="000000"/>
                </a:solidFill>
                <a:effectLst/>
                <a:uFillTx/>
                <a:latin typeface="DejaVu Sans"/>
                <a:ea typeface="DejaVu Sans"/>
              </a:rPr>
              <a:t>David Graeber. </a:t>
            </a:r>
            <a:r>
              <a:rPr b="0" i="1" lang="en-US" sz="1800" strike="noStrike" u="none">
                <a:solidFill>
                  <a:srgbClr val="000000"/>
                </a:solidFill>
                <a:effectLst/>
                <a:uFillTx/>
                <a:latin typeface="DejaVu Sans"/>
                <a:ea typeface="DejaVu Sans"/>
              </a:rPr>
              <a:t>Debt: The First 5000 Years</a:t>
            </a:r>
            <a:r>
              <a:rPr b="0" lang="en-US" sz="1800" strike="noStrike" u="none">
                <a:solidFill>
                  <a:srgbClr val="000000"/>
                </a:solidFill>
                <a:effectLst/>
                <a:uFillTx/>
                <a:latin typeface="DejaVu Sans"/>
                <a:ea typeface="DejaVu Sans"/>
              </a:rPr>
              <a:t> (2011).</a:t>
            </a:r>
            <a:endParaRPr b="0" lang="en-GB" sz="1800" strike="noStrike" u="none">
              <a:solidFill>
                <a:srgbClr val="000000"/>
              </a:solidFill>
              <a:effectLst/>
              <a:uFillTx/>
              <a:latin typeface="Arial"/>
            </a:endParaRPr>
          </a:p>
          <a:p>
            <a:pPr marL="195120" indent="-186840">
              <a:lnSpc>
                <a:spcPct val="100000"/>
              </a:lnSpc>
              <a:spcBef>
                <a:spcPts val="360"/>
              </a:spcBef>
              <a:buClr>
                <a:srgbClr val="008c4f"/>
              </a:buClr>
              <a:buSzPct val="115000"/>
              <a:buFont typeface="Wingdings" charset="2"/>
              <a:buChar char=""/>
            </a:pPr>
            <a:r>
              <a:rPr b="0" lang="en-US" sz="1800" strike="noStrike" u="none">
                <a:solidFill>
                  <a:srgbClr val="000000"/>
                </a:solidFill>
                <a:effectLst/>
                <a:uFillTx/>
                <a:latin typeface="DejaVu Sans"/>
                <a:ea typeface="DejaVu Sans"/>
              </a:rPr>
              <a:t>David Graeber. On the Phenomenon of Bullshit Jobs – Essay (2013) – </a:t>
            </a:r>
            <a:r>
              <a:rPr b="0" lang="en-US" sz="1800" strike="noStrike" u="sng">
                <a:solidFill>
                  <a:srgbClr val="0000ff"/>
                </a:solidFill>
                <a:effectLst/>
                <a:uFillTx/>
                <a:latin typeface="DejaVu Sans"/>
                <a:ea typeface="DejaVu Sans"/>
                <a:hlinkClick r:id="rId3"/>
              </a:rPr>
              <a:t>Link</a:t>
            </a:r>
            <a:r>
              <a:rPr b="0" lang="en-US" sz="1800" strike="noStrike" u="none">
                <a:solidFill>
                  <a:srgbClr val="000000"/>
                </a:solidFill>
                <a:effectLst/>
                <a:uFillTx/>
                <a:latin typeface="DejaVu Sans"/>
                <a:ea typeface="DejaVu Sans"/>
              </a:rPr>
              <a:t>.</a:t>
            </a:r>
            <a:endParaRPr b="0" lang="en-GB" sz="1800" strike="noStrike" u="none">
              <a:solidFill>
                <a:srgbClr val="000000"/>
              </a:solidFill>
              <a:effectLst/>
              <a:uFillTx/>
              <a:latin typeface="Arial"/>
            </a:endParaRPr>
          </a:p>
          <a:p>
            <a:pPr marL="195120" indent="-186840">
              <a:lnSpc>
                <a:spcPct val="100000"/>
              </a:lnSpc>
              <a:spcBef>
                <a:spcPts val="360"/>
              </a:spcBef>
              <a:buClr>
                <a:srgbClr val="008c4f"/>
              </a:buClr>
              <a:buSzPct val="115000"/>
              <a:buFont typeface="Wingdings" charset="2"/>
              <a:buChar char=""/>
            </a:pPr>
            <a:r>
              <a:rPr b="0" lang="en-US" sz="1800" strike="noStrike" u="none">
                <a:solidFill>
                  <a:srgbClr val="000000"/>
                </a:solidFill>
                <a:effectLst/>
                <a:uFillTx/>
                <a:latin typeface="DejaVu Sans"/>
                <a:ea typeface="DejaVu Sans"/>
              </a:rPr>
              <a:t>David Graeber. </a:t>
            </a:r>
            <a:r>
              <a:rPr b="0" i="1" lang="en-US" sz="1800" strike="noStrike" u="none">
                <a:solidFill>
                  <a:srgbClr val="000000"/>
                </a:solidFill>
                <a:effectLst/>
                <a:uFillTx/>
                <a:latin typeface="DejaVu Sans"/>
                <a:ea typeface="DejaVu Sans"/>
              </a:rPr>
              <a:t>Bullshit Jobs</a:t>
            </a:r>
            <a:r>
              <a:rPr b="0" lang="en-US" sz="1800" strike="noStrike" u="none">
                <a:solidFill>
                  <a:srgbClr val="000000"/>
                </a:solidFill>
                <a:effectLst/>
                <a:uFillTx/>
                <a:latin typeface="DejaVu Sans"/>
                <a:ea typeface="DejaVu Sans"/>
              </a:rPr>
              <a:t> – Book (2018).</a:t>
            </a:r>
            <a:r>
              <a:rPr b="0" lang="en-GB" sz="1800" strike="noStrike" u="none">
                <a:solidFill>
                  <a:srgbClr val="000000"/>
                </a:solidFill>
                <a:effectLst/>
                <a:uFillTx/>
                <a:latin typeface="DejaVu Sans"/>
                <a:ea typeface="DejaVu Sans"/>
              </a:rPr>
              <a:t> </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4" name="CustomShape 343"/>
          <p:cNvSpPr/>
          <p:nvPr/>
        </p:nvSpPr>
        <p:spPr>
          <a:xfrm>
            <a:off x="335520" y="1268640"/>
            <a:ext cx="10724400" cy="5011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799"/>
              </a:spcBef>
              <a:tabLst>
                <a:tab algn="l" pos="0"/>
              </a:tabLst>
            </a:pPr>
            <a:r>
              <a:rPr b="1" lang="en-GB" sz="4000" strike="noStrike" u="none">
                <a:solidFill>
                  <a:srgbClr val="000000"/>
                </a:solidFill>
                <a:effectLst/>
                <a:uFillTx/>
                <a:latin typeface="DejaVu Sans"/>
                <a:ea typeface="DejaVu Sans"/>
              </a:rPr>
              <a:t>Questions?</a:t>
            </a:r>
            <a:endParaRPr b="0" lang="en-GB" sz="4000" strike="noStrike" u="none">
              <a:solidFill>
                <a:srgbClr val="000000"/>
              </a:solidFill>
              <a:effectLst/>
              <a:uFillTx/>
              <a:latin typeface="Arial"/>
            </a:endParaRPr>
          </a:p>
        </p:txBody>
      </p:sp>
      <p:sp>
        <p:nvSpPr>
          <p:cNvPr id="1505" name="CustomShape 344"/>
          <p:cNvSpPr/>
          <p:nvPr/>
        </p:nvSpPr>
        <p:spPr>
          <a:xfrm>
            <a:off x="335520" y="764640"/>
            <a:ext cx="10724400" cy="475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LibreOffice/25.2.7.2$Linux_X86_64 LibreOffice_project/520$Build-2</Application>
  <AppVersion>15.0000</AppVersion>
  <Words>4787</Words>
  <Paragraphs>485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2013-05-21T09:22:36Z</dcterms:created>
  <dc:creator>Hooby</dc:creator>
  <dc:description/>
  <dc:language>en-US</dc:language>
  <cp:lastModifiedBy>Benjamin Leiding</cp:lastModifiedBy>
  <cp:lastPrinted>2025-01-13T22:06:01Z</cp:lastPrinted>
  <dcterms:modified xsi:type="dcterms:W3CDTF">2026-01-12T08:23:21Z</dcterms:modified>
  <cp:revision>4009</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1</vt:i4>
  </property>
  <property fmtid="{D5CDD505-2E9C-101B-9397-08002B2CF9AE}" pid="7" name="PresentationFormat">
    <vt:lpwstr>Widescreen</vt:lpwstr>
  </property>
  <property fmtid="{D5CDD505-2E9C-101B-9397-08002B2CF9AE}" pid="8" name="ScaleCrop">
    <vt:bool>0</vt:bool>
  </property>
  <property fmtid="{D5CDD505-2E9C-101B-9397-08002B2CF9AE}" pid="9" name="ShareDoc">
    <vt:bool>0</vt:bool>
  </property>
  <property fmtid="{D5CDD505-2E9C-101B-9397-08002B2CF9AE}" pid="10" name="Slides">
    <vt:i4>57</vt:i4>
  </property>
</Properties>
</file>