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11444760" y="0"/>
            <a:ext cx="722880" cy="68317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" name="CustomShape 2"/>
          <p:cNvSpPr/>
          <p:nvPr/>
        </p:nvSpPr>
        <p:spPr>
          <a:xfrm>
            <a:off x="11438640" y="6453360"/>
            <a:ext cx="739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18819702-63B3-47A1-86E2-1244560A49ED}" type="slidenum">
              <a:rPr b="0" lang="en-US" sz="1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CustomShape 3"/>
          <p:cNvSpPr/>
          <p:nvPr/>
        </p:nvSpPr>
        <p:spPr>
          <a:xfrm>
            <a:off x="912240" y="1268280"/>
            <a:ext cx="918972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3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3720" cy="543600"/>
          </a:xfrm>
          <a:prstGeom prst="rect">
            <a:avLst/>
          </a:prstGeom>
          <a:ln w="0">
            <a:noFill/>
          </a:ln>
        </p:spPr>
      </p:pic>
      <p:pic>
        <p:nvPicPr>
          <p:cNvPr id="4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79560" cy="495720"/>
          </a:xfrm>
          <a:prstGeom prst="rect">
            <a:avLst/>
          </a:prstGeom>
          <a:ln w="0">
            <a:noFill/>
          </a:ln>
        </p:spPr>
      </p:pic>
      <p:sp>
        <p:nvSpPr>
          <p:cNvPr id="5" name="CustomShape 4"/>
          <p:cNvSpPr/>
          <p:nvPr/>
        </p:nvSpPr>
        <p:spPr>
          <a:xfrm>
            <a:off x="912240" y="1268280"/>
            <a:ext cx="918972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" name="CustomShape 5"/>
          <p:cNvSpPr/>
          <p:nvPr/>
        </p:nvSpPr>
        <p:spPr>
          <a:xfrm>
            <a:off x="11444760" y="0"/>
            <a:ext cx="722880" cy="68317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" name="CustomShape 6"/>
          <p:cNvSpPr/>
          <p:nvPr/>
        </p:nvSpPr>
        <p:spPr>
          <a:xfrm>
            <a:off x="0" y="6642720"/>
            <a:ext cx="12165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a6a6a6"/>
                </a:solidFill>
                <a:latin typeface="DejaVu Sans"/>
                <a:ea typeface="DejaVu Sans"/>
              </a:rPr>
              <a:t>The Limits to Growth – TU Clausthal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D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DE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DE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DE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D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D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D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D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D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D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D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D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11444760" y="0"/>
            <a:ext cx="722880" cy="68317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7" name="CustomShape 2"/>
          <p:cNvSpPr/>
          <p:nvPr/>
        </p:nvSpPr>
        <p:spPr>
          <a:xfrm>
            <a:off x="11438640" y="6453360"/>
            <a:ext cx="739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6D45C930-D56C-4947-A676-3119CB80D650}" type="slidenum">
              <a:rPr b="0" lang="en-US" sz="1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CustomShape 3"/>
          <p:cNvSpPr/>
          <p:nvPr/>
        </p:nvSpPr>
        <p:spPr>
          <a:xfrm>
            <a:off x="912240" y="1268280"/>
            <a:ext cx="918972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4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3720" cy="543600"/>
          </a:xfrm>
          <a:prstGeom prst="rect">
            <a:avLst/>
          </a:prstGeom>
          <a:ln w="0">
            <a:noFill/>
          </a:ln>
        </p:spPr>
      </p:pic>
      <p:pic>
        <p:nvPicPr>
          <p:cNvPr id="50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79560" cy="495720"/>
          </a:xfrm>
          <a:prstGeom prst="rect">
            <a:avLst/>
          </a:prstGeom>
          <a:ln w="0">
            <a:noFill/>
          </a:ln>
        </p:spPr>
      </p:pic>
      <p:sp>
        <p:nvSpPr>
          <p:cNvPr id="51" name="CustomShape 4"/>
          <p:cNvSpPr/>
          <p:nvPr/>
        </p:nvSpPr>
        <p:spPr>
          <a:xfrm>
            <a:off x="11444760" y="0"/>
            <a:ext cx="722880" cy="68317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2" name="CustomShape 5"/>
          <p:cNvSpPr/>
          <p:nvPr/>
        </p:nvSpPr>
        <p:spPr>
          <a:xfrm>
            <a:off x="11438640" y="6453360"/>
            <a:ext cx="739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DD849CF6-89BF-4E6D-A94E-73867FC4F240}" type="slidenum">
              <a:rPr b="0" lang="en-US" sz="1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CustomShape 6"/>
          <p:cNvSpPr/>
          <p:nvPr/>
        </p:nvSpPr>
        <p:spPr>
          <a:xfrm>
            <a:off x="0" y="6642720"/>
            <a:ext cx="12165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a6a6a6"/>
                </a:solidFill>
                <a:latin typeface="DejaVu Sans"/>
                <a:ea typeface="DejaVu Sans"/>
              </a:rPr>
              <a:t>The Limits to Growth – TU Clausthal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D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DE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DE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DE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D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D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D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D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D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D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D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D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D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DE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DE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DE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D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D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D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D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D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D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D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D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11444760" y="0"/>
            <a:ext cx="720720" cy="682956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11438640" y="6453360"/>
            <a:ext cx="737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817EAFC3-BCB7-48AD-BF04-5AB4B5EC76B7}" type="slidenum">
              <a:rPr b="0" lang="en-US" sz="1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CustomShape 3"/>
          <p:cNvSpPr/>
          <p:nvPr/>
        </p:nvSpPr>
        <p:spPr>
          <a:xfrm>
            <a:off x="912240" y="1268280"/>
            <a:ext cx="918756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33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1560" cy="541440"/>
          </a:xfrm>
          <a:prstGeom prst="rect">
            <a:avLst/>
          </a:prstGeom>
          <a:ln w="0">
            <a:noFill/>
          </a:ln>
        </p:spPr>
      </p:pic>
      <p:pic>
        <p:nvPicPr>
          <p:cNvPr id="134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77400" cy="493560"/>
          </a:xfrm>
          <a:prstGeom prst="rect">
            <a:avLst/>
          </a:prstGeom>
          <a:ln w="0">
            <a:noFill/>
          </a:ln>
        </p:spPr>
      </p:pic>
      <p:sp>
        <p:nvSpPr>
          <p:cNvPr id="135" name="CustomShape 4"/>
          <p:cNvSpPr/>
          <p:nvPr/>
        </p:nvSpPr>
        <p:spPr>
          <a:xfrm>
            <a:off x="912240" y="1268280"/>
            <a:ext cx="918756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" name="CustomShape 5"/>
          <p:cNvSpPr/>
          <p:nvPr/>
        </p:nvSpPr>
        <p:spPr>
          <a:xfrm>
            <a:off x="11444760" y="0"/>
            <a:ext cx="720720" cy="682956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7" name="CustomShape 6"/>
          <p:cNvSpPr/>
          <p:nvPr/>
        </p:nvSpPr>
        <p:spPr>
          <a:xfrm>
            <a:off x="0" y="6642720"/>
            <a:ext cx="121636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a6a6a6"/>
                </a:solidFill>
                <a:latin typeface="DejaVu Sans"/>
                <a:ea typeface="DejaVu Sans"/>
              </a:rPr>
              <a:t>The Limits to Growth – TU Clausthal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D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DE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D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DE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DE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D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D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D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D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D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D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D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D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D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creativecommons.org/licenses/by-sa/4.0/" TargetMode="External"/><Relationship Id="rId2" Type="http://schemas.openxmlformats.org/officeDocument/2006/relationships/hyperlink" Target="https://github.com/ETCE-LAB/teaching-material/tree/master/The-Limits-to-Growth" TargetMode="External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media.ccc.de/v/bub2018-207-circular_society/related" TargetMode="External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www.researchgate.net/publication/334520611_Kreislaufwirtschaft_-_Ein_Ausweg_aus_der_sozial-okologischen_Krise" TargetMode="Externa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media.ccc.de/v/bub2018-207-circular_society/related" TargetMode="External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media.ccc.de/v/bub2018-207-circular_society/related" TargetMode="External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www.researchgate.net/publication/334520611_Kreislaufwirtschaft_-_Ein_Ausweg_aus_der_sozial-okologischen_Krise" TargetMode="Externa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media.ccc.de/v/bub2018-207-circular_society/related" TargetMode="External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media.ccc.de/v/bub2018-207-circular_society/related" TargetMode="External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media.ccc.de/v/bub2018-207-circular_society/related" TargetMode="External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https://media.ccc.de/v/bub2018-207-circular_society/related" TargetMode="External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https://www.sciencedirect.com/science/article/pii/S0921344920302354?via%3Dihub" TargetMode="External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https://creativecommons.org/licenses/by/4.0/" TargetMode="External"/><Relationship Id="rId2" Type="http://schemas.openxmlformats.org/officeDocument/2006/relationships/hyperlink" Target="https://www.sciencedirect.com/science/article/pii/S0921344920302354?via%3Dihub" TargetMode="External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https://www.sciencedirect.com/science/article/pii/S0921344920302354?via%3Dihub" TargetMode="External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https://www.sciencedirect.com/science/article/pii/S0921344920302354?via%3Dihub" TargetMode="External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www.sciencedirect.com/science/article/pii/S0921344920302354?via%3Dihub" TargetMode="External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hyperlink" Target="https://www.sciencedirect.com/science/article/pii/S0921344920302354?via%3Dihub" TargetMode="Externa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hyperlink" Target="https://media.ccc.de/v/bub2018-207-circular_society/related" TargetMode="External"/><Relationship Id="rId2" Type="http://schemas.openxmlformats.org/officeDocument/2006/relationships/hyperlink" Target="https://strikemag.org/bullshit-jobs/" TargetMode="External"/><Relationship Id="rId3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stomShape 1"/>
          <p:cNvSpPr/>
          <p:nvPr/>
        </p:nvSpPr>
        <p:spPr>
          <a:xfrm>
            <a:off x="527400" y="1412640"/>
            <a:ext cx="10342800" cy="11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</a:pPr>
            <a:r>
              <a:rPr b="1" lang="en-US" sz="3200" spc="-1" strike="noStrike">
                <a:solidFill>
                  <a:srgbClr val="008c4f"/>
                </a:solidFill>
                <a:latin typeface="DejaVu Sans"/>
                <a:ea typeface="DejaVu Sans"/>
              </a:rPr>
              <a:t>The Limits to Growth: Sustainability and the Circular Economy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CustomShape 2"/>
          <p:cNvSpPr/>
          <p:nvPr/>
        </p:nvSpPr>
        <p:spPr>
          <a:xfrm>
            <a:off x="527400" y="2852640"/>
            <a:ext cx="10342800" cy="23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Lecture 7: Circular Societies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Prof. Dr. Benjamin Leiding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M.Sc. Anant Sujatanagarjuna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M.Sc. Chintan Patel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ustomShape 1"/>
          <p:cNvSpPr/>
          <p:nvPr/>
        </p:nvSpPr>
        <p:spPr>
          <a:xfrm>
            <a:off x="335520" y="764640"/>
            <a:ext cx="10726920" cy="4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License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CustomShape 2"/>
          <p:cNvSpPr/>
          <p:nvPr/>
        </p:nvSpPr>
        <p:spPr>
          <a:xfrm>
            <a:off x="335520" y="1268280"/>
            <a:ext cx="10726920" cy="50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95120" indent="-17676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This work is licensed under a </a:t>
            </a:r>
            <a:r>
              <a:rPr b="1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Creative Commons Attribution-ShareAlike 4.0 International License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. To view a copy of this license, please refer to </a:t>
            </a:r>
            <a:r>
              <a:rPr b="0" lang="en-US" sz="1800" spc="-1" strike="noStrike" u="sng">
                <a:solidFill>
                  <a:srgbClr val="0000ff"/>
                </a:solidFill>
                <a:uFillTx/>
                <a:latin typeface="DejaVu Sans"/>
                <a:ea typeface="DejaVu Sans"/>
                <a:hlinkClick r:id="rId1"/>
              </a:rPr>
              <a:t>https://creativecommons.org/licenses/by-sa/4.0/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 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95120" indent="-17676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Updated versions of these slides will be available in our </a:t>
            </a:r>
            <a:r>
              <a:rPr b="0" lang="en-US" sz="1800" spc="-1" strike="noStrike" u="sng">
                <a:solidFill>
                  <a:srgbClr val="0000ff"/>
                </a:solidFill>
                <a:uFillTx/>
                <a:latin typeface="DejaVu Sans"/>
                <a:ea typeface="DejaVu Sans"/>
                <a:hlinkClick r:id="rId2"/>
              </a:rPr>
              <a:t>Github repository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CustomShape 1"/>
          <p:cNvSpPr/>
          <p:nvPr/>
        </p:nvSpPr>
        <p:spPr>
          <a:xfrm>
            <a:off x="335520" y="4406760"/>
            <a:ext cx="1072512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 cap="all">
                <a:solidFill>
                  <a:srgbClr val="008c4f"/>
                </a:solidFill>
                <a:latin typeface="Arial Unicode MS"/>
                <a:ea typeface="DejaVu Sans"/>
              </a:rPr>
              <a:t>Circular Economy vs. Circular Society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CustomShape 2"/>
          <p:cNvSpPr/>
          <p:nvPr/>
        </p:nvSpPr>
        <p:spPr>
          <a:xfrm>
            <a:off x="335520" y="2906640"/>
            <a:ext cx="10725120" cy="147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CustomShape 1"/>
          <p:cNvSpPr/>
          <p:nvPr/>
        </p:nvSpPr>
        <p:spPr>
          <a:xfrm>
            <a:off x="335520" y="764640"/>
            <a:ext cx="107298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Circular Society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CustomShape 2"/>
          <p:cNvSpPr/>
          <p:nvPr/>
        </p:nvSpPr>
        <p:spPr>
          <a:xfrm>
            <a:off x="335520" y="1268280"/>
            <a:ext cx="10729800" cy="50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Goals of the CE: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Maintain natural resources and minimize the discharge of substances that are harmful to health and nature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Ecological modernization of the economy to increase resource efficiency, e.g., by technical innovation and digital solutions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Products/services designed and constructed in such a way, 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that they can be returned to the economic and material flows at any time with little financial and energetic effort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Increase/maximize utilization of resources, e.g., Performance Economy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CustomShape 3"/>
          <p:cNvSpPr/>
          <p:nvPr/>
        </p:nvSpPr>
        <p:spPr>
          <a:xfrm>
            <a:off x="432720" y="1148040"/>
            <a:ext cx="1033524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CE Recap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CustomShape 4"/>
          <p:cNvSpPr/>
          <p:nvPr/>
        </p:nvSpPr>
        <p:spPr>
          <a:xfrm>
            <a:off x="263520" y="6411600"/>
            <a:ext cx="9788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Partially based on: F. Hofmann, J. Zwiers (2018) – Circular Society – Eine pluralistische und emanzipatorische Alternative zur Circular Economy? – </a:t>
            </a:r>
            <a:r>
              <a:rPr b="0" lang="en-US" sz="9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1"/>
              </a:rPr>
              <a:t>Link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.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.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CustomShape 1"/>
          <p:cNvSpPr/>
          <p:nvPr/>
        </p:nvSpPr>
        <p:spPr>
          <a:xfrm>
            <a:off x="335520" y="764640"/>
            <a:ext cx="107298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Circular Society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CustomShape 2"/>
          <p:cNvSpPr/>
          <p:nvPr/>
        </p:nvSpPr>
        <p:spPr>
          <a:xfrm>
            <a:off x="432720" y="1148040"/>
            <a:ext cx="1033524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CE Recap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CustomShape 3"/>
          <p:cNvSpPr/>
          <p:nvPr/>
        </p:nvSpPr>
        <p:spPr>
          <a:xfrm>
            <a:off x="263520" y="6411600"/>
            <a:ext cx="978804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Image adapted from: M. Jaeger-Erben, F. Hofmann (2019) – Kreislaufwirtschaft - Ein Ausweg aus der sozial-ökologischen Krise? – </a:t>
            </a:r>
            <a:r>
              <a:rPr b="0" lang="en-US" sz="9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1"/>
              </a:rPr>
              <a:t>Link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.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CustomShape 4"/>
          <p:cNvSpPr/>
          <p:nvPr/>
        </p:nvSpPr>
        <p:spPr>
          <a:xfrm>
            <a:off x="3291480" y="5886360"/>
            <a:ext cx="24804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 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Grafik 244" descr=""/>
          <p:cNvPicPr/>
          <p:nvPr/>
        </p:nvPicPr>
        <p:blipFill>
          <a:blip r:embed="rId2"/>
          <a:stretch/>
        </p:blipFill>
        <p:spPr>
          <a:xfrm>
            <a:off x="1371600" y="1965960"/>
            <a:ext cx="8985600" cy="351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ustomShape 1"/>
          <p:cNvSpPr/>
          <p:nvPr/>
        </p:nvSpPr>
        <p:spPr>
          <a:xfrm>
            <a:off x="335520" y="764640"/>
            <a:ext cx="107298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Circular Society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CustomShape 2"/>
          <p:cNvSpPr/>
          <p:nvPr/>
        </p:nvSpPr>
        <p:spPr>
          <a:xfrm>
            <a:off x="335520" y="1268280"/>
            <a:ext cx="10729800" cy="50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Replace the LE with circularly oriented forms of consumption and production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CE focus mostly on earned value management (“Wertschöpfungsmanagement”), product-service systems, product/business model innovations within existing power asymmetries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Decouple economic growth and consumption of natural resources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DejaVu Sans"/>
                <a:ea typeface="DejaVu Sans"/>
              </a:rPr>
              <a:t>→ </a:t>
            </a:r>
            <a:r>
              <a:rPr b="0" lang="en-US" sz="1800" spc="-1" strike="noStrike">
                <a:solidFill>
                  <a:srgbClr val="ffffff"/>
                </a:solidFill>
                <a:latin typeface="DejaVu Sans"/>
                <a:ea typeface="DejaVu Sans"/>
              </a:rPr>
              <a:t>But why do we need neverending economic growth and why is it good to consume as many goods and services as possible?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DejaVu Sans"/>
                <a:ea typeface="DejaVu Sans"/>
              </a:rPr>
              <a:t>Alternatives: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DejaVu Sans"/>
                <a:ea typeface="DejaVu Sans"/>
              </a:rPr>
              <a:t>Sufficiency strategies and lifestyle changes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DejaVu Sans"/>
                <a:ea typeface="DejaVu Sans"/>
              </a:rPr>
              <a:t>Question the prevailing entrepreneurial orientation towards the shareholder concept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DejaVu Sans"/>
                <a:ea typeface="DejaVu Sans"/>
              </a:rPr>
              <a:t>Deconstruction of existing power and hegemonic relations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CustomShape 3"/>
          <p:cNvSpPr/>
          <p:nvPr/>
        </p:nvSpPr>
        <p:spPr>
          <a:xfrm>
            <a:off x="432720" y="1148040"/>
            <a:ext cx="1033524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CE Criticism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CustomShape 4"/>
          <p:cNvSpPr/>
          <p:nvPr/>
        </p:nvSpPr>
        <p:spPr>
          <a:xfrm>
            <a:off x="263520" y="6411600"/>
            <a:ext cx="9788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Partially based on: F. Hofmann, J. Zwiers (2018) – Circular Society – Eine pluralistische und emanzipatorische Alternative zur Circular Economy? – </a:t>
            </a:r>
            <a:r>
              <a:rPr b="0" lang="en-US" sz="9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1"/>
              </a:rPr>
              <a:t>Link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.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.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CustomShape 1"/>
          <p:cNvSpPr/>
          <p:nvPr/>
        </p:nvSpPr>
        <p:spPr>
          <a:xfrm>
            <a:off x="335520" y="764640"/>
            <a:ext cx="107298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Circular Society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CustomShape 2"/>
          <p:cNvSpPr/>
          <p:nvPr/>
        </p:nvSpPr>
        <p:spPr>
          <a:xfrm>
            <a:off x="335520" y="1268280"/>
            <a:ext cx="10729800" cy="50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Replace the LE with circularly oriented forms of consumption and production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CE focus mostly on earned value management (“Wertschöpfungsmanagement”), product-service systems, product/business model innovations within existing power asymmetries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Decouple economic growth and consumption of natural resources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b="1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→ </a:t>
            </a:r>
            <a:r>
              <a:rPr b="1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But why do we need never ending economic growth and why is it good to consume as many goods and services as possible?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DejaVu Sans"/>
                <a:ea typeface="DejaVu Sans"/>
              </a:rPr>
              <a:t>Alternatives: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DejaVu Sans"/>
                <a:ea typeface="DejaVu Sans"/>
              </a:rPr>
              <a:t>Sufficiency strategies and lifestyle changes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DejaVu Sans"/>
                <a:ea typeface="DejaVu Sans"/>
              </a:rPr>
              <a:t>Question the prevailing entrepreneurial orientation towards the shareholder concept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DejaVu Sans"/>
                <a:ea typeface="DejaVu Sans"/>
              </a:rPr>
              <a:t>Deconstruction of existing power and hegemonic relations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CustomShape 3"/>
          <p:cNvSpPr/>
          <p:nvPr/>
        </p:nvSpPr>
        <p:spPr>
          <a:xfrm>
            <a:off x="432720" y="1148040"/>
            <a:ext cx="1033524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CE Criticism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CustomShape 4"/>
          <p:cNvSpPr/>
          <p:nvPr/>
        </p:nvSpPr>
        <p:spPr>
          <a:xfrm>
            <a:off x="263520" y="6411600"/>
            <a:ext cx="9788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Partially based on: F. Hofmann, J. Zwiers (2018) – Circular Society – Eine pluralistische und emanzipatorische Alternative zur Circular Economy? – </a:t>
            </a:r>
            <a:r>
              <a:rPr b="0" lang="en-US" sz="9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1"/>
              </a:rPr>
              <a:t>Link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.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.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CustomShape 1"/>
          <p:cNvSpPr/>
          <p:nvPr/>
        </p:nvSpPr>
        <p:spPr>
          <a:xfrm>
            <a:off x="335520" y="764640"/>
            <a:ext cx="107298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Circular Society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CustomShape 2"/>
          <p:cNvSpPr/>
          <p:nvPr/>
        </p:nvSpPr>
        <p:spPr>
          <a:xfrm>
            <a:off x="432720" y="1148040"/>
            <a:ext cx="1033524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CE Criticism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CustomShape 3"/>
          <p:cNvSpPr/>
          <p:nvPr/>
        </p:nvSpPr>
        <p:spPr>
          <a:xfrm>
            <a:off x="263520" y="6411600"/>
            <a:ext cx="978804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Image adapted from: M. Jaeger-Erben, F. Hofmann (2019) – Kreislaufwirtschaft - Ein Ausweg aus der sozial-ökologischen Krise? – </a:t>
            </a:r>
            <a:r>
              <a:rPr b="0" lang="en-US" sz="9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1"/>
              </a:rPr>
              <a:t>Link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.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" name="Grafik 256" descr=""/>
          <p:cNvPicPr/>
          <p:nvPr/>
        </p:nvPicPr>
        <p:blipFill>
          <a:blip r:embed="rId2"/>
          <a:stretch/>
        </p:blipFill>
        <p:spPr>
          <a:xfrm>
            <a:off x="605520" y="1521360"/>
            <a:ext cx="8569080" cy="4987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CustomShape 1"/>
          <p:cNvSpPr/>
          <p:nvPr/>
        </p:nvSpPr>
        <p:spPr>
          <a:xfrm>
            <a:off x="335520" y="764640"/>
            <a:ext cx="107298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Circular Society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CustomShape 2"/>
          <p:cNvSpPr/>
          <p:nvPr/>
        </p:nvSpPr>
        <p:spPr>
          <a:xfrm>
            <a:off x="335520" y="1268280"/>
            <a:ext cx="10729800" cy="50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Replace the LE with circularly oriented forms of consumption and production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CE focuses mainly on earned value management (“Wertschöpfungsmanagement”), product-service systems, product/business model innovations within existing power asymmetries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Decouple economic growth and consumption of natural resources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b="1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→ </a:t>
            </a:r>
            <a:r>
              <a:rPr b="1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But why do we need never-ending economic growth, and why is it good to consume as many goods and services as possible?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Alternatives: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Sufficiency strategies and lifestyle changes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Question the prevailing entrepreneurial orientation towards the shareholder concept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Deconstruction of existing power and hegemonic relations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CustomShape 3"/>
          <p:cNvSpPr/>
          <p:nvPr/>
        </p:nvSpPr>
        <p:spPr>
          <a:xfrm>
            <a:off x="432720" y="1148040"/>
            <a:ext cx="1033524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CE Criticism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CustomShape 4"/>
          <p:cNvSpPr/>
          <p:nvPr/>
        </p:nvSpPr>
        <p:spPr>
          <a:xfrm>
            <a:off x="263520" y="6411600"/>
            <a:ext cx="9788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Partially based on: F. Hofmann, J. Zwiers (2018) – Circular Society – Eine pluralistische und emanzipatorische Alternative zur Circular Economy? – </a:t>
            </a:r>
            <a:r>
              <a:rPr b="0" lang="en-US" sz="9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1"/>
              </a:rPr>
              <a:t>Link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.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.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ustomShape 1"/>
          <p:cNvSpPr/>
          <p:nvPr/>
        </p:nvSpPr>
        <p:spPr>
          <a:xfrm>
            <a:off x="335520" y="764640"/>
            <a:ext cx="107298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Circular Society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CustomShape 2"/>
          <p:cNvSpPr/>
          <p:nvPr/>
        </p:nvSpPr>
        <p:spPr>
          <a:xfrm>
            <a:off x="335520" y="1268280"/>
            <a:ext cx="10729800" cy="50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Circular Society → CS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Goals of the CS: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Not just “CE + social”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Socio-political transformation and reorganization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Replace intransparent and inequity-based value chains of the LE with democratic, transparent and cooperatively organized value chains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DejaVu Sans"/>
                <a:ea typeface="DejaVu Sans"/>
              </a:rPr>
              <a:t>Also → preserve the environment/ressources for present and future generations and enable social participation and quality of life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DejaVu Sans"/>
                <a:ea typeface="DejaVu Sans"/>
              </a:rPr>
              <a:t>All-encompassing  change necessary if the CE is to be the subject of a socio-ecological transformation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DejaVu Sans"/>
                <a:ea typeface="DejaVu Sans"/>
              </a:rPr>
              <a:t>Democratisation of value creation processes and strategies for the activation and emancipation of different stakeholder groups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CustomShape 3"/>
          <p:cNvSpPr/>
          <p:nvPr/>
        </p:nvSpPr>
        <p:spPr>
          <a:xfrm>
            <a:off x="432720" y="1148040"/>
            <a:ext cx="1033524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Overview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CustomShape 4"/>
          <p:cNvSpPr/>
          <p:nvPr/>
        </p:nvSpPr>
        <p:spPr>
          <a:xfrm>
            <a:off x="263520" y="6411600"/>
            <a:ext cx="9788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Partially based on: F. Hofmann, J. Zwiers (2018) – Circular Society – Eine pluralistische und emanzipatorische Alternative zur Circular Economy? – </a:t>
            </a:r>
            <a:r>
              <a:rPr b="0" lang="en-US" sz="9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1"/>
              </a:rPr>
              <a:t>Link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.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.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CustomShape 1"/>
          <p:cNvSpPr/>
          <p:nvPr/>
        </p:nvSpPr>
        <p:spPr>
          <a:xfrm>
            <a:off x="335520" y="764640"/>
            <a:ext cx="107298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Circular Society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CustomShape 2"/>
          <p:cNvSpPr/>
          <p:nvPr/>
        </p:nvSpPr>
        <p:spPr>
          <a:xfrm>
            <a:off x="335520" y="1268280"/>
            <a:ext cx="10729800" cy="50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Circular Society → CS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Goals of the CS: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Not just “CE + social”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Socio-political transformation and reorganization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Replace intransparent and inequity-based value chains of the LE with democratic, transparent and cooperatively organized value chains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Also → preserve the environment/resources for present and future generations and enable social participation and quality of life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DejaVu Sans"/>
                <a:ea typeface="DejaVu Sans"/>
              </a:rPr>
              <a:t>All-encompassing  change necessary if the CE is to be the subject of a socio-ecological transformation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DejaVu Sans"/>
                <a:ea typeface="DejaVu Sans"/>
              </a:rPr>
              <a:t>Democratisation of value creation processes and strategies for the activation and emancipation of different stakeholder groups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CustomShape 3"/>
          <p:cNvSpPr/>
          <p:nvPr/>
        </p:nvSpPr>
        <p:spPr>
          <a:xfrm>
            <a:off x="432720" y="1148040"/>
            <a:ext cx="1033524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Overview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CustomShape 4"/>
          <p:cNvSpPr/>
          <p:nvPr/>
        </p:nvSpPr>
        <p:spPr>
          <a:xfrm>
            <a:off x="263520" y="6411600"/>
            <a:ext cx="9788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Partially based on: F. Hofmann, J. Zwiers (2018) – Circular Society – Eine pluralistische und emanzipatorische Alternative zur Circular Economy? – </a:t>
            </a:r>
            <a:r>
              <a:rPr b="0" lang="en-US" sz="9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1"/>
              </a:rPr>
              <a:t>Link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.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.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CustomShape 1"/>
          <p:cNvSpPr/>
          <p:nvPr/>
        </p:nvSpPr>
        <p:spPr>
          <a:xfrm>
            <a:off x="335520" y="764640"/>
            <a:ext cx="107298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Circular Society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CustomShape 2"/>
          <p:cNvSpPr/>
          <p:nvPr/>
        </p:nvSpPr>
        <p:spPr>
          <a:xfrm>
            <a:off x="335520" y="1268280"/>
            <a:ext cx="10729800" cy="50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Circular Society → CS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Wingdings" charset="2"/>
              <a:buChar char="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Goals of the CS: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Not just “CE + social”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Socio-political transformation and reorganization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Replace intransparent and inequity-based value chains of the LE with democratic, transparent and cooperatively organized value chains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Also → preserve the environment/resources for present and future generations and enable social participation and quality of life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All-encompassing  change necessary if the CE is to be the subject of a socio-ecological transformation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Democratization of value creation processes and strategies for the activation and emancipation of different stakeholder groups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CustomShape 3"/>
          <p:cNvSpPr/>
          <p:nvPr/>
        </p:nvSpPr>
        <p:spPr>
          <a:xfrm>
            <a:off x="432720" y="1148040"/>
            <a:ext cx="1033524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Overview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CustomShape 4"/>
          <p:cNvSpPr/>
          <p:nvPr/>
        </p:nvSpPr>
        <p:spPr>
          <a:xfrm>
            <a:off x="263520" y="6411600"/>
            <a:ext cx="97880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Partially based on: F. Hofmann, J. Zwiers (2018) – Circular Society – Eine pluralistische und emanzipatorische Alternative zur Circular Economy? – </a:t>
            </a:r>
            <a:r>
              <a:rPr b="0" lang="en-US" sz="9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1"/>
              </a:rPr>
              <a:t>Link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.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.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ustomShape 1"/>
          <p:cNvSpPr/>
          <p:nvPr/>
        </p:nvSpPr>
        <p:spPr>
          <a:xfrm>
            <a:off x="335520" y="764640"/>
            <a:ext cx="107316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Circular Society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CustomShape 2"/>
          <p:cNvSpPr/>
          <p:nvPr/>
        </p:nvSpPr>
        <p:spPr>
          <a:xfrm>
            <a:off x="335520" y="1268280"/>
            <a:ext cx="10731600" cy="50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b="0" i="1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„</a:t>
            </a:r>
            <a:r>
              <a:rPr b="0" i="1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A circular society defines discourses with a vision of circularity where not only resources are circulated in sustainable loops, but also wealth, knowledge, technology and power is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b="0" i="1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circulated and redistributed throughout society”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CustomShape 3"/>
          <p:cNvSpPr/>
          <p:nvPr/>
        </p:nvSpPr>
        <p:spPr>
          <a:xfrm>
            <a:off x="432720" y="1148040"/>
            <a:ext cx="1034064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Definition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CustomShape 4"/>
          <p:cNvSpPr/>
          <p:nvPr/>
        </p:nvSpPr>
        <p:spPr>
          <a:xfrm>
            <a:off x="368640" y="2019600"/>
            <a:ext cx="10780560" cy="13572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008c4f"/>
            </a:solidFill>
            <a:rou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3" name="CustomShape 5"/>
          <p:cNvSpPr/>
          <p:nvPr/>
        </p:nvSpPr>
        <p:spPr>
          <a:xfrm>
            <a:off x="263520" y="6492240"/>
            <a:ext cx="107863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6a6a6"/>
                </a:solidFill>
                <a:latin typeface="DejaVu Sans"/>
                <a:ea typeface="Roboto"/>
              </a:rPr>
              <a:t>M. C. Friant, R. Salomone, W. J. V. Vermeulen (2020) – A Typology of Circular Economy Discourses: Navigating the Diverse Visions of a Contested Paradigm  – </a:t>
            </a:r>
            <a:r>
              <a:rPr b="0" lang="en-US" sz="900" spc="-1" strike="noStrike" u="sng">
                <a:solidFill>
                  <a:srgbClr val="0000ff"/>
                </a:solidFill>
                <a:uFillTx/>
                <a:latin typeface="DejaVu Sans"/>
                <a:ea typeface="Roboto"/>
                <a:hlinkClick r:id="rId1"/>
              </a:rPr>
              <a:t>Link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CustomShape 1"/>
          <p:cNvSpPr/>
          <p:nvPr/>
        </p:nvSpPr>
        <p:spPr>
          <a:xfrm>
            <a:off x="335520" y="764640"/>
            <a:ext cx="107316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Circular Society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CustomShape 2"/>
          <p:cNvSpPr/>
          <p:nvPr/>
        </p:nvSpPr>
        <p:spPr>
          <a:xfrm>
            <a:off x="335520" y="1268280"/>
            <a:ext cx="10731600" cy="50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b="0" i="1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„ </a:t>
            </a:r>
            <a:r>
              <a:rPr b="0" i="1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A circular society defines discourses with a vision of circularity where not only resources are circulated in sustainable loops, but also wealth, knowledge, technology and power is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b="0" i="1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circulated and redistributed throughout society”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432720" y="1148040"/>
            <a:ext cx="1034064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Definition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CustomShape 4"/>
          <p:cNvSpPr/>
          <p:nvPr/>
        </p:nvSpPr>
        <p:spPr>
          <a:xfrm>
            <a:off x="368640" y="2019600"/>
            <a:ext cx="10780560" cy="13572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008c4f"/>
            </a:solidFill>
            <a:rou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8" name="CustomShape 5"/>
          <p:cNvSpPr/>
          <p:nvPr/>
        </p:nvSpPr>
        <p:spPr>
          <a:xfrm>
            <a:off x="263520" y="6420240"/>
            <a:ext cx="10786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6a6a6"/>
                </a:solidFill>
                <a:latin typeface="DejaVu Sans"/>
                <a:ea typeface="Roboto"/>
              </a:rPr>
              <a:t>Image licensed under </a:t>
            </a:r>
            <a:r>
              <a:rPr b="0" lang="en-US" sz="900" spc="-1" strike="noStrike" u="sng">
                <a:solidFill>
                  <a:srgbClr val="0000ff"/>
                </a:solidFill>
                <a:uFillTx/>
                <a:latin typeface="DejaVu Sans"/>
                <a:ea typeface="Roboto"/>
                <a:hlinkClick r:id="rId1"/>
              </a:rPr>
              <a:t>CC BY-SA 4.0</a:t>
            </a:r>
            <a:r>
              <a:rPr b="0" lang="en-US" sz="900" spc="-1" strike="noStrike">
                <a:solidFill>
                  <a:srgbClr val="a6a6a6"/>
                </a:solidFill>
                <a:latin typeface="DejaVu Sans"/>
                <a:ea typeface="Roboto"/>
              </a:rPr>
              <a:t>, sourced from M. C. Friant, R. Salomone, W. J. V. Vermeulen (2020) – A Typology of Circular Economy Discourses: Navigating the Diverse Visions of a Contested Paradigm  – </a:t>
            </a:r>
            <a:r>
              <a:rPr b="0" lang="en-US" sz="900" spc="-1" strike="noStrike" u="sng">
                <a:solidFill>
                  <a:srgbClr val="0000ff"/>
                </a:solidFill>
                <a:uFillTx/>
                <a:latin typeface="DejaVu Sans"/>
                <a:ea typeface="Roboto"/>
                <a:hlinkClick r:id="rId2"/>
              </a:rPr>
              <a:t>Link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9" name="Grafik 283" descr=""/>
          <p:cNvPicPr/>
          <p:nvPr/>
        </p:nvPicPr>
        <p:blipFill>
          <a:blip r:embed="rId3"/>
          <a:stretch/>
        </p:blipFill>
        <p:spPr>
          <a:xfrm>
            <a:off x="2570040" y="3462840"/>
            <a:ext cx="5888880" cy="294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335520" y="764640"/>
            <a:ext cx="107316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Circular Society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CustomShape 2"/>
          <p:cNvSpPr/>
          <p:nvPr/>
        </p:nvSpPr>
        <p:spPr>
          <a:xfrm>
            <a:off x="335520" y="1268280"/>
            <a:ext cx="10731600" cy="50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b="0" i="1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CE = market-based solutions and economic considerations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b="0" i="1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b="0" i="1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CS = Circularity as a holistic social transformation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CustomShape 3"/>
          <p:cNvSpPr/>
          <p:nvPr/>
        </p:nvSpPr>
        <p:spPr>
          <a:xfrm>
            <a:off x="432720" y="1148040"/>
            <a:ext cx="1034064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CE vs. CS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CustomShape 4"/>
          <p:cNvSpPr/>
          <p:nvPr/>
        </p:nvSpPr>
        <p:spPr>
          <a:xfrm>
            <a:off x="263520" y="6420240"/>
            <a:ext cx="107863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6a6a6"/>
                </a:solidFill>
                <a:latin typeface="DejaVu Sans"/>
                <a:ea typeface="Roboto"/>
              </a:rPr>
              <a:t>M. C. Friant, R. Salomone, W. J. V. Vermeulen (2020) – A Typology of Circular Economy Discourses: Navigating the Diverse Visions of a Contested Paradigm  – </a:t>
            </a:r>
            <a:r>
              <a:rPr b="0" lang="en-US" sz="900" spc="-1" strike="noStrike" u="sng">
                <a:solidFill>
                  <a:srgbClr val="0000ff"/>
                </a:solidFill>
                <a:uFillTx/>
                <a:latin typeface="DejaVu Sans"/>
                <a:ea typeface="Roboto"/>
                <a:hlinkClick r:id="rId1"/>
              </a:rPr>
              <a:t>Link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ustomShape 1"/>
          <p:cNvSpPr/>
          <p:nvPr/>
        </p:nvSpPr>
        <p:spPr>
          <a:xfrm>
            <a:off x="335520" y="764640"/>
            <a:ext cx="107316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Circular Society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CustomShape 2"/>
          <p:cNvSpPr/>
          <p:nvPr/>
        </p:nvSpPr>
        <p:spPr>
          <a:xfrm>
            <a:off x="432720" y="1148040"/>
            <a:ext cx="1034064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CE vs. CS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36" name="Table 3"/>
          <p:cNvGraphicFramePr/>
          <p:nvPr/>
        </p:nvGraphicFramePr>
        <p:xfrm>
          <a:off x="378000" y="1690560"/>
          <a:ext cx="11051640" cy="4436280"/>
        </p:xfrm>
        <a:graphic>
          <a:graphicData uri="http://schemas.openxmlformats.org/drawingml/2006/table">
            <a:tbl>
              <a:tblPr/>
              <a:tblGrid>
                <a:gridCol w="971280"/>
                <a:gridCol w="1000080"/>
                <a:gridCol w="888840"/>
                <a:gridCol w="1397160"/>
                <a:gridCol w="1793880"/>
                <a:gridCol w="1174680"/>
                <a:gridCol w="1508040"/>
                <a:gridCol w="2318040"/>
              </a:tblGrid>
              <a:tr h="82476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Circularity vision</a:t>
                      </a:r>
                      <a:endParaRPr b="0" lang="en-GB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8c4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Temporal scale</a:t>
                      </a:r>
                      <a:endParaRPr b="0" lang="en-GB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8c4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Spatial scale</a:t>
                      </a:r>
                      <a:endParaRPr b="0" lang="en-GB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8c4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Sustainability factors included</a:t>
                      </a:r>
                      <a:endParaRPr b="0" lang="en-GB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8c4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Perspective on the resource nexus</a:t>
                      </a:r>
                      <a:endParaRPr b="0" lang="en-GB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8c4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Views on capitalism and decoupling</a:t>
                      </a:r>
                      <a:endParaRPr b="0" lang="en-GB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8c4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Main goal/objective</a:t>
                      </a:r>
                      <a:endParaRPr b="0" lang="en-GB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8c4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Narrative</a:t>
                      </a:r>
                      <a:endParaRPr b="0" lang="en-GB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8c4f"/>
                    </a:solidFill>
                  </a:tcPr>
                </a:tc>
              </a:tr>
              <a:tr h="1735920">
                <a:tc rowSpan="2"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Circular Society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8c4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Very long term: multiple generations (beyond 50 years)</a:t>
                      </a:r>
                      <a:endParaRPr b="0" lang="en-GB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Macro-scale: planet Earth</a:t>
                      </a:r>
                      <a:endParaRPr b="0" lang="en-GB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People, Planet, Prosperity</a:t>
                      </a:r>
                      <a:endParaRPr b="0" lang="en-GB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Changing consumption and production patterns to keep energy, biodiversity and aterial resources within safe planetary limits.</a:t>
                      </a:r>
                      <a:endParaRPr b="0" lang="en-GB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Sceptical regarding the possiblity of decoupling and the sustainability of capitalism.</a:t>
                      </a:r>
                      <a:endParaRPr b="0" lang="en-GB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Maintaining socio-ecological health and wellbield for present and future generations of human and non-human life.</a:t>
                      </a:r>
                      <a:endParaRPr b="0" lang="en-GB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The earth is borrowed from future generations of living beingd, humans must preserve, respect, restore and share it in a fair maner, even if that entails changing lifestyles and consumption patterns.</a:t>
                      </a:r>
                      <a:endParaRPr b="0" lang="en-GB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</a:tr>
              <a:tr h="15537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Long term: 1 to 2 generations (20-50 years)</a:t>
                      </a:r>
                      <a:endParaRPr b="0" lang="en-GB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Macro-scale: planet Earth</a:t>
                      </a:r>
                      <a:endParaRPr b="0" lang="en-GB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People, Planet, Prosperity</a:t>
                      </a:r>
                      <a:endParaRPr b="0" lang="en-GB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Balancing trade-offs and synergies to keep energy, biodiversity and material resources within safe planetary limits.</a:t>
                      </a:r>
                      <a:endParaRPr b="0" lang="en-GB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Believe in the possibility of decoupling and the sustainability of capitalism.</a:t>
                      </a:r>
                      <a:endParaRPr b="0" lang="en-GB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Preserving social well-being and the biophysical health of the Earch system in line with the SDGs.</a:t>
                      </a:r>
                      <a:endParaRPr b="0" lang="en-GB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Humans must ensure justice, fairness and participation in the sustainable stewardship of the Earth, even if that entails redistributing and changing consumption patterns.</a:t>
                      </a:r>
                      <a:endParaRPr b="0" lang="en-GB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</a:tr>
            </a:tbl>
          </a:graphicData>
        </a:graphic>
      </p:graphicFrame>
      <p:sp>
        <p:nvSpPr>
          <p:cNvPr id="237" name="CustomShape 4"/>
          <p:cNvSpPr/>
          <p:nvPr/>
        </p:nvSpPr>
        <p:spPr>
          <a:xfrm>
            <a:off x="263520" y="6384240"/>
            <a:ext cx="107863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6a6a6"/>
                </a:solidFill>
                <a:latin typeface="DejaVu Sans"/>
                <a:ea typeface="Roboto"/>
              </a:rPr>
              <a:t>Table adapted from M. C. Friant, R. Salomone, W. J. V. Vermeulen (2020) – A Typology of Circular Economy Discourses: Navigating the Diverse Visions of a Contested Paradigm  – </a:t>
            </a:r>
            <a:r>
              <a:rPr b="0" lang="en-US" sz="900" spc="-1" strike="noStrike" u="sng">
                <a:solidFill>
                  <a:srgbClr val="0000ff"/>
                </a:solidFill>
                <a:uFillTx/>
                <a:latin typeface="DejaVu Sans"/>
                <a:ea typeface="Roboto"/>
                <a:hlinkClick r:id="rId1"/>
              </a:rPr>
              <a:t>Link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CustomShape 175"/>
          <p:cNvSpPr/>
          <p:nvPr/>
        </p:nvSpPr>
        <p:spPr>
          <a:xfrm>
            <a:off x="10228680" y="750240"/>
            <a:ext cx="509040" cy="488880"/>
          </a:xfrm>
          <a:prstGeom prst="star5">
            <a:avLst>
              <a:gd name="adj" fmla="val 20243"/>
              <a:gd name="hf" fmla="val 105146"/>
              <a:gd name="vf" fmla="val 110557"/>
            </a:avLst>
          </a:prstGeom>
          <a:solidFill>
            <a:srgbClr val="92d050"/>
          </a:solidFill>
          <a:ln>
            <a:solidFill>
              <a:srgbClr val="0d0d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CustomShape 1"/>
          <p:cNvSpPr/>
          <p:nvPr/>
        </p:nvSpPr>
        <p:spPr>
          <a:xfrm>
            <a:off x="335520" y="764640"/>
            <a:ext cx="107316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Circular Society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CustomShape 2"/>
          <p:cNvSpPr/>
          <p:nvPr/>
        </p:nvSpPr>
        <p:spPr>
          <a:xfrm>
            <a:off x="432720" y="1148040"/>
            <a:ext cx="1034064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CE vs. CS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CustomShape 3"/>
          <p:cNvSpPr/>
          <p:nvPr/>
        </p:nvSpPr>
        <p:spPr>
          <a:xfrm>
            <a:off x="263520" y="6384240"/>
            <a:ext cx="107863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6a6a6"/>
                </a:solidFill>
                <a:latin typeface="DejaVu Sans"/>
                <a:ea typeface="Roboto"/>
              </a:rPr>
              <a:t>Table adapted from M. C. Friant, R. Salomone, W. J. V. Vermeulen (2020) – A Typology of Circular Economy Discourses: Navigating the Diverse Visions of a Contested Paradigm  – </a:t>
            </a:r>
            <a:r>
              <a:rPr b="0" lang="en-US" sz="900" spc="-1" strike="noStrike" u="sng">
                <a:solidFill>
                  <a:srgbClr val="0000ff"/>
                </a:solidFill>
                <a:uFillTx/>
                <a:latin typeface="DejaVu Sans"/>
                <a:ea typeface="Roboto"/>
                <a:hlinkClick r:id="rId1"/>
              </a:rPr>
              <a:t>Link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2" name="Table 4"/>
          <p:cNvGraphicFramePr/>
          <p:nvPr/>
        </p:nvGraphicFramePr>
        <p:xfrm>
          <a:off x="378000" y="1690560"/>
          <a:ext cx="11051640" cy="4217400"/>
        </p:xfrm>
        <a:graphic>
          <a:graphicData uri="http://schemas.openxmlformats.org/drawingml/2006/table">
            <a:tbl>
              <a:tblPr/>
              <a:tblGrid>
                <a:gridCol w="923760"/>
                <a:gridCol w="986400"/>
                <a:gridCol w="824040"/>
                <a:gridCol w="1348560"/>
                <a:gridCol w="1492200"/>
                <a:gridCol w="1555920"/>
                <a:gridCol w="1460520"/>
                <a:gridCol w="2460600"/>
              </a:tblGrid>
              <a:tr h="5940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Circularity vision</a:t>
                      </a:r>
                      <a:endParaRPr b="0" lang="en-GB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8c4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Temporal scale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8c4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Spatial scale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8c4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Sustainability factors included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8c4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Perspective on the resource nexus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8c4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Views on capitalism and decoupling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8c4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Main goal/objective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8c4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Narrative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8c4f"/>
                    </a:solidFill>
                  </a:tcPr>
                </a:tc>
              </a:tr>
              <a:tr h="1263600">
                <a:tc rowSpan="3"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Circular Economy</a:t>
                      </a:r>
                      <a:endParaRPr b="0" lang="en-GB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8c4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Long term: one generation (19-25 years)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Macro-scale: planet Earth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Planet, Prosperity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Balancing trade-offs and synergies to keep energy, biodiversity and material resources within safe planetary limits.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Believe in the possibility of decoupling and the sustainability of capitalism.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Maintaining the biophysical health of the Earth system.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Reducing humanity’s overall ecological footprint and balancing resource limits and constraints is key to ensure the stability  of the biosphere and long-term economic prosperity.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</a:tr>
              <a:tr h="126360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Mid-term: 1 to 2 government planning cycles (5-10 years)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Meso-scale (country, region, industrial park, city)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Planet, Prosperity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Optimizing and securing material, natural and energy resources, especially for critical raw materials.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Believe in the possibility of decoupling and the sustainability of capitalism.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Securing and preserving critical resources and materials.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Strategically maximising sco-efficiency and balancing resource use is necessary to maintain resource security and ensure geopolitical stability.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</a:tr>
              <a:tr h="109620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Short-term: single product life-cycle(1 to 2 years)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Micro-scale (single product, service, or firm)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Planet, Prosperity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Optimizing material and energy resource flows in product design.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Believe in the possibility of decoupling and the sustainability of capitalism.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Capturing oppostunities to lower both environmental impacts and economic costs.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DejaVu Sans"/>
                          <a:ea typeface="DejaVu Sans"/>
                        </a:rPr>
                        <a:t>Ensuring optimium resource efficiency through eco-innovation leads to win-win solutions that reduce ecological harm and increase economic value.</a:t>
                      </a:r>
                      <a:endParaRPr b="0" lang="en-GB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e9e9e"/>
                    </a:solidFill>
                  </a:tcPr>
                </a:tc>
              </a:tr>
            </a:tbl>
          </a:graphicData>
        </a:graphic>
      </p:graphicFrame>
      <p:sp>
        <p:nvSpPr>
          <p:cNvPr id="243" name="CustomShape 24"/>
          <p:cNvSpPr/>
          <p:nvPr/>
        </p:nvSpPr>
        <p:spPr>
          <a:xfrm>
            <a:off x="10228680" y="750240"/>
            <a:ext cx="509040" cy="488880"/>
          </a:xfrm>
          <a:prstGeom prst="star5">
            <a:avLst>
              <a:gd name="adj" fmla="val 20243"/>
              <a:gd name="hf" fmla="val 105146"/>
              <a:gd name="vf" fmla="val 110557"/>
            </a:avLst>
          </a:prstGeom>
          <a:solidFill>
            <a:srgbClr val="92d050"/>
          </a:solidFill>
          <a:ln>
            <a:solidFill>
              <a:srgbClr val="0d0d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CustomShape 1"/>
          <p:cNvSpPr/>
          <p:nvPr/>
        </p:nvSpPr>
        <p:spPr>
          <a:xfrm>
            <a:off x="335520" y="764640"/>
            <a:ext cx="107316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Circular Society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CustomShape 2"/>
          <p:cNvSpPr/>
          <p:nvPr/>
        </p:nvSpPr>
        <p:spPr>
          <a:xfrm>
            <a:off x="432720" y="1148040"/>
            <a:ext cx="1034064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CE vs. CS – Typology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CustomShape 3"/>
          <p:cNvSpPr/>
          <p:nvPr/>
        </p:nvSpPr>
        <p:spPr>
          <a:xfrm>
            <a:off x="263520" y="6492240"/>
            <a:ext cx="107863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a6a6a6"/>
                </a:solidFill>
                <a:latin typeface="DejaVu Sans"/>
                <a:ea typeface="Roboto"/>
              </a:rPr>
              <a:t>Image recreated from: M. C. Friant, R. Salomone, W. J. V. Vermeulen (2020) – A Typology of Circular Economy Discourses: Navigating the Diverse Visions of a Contested Paradigm  – </a:t>
            </a:r>
            <a:r>
              <a:rPr b="0" lang="en-US" sz="900" spc="-1" strike="noStrike" u="sng">
                <a:solidFill>
                  <a:srgbClr val="0000ff"/>
                </a:solidFill>
                <a:uFillTx/>
                <a:latin typeface="DejaVu Sans"/>
                <a:ea typeface="Roboto"/>
                <a:hlinkClick r:id="rId1"/>
              </a:rPr>
              <a:t>Link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7" name="Grafik 301" descr=""/>
          <p:cNvPicPr/>
          <p:nvPr/>
        </p:nvPicPr>
        <p:blipFill>
          <a:blip r:embed="rId2"/>
          <a:stretch/>
        </p:blipFill>
        <p:spPr>
          <a:xfrm>
            <a:off x="561240" y="1361160"/>
            <a:ext cx="9900000" cy="5045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335520" y="4406760"/>
            <a:ext cx="1072512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 cap="all">
                <a:solidFill>
                  <a:srgbClr val="008c4f"/>
                </a:solidFill>
                <a:latin typeface="Arial Unicode MS"/>
                <a:ea typeface="DejaVu Sans"/>
              </a:rPr>
              <a:t>Conclusion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CustomShape 2"/>
          <p:cNvSpPr/>
          <p:nvPr/>
        </p:nvSpPr>
        <p:spPr>
          <a:xfrm>
            <a:off x="335520" y="2906640"/>
            <a:ext cx="10725120" cy="147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CustomShape 1"/>
          <p:cNvSpPr/>
          <p:nvPr/>
        </p:nvSpPr>
        <p:spPr>
          <a:xfrm>
            <a:off x="335520" y="764640"/>
            <a:ext cx="1072548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Conclusion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CustomShape 2"/>
          <p:cNvSpPr/>
          <p:nvPr/>
        </p:nvSpPr>
        <p:spPr>
          <a:xfrm>
            <a:off x="335520" y="1268640"/>
            <a:ext cx="10725480" cy="50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456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■"/>
            </a:pPr>
            <a:r>
              <a:rPr b="0" lang="en-US" sz="1800" spc="-1" strike="noStrike" u="sng">
                <a:solidFill>
                  <a:srgbClr val="000000"/>
                </a:solidFill>
                <a:uFillTx/>
                <a:latin typeface="DejaVu Sans"/>
                <a:ea typeface="DejaVu Sans"/>
              </a:rPr>
              <a:t>Circular Economy (CE):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56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Maintain natural resources and minimize the discharge of substances that are harmful to health and nature → Increase/maximize utilization of resources, e.g., Performance Economy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56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Ecological modernization of the economy to increase resource efficiency, e.g., by technical innovation and digital solutions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DejaVu Sans"/>
                <a:ea typeface="DejaVu Sans"/>
              </a:rPr>
              <a:t>Circular Society (CS):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DejaVu Sans"/>
                <a:ea typeface="DejaVu Sans"/>
              </a:rPr>
              <a:t>Not just “CE + social” instead socio-political transformation and reorganization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DejaVu Sans"/>
                <a:ea typeface="DejaVu Sans"/>
              </a:rPr>
              <a:t>Replace intransparent and inequity-based value chains of the LE with democratic, transparent and cooperatively organized value chains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DejaVu Sans"/>
                <a:ea typeface="DejaVu Sans"/>
              </a:rPr>
              <a:t>Democratization of value creation processes and strategies for the activation and emancipation of different stakeholder groups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CustomShape 1"/>
          <p:cNvSpPr/>
          <p:nvPr/>
        </p:nvSpPr>
        <p:spPr>
          <a:xfrm>
            <a:off x="335520" y="764640"/>
            <a:ext cx="1072548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Conclusion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CustomShape 2"/>
          <p:cNvSpPr/>
          <p:nvPr/>
        </p:nvSpPr>
        <p:spPr>
          <a:xfrm>
            <a:off x="335520" y="1268640"/>
            <a:ext cx="10725480" cy="50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456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■"/>
            </a:pPr>
            <a:r>
              <a:rPr b="0" lang="en-US" sz="1800" spc="-1" strike="noStrike" u="sng">
                <a:solidFill>
                  <a:srgbClr val="000000"/>
                </a:solidFill>
                <a:uFillTx/>
                <a:latin typeface="DejaVu Sans"/>
                <a:ea typeface="DejaVu Sans"/>
              </a:rPr>
              <a:t>Circular Economy (CE):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56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Maintain natural resources and minimize the discharge of substances that are harmful to health and nature → Increase/maximize utilization of resources, e.g., Performance Economy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56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Ecological modernization of the economy to increase resource efficiency, e.g., by technical innovation and digital solutions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456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■"/>
            </a:pPr>
            <a:r>
              <a:rPr b="0" lang="en-US" sz="1800" spc="-1" strike="noStrike" u="sng">
                <a:solidFill>
                  <a:srgbClr val="000000"/>
                </a:solidFill>
                <a:uFillTx/>
                <a:latin typeface="DejaVu Sans"/>
                <a:ea typeface="DejaVu Sans"/>
              </a:rPr>
              <a:t>Circular Society (CS):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56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Not just “CE + social” instead socio-political transformation and reorganization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56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Replace intransparent and inequity-based value chains of the LE with democratic, transparent and cooperatively organized value chains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456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Democratization of value creation processes and strategies for the activation and emancipation of different stakeholder groups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CustomShape 1"/>
          <p:cNvSpPr/>
          <p:nvPr/>
        </p:nvSpPr>
        <p:spPr>
          <a:xfrm>
            <a:off x="335520" y="764640"/>
            <a:ext cx="1073052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Additional Resources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CustomShape 2"/>
          <p:cNvSpPr/>
          <p:nvPr/>
        </p:nvSpPr>
        <p:spPr>
          <a:xfrm>
            <a:off x="335520" y="1268640"/>
            <a:ext cx="10730520" cy="50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195120" indent="-177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Circular Societies (German) – </a:t>
            </a:r>
            <a:r>
              <a:rPr b="0" lang="en-US" sz="1800" spc="-1" strike="noStrike" u="sng">
                <a:solidFill>
                  <a:srgbClr val="0000ff"/>
                </a:solidFill>
                <a:uFillTx/>
                <a:latin typeface="DejaVu Sans"/>
                <a:ea typeface="DejaVu Sans"/>
                <a:hlinkClick r:id="rId1"/>
              </a:rPr>
              <a:t>Link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95120" indent="-177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David Graeber. </a:t>
            </a:r>
            <a:r>
              <a:rPr b="0" i="1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Debt: The First 5000 Years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 (2011).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95120" indent="-177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David Graeber. On the Phenomenon of Bullshit Jobs – Essay (2013) – </a:t>
            </a:r>
            <a:r>
              <a:rPr b="0" lang="en-US" sz="1800" spc="-1" strike="noStrike" u="sng">
                <a:solidFill>
                  <a:srgbClr val="0000ff"/>
                </a:solidFill>
                <a:uFillTx/>
                <a:latin typeface="DejaVu Sans"/>
                <a:ea typeface="DejaVu Sans"/>
                <a:hlinkClick r:id="rId2"/>
              </a:rPr>
              <a:t>Link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95120" indent="-177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David Graeber. </a:t>
            </a:r>
            <a:r>
              <a:rPr b="0" i="1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Bullshit Jobs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 – Book (2018).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CustomShape 1"/>
          <p:cNvSpPr/>
          <p:nvPr/>
        </p:nvSpPr>
        <p:spPr>
          <a:xfrm>
            <a:off x="335520" y="1268640"/>
            <a:ext cx="10726920" cy="50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DejaVu Sans"/>
                <a:ea typeface="DejaVu Sans"/>
              </a:rPr>
              <a:t>Questions?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CustomShape 2"/>
          <p:cNvSpPr/>
          <p:nvPr/>
        </p:nvSpPr>
        <p:spPr>
          <a:xfrm>
            <a:off x="335520" y="764640"/>
            <a:ext cx="10726920" cy="4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  <Words>2130</Words>
  <Paragraphs>229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2013-05-21T09:22:36Z</dcterms:created>
  <dc:creator>Hooby</dc:creator>
  <dc:description/>
  <dc:language>en-US</dc:language>
  <cp:lastModifiedBy/>
  <dcterms:modified xsi:type="dcterms:W3CDTF">2025-11-05T10:03:57Z</dcterms:modified>
  <cp:revision>4060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MMClips">
    <vt:i4>0</vt:i4>
  </property>
  <property fmtid="{D5CDD505-2E9C-101B-9397-08002B2CF9AE}" pid="6" name="Notes">
    <vt:i4>5</vt:i4>
  </property>
  <property fmtid="{D5CDD505-2E9C-101B-9397-08002B2CF9AE}" pid="7" name="PresentationFormat">
    <vt:lpwstr>Widescreen</vt:lpwstr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i4>23</vt:i4>
  </property>
</Properties>
</file>