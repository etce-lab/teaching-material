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5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26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jpeg" ContentType="image/jpeg"/>
  <Override PartName="/ppt/media/image4.jpeg" ContentType="image/jpeg"/>
  <Override PartName="/ppt/media/image5.jpeg" ContentType="image/jpe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2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1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24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EBF64B5-8042-494B-98D8-AC57A2FE96FA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538200" y="763560"/>
            <a:ext cx="6680160" cy="375732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880" cy="451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CustomShape 3"/>
          <p:cNvSpPr/>
          <p:nvPr/>
        </p:nvSpPr>
        <p:spPr>
          <a:xfrm>
            <a:off x="4399200" y="9555480"/>
            <a:ext cx="33591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E58EBA4-4E6A-4118-917B-65350BDDD87F}" type="slidenum"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240" cy="375840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880" cy="451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CustomShape 3"/>
          <p:cNvSpPr/>
          <p:nvPr/>
        </p:nvSpPr>
        <p:spPr>
          <a:xfrm>
            <a:off x="4399200" y="9555480"/>
            <a:ext cx="33591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7FAF73AA-C6E0-4752-8AC6-91FB0DE0E36C}" type="slidenum"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240" cy="375840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880" cy="451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3"/>
          <p:cNvSpPr/>
          <p:nvPr/>
        </p:nvSpPr>
        <p:spPr>
          <a:xfrm>
            <a:off x="4399200" y="9555480"/>
            <a:ext cx="33591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A6245095-9925-4DE6-A932-38C99340D4CA}" type="slidenum"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0240" cy="375840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880" cy="451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CustomShape 3"/>
          <p:cNvSpPr/>
          <p:nvPr/>
        </p:nvSpPr>
        <p:spPr>
          <a:xfrm>
            <a:off x="4399200" y="9555480"/>
            <a:ext cx="33591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4DEDEEB7-8F8E-45B9-A504-2F71012F63ED}" type="slidenum"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536400" y="763560"/>
            <a:ext cx="6683760" cy="375804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3880" cy="451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CustomShape 3"/>
          <p:cNvSpPr/>
          <p:nvPr/>
        </p:nvSpPr>
        <p:spPr>
          <a:xfrm>
            <a:off x="4399200" y="9555480"/>
            <a:ext cx="335916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0B8A3CF-A5C7-498D-B6A4-4414A18F3284}" type="slidenum"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AFD981B-009F-42A0-87F2-922D6838C88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E4326C3-0F2E-485E-AF23-DD2AC332474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D4AF507-36B2-4E6E-98A5-D795625C643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9BACCC9-C097-4563-9255-8A8B0D00F94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38AF9CC-7D25-4F17-ABF5-1A4C9E78788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48AD93C-48A1-43BC-A9E4-B3354F27ACF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D7E7430-A34A-48F1-B3D2-37C46338757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B7A5B94-5BA2-44F1-B0FA-5A2384B68F6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0712C74-4FB2-4B3B-88C9-0319DEB4292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668D3DE-4957-4669-95B5-3ED941CE2C0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4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B9F2BEB-2BC2-42B0-88FF-50F2794FFD6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0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4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9264CB2-55C6-4F68-A899-F199A4754F2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CustomShape 4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CustomShape 5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205E40D-8862-4521-94FC-27E61FE0439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2991A93-2821-43A1-9B5E-6D554FAFC6D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C605854-023D-48C6-AEBE-CFA12023A5C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B2AD1C2-0A5F-49F8-9CF8-90D4A3DE01A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60DF898-E8B3-4FAD-8308-E3F8C6EC0F7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B140370-CF69-4FE7-93E8-51428F3BD98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F60F499-2874-4A5D-89D7-164EBA82CF3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3DBF516-32B3-4F77-A189-632A8703CFD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5E3A6D0-3910-4B4D-868C-10394D6AA16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6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8A1C095-EE58-46C8-BB6C-0AC70FD5672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6628833-A1D8-456F-847A-A26B1EE2CA3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4BB572B-7AA3-4FC8-8E1E-C3150B5EB87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0DC8379-D5D7-4165-B3BB-73CA9F52598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0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B1075D6-3391-46A6-8BD4-F930219BCD6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7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158B8D0-5445-4BDC-BAED-EDFF03CD4D0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2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9172867-C8A7-46D3-B663-FEA40000E12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AB3AC31-5B61-4E10-8651-16291FBBE87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6EC12B7-B1CE-47DB-AB51-AB39103B3F3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2331F3C-AD2B-4706-BCA0-6891524ECE3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6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CB948C5-0E31-4191-8C82-19685C82EBB9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DA0BCAE-4A28-4FFA-9E51-798E74767AC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1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F09C492-5B19-4FF2-B7A3-A78E6A041C1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1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6" name="CustomShape 2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37C5FB5-D6D1-470E-ADD6-74C5B055214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3"/>
          <p:cNvSpPr/>
          <p:nvPr/>
        </p:nvSpPr>
        <p:spPr>
          <a:xfrm>
            <a:off x="912240" y="1268280"/>
            <a:ext cx="920412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8120" cy="55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3960" cy="51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CustomShape 4"/>
          <p:cNvSpPr/>
          <p:nvPr/>
        </p:nvSpPr>
        <p:spPr>
          <a:xfrm>
            <a:off x="11444760" y="0"/>
            <a:ext cx="737280" cy="68461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1" name="CustomShape 5"/>
          <p:cNvSpPr/>
          <p:nvPr/>
        </p:nvSpPr>
        <p:spPr>
          <a:xfrm>
            <a:off x="11438640" y="6453360"/>
            <a:ext cx="754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2297213-A3D9-4E42-8951-6FF0ADAABCD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6"/>
          <p:cNvSpPr/>
          <p:nvPr/>
        </p:nvSpPr>
        <p:spPr>
          <a:xfrm>
            <a:off x="0" y="6642720"/>
            <a:ext cx="121802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ustomShape 1"/>
          <p:cNvSpPr/>
          <p:nvPr/>
        </p:nvSpPr>
        <p:spPr>
          <a:xfrm>
            <a:off x="11444760" y="0"/>
            <a:ext cx="736200" cy="68450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CustomShape 2"/>
          <p:cNvSpPr/>
          <p:nvPr/>
        </p:nvSpPr>
        <p:spPr>
          <a:xfrm>
            <a:off x="11438640" y="6453360"/>
            <a:ext cx="753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0846F6C-D2A4-4141-8F85-649E74E1C9D0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3"/>
          <p:cNvSpPr/>
          <p:nvPr/>
        </p:nvSpPr>
        <p:spPr>
          <a:xfrm>
            <a:off x="912240" y="1268280"/>
            <a:ext cx="920304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6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7040" cy="5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2880" cy="509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CustomShape 4"/>
          <p:cNvSpPr/>
          <p:nvPr/>
        </p:nvSpPr>
        <p:spPr>
          <a:xfrm>
            <a:off x="11444760" y="0"/>
            <a:ext cx="736200" cy="68450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0" name="CustomShape 5"/>
          <p:cNvSpPr/>
          <p:nvPr/>
        </p:nvSpPr>
        <p:spPr>
          <a:xfrm>
            <a:off x="11438640" y="6453360"/>
            <a:ext cx="753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E520680-2147-4FF7-91AD-D83DEA99A1E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6"/>
          <p:cNvSpPr/>
          <p:nvPr/>
        </p:nvSpPr>
        <p:spPr>
          <a:xfrm>
            <a:off x="0" y="6642720"/>
            <a:ext cx="121791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The Limits to Growth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The-Limits-to-Growth" TargetMode="External"/><Relationship Id="rId3" Type="http://schemas.openxmlformats.org/officeDocument/2006/relationships/slideLayout" Target="../slideLayouts/slideLayout2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hyperlink" Target="https://www.zdf.de/dokumentation/planet-e/planet-e-roboter-als-retter-100.html" TargetMode="External"/><Relationship Id="rId3" Type="http://schemas.openxmlformats.org/officeDocument/2006/relationships/hyperlink" Target="https://www.youtube.com/watch?v=3QO1stC4fvs" TargetMode="External"/><Relationship Id="rId4" Type="http://schemas.openxmlformats.org/officeDocument/2006/relationships/slideLayout" Target="../slideLayouts/slideLayout23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hyperlink" Target="https://www.zdf.de/dokumentation/planet-e/planet-e-roboter-als-retter-100.html" TargetMode="External"/><Relationship Id="rId3" Type="http://schemas.openxmlformats.org/officeDocument/2006/relationships/hyperlink" Target="https://www.youtube.com/watch?v=3QO1stC4fvs" TargetMode="External"/><Relationship Id="rId4" Type="http://schemas.openxmlformats.org/officeDocument/2006/relationships/slideLayout" Target="../slideLayouts/slideLayout23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ltg.etce-lab.de/" TargetMode="External"/><Relationship Id="rId2" Type="http://schemas.openxmlformats.org/officeDocument/2006/relationships/hyperlink" Target="https://studip.tu-clausthal.de/dispatch.php/course/details?sem_id=8f1fd9dc300c043b645286586663cd54&amp;again=yes" TargetMode="External"/><Relationship Id="rId3" Type="http://schemas.openxmlformats.org/officeDocument/2006/relationships/hyperlink" Target="https://github.com/ETCE-LAB/teaching-material" TargetMode="External"/><Relationship Id="rId4" Type="http://schemas.openxmlformats.org/officeDocument/2006/relationships/hyperlink" Target="mailto:etce-ltg@tu-clausthal.de" TargetMode="External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2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mailto:etce-ltg@tu-clausthal.de" TargetMode="External"/><Relationship Id="rId2" Type="http://schemas.openxmlformats.org/officeDocument/2006/relationships/slideLayout" Target="../slideLayouts/slideLayout2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mailto:MOOC@Home" TargetMode="External"/><Relationship Id="rId2" Type="http://schemas.openxmlformats.org/officeDocument/2006/relationships/hyperlink" Target="mailto:MOOC@Home" TargetMode="External"/><Relationship Id="rId3" Type="http://schemas.openxmlformats.org/officeDocument/2006/relationships/hyperlink" Target="mailto:MOOC@Home" TargetMode="External"/><Relationship Id="rId4" Type="http://schemas.openxmlformats.org/officeDocument/2006/relationships/slideLayout" Target="../slideLayouts/slideLayout2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rooms/ben-aoi-v9o-q7r/join" TargetMode="External"/><Relationship Id="rId2" Type="http://schemas.openxmlformats.org/officeDocument/2006/relationships/hyperlink" Target="https://webconf.tu-clausthal.de/rooms/ben-aoi-v9o-q7r/join" TargetMode="External"/><Relationship Id="rId3" Type="http://schemas.openxmlformats.org/officeDocument/2006/relationships/slideLayout" Target="../slideLayouts/slideLayout2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527400" y="1412640"/>
            <a:ext cx="10357200" cy="11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trike="noStrike" u="non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The Limits to Growth: Sustainability and the Circular Economy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CustomShape 2"/>
          <p:cNvSpPr/>
          <p:nvPr/>
        </p:nvSpPr>
        <p:spPr>
          <a:xfrm>
            <a:off x="527400" y="2852640"/>
            <a:ext cx="10357200" cy="23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ustomShape 1"/>
          <p:cNvSpPr/>
          <p:nvPr/>
        </p:nvSpPr>
        <p:spPr>
          <a:xfrm>
            <a:off x="335520" y="764640"/>
            <a:ext cx="1073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CustomShape 2"/>
          <p:cNvSpPr/>
          <p:nvPr/>
        </p:nvSpPr>
        <p:spPr>
          <a:xfrm>
            <a:off x="335520" y="1268280"/>
            <a:ext cx="10735560" cy="50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5" name="Group 1"/>
          <p:cNvGrpSpPr/>
          <p:nvPr/>
        </p:nvGrpSpPr>
        <p:grpSpPr>
          <a:xfrm>
            <a:off x="346680" y="2417760"/>
            <a:ext cx="3628800" cy="2912400"/>
            <a:chOff x="346680" y="2417760"/>
            <a:chExt cx="3628800" cy="2912400"/>
          </a:xfrm>
        </p:grpSpPr>
        <p:pic>
          <p:nvPicPr>
            <p:cNvPr id="286" name="Grafik 2" descr=""/>
            <p:cNvPicPr/>
            <p:nvPr/>
          </p:nvPicPr>
          <p:blipFill>
            <a:blip r:embed="rId1"/>
            <a:stretch/>
          </p:blipFill>
          <p:spPr>
            <a:xfrm>
              <a:off x="1411200" y="2417760"/>
              <a:ext cx="1464120" cy="2165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7" name="CustomShape 2"/>
            <p:cNvSpPr/>
            <p:nvPr/>
          </p:nvSpPr>
          <p:spPr>
            <a:xfrm>
              <a:off x="346680" y="4659840"/>
              <a:ext cx="3628800" cy="67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marL="360" algn="ctr">
                <a:lnSpc>
                  <a:spcPct val="100000"/>
                </a:lnSpc>
                <a:spcBef>
                  <a:spcPts val="360"/>
                </a:spcBef>
              </a:pPr>
              <a:r>
                <a:rPr b="0" lang="de-DE" sz="1600" strike="noStrike" u="none">
                  <a:solidFill>
                    <a:srgbClr val="595959"/>
                  </a:solidFill>
                  <a:effectLst/>
                  <a:uFillTx/>
                  <a:latin typeface="DejaVu Sans"/>
                  <a:ea typeface="DejaVu Sans"/>
                </a:rPr>
                <a:t>Prof. Dr. Benjamin Leiding</a:t>
              </a:r>
              <a:endParaRPr b="0" lang="en-GB" sz="1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" algn="ctr">
                <a:lnSpc>
                  <a:spcPct val="100000"/>
                </a:lnSpc>
                <a:spcBef>
                  <a:spcPts val="360"/>
                </a:spcBef>
              </a:pPr>
              <a:r>
                <a:rPr b="0" lang="de-DE" sz="1200" strike="noStrike" u="none">
                  <a:solidFill>
                    <a:srgbClr val="595959"/>
                  </a:solidFill>
                  <a:effectLst/>
                  <a:uFillTx/>
                  <a:latin typeface="DejaVu Sans"/>
                  <a:ea typeface="DejaVu Sans"/>
                </a:rPr>
                <a:t>benjamin.leiding@tu-clausthal.de</a:t>
              </a:r>
              <a:endParaRPr b="0" lang="en-GB" sz="1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88" name="Group 2"/>
          <p:cNvGrpSpPr/>
          <p:nvPr/>
        </p:nvGrpSpPr>
        <p:grpSpPr>
          <a:xfrm>
            <a:off x="3659400" y="4659840"/>
            <a:ext cx="3628800" cy="670320"/>
            <a:chOff x="3659400" y="4659840"/>
            <a:chExt cx="3628800" cy="670320"/>
          </a:xfrm>
        </p:grpSpPr>
        <p:sp>
          <p:nvSpPr>
            <p:cNvPr id="289" name="CustomShape 3"/>
            <p:cNvSpPr/>
            <p:nvPr/>
          </p:nvSpPr>
          <p:spPr>
            <a:xfrm>
              <a:off x="3659400" y="4659840"/>
              <a:ext cx="3628800" cy="67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marL="360" algn="ctr">
                <a:lnSpc>
                  <a:spcPct val="100000"/>
                </a:lnSpc>
                <a:spcBef>
                  <a:spcPts val="360"/>
                </a:spcBef>
              </a:pPr>
              <a:r>
                <a:rPr b="0" lang="de-DE" sz="1600" strike="noStrike" u="none">
                  <a:solidFill>
                    <a:srgbClr val="595959"/>
                  </a:solidFill>
                  <a:effectLst/>
                  <a:uFillTx/>
                  <a:latin typeface="DejaVu Sans"/>
                  <a:ea typeface="DejaVu Sans"/>
                </a:rPr>
                <a:t>M.Sc. Chintan Patel</a:t>
              </a:r>
              <a:endParaRPr b="0" lang="en-GB" sz="1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" algn="ctr">
                <a:lnSpc>
                  <a:spcPct val="100000"/>
                </a:lnSpc>
                <a:spcBef>
                  <a:spcPts val="360"/>
                </a:spcBef>
              </a:pPr>
              <a:r>
                <a:rPr b="0" lang="de-DE" sz="1200" strike="noStrike" u="none">
                  <a:solidFill>
                    <a:srgbClr val="595959"/>
                  </a:solidFill>
                  <a:effectLst/>
                  <a:uFillTx/>
                  <a:latin typeface="DejaVu Sans"/>
                  <a:ea typeface="DejaVu Sans"/>
                </a:rPr>
                <a:t>chintan.patel@tu-clausthal.de</a:t>
              </a:r>
              <a:endParaRPr b="0" lang="en-GB" sz="1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290" name="Grafik 11" descr=""/>
          <p:cNvPicPr/>
          <p:nvPr/>
        </p:nvPicPr>
        <p:blipFill>
          <a:blip r:embed="rId2"/>
          <a:srcRect l="10676" t="0" r="11696" b="0"/>
          <a:stretch/>
        </p:blipFill>
        <p:spPr>
          <a:xfrm>
            <a:off x="7969320" y="2492640"/>
            <a:ext cx="1687320" cy="21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CustomShape 3"/>
          <p:cNvSpPr/>
          <p:nvPr/>
        </p:nvSpPr>
        <p:spPr>
          <a:xfrm>
            <a:off x="6375240" y="4662720"/>
            <a:ext cx="5217840" cy="67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br>
              <a:rPr sz="1600"/>
            </a:br>
            <a:r>
              <a:rPr b="0" lang="en-GB" sz="12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anant.sujatanagarjuna@tu-clausthal.de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2" name="Picture 325" descr=""/>
          <p:cNvPicPr/>
          <p:nvPr/>
        </p:nvPicPr>
        <p:blipFill>
          <a:blip r:embed="rId3"/>
          <a:srcRect l="20712" t="14970" r="21642" b="42716"/>
          <a:stretch/>
        </p:blipFill>
        <p:spPr>
          <a:xfrm>
            <a:off x="4544640" y="2522520"/>
            <a:ext cx="1828800" cy="201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CustomShape 1"/>
          <p:cNvSpPr/>
          <p:nvPr/>
        </p:nvSpPr>
        <p:spPr>
          <a:xfrm>
            <a:off x="542880" y="721800"/>
            <a:ext cx="103471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CustomShape 3"/>
          <p:cNvSpPr/>
          <p:nvPr/>
        </p:nvSpPr>
        <p:spPr>
          <a:xfrm>
            <a:off x="619200" y="1213920"/>
            <a:ext cx="105775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b="1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b="1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b="1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b="1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Machine-to-Everything Economy (M2X Economy)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Emerging Technologies for the Circular Economy (SS – M.Sc.)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542880" y="721800"/>
            <a:ext cx="103471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451800" y="1709280"/>
            <a:ext cx="8214480" cy="4342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7" name="CustomShape 3"/>
          <p:cNvSpPr/>
          <p:nvPr/>
        </p:nvSpPr>
        <p:spPr>
          <a:xfrm>
            <a:off x="609480" y="1769400"/>
            <a:ext cx="105775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b="0" lang="de-DE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9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Our research in action: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ZDF documentary (German) –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Klartext Preis 2020 (German) –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CustomShape 1"/>
          <p:cNvSpPr/>
          <p:nvPr/>
        </p:nvSpPr>
        <p:spPr>
          <a:xfrm>
            <a:off x="542880" y="721800"/>
            <a:ext cx="103471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CustomShape 2"/>
          <p:cNvSpPr/>
          <p:nvPr/>
        </p:nvSpPr>
        <p:spPr>
          <a:xfrm>
            <a:off x="451800" y="1709280"/>
            <a:ext cx="8214480" cy="4342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0" name="CustomShape 3"/>
          <p:cNvSpPr/>
          <p:nvPr/>
        </p:nvSpPr>
        <p:spPr>
          <a:xfrm>
            <a:off x="609480" y="1769400"/>
            <a:ext cx="105775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b="0" lang="de-DE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009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Our research in action: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ZDF documentary (German) –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Klartext Preis 2020 (German) –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CustomShape 5"/>
          <p:cNvSpPr/>
          <p:nvPr/>
        </p:nvSpPr>
        <p:spPr>
          <a:xfrm>
            <a:off x="335520" y="4406760"/>
            <a:ext cx="107388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000" strike="noStrike" u="none" cap="all">
                <a:solidFill>
                  <a:srgbClr val="008c4f"/>
                </a:solidFill>
                <a:effectLst/>
                <a:uFillTx/>
                <a:latin typeface="Arial Unicode MS"/>
                <a:ea typeface="DejaVu Sans"/>
              </a:rPr>
              <a:t>The Course</a:t>
            </a:r>
            <a:endParaRPr b="0" lang="en-GB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CustomShape 17"/>
          <p:cNvSpPr/>
          <p:nvPr/>
        </p:nvSpPr>
        <p:spPr>
          <a:xfrm>
            <a:off x="335520" y="2906640"/>
            <a:ext cx="10738800" cy="14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CustomShape 1"/>
          <p:cNvSpPr/>
          <p:nvPr/>
        </p:nvSpPr>
        <p:spPr>
          <a:xfrm>
            <a:off x="542880" y="721800"/>
            <a:ext cx="103471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CustomShape 2"/>
          <p:cNvSpPr/>
          <p:nvPr/>
        </p:nvSpPr>
        <p:spPr>
          <a:xfrm>
            <a:off x="451800" y="1709280"/>
            <a:ext cx="8214480" cy="4342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5" name="CustomShape 3"/>
          <p:cNvSpPr/>
          <p:nvPr/>
        </p:nvSpPr>
        <p:spPr>
          <a:xfrm>
            <a:off x="609480" y="1769400"/>
            <a:ext cx="105775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Basics of climate change, environmental pollution, and dwindling non-renewable resources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Introduction to the circular economy, sustainability, and related concepts (biocapacity, etc.)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Sustainability goals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Feedback loops and tipping points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Implications of closed systems with a finite supply of resources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Technology-focused and technology-critical approaches towards sustainability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Societies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"/>
          <p:cNvSpPr/>
          <p:nvPr/>
        </p:nvSpPr>
        <p:spPr>
          <a:xfrm>
            <a:off x="542880" y="721800"/>
            <a:ext cx="1034712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 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CustomShape 2"/>
          <p:cNvSpPr/>
          <p:nvPr/>
        </p:nvSpPr>
        <p:spPr>
          <a:xfrm>
            <a:off x="451800" y="1709280"/>
            <a:ext cx="8214480" cy="43426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8" name="CustomShape 3"/>
          <p:cNvSpPr/>
          <p:nvPr/>
        </p:nvSpPr>
        <p:spPr>
          <a:xfrm>
            <a:off x="609480" y="1769400"/>
            <a:ext cx="105775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the concept of a circular economy, sustainability, and related concepts (biocapacity, etc.).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Gain a basic understanding of causes, dimensions, and the characterization of climate change, environmental pollution, and dwindling non-renewable resources.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Being able to make high-level, transdisciplinary assessments of decisions and measures in a social, economic, and political context.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ability to critically assess upcoming technological solutions enabling/facilitating sustainability and the circular economy.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Table 1"/>
          <p:cNvGraphicFramePr/>
          <p:nvPr/>
        </p:nvGraphicFramePr>
        <p:xfrm>
          <a:off x="497880" y="1325880"/>
          <a:ext cx="10541880" cy="5325120"/>
        </p:xfrm>
        <a:graphic>
          <a:graphicData uri="http://schemas.openxmlformats.org/drawingml/2006/table">
            <a:tbl>
              <a:tblPr/>
              <a:tblGrid>
                <a:gridCol w="1550160"/>
                <a:gridCol w="8992080"/>
              </a:tblGrid>
              <a:tr h="2844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Date</a:t>
                      </a:r>
                      <a:endParaRPr b="0" lang="en-GB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1" lang="de-DE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Lecture Title</a:t>
                      </a:r>
                      <a:endParaRPr b="0" lang="en-GB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06.11.2025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L00 – Organisation &amp; L01 – Introduction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13.11.2025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L02 – Challenges I – Environmental Pollution and Resource Scarcity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5382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20.11.2025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L03 – Challenges II – Climate Change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L04 – Limits to Growth &amp; Planetary Bounaries </a:t>
                      </a:r>
                      <a:r>
                        <a:rPr b="1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(</a:t>
                      </a:r>
                      <a:r>
                        <a:rPr b="1" i="1" lang="en-US" sz="13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 - Homework</a:t>
                      </a:r>
                      <a:r>
                        <a:rPr b="1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5382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27.11.2025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L05 – Invited Lecture (Ani Melkonyan-Gottschalk) – Circular Economy (CE)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L06 – A Short History of Political (In-) Action </a:t>
                      </a:r>
                      <a:r>
                        <a:rPr b="1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(</a:t>
                      </a:r>
                      <a:r>
                        <a:rPr b="1" i="1" lang="en-US" sz="13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 - Homework</a:t>
                      </a:r>
                      <a:r>
                        <a:rPr b="1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3150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04.12.2025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L07 – Circular Societies (</a:t>
                      </a:r>
                      <a:r>
                        <a:rPr b="1" i="1" lang="en-US" sz="13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MOOC@Home</a:t>
                      </a:r>
                      <a:r>
                        <a:rPr b="1" i="1" lang="en-US" sz="13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5382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11.12.2025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L08 – Invited Lecture (Johannes Müller-Salo) – Ethics &amp; Moral of Sustainability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i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L09 – Life Cycle Assessment (LCA) </a:t>
                      </a:r>
                      <a:r>
                        <a:rPr b="1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(</a:t>
                      </a:r>
                      <a:r>
                        <a:rPr b="1" i="1" lang="en-US" sz="13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 - Homework</a:t>
                      </a:r>
                      <a:r>
                        <a:rPr b="1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3150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18.12.2025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L10 – Invited Lecture (David Inkermann) – Life Cycle Planning of Durable Products </a:t>
                      </a:r>
                      <a:r>
                        <a:rPr b="1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(</a:t>
                      </a:r>
                      <a:r>
                        <a:rPr b="1" i="1" lang="en-US" sz="13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MOOC@Home</a:t>
                      </a:r>
                      <a:r>
                        <a:rPr b="1" i="1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3150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08.01.2026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L11 – Complex Societies and Technology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3150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15.01.2026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L12 – Beyond the Circular Economy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3150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22.01.2026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L13 – Invited Lecture (Roland Menges) – The Common Good and Collective Decision-Making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3150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29.01.2026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GB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Group Presentations and Lessons Learned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3150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Calibri"/>
                        </a:rPr>
                        <a:t>05.02.2026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L14 – Invited Lecture (Gabriel Busato | CatFarm)</a:t>
                      </a: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 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3150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12.02.2026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L15 – Summary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27972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19.02.2026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GB" sz="1300" strike="noStrike" u="none">
                          <a:solidFill>
                            <a:srgbClr val="f10d0c"/>
                          </a:solidFill>
                          <a:effectLst/>
                          <a:uFillTx/>
                          <a:latin typeface="DejaVu Sans"/>
                        </a:rPr>
                        <a:t>Exam Q&amp;A</a:t>
                      </a:r>
                      <a:endParaRPr b="0" lang="en-GB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666666">
                        <a:alpha val="2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10" name="Speech Bubble: Rectangle 342"/>
          <p:cNvSpPr/>
          <p:nvPr/>
        </p:nvSpPr>
        <p:spPr>
          <a:xfrm>
            <a:off x="8103600" y="1983240"/>
            <a:ext cx="3056040" cy="356400"/>
          </a:xfrm>
          <a:prstGeom prst="wedgeRectCallout">
            <a:avLst>
              <a:gd name="adj1" fmla="val -88277"/>
              <a:gd name="adj2" fmla="val 84564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Roboto"/>
                <a:ea typeface="DejaVu Sans"/>
              </a:rPr>
              <a:t>MOOC == Watch@Home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437760" y="863280"/>
            <a:ext cx="316332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2" name="Table 3"/>
          <p:cNvGraphicFramePr/>
          <p:nvPr/>
        </p:nvGraphicFramePr>
        <p:xfrm>
          <a:off x="437760" y="1440000"/>
          <a:ext cx="10361880" cy="2862720"/>
        </p:xfrm>
        <a:graphic>
          <a:graphicData uri="http://schemas.openxmlformats.org/drawingml/2006/table">
            <a:tbl>
              <a:tblPr/>
              <a:tblGrid>
                <a:gridCol w="1328760"/>
                <a:gridCol w="1328760"/>
                <a:gridCol w="7704720"/>
              </a:tblGrid>
              <a:tr h="54684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Publication Date</a:t>
                      </a:r>
                      <a:endParaRPr b="0" lang="en-GB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GB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</a:rPr>
                        <a:t>Submissio Deadline</a:t>
                      </a:r>
                      <a:endParaRPr b="0" lang="en-GB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1" lang="de-DE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Exercise</a:t>
                      </a:r>
                      <a:endParaRPr b="0" lang="en-GB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54864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06.11.2025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13.11.2025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E00 – Who are you?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35316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13.11.2025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20.11.2025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E01 – Ecological Footprint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35316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20.11.2025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27.11.2025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E02 – Household Waste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35316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11.12.2025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18.12.2025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E03 – Der Verein (Group Exercise)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  <a:tr h="35316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18.12.2025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08.01.2026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E04 – Protest Manifesto (Group Exercise)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>
                        <a:alpha val="20000"/>
                      </a:srgbClr>
                    </a:solidFill>
                  </a:tcPr>
                </a:tc>
              </a:tr>
              <a:tr h="35316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15.01.2026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22.01.2026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E05 – Circular Societies (Group Exercise)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b2b2b2"/>
                    </a:solidFill>
                  </a:tcPr>
                </a:tc>
              </a:tr>
            </a:tbl>
          </a:graphicData>
        </a:graphic>
      </p:graphicFrame>
      <p:sp>
        <p:nvSpPr>
          <p:cNvPr id="313" name=""/>
          <p:cNvSpPr/>
          <p:nvPr/>
        </p:nvSpPr>
        <p:spPr>
          <a:xfrm>
            <a:off x="437760" y="863280"/>
            <a:ext cx="3163320" cy="43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CustomShape 1"/>
          <p:cNvSpPr/>
          <p:nvPr/>
        </p:nvSpPr>
        <p:spPr>
          <a:xfrm>
            <a:off x="335520" y="7718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CustomShape 2"/>
          <p:cNvSpPr/>
          <p:nvPr/>
        </p:nvSpPr>
        <p:spPr>
          <a:xfrm>
            <a:off x="335520" y="126828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website –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News and updates: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All updates will be communicated through the university email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CLZ students + DigiTec will additionally receive information via StudIP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068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will be uploaded to Github (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→ Please report bugs ;)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4"/>
              </a:rPr>
              <a:t>etce-ltg@tu-clausthal.de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b="1" lang="en-US" sz="1800" strike="noStrike" u="sng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 emails written to this specific email address!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Picture 2" descr=""/>
          <p:cNvPicPr/>
          <p:nvPr/>
        </p:nvPicPr>
        <p:blipFill>
          <a:blip r:embed="rId5"/>
          <a:stretch/>
        </p:blipFill>
        <p:spPr>
          <a:xfrm>
            <a:off x="8471880" y="1184400"/>
            <a:ext cx="1609920" cy="160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" name=""/>
          <p:cNvSpPr/>
          <p:nvPr/>
        </p:nvSpPr>
        <p:spPr>
          <a:xfrm>
            <a:off x="438120" y="863640"/>
            <a:ext cx="352044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1"/>
          <p:cNvSpPr/>
          <p:nvPr/>
        </p:nvSpPr>
        <p:spPr>
          <a:xfrm>
            <a:off x="335520" y="771840"/>
            <a:ext cx="10741320" cy="92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 - Asynchronous Learning &amp; MOOC content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ustomShape 2"/>
          <p:cNvSpPr/>
          <p:nvPr/>
        </p:nvSpPr>
        <p:spPr>
          <a:xfrm>
            <a:off x="335520" y="1602720"/>
            <a:ext cx="10741320" cy="46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assive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pen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nline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ourse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Remote and (often) asynchronous online courses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just for students enrolled in a  specific university, but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ideally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open for everybody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Usually consist of pre-recorded lectures, interactive content and online quizzes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Some of you might have visited MOOC on platforms such as edX, LinkedIn Learning, Coursera, Udacity, etc. before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6368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are currently developing a MOOC for the Limits to Growth Lecture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semester will be another test run for this asynchronous and digital learning content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are very happy about any feedback you can give us to improve the course further! Just write us an email: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etce-ltg@tu-clausthal.de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CustomShape 1"/>
          <p:cNvSpPr/>
          <p:nvPr/>
        </p:nvSpPr>
        <p:spPr>
          <a:xfrm>
            <a:off x="335520" y="7718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 – Asynchronous Learning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CustomShape 2"/>
          <p:cNvSpPr/>
          <p:nvPr/>
        </p:nvSpPr>
        <p:spPr>
          <a:xfrm>
            <a:off x="335520" y="1377720"/>
            <a:ext cx="10741320" cy="188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semester includes asynchronous learning content for some of the lectures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Consisting of short pre-recorded videos and interactive content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get further information about these two sessions during the semester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find the lecture videos on the course website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echteck: abgerundete Ecken 4"/>
          <p:cNvSpPr/>
          <p:nvPr/>
        </p:nvSpPr>
        <p:spPr>
          <a:xfrm>
            <a:off x="8617680" y="3367080"/>
            <a:ext cx="2286000" cy="2917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7933c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The MOOC lectures will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not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 be live lectures. Instead, you will find pre-recorded videos and other content on our website.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3" name="Table 2"/>
          <p:cNvGraphicFramePr/>
          <p:nvPr/>
        </p:nvGraphicFramePr>
        <p:xfrm>
          <a:off x="554400" y="3540600"/>
          <a:ext cx="7531920" cy="2284200"/>
        </p:xfrm>
        <a:graphic>
          <a:graphicData uri="http://schemas.openxmlformats.org/drawingml/2006/table">
            <a:tbl>
              <a:tblPr/>
              <a:tblGrid>
                <a:gridCol w="1202400"/>
                <a:gridCol w="6329880"/>
              </a:tblGrid>
              <a:tr h="7614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20.11.2025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i="1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L04 – Limits to Growth &amp; Planetary Bounaries </a:t>
                      </a:r>
                      <a:r>
                        <a:rPr b="1" i="1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(Flipped Classroom → </a:t>
                      </a:r>
                      <a:r>
                        <a:rPr b="1" i="1" lang="en-US" sz="14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  <a:hlinkClick r:id="rId1"/>
                        </a:rPr>
                        <a:t>MOOC@Home</a:t>
                      </a:r>
                      <a:r>
                        <a:rPr b="1" i="1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)</a:t>
                      </a:r>
                      <a:endParaRPr b="0" lang="en-GB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cccccc">
                        <a:alpha val="20000"/>
                      </a:srgbClr>
                    </a:solidFill>
                  </a:tcPr>
                </a:tc>
              </a:tr>
              <a:tr h="7614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27.11.2025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i="1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L06 – A Short History of Political (In-) Action </a:t>
                      </a:r>
                      <a:r>
                        <a:rPr b="1" i="1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(Flipped Classroom → </a:t>
                      </a:r>
                      <a:r>
                        <a:rPr b="1" i="1" lang="en-US" sz="14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  <a:hlinkClick r:id="rId2"/>
                        </a:rPr>
                        <a:t>MOOC@Home</a:t>
                      </a:r>
                      <a:r>
                        <a:rPr b="1" i="1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)</a:t>
                      </a:r>
                      <a:endParaRPr b="0" lang="en-GB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cccccc"/>
                    </a:solidFill>
                  </a:tcPr>
                </a:tc>
              </a:tr>
              <a:tr h="761400">
                <a:tc>
                  <a:txBody>
                    <a:bodyPr lIns="44280" rIns="44280" anchor="ctr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</a:pPr>
                      <a:r>
                        <a:rPr b="1" lang="de-DE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11.12.2025</a:t>
                      </a:r>
                      <a:endParaRPr b="0" lang="en-GB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44280" rIns="44280" anchor="ctr">
                      <a:noAutofit/>
                    </a:bodyPr>
                    <a:p>
                      <a:pPr>
                        <a:lnSpc>
                          <a:spcPct val="107000"/>
                        </a:lnSpc>
                      </a:pPr>
                      <a:r>
                        <a:rPr b="0" i="1" lang="de-DE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L09 – Life Cycle Assessment (LCA) </a:t>
                      </a:r>
                      <a:r>
                        <a:rPr b="1" i="1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(Flipped Classroom → </a:t>
                      </a:r>
                      <a:r>
                        <a:rPr b="1" i="1" lang="en-US" sz="1400" strike="noStrike" u="sng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  <a:hlinkClick r:id="rId3"/>
                        </a:rPr>
                        <a:t>MOOC@Home</a:t>
                      </a:r>
                      <a:r>
                        <a:rPr b="1" i="1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)</a:t>
                      </a:r>
                      <a:endParaRPr b="0" lang="en-GB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4280" marR="4428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2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Thursday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2:00 pm to 3:30 pm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(Berlin time) – 06.11.2025 to 12.02.2026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Thursday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3:45 pm to 4:40 pm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(Berlin time) – 06.11.2025 to 12.02.2026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CustomShape 25"/>
          <p:cNvSpPr/>
          <p:nvPr/>
        </p:nvSpPr>
        <p:spPr>
          <a:xfrm>
            <a:off x="335520" y="4406760"/>
            <a:ext cx="107388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000" strike="noStrike" u="none" cap="all">
                <a:solidFill>
                  <a:srgbClr val="008c4f"/>
                </a:solidFill>
                <a:effectLst/>
                <a:uFillTx/>
                <a:latin typeface="Arial Unicode MS"/>
                <a:ea typeface="DejaVu Sans"/>
              </a:rPr>
              <a:t>Exercises</a:t>
            </a:r>
            <a:endParaRPr b="0" lang="en-GB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CustomShape 26"/>
          <p:cNvSpPr/>
          <p:nvPr/>
        </p:nvSpPr>
        <p:spPr>
          <a:xfrm>
            <a:off x="335520" y="2906640"/>
            <a:ext cx="10738800" cy="14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CustomShape 2"/>
          <p:cNvSpPr/>
          <p:nvPr/>
        </p:nvSpPr>
        <p:spPr>
          <a:xfrm>
            <a:off x="335520" y="126828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+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group submissions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is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by submitting an exercise with proper filename – even if it is an empty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Some exercises require you to submit your work. All such exercises should be submitted through the link in exercise sheet, using the password “Limitstogrowth2526”: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We do not accept email submissions; please use the file drop link mentioned in exercise sheet to upload your submissions.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Important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: Always submit the exercise sheet with correct filename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 for example,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	</a:t>
            </a: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         → E01-Firstname.pdf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CustomShape 2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CustomShape 22"/>
          <p:cNvSpPr/>
          <p:nvPr/>
        </p:nvSpPr>
        <p:spPr>
          <a:xfrm>
            <a:off x="335520" y="126828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+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group submissions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is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by submitting an exercise with proper filename – even if it is an empty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Some exercises require you to submit your work. All such exercises should be submitted through the link in exercise sheet, using the password “Limitstogrowth2526”: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do not accept email submissions; please use the file drop link mentioned in exercise sheet to upload your submissions.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1" lang="en-US" sz="1800" strike="noStrike" u="non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Important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: Always submit the exercise sheet with correct filename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for example,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	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        → E01-Firstname.pdf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CustomShape 23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CustomShape 24"/>
          <p:cNvSpPr/>
          <p:nvPr/>
        </p:nvSpPr>
        <p:spPr>
          <a:xfrm>
            <a:off x="335520" y="126828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Interactive PDF for each exercise.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Answers to be filled in exercise PDF sheet itself.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For Group submission(s) we strongly encourge you to use Q&amp;A sessions to discuss and develop your ideas.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CustomShape 6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CustomShape 7"/>
          <p:cNvSpPr/>
          <p:nvPr/>
        </p:nvSpPr>
        <p:spPr>
          <a:xfrm>
            <a:off x="335520" y="1268280"/>
            <a:ext cx="1074168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Step 1: Find the link in the exercise PDF files.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br>
              <a:rPr sz="1800"/>
            </a:b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	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 exercise has a unique link to</a:t>
            </a:r>
            <a:br>
              <a:rPr sz="1800"/>
            </a:b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	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folder, which looks like this --&gt;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Step 2: Enter the password </a:t>
            </a:r>
            <a:br>
              <a:rPr sz="1800"/>
            </a:b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	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  ‘</a:t>
            </a:r>
            <a:r>
              <a:rPr b="0" lang="en-US" sz="1800" strike="noStrike" u="non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DejaVu Sans"/>
                <a:ea typeface="DejaVu Sans"/>
              </a:rPr>
              <a:t>Limitstogrowth2526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’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etc. follow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ustomShape 8"/>
          <p:cNvSpPr/>
          <p:nvPr/>
        </p:nvSpPr>
        <p:spPr>
          <a:xfrm>
            <a:off x="432720" y="1148040"/>
            <a:ext cx="10336320" cy="47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Submission Instructions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Picture 359" descr=""/>
          <p:cNvPicPr/>
          <p:nvPr/>
        </p:nvPicPr>
        <p:blipFill>
          <a:blip r:embed="rId1"/>
          <a:stretch/>
        </p:blipFill>
        <p:spPr>
          <a:xfrm>
            <a:off x="6400800" y="2057400"/>
            <a:ext cx="4559040" cy="3555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CustomShape 9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CustomShape 10"/>
          <p:cNvSpPr/>
          <p:nvPr/>
        </p:nvSpPr>
        <p:spPr>
          <a:xfrm>
            <a:off x="335520" y="1268280"/>
            <a:ext cx="596160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Step 3: Upload a file, e.g. “E01-Firstname.pdf”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Once you upload a file, you cannot delete it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Unless otherwise specified, we only accept PDF or mp4 files.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Ensure that your full name (Individual exercises) or Group name (Group exercise), and the exercise is mentioned in the filename.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etc. follow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CustomShape 11"/>
          <p:cNvSpPr/>
          <p:nvPr/>
        </p:nvSpPr>
        <p:spPr>
          <a:xfrm>
            <a:off x="432720" y="1148040"/>
            <a:ext cx="10336320" cy="47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Submission Instructions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1" name="Picture 363" descr=""/>
          <p:cNvPicPr/>
          <p:nvPr/>
        </p:nvPicPr>
        <p:blipFill>
          <a:blip r:embed="rId1"/>
          <a:stretch/>
        </p:blipFill>
        <p:spPr>
          <a:xfrm>
            <a:off x="6378120" y="1828800"/>
            <a:ext cx="4699080" cy="366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CustomShape 12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13"/>
          <p:cNvSpPr/>
          <p:nvPr/>
        </p:nvSpPr>
        <p:spPr>
          <a:xfrm>
            <a:off x="335520" y="1268280"/>
            <a:ext cx="560160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Step 4: If your exercise was successfully uploaded,it will be visible. Please do not upload duplicates.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etc. follow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CustomShape 14"/>
          <p:cNvSpPr/>
          <p:nvPr/>
        </p:nvSpPr>
        <p:spPr>
          <a:xfrm>
            <a:off x="432720" y="1148040"/>
            <a:ext cx="10336320" cy="47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Submission Instructions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5" name="Picture 367" descr=""/>
          <p:cNvPicPr/>
          <p:nvPr/>
        </p:nvPicPr>
        <p:blipFill>
          <a:blip r:embed="rId1"/>
          <a:stretch/>
        </p:blipFill>
        <p:spPr>
          <a:xfrm>
            <a:off x="6378120" y="1828800"/>
            <a:ext cx="4699080" cy="366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6" name="Arrow: Right 368"/>
          <p:cNvSpPr/>
          <p:nvPr/>
        </p:nvSpPr>
        <p:spPr>
          <a:xfrm>
            <a:off x="6400800" y="4451400"/>
            <a:ext cx="1704960" cy="225360"/>
          </a:xfrm>
          <a:prstGeom prst="rightArrow">
            <a:avLst>
              <a:gd name="adj1" fmla="val 42453"/>
              <a:gd name="adj2" fmla="val 132226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CustomShape 18"/>
          <p:cNvSpPr/>
          <p:nvPr/>
        </p:nvSpPr>
        <p:spPr>
          <a:xfrm>
            <a:off x="335520" y="764640"/>
            <a:ext cx="10741680" cy="49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Bonus 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CustomShape 19"/>
          <p:cNvSpPr/>
          <p:nvPr/>
        </p:nvSpPr>
        <p:spPr>
          <a:xfrm>
            <a:off x="335520" y="1268280"/>
            <a:ext cx="10463760" cy="50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Simple and facile, sometimes also fun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 mandatory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All student / Groups will have advantage in Exam for bonus task(s)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‒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bonus task(s) to gain points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‒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Eligible students will have a chance to skip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ONE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question in exam without adversly affecting final grading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etc. follow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20"/>
          <p:cNvSpPr/>
          <p:nvPr/>
        </p:nvSpPr>
        <p:spPr>
          <a:xfrm>
            <a:off x="432720" y="1148040"/>
            <a:ext cx="10336320" cy="47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CustomShape 27"/>
          <p:cNvSpPr/>
          <p:nvPr/>
        </p:nvSpPr>
        <p:spPr>
          <a:xfrm>
            <a:off x="335520" y="4406760"/>
            <a:ext cx="107388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000" strike="noStrike" u="none" cap="all">
                <a:solidFill>
                  <a:srgbClr val="008c4f"/>
                </a:solidFill>
                <a:effectLst/>
                <a:uFillTx/>
                <a:latin typeface="Arial Unicode MS"/>
                <a:ea typeface="DejaVu Sans"/>
              </a:rPr>
              <a:t>Examination</a:t>
            </a:r>
            <a:endParaRPr b="0" lang="en-GB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CustomShape 28"/>
          <p:cNvSpPr/>
          <p:nvPr/>
        </p:nvSpPr>
        <p:spPr>
          <a:xfrm>
            <a:off x="335520" y="2906640"/>
            <a:ext cx="10738800" cy="14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CustomShape 15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CustomShape 16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Most likely on the 04.03.26 - 06.03.26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Either written exam (120min)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oral examination (20-25min)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Note for external students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 → You do not have to register as a guest student at TU Clausthal! You pass the exam and get a written confirmation from us which you can present to your local examination office.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CustomShape 3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CustomShape 32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Most likely on the 04.03.26 - 06.03.26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Either written exam (120min)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oral examination (20min)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Note for external students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 You do not have to register as a guest student at TU Clausthal! You pass the exam and get a written confirmation from us which you can present to your local examination office.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CustomShape 29"/>
          <p:cNvSpPr/>
          <p:nvPr/>
        </p:nvSpPr>
        <p:spPr>
          <a:xfrm>
            <a:off x="335520" y="4406760"/>
            <a:ext cx="107388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000" strike="noStrike" u="none" cap="all">
                <a:solidFill>
                  <a:srgbClr val="008c4f"/>
                </a:solidFill>
                <a:effectLst/>
                <a:uFillTx/>
                <a:latin typeface="Arial Unicode MS"/>
                <a:ea typeface="DejaVu Sans"/>
              </a:rPr>
              <a:t>Final Notes</a:t>
            </a:r>
            <a:endParaRPr b="0" lang="en-GB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CustomShape 30"/>
          <p:cNvSpPr/>
          <p:nvPr/>
        </p:nvSpPr>
        <p:spPr>
          <a:xfrm>
            <a:off x="335520" y="2906640"/>
            <a:ext cx="10738800" cy="14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CustomShape 2"/>
          <p:cNvSpPr/>
          <p:nvPr/>
        </p:nvSpPr>
        <p:spPr>
          <a:xfrm>
            <a:off x="335520" y="126828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3"/>
          <p:cNvSpPr/>
          <p:nvPr/>
        </p:nvSpPr>
        <p:spPr>
          <a:xfrm>
            <a:off x="6285600" y="2132640"/>
            <a:ext cx="510840" cy="49068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1" name="CustomShape 4"/>
          <p:cNvSpPr/>
          <p:nvPr/>
        </p:nvSpPr>
        <p:spPr>
          <a:xfrm>
            <a:off x="4089960" y="2247480"/>
            <a:ext cx="2279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CustomShape 2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(1972).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30-Year Update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James Lawrence Powell.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2084 Report: An Oral History of the Great Warming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Joseph Tainter.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Collapse of Complex Societies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(1988).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CustomShape 1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CustomShape 2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Archer, Stefan Rahmstorf.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Climate Crisis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Gabrielle Walker, David King. </a:t>
            </a:r>
            <a:r>
              <a:rPr b="0" i="1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Hot Topic: How to Tackle Global Warming and Still Keep the Lights on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(2008).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CustomShape 1"/>
          <p:cNvSpPr/>
          <p:nvPr/>
        </p:nvSpPr>
        <p:spPr>
          <a:xfrm>
            <a:off x="335520" y="1268640"/>
            <a:ext cx="10741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CustomShape 2"/>
          <p:cNvSpPr/>
          <p:nvPr/>
        </p:nvSpPr>
        <p:spPr>
          <a:xfrm>
            <a:off x="335520" y="764640"/>
            <a:ext cx="1074132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</TotalTime>
  <Application>LibreOffice/25.2.6.2$Linux_X86_64 LibreOffice_project/520$Build-2</Application>
  <AppVersion>15.0000</AppVersion>
  <Words>1680</Words>
  <Paragraphs>229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cp:lastPrinted>2025-11-06T09:07:02Z</cp:lastPrinted>
  <dcterms:modified xsi:type="dcterms:W3CDTF">2025-11-06T11:28:01Z</dcterms:modified>
  <cp:revision>3252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5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24</vt:i4>
  </property>
</Properties>
</file>