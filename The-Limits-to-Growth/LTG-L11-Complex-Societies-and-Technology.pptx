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63.xml.rels" ContentType="application/vnd.openxmlformats-package.relationships+xml"/>
  <Override PartName="/ppt/slideMasters/_rels/slideMaster62.xml.rels" ContentType="application/vnd.openxmlformats-package.relationships+xml"/>
  <Override PartName="/ppt/slideMasters/_rels/slideMaster56.xml.rels" ContentType="application/vnd.openxmlformats-package.relationships+xml"/>
  <Override PartName="/ppt/slideMasters/_rels/slideMaster55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58.xml.rels" ContentType="application/vnd.openxmlformats-package.relationships+xml"/>
  <Override PartName="/ppt/slideMasters/_rels/slideMaster59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68.xml.rels" ContentType="application/vnd.openxmlformats-package.relationships+xml"/>
  <Override PartName="/ppt/slideMasters/_rels/slideMaster70.xml.rels" ContentType="application/vnd.openxmlformats-package.relationships+xml"/>
  <Override PartName="/ppt/slideMasters/_rels/slideMaster69.xml.rels" ContentType="application/vnd.openxmlformats-package.relationships+xml"/>
  <Override PartName="/ppt/slideMasters/_rels/slideMaster71.xml.rels" ContentType="application/vnd.openxmlformats-package.relationships+xml"/>
  <Override PartName="/ppt/slideMasters/_rels/slideMaster5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6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67.xml.rels" ContentType="application/vnd.openxmlformats-package.relationships+xml"/>
  <Override PartName="/ppt/slideMasters/_rels/slideMaster66.xml.rels" ContentType="application/vnd.openxmlformats-package.relationships+xml"/>
  <Override PartName="/ppt/slideMasters/_rels/slideMaster65.xml.rels" ContentType="application/vnd.openxmlformats-package.relationships+xml"/>
  <Override PartName="/ppt/slideMasters/_rels/slideMaster64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61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53.xml.rels" ContentType="application/vnd.openxmlformats-package.relationships+xml"/>
  <Override PartName="/ppt/slideMasters/_rels/slideMaster54.xml.rels" ContentType="application/vnd.openxmlformats-package.relationships+xml"/>
  <Override PartName="/ppt/slideMasters/slideMaster67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presProps.xml" ContentType="application/vnd.openxmlformats-officedocument.presentationml.presProps+xml"/>
  <Override PartName="/ppt/theme/theme56.xml" ContentType="application/vnd.openxmlformats-officedocument.theme+xml"/>
  <Override PartName="/ppt/theme/theme55.xml" ContentType="application/vnd.openxmlformats-officedocument.theme+xml"/>
  <Override PartName="/ppt/theme/theme54.xml" ContentType="application/vnd.openxmlformats-officedocument.theme+xml"/>
  <Override PartName="/ppt/theme/theme53.xml" ContentType="application/vnd.openxmlformats-officedocument.theme+xml"/>
  <Override PartName="/ppt/theme/theme30.xml" ContentType="application/vnd.openxmlformats-officedocument.theme+xml"/>
  <Override PartName="/ppt/theme/theme3.xml" ContentType="application/vnd.openxmlformats-officedocument.theme+xml"/>
  <Override PartName="/ppt/theme/theme28.xml" ContentType="application/vnd.openxmlformats-officedocument.theme+xml"/>
  <Override PartName="/ppt/theme/theme12.xml" ContentType="application/vnd.openxmlformats-officedocument.theme+xml"/>
  <Override PartName="/ppt/theme/theme49.xml" ContentType="application/vnd.openxmlformats-officedocument.theme+xml"/>
  <Override PartName="/ppt/theme/theme2.xml" ContentType="application/vnd.openxmlformats-officedocument.theme+xml"/>
  <Override PartName="/ppt/theme/theme27.xml" ContentType="application/vnd.openxmlformats-officedocument.theme+xml"/>
  <Override PartName="/ppt/theme/theme48.xml" ContentType="application/vnd.openxmlformats-officedocument.theme+xml"/>
  <Override PartName="/ppt/theme/theme1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.xml" ContentType="application/vnd.openxmlformats-officedocument.theme+xml"/>
  <Override PartName="/ppt/theme/theme26.xml" ContentType="application/vnd.openxmlformats-officedocument.theme+xml"/>
  <Override PartName="/ppt/theme/theme63.xml" ContentType="application/vnd.openxmlformats-officedocument.theme+xml"/>
  <Override PartName="/ppt/theme/theme62.xml" ContentType="application/vnd.openxmlformats-officedocument.theme+xml"/>
  <Override PartName="/ppt/theme/theme25.xml" ContentType="application/vnd.openxmlformats-officedocument.theme+xml"/>
  <Override PartName="/ppt/theme/theme61.xml" ContentType="application/vnd.openxmlformats-officedocument.theme+xml"/>
  <Override PartName="/ppt/theme/theme19.xml" ContentType="application/vnd.openxmlformats-officedocument.theme+xml"/>
  <Override PartName="/ppt/theme/theme24.xml" ContentType="application/vnd.openxmlformats-officedocument.theme+xml"/>
  <Override PartName="/ppt/theme/theme59.xml" ContentType="application/vnd.openxmlformats-officedocument.theme+xml"/>
  <Override PartName="/ppt/theme/theme22.xml" ContentType="application/vnd.openxmlformats-officedocument.theme+xml"/>
  <Override PartName="/ppt/theme/theme57.xml" ContentType="application/vnd.openxmlformats-officedocument.theme+xml"/>
  <Override PartName="/ppt/theme/theme20.xml" ContentType="application/vnd.openxmlformats-officedocument.theme+xml"/>
  <Override PartName="/ppt/theme/theme60.xml" ContentType="application/vnd.openxmlformats-officedocument.theme+xml"/>
  <Override PartName="/ppt/theme/theme18.xml" ContentType="application/vnd.openxmlformats-officedocument.theme+xml"/>
  <Override PartName="/ppt/theme/theme23.xml" ContentType="application/vnd.openxmlformats-officedocument.theme+xml"/>
  <Override PartName="/ppt/theme/theme58.xml" ContentType="application/vnd.openxmlformats-officedocument.theme+xml"/>
  <Override PartName="/ppt/theme/theme21.xml" ContentType="application/vnd.openxmlformats-officedocument.theme+xml"/>
  <Override PartName="/ppt/theme/theme13.xml" ContentType="application/vnd.openxmlformats-officedocument.theme+xml"/>
  <Override PartName="/ppt/theme/theme29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10.xml" ContentType="application/vnd.openxmlformats-officedocument.theme+xml"/>
  <Override PartName="/ppt/theme/theme47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52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jpeg" ContentType="image/jpe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_rels/slideLayout52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9.xml.rels" ContentType="application/vnd.openxmlformats-package.relationships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714" r:id="rId27"/>
    <p:sldMasterId id="2147483716" r:id="rId28"/>
    <p:sldMasterId id="2147483718" r:id="rId29"/>
    <p:sldMasterId id="2147483720" r:id="rId30"/>
    <p:sldMasterId id="2147483722" r:id="rId31"/>
    <p:sldMasterId id="2147483724" r:id="rId32"/>
    <p:sldMasterId id="2147483726" r:id="rId33"/>
    <p:sldMasterId id="2147483728" r:id="rId34"/>
    <p:sldMasterId id="2147483730" r:id="rId35"/>
    <p:sldMasterId id="2147483732" r:id="rId36"/>
    <p:sldMasterId id="2147483734" r:id="rId37"/>
    <p:sldMasterId id="2147483736" r:id="rId38"/>
    <p:sldMasterId id="2147483738" r:id="rId39"/>
    <p:sldMasterId id="2147483740" r:id="rId40"/>
    <p:sldMasterId id="2147483742" r:id="rId41"/>
    <p:sldMasterId id="2147483744" r:id="rId42"/>
    <p:sldMasterId id="2147483746" r:id="rId43"/>
    <p:sldMasterId id="2147483748" r:id="rId44"/>
    <p:sldMasterId id="2147483750" r:id="rId45"/>
    <p:sldMasterId id="2147483752" r:id="rId46"/>
    <p:sldMasterId id="2147483754" r:id="rId47"/>
    <p:sldMasterId id="2147483756" r:id="rId48"/>
    <p:sldMasterId id="2147483758" r:id="rId49"/>
    <p:sldMasterId id="2147483760" r:id="rId50"/>
    <p:sldMasterId id="2147483762" r:id="rId51"/>
    <p:sldMasterId id="2147483764" r:id="rId52"/>
    <p:sldMasterId id="2147483766" r:id="rId53"/>
    <p:sldMasterId id="2147483768" r:id="rId54"/>
    <p:sldMasterId id="2147483770" r:id="rId55"/>
    <p:sldMasterId id="2147483772" r:id="rId56"/>
    <p:sldMasterId id="2147483774" r:id="rId57"/>
    <p:sldMasterId id="2147483776" r:id="rId58"/>
    <p:sldMasterId id="2147483778" r:id="rId59"/>
    <p:sldMasterId id="2147483780" r:id="rId60"/>
    <p:sldMasterId id="2147483782" r:id="rId61"/>
    <p:sldMasterId id="2147483784" r:id="rId62"/>
    <p:sldMasterId id="2147483786" r:id="rId63"/>
    <p:sldMasterId id="2147483788" r:id="rId64"/>
  </p:sldMasterIdLst>
  <p:sldIdLst>
    <p:sldId id="256" r:id="rId65"/>
    <p:sldId id="257" r:id="rId66"/>
    <p:sldId id="258" r:id="rId67"/>
    <p:sldId id="259" r:id="rId68"/>
    <p:sldId id="260" r:id="rId69"/>
    <p:sldId id="261" r:id="rId70"/>
    <p:sldId id="262" r:id="rId71"/>
    <p:sldId id="263" r:id="rId72"/>
    <p:sldId id="264" r:id="rId73"/>
    <p:sldId id="265" r:id="rId74"/>
    <p:sldId id="266" r:id="rId75"/>
    <p:sldId id="267" r:id="rId76"/>
    <p:sldId id="268" r:id="rId77"/>
    <p:sldId id="269" r:id="rId78"/>
    <p:sldId id="270" r:id="rId79"/>
    <p:sldId id="271" r:id="rId80"/>
    <p:sldId id="272" r:id="rId81"/>
    <p:sldId id="273" r:id="rId82"/>
    <p:sldId id="274" r:id="rId83"/>
    <p:sldId id="275" r:id="rId84"/>
    <p:sldId id="276" r:id="rId85"/>
    <p:sldId id="277" r:id="rId86"/>
    <p:sldId id="278" r:id="rId87"/>
    <p:sldId id="279" r:id="rId88"/>
    <p:sldId id="280" r:id="rId89"/>
    <p:sldId id="281" r:id="rId90"/>
    <p:sldId id="282" r:id="rId91"/>
    <p:sldId id="283" r:id="rId9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34.xml"/><Relationship Id="rId28" Type="http://schemas.openxmlformats.org/officeDocument/2006/relationships/slideMaster" Target="slideMasters/slideMaster35.xml"/><Relationship Id="rId29" Type="http://schemas.openxmlformats.org/officeDocument/2006/relationships/slideMaster" Target="slideMasters/slideMaster36.xml"/><Relationship Id="rId30" Type="http://schemas.openxmlformats.org/officeDocument/2006/relationships/slideMaster" Target="slideMasters/slideMaster37.xml"/><Relationship Id="rId31" Type="http://schemas.openxmlformats.org/officeDocument/2006/relationships/slideMaster" Target="slideMasters/slideMaster38.xml"/><Relationship Id="rId32" Type="http://schemas.openxmlformats.org/officeDocument/2006/relationships/slideMaster" Target="slideMasters/slideMaster39.xml"/><Relationship Id="rId33" Type="http://schemas.openxmlformats.org/officeDocument/2006/relationships/slideMaster" Target="slideMasters/slideMaster40.xml"/><Relationship Id="rId34" Type="http://schemas.openxmlformats.org/officeDocument/2006/relationships/slideMaster" Target="slideMasters/slideMaster41.xml"/><Relationship Id="rId35" Type="http://schemas.openxmlformats.org/officeDocument/2006/relationships/slideMaster" Target="slideMasters/slideMaster42.xml"/><Relationship Id="rId36" Type="http://schemas.openxmlformats.org/officeDocument/2006/relationships/slideMaster" Target="slideMasters/slideMaster43.xml"/><Relationship Id="rId37" Type="http://schemas.openxmlformats.org/officeDocument/2006/relationships/slideMaster" Target="slideMasters/slideMaster44.xml"/><Relationship Id="rId38" Type="http://schemas.openxmlformats.org/officeDocument/2006/relationships/slideMaster" Target="slideMasters/slideMaster45.xml"/><Relationship Id="rId39" Type="http://schemas.openxmlformats.org/officeDocument/2006/relationships/slideMaster" Target="slideMasters/slideMaster46.xml"/><Relationship Id="rId40" Type="http://schemas.openxmlformats.org/officeDocument/2006/relationships/slideMaster" Target="slideMasters/slideMaster47.xml"/><Relationship Id="rId41" Type="http://schemas.openxmlformats.org/officeDocument/2006/relationships/slideMaster" Target="slideMasters/slideMaster48.xml"/><Relationship Id="rId42" Type="http://schemas.openxmlformats.org/officeDocument/2006/relationships/slideMaster" Target="slideMasters/slideMaster49.xml"/><Relationship Id="rId43" Type="http://schemas.openxmlformats.org/officeDocument/2006/relationships/slideMaster" Target="slideMasters/slideMaster50.xml"/><Relationship Id="rId44" Type="http://schemas.openxmlformats.org/officeDocument/2006/relationships/slideMaster" Target="slideMasters/slideMaster51.xml"/><Relationship Id="rId45" Type="http://schemas.openxmlformats.org/officeDocument/2006/relationships/slideMaster" Target="slideMasters/slideMaster52.xml"/><Relationship Id="rId46" Type="http://schemas.openxmlformats.org/officeDocument/2006/relationships/slideMaster" Target="slideMasters/slideMaster53.xml"/><Relationship Id="rId47" Type="http://schemas.openxmlformats.org/officeDocument/2006/relationships/slideMaster" Target="slideMasters/slideMaster54.xml"/><Relationship Id="rId48" Type="http://schemas.openxmlformats.org/officeDocument/2006/relationships/slideMaster" Target="slideMasters/slideMaster55.xml"/><Relationship Id="rId49" Type="http://schemas.openxmlformats.org/officeDocument/2006/relationships/slideMaster" Target="slideMasters/slideMaster56.xml"/><Relationship Id="rId50" Type="http://schemas.openxmlformats.org/officeDocument/2006/relationships/slideMaster" Target="slideMasters/slideMaster57.xml"/><Relationship Id="rId51" Type="http://schemas.openxmlformats.org/officeDocument/2006/relationships/slideMaster" Target="slideMasters/slideMaster58.xml"/><Relationship Id="rId52" Type="http://schemas.openxmlformats.org/officeDocument/2006/relationships/slideMaster" Target="slideMasters/slideMaster59.xml"/><Relationship Id="rId53" Type="http://schemas.openxmlformats.org/officeDocument/2006/relationships/slideMaster" Target="slideMasters/slideMaster60.xml"/><Relationship Id="rId54" Type="http://schemas.openxmlformats.org/officeDocument/2006/relationships/slideMaster" Target="slideMasters/slideMaster61.xml"/><Relationship Id="rId55" Type="http://schemas.openxmlformats.org/officeDocument/2006/relationships/slideMaster" Target="slideMasters/slideMaster62.xml"/><Relationship Id="rId56" Type="http://schemas.openxmlformats.org/officeDocument/2006/relationships/slideMaster" Target="slideMasters/slideMaster63.xml"/><Relationship Id="rId57" Type="http://schemas.openxmlformats.org/officeDocument/2006/relationships/slideMaster" Target="slideMasters/slideMaster64.xml"/><Relationship Id="rId58" Type="http://schemas.openxmlformats.org/officeDocument/2006/relationships/slideMaster" Target="slideMasters/slideMaster65.xml"/><Relationship Id="rId59" Type="http://schemas.openxmlformats.org/officeDocument/2006/relationships/slideMaster" Target="slideMasters/slideMaster66.xml"/><Relationship Id="rId60" Type="http://schemas.openxmlformats.org/officeDocument/2006/relationships/slideMaster" Target="slideMasters/slideMaster67.xml"/><Relationship Id="rId61" Type="http://schemas.openxmlformats.org/officeDocument/2006/relationships/slideMaster" Target="slideMasters/slideMaster68.xml"/><Relationship Id="rId62" Type="http://schemas.openxmlformats.org/officeDocument/2006/relationships/slideMaster" Target="slideMasters/slideMaster69.xml"/><Relationship Id="rId63" Type="http://schemas.openxmlformats.org/officeDocument/2006/relationships/slideMaster" Target="slideMasters/slideMaster70.xml"/><Relationship Id="rId64" Type="http://schemas.openxmlformats.org/officeDocument/2006/relationships/slideMaster" Target="slideMasters/slideMaster71.xml"/><Relationship Id="rId65" Type="http://schemas.openxmlformats.org/officeDocument/2006/relationships/slide" Target="slides/slide1.xml"/><Relationship Id="rId66" Type="http://schemas.openxmlformats.org/officeDocument/2006/relationships/slide" Target="slides/slide2.xml"/><Relationship Id="rId67" Type="http://schemas.openxmlformats.org/officeDocument/2006/relationships/slide" Target="slides/slide3.xml"/><Relationship Id="rId68" Type="http://schemas.openxmlformats.org/officeDocument/2006/relationships/slide" Target="slides/slide4.xml"/><Relationship Id="rId69" Type="http://schemas.openxmlformats.org/officeDocument/2006/relationships/slide" Target="slides/slide5.xml"/><Relationship Id="rId70" Type="http://schemas.openxmlformats.org/officeDocument/2006/relationships/slide" Target="slides/slide6.xml"/><Relationship Id="rId71" Type="http://schemas.openxmlformats.org/officeDocument/2006/relationships/slide" Target="slides/slide7.xml"/><Relationship Id="rId72" Type="http://schemas.openxmlformats.org/officeDocument/2006/relationships/slide" Target="slides/slide8.xml"/><Relationship Id="rId73" Type="http://schemas.openxmlformats.org/officeDocument/2006/relationships/slide" Target="slides/slide9.xml"/><Relationship Id="rId74" Type="http://schemas.openxmlformats.org/officeDocument/2006/relationships/slide" Target="slides/slide10.xml"/><Relationship Id="rId75" Type="http://schemas.openxmlformats.org/officeDocument/2006/relationships/slide" Target="slides/slide11.xml"/><Relationship Id="rId76" Type="http://schemas.openxmlformats.org/officeDocument/2006/relationships/slide" Target="slides/slide12.xml"/><Relationship Id="rId77" Type="http://schemas.openxmlformats.org/officeDocument/2006/relationships/slide" Target="slides/slide13.xml"/><Relationship Id="rId78" Type="http://schemas.openxmlformats.org/officeDocument/2006/relationships/slide" Target="slides/slide14.xml"/><Relationship Id="rId79" Type="http://schemas.openxmlformats.org/officeDocument/2006/relationships/slide" Target="slides/slide15.xml"/><Relationship Id="rId80" Type="http://schemas.openxmlformats.org/officeDocument/2006/relationships/slide" Target="slides/slide16.xml"/><Relationship Id="rId81" Type="http://schemas.openxmlformats.org/officeDocument/2006/relationships/slide" Target="slides/slide17.xml"/><Relationship Id="rId82" Type="http://schemas.openxmlformats.org/officeDocument/2006/relationships/slide" Target="slides/slide18.xml"/><Relationship Id="rId83" Type="http://schemas.openxmlformats.org/officeDocument/2006/relationships/slide" Target="slides/slide19.xml"/><Relationship Id="rId84" Type="http://schemas.openxmlformats.org/officeDocument/2006/relationships/slide" Target="slides/slide20.xml"/><Relationship Id="rId85" Type="http://schemas.openxmlformats.org/officeDocument/2006/relationships/slide" Target="slides/slide21.xml"/><Relationship Id="rId86" Type="http://schemas.openxmlformats.org/officeDocument/2006/relationships/slide" Target="slides/slide22.xml"/><Relationship Id="rId87" Type="http://schemas.openxmlformats.org/officeDocument/2006/relationships/slide" Target="slides/slide23.xml"/><Relationship Id="rId88" Type="http://schemas.openxmlformats.org/officeDocument/2006/relationships/slide" Target="slides/slide24.xml"/><Relationship Id="rId89" Type="http://schemas.openxmlformats.org/officeDocument/2006/relationships/slide" Target="slides/slide25.xml"/><Relationship Id="rId90" Type="http://schemas.openxmlformats.org/officeDocument/2006/relationships/slide" Target="slides/slide26.xml"/><Relationship Id="rId91" Type="http://schemas.openxmlformats.org/officeDocument/2006/relationships/slide" Target="slides/slide27.xml"/><Relationship Id="rId92" Type="http://schemas.openxmlformats.org/officeDocument/2006/relationships/slide" Target="slides/slide28.xml"/><Relationship Id="rId9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8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0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3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6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8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0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7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DBEF65CE-FF90-4F72-AF70-D59785DD3D2B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2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0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1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2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3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9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D74207CD-304D-454C-8638-7564EEEF7015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41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2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3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4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5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1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6F026CC4-72BA-49DE-8D37-EC5EA1362B3E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84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5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6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7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1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4CF15A3C-CB7F-403C-89EB-48D77EE54E9C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80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1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6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7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1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096AB474-18E8-4530-A7FD-54AE6B1E2E08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53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4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6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7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1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2787E466-0DB2-4043-BB40-9D0781BD9F46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68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9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6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7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1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5D382429-657F-4B18-A55A-80803B79994F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60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1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6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7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1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D7D65F85-5466-412D-BE79-08D9630DB414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76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7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6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7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1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6B30C1A3-B400-468B-BBF0-2B73C90E08B4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64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5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6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7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1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20632C24-56BB-4E1C-9A56-34E5ED58A822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72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3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6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7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1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DB6957B5-B813-455F-A08B-060B639C878C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88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9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6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7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3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CD31166B-72E0-4E33-AEE7-0F4E9BEC729D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95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6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7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8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9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2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3264E04D-64C2-44CA-8CEE-2E9618A2FB56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04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5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6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7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8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5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3A619DBF-6C15-4CE3-8161-AAEBF52A3CA5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17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8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9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0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1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5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FD089294-698E-4CDF-A313-973EE6848CB1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27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8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9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30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31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36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9BF1F7CA-0ABB-450D-BD3D-E4228A7685FB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38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9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0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1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2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7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9AA14FF3-0AC9-4EA4-92A1-240F47FF8A91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4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0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1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52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53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40.xml"/><Relationship Id="rId18" Type="http://schemas.openxmlformats.org/officeDocument/2006/relationships/slideLayout" Target="../slideLayouts/slideLayout41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2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3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4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5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6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7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8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9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0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1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2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3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4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5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6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7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8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9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0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1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2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3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4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5.xml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6.xml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7.xml"/>
</Relationships>
</file>

<file path=ppt/slideMasters/_rels/slideMaster60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8.xml"/>
</Relationships>
</file>

<file path=ppt/slideMasters/_rels/slideMaster61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9.xml"/>
</Relationships>
</file>

<file path=ppt/slideMasters/_rels/slideMaster62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0.xml"/>
</Relationships>
</file>

<file path=ppt/slideMasters/_rels/slideMaster63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1.xml"/>
</Relationships>
</file>

<file path=ppt/slideMasters/_rels/slideMaster64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2.xml"/>
</Relationships>
</file>

<file path=ppt/slideMasters/_rels/slideMaster65.xml.rels><?xml version="1.0" encoding="UTF-8"?>
<Relationships xmlns="http://schemas.openxmlformats.org/package/2006/relationships"><Relationship Id="rId1" Type="http://schemas.openxmlformats.org/officeDocument/2006/relationships/theme" Target="../theme/theme5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3.xml"/>
</Relationships>
</file>

<file path=ppt/slideMasters/_rels/slideMaster66.xml.rels><?xml version="1.0" encoding="UTF-8"?>
<Relationships xmlns="http://schemas.openxmlformats.org/package/2006/relationships"><Relationship Id="rId1" Type="http://schemas.openxmlformats.org/officeDocument/2006/relationships/theme" Target="../theme/theme5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4.xml"/>
</Relationships>
</file>

<file path=ppt/slideMasters/_rels/slideMaster67.xml.rels><?xml version="1.0" encoding="UTF-8"?>
<Relationships xmlns="http://schemas.openxmlformats.org/package/2006/relationships"><Relationship Id="rId1" Type="http://schemas.openxmlformats.org/officeDocument/2006/relationships/theme" Target="../theme/theme5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5.xml"/>
</Relationships>
</file>

<file path=ppt/slideMasters/_rels/slideMaster68.xml.rels><?xml version="1.0" encoding="UTF-8"?>
<Relationships xmlns="http://schemas.openxmlformats.org/package/2006/relationships"><Relationship Id="rId1" Type="http://schemas.openxmlformats.org/officeDocument/2006/relationships/theme" Target="../theme/theme6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6.xml"/>
</Relationships>
</file>

<file path=ppt/slideMasters/_rels/slideMaster69.xml.rels><?xml version="1.0" encoding="UTF-8"?>
<Relationships xmlns="http://schemas.openxmlformats.org/package/2006/relationships"><Relationship Id="rId1" Type="http://schemas.openxmlformats.org/officeDocument/2006/relationships/theme" Target="../theme/theme6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7.xml"/>
</Relationships>
</file>

<file path=ppt/slideMasters/_rels/slideMaster70.xml.rels><?xml version="1.0" encoding="UTF-8"?>
<Relationships xmlns="http://schemas.openxmlformats.org/package/2006/relationships"><Relationship Id="rId1" Type="http://schemas.openxmlformats.org/officeDocument/2006/relationships/theme" Target="../theme/theme6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8.xml"/>
</Relationships>
</file>

<file path=ppt/slideMasters/_rels/slideMaster71.xml.rels><?xml version="1.0" encoding="UTF-8"?>
<Relationships xmlns="http://schemas.openxmlformats.org/package/2006/relationships"><Relationship Id="rId1" Type="http://schemas.openxmlformats.org/officeDocument/2006/relationships/theme" Target="../theme/theme6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672AC073-A1E6-405A-8CB4-106BEF8B4F6C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379C6A04-E384-4EB6-8B7F-EA1D2C35FC74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E73F6A4F-BD68-49A5-B45A-B6FC652A4F84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5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14B632A3-5DF0-4528-AB03-D7B3AC5A42FE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1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4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3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3687C937-5EA6-48CE-BFA6-087B15619768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5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8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9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1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97B663C8-FBB0-41D9-9015-8EF1885C03AD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3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6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7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9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8BAA9B65-3B20-462A-A63E-7E1C94554902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1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4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5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9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B0A4C468-02C9-4308-9EDF-05491D51EB55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01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4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5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9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A38ED67C-5CE1-461C-8397-BEF2F5CB5443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11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4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5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82A070B2-CE5F-4C54-9470-6C48F5A13402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23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6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7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E82F0EE1-5D10-4DF8-ABF0-F9014760AE34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35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8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9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7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C57D56BA-6CBA-4D52-9F5E-D70DC5D273DC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4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2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3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7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A21FAA3E-872E-4DE5-BD45-9918AF6FAE57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5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2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3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5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61ADEF24-7FC0-4C10-BB7D-F2387390EA6E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67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0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1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1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857ED2B6-5865-41FA-9392-038A375ED22B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83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6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7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1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2855BD9E-399E-4758-8F46-094E8D2973CA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193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6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7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7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4B4C2FBF-D96D-4B75-884F-9AA41EAD13AE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0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2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3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3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A4DD8FE8-6727-40B1-9917-6A58E6F0336E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25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7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8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9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7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EDF3F953-2C03-4BCC-B5CE-5893F837451A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3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0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2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3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5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FDD0B45F-4C86-4B1C-8293-88FBA440F5FA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57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8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0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1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3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B83856D1-73B9-4888-9532-ED90F4EFD03F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65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6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8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9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4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9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CD6469F7-4DA8-444C-9629-9DDACA979639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81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2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4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5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4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5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47079223-9787-4771-8B35-F060B11C7461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97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8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0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1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4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1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00D817F1-7906-4C2F-A2D2-2C72D0E82B07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313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4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6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7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4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59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57026D80-F0DF-4B44-804D-8D6C281E70C2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61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2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3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4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5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4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9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73272138-EACA-4876-ABF4-08B0A556C3D5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71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2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3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4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5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4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87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422D75B9-9CEE-422F-A791-5AC81D82B38B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48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0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1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2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3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4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9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5E5E345C-2663-413A-AE00-B4B9ED835A91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01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2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3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04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05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4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13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9DD24021-6B31-4B37-8222-801DE425B58A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15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6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7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18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19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4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27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4D73F003-B4FC-4D9E-B00A-FC434F9DC8D0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2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0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1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2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3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4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43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DFA597FB-7D39-4637-821A-F6509C2CD133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45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6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7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48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49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4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61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AC215683-9BAD-49B5-A004-05D47377527B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63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4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5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66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67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4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77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CF05778D-1CE0-4F0F-BF59-6E633A03B055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7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0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1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82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83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4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93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AC57279F-6F80-40F7-A54D-35C9CCADB729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595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6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7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98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99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4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03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3D67C203-F952-464E-9A79-CE44FCE89D0B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05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6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7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08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09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4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19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C893083E-1A89-4996-8229-E87AF43100A8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21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2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3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24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25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4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33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835AA545-CE38-4D56-83BD-A921DA7E4EFD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35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6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7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38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39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4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43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9DB0CE6C-85AC-45DB-B905-3772C8AD9901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45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6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7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48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49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4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57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C3DDACCF-F0F7-4D8B-A8E8-65475CE88045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5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0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1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62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63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4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69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3DA5CE59-796B-498B-A0D9-04F388699058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71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2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3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74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75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4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85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CDEC96B7-9810-4C9F-9B7A-6E2C85DA5563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87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8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9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90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91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4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95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07C4490F-943E-4736-82D5-80D49D1ED1D4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97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8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9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00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01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4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13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954D414F-A051-4B8D-97F7-BDE1445CA5DC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15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6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7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18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19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4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25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2CB192C5-9FCE-46AB-8B55-9C23F104FE43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27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8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9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30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31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4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39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668E0835-757D-4D51-8CCC-CE62B03C6EBF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41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2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3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44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45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4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53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31B4F77F-4F8D-47EB-8D8E-475938DA3070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55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6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7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58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59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4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65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F58E3F28-F963-4EA5-A610-3EAB1ABE709E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67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8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9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70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71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4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77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E9C431D4-92E9-4392-A2EB-A9D40372DB66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7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0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1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82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83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4"/>
  </p:sldLayoutIdLst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91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6DEDE7DB-D949-470F-8873-341CDB340B0F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793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4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5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96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97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4"/>
  </p:sldLayoutIdLst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01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175D3BE4-519C-4813-A581-F01078CD1AAD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03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4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5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06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07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4"/>
  </p:sldLayoutIdLst>
</p:sldMaster>
</file>

<file path=ppt/slideMasters/slideMaster6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09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51E89C11-8895-40F7-944C-3896A7D26230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11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2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3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14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15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4"/>
  </p:sldLayoutIdLst>
</p:sldMaster>
</file>

<file path=ppt/slideMasters/slideMaster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25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9589614E-B5C2-4CA6-BC7A-2B63D979ED76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27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8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9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30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31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4"/>
  </p:sldLayoutIdLst>
</p:sldMaster>
</file>

<file path=ppt/slideMasters/slideMaster6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41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EA1AE6B1-FDBC-4A73-8D3E-E8FBB27BBF09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43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4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5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46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47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4"/>
  </p:sldLayoutIdLst>
</p:sldMaster>
</file>

<file path=ppt/slideMasters/slideMaster6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57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7AB98D60-ACD2-45B7-AF6F-373545931FB8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5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0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1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62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63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4"/>
  </p:sldLayoutIdLst>
</p:sldMaster>
</file>

<file path=ppt/slideMasters/slideMaster6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71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321C2270-D807-4071-8CAE-48E6C2EDF198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73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4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5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76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77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4"/>
  </p:sldLayoutIdLst>
</p:sldMaster>
</file>

<file path=ppt/slideMasters/slideMaster6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89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7800026B-68C8-4239-BD7B-0D9DFA67DB32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91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2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3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94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95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4"/>
  </p:sldLayoutIdLst>
</p:sldMaster>
</file>

<file path=ppt/slideMasters/slideMaster6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97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93BA8D1B-133F-472F-9887-2635DB8F40EF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9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0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1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02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03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4"/>
  </p:sldLayoutIdLst>
</p:sldMaster>
</file>

<file path=ppt/slideMasters/slideMaster6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07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56E2EC14-7A18-40D0-BD5A-40F04F08E114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0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0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1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12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13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4"/>
  </p:sldLayoutIdLst>
</p:sldMaster>
</file>

<file path=ppt/slideMasters/slideMaster6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19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0EF94760-E034-4C84-A518-E91D41890858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21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2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3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24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25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4"/>
  </p:sldLayoutIdLst>
</p:sldMaster>
</file>

<file path=ppt/slideMasters/slideMaster6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31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423276E0-F9C1-4D50-B11F-845C16085EB7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33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4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5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36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37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5" r:id="rId4"/>
  </p:sldLayoutIdLst>
</p:sldMaster>
</file>

<file path=ppt/slideMasters/slideMaster7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45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A64A8765-B7FB-4433-B3D4-2C7D60115BC4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47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8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9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50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51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4"/>
  </p:sldLayoutIdLst>
</p:sldMaster>
</file>

<file path=ppt/slideMasters/slideMaster7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CustomShape 1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55" name="CustomShape 2"/>
          <p:cNvSpPr/>
          <p:nvPr/>
        </p:nvSpPr>
        <p:spPr>
          <a:xfrm>
            <a:off x="11438640" y="6453360"/>
            <a:ext cx="7434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6435EE14-C8C5-4CC3-B919-5D2958D6A7A7}" type="slidenum">
              <a:rPr b="0" lang="en-US" sz="1800" strike="noStrike" u="none">
                <a:solidFill>
                  <a:srgbClr val="808080"/>
                </a:solidFill>
                <a:effectLst/>
                <a:uFillTx/>
                <a:latin typeface="Arial"/>
                <a:ea typeface="DejaVu Sans"/>
              </a:rPr>
              <a:t>&lt;number&gt;</a:t>
            </a:fld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CustomShape 3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57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37320" cy="54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8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83160" cy="4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9" name="CustomShape 4"/>
          <p:cNvSpPr/>
          <p:nvPr/>
        </p:nvSpPr>
        <p:spPr>
          <a:xfrm>
            <a:off x="912240" y="1268280"/>
            <a:ext cx="9193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60" name="CustomShape 5"/>
          <p:cNvSpPr/>
          <p:nvPr/>
        </p:nvSpPr>
        <p:spPr>
          <a:xfrm>
            <a:off x="11444760" y="0"/>
            <a:ext cx="726480" cy="683532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61" name="CustomShape 6"/>
          <p:cNvSpPr/>
          <p:nvPr/>
        </p:nvSpPr>
        <p:spPr>
          <a:xfrm>
            <a:off x="0" y="6642720"/>
            <a:ext cx="1216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a6a6a6"/>
                </a:solidFill>
                <a:effectLst/>
                <a:uFillTx/>
                <a:latin typeface="DejaVu Sans"/>
                <a:ea typeface="DejaVu Sans"/>
              </a:rPr>
              <a:t>The Limits to Growth – TU Clausthal</a:t>
            </a:r>
            <a:endParaRPr b="0" lang="en-GB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creativecommons.org/licenses/by-sa/4.0/" TargetMode="External"/><Relationship Id="rId2" Type="http://schemas.openxmlformats.org/officeDocument/2006/relationships/hyperlink" Target="https://github.com/ETCE-LAB/teaching-material/tree/master/The-Limits-to-Growth" TargetMode="External"/><Relationship Id="rId3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evasys.tu-clausthal.de/evasys/online.php?pswd=DLUXF" TargetMode="Externa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creativecommons.org/licenses/by-sa/4.0/" TargetMode="Externa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s://creativecommons.org/licenses/by-sa/3.0/" TargetMode="Externa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onlinelibrary.wiley.com/doi/epdf/10.1111/jiec.13084" TargetMode="Externa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hyperlink" Target="http://bit-player.org/wp-content/extras/ltg-talk-Harvard/deck.js/limits-to-growth-Harvard-2012-03-30/ltg-talk.html#Forrester-dilemma" TargetMode="External"/><Relationship Id="rId3" Type="http://schemas.openxmlformats.org/officeDocument/2006/relationships/slideLayout" Target="../slideLayouts/slideLayout3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www.bbc.com/future/article/20190218-the-lifespans-of-ancient-civilisations-compared" TargetMode="Externa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5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5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CustomShape 1"/>
          <p:cNvSpPr/>
          <p:nvPr/>
        </p:nvSpPr>
        <p:spPr>
          <a:xfrm>
            <a:off x="527400" y="1412640"/>
            <a:ext cx="10346400" cy="113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</a:pPr>
            <a:r>
              <a:rPr b="1" lang="en-GB" sz="3200" strike="noStrike" u="none">
                <a:solidFill>
                  <a:srgbClr val="008c4f"/>
                </a:solidFill>
                <a:effectLst/>
                <a:uFillTx/>
                <a:latin typeface="DejaVu Sans"/>
                <a:ea typeface="DejaVu Sans"/>
              </a:rPr>
              <a:t>The Limits to Growth: Sustainability and the Circular Economy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CustomShape 2"/>
          <p:cNvSpPr/>
          <p:nvPr/>
        </p:nvSpPr>
        <p:spPr>
          <a:xfrm>
            <a:off x="527400" y="2852640"/>
            <a:ext cx="10346400" cy="23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Lecture 11 – Complex Societies and Technologies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41"/>
              </a:spcBef>
              <a:tabLst>
                <a:tab algn="l" pos="0"/>
              </a:tabLst>
            </a:pP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Prof. Dr. Benjamin Leiding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M.Sc. Anant Sujatanagarjuna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M.Sc. Chintan Patel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CustomShape 3"/>
          <p:cNvSpPr/>
          <p:nvPr/>
        </p:nvSpPr>
        <p:spPr>
          <a:xfrm>
            <a:off x="335520" y="764640"/>
            <a:ext cx="10730520" cy="4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License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CustomShape 4"/>
          <p:cNvSpPr/>
          <p:nvPr/>
        </p:nvSpPr>
        <p:spPr>
          <a:xfrm>
            <a:off x="335520" y="1268280"/>
            <a:ext cx="10730520" cy="50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0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This work is licensed under a </a:t>
            </a: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Creative Commons Attribution-ShareAlike 4.0 International License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. To view a copy of this license, please refer to </a:t>
            </a:r>
            <a:r>
              <a:rPr b="0" lang="en-GB" sz="1800" strike="noStrike" u="sng">
                <a:solidFill>
                  <a:srgbClr val="0000ff"/>
                </a:solidFill>
                <a:effectLst/>
                <a:uFillTx/>
                <a:latin typeface="DejaVu Sans"/>
                <a:ea typeface="DejaVu Sans"/>
                <a:hlinkClick r:id="rId1"/>
              </a:rPr>
              <a:t>https://creativecommons.org/licenses/by-sa/4.0/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80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80000"/>
              <a:buFont typeface="Wingdings" charset="2"/>
              <a:buChar char="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Updated versions of these slides will be available in our </a:t>
            </a:r>
            <a:r>
              <a:rPr b="0" lang="en-GB" sz="1800" strike="noStrike" u="sng">
                <a:solidFill>
                  <a:srgbClr val="0000ff"/>
                </a:solidFill>
                <a:effectLst/>
                <a:uFillTx/>
                <a:latin typeface="DejaVu Sans"/>
                <a:ea typeface="DejaVu Sans"/>
                <a:hlinkClick r:id="rId2"/>
              </a:rPr>
              <a:t>Github repository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CustomShape 10"/>
          <p:cNvSpPr/>
          <p:nvPr/>
        </p:nvSpPr>
        <p:spPr>
          <a:xfrm>
            <a:off x="335520" y="4406760"/>
            <a:ext cx="10729080" cy="13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3000" strike="noStrike" u="none" cap="all">
                <a:solidFill>
                  <a:srgbClr val="008c4f"/>
                </a:solidFill>
                <a:effectLst/>
                <a:uFillTx/>
                <a:latin typeface="Arial Unicode MS"/>
                <a:ea typeface="DejaVu Sans"/>
              </a:rPr>
              <a:t>News/Updates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CustomShape 5"/>
          <p:cNvSpPr/>
          <p:nvPr/>
        </p:nvSpPr>
        <p:spPr>
          <a:xfrm>
            <a:off x="335520" y="2906640"/>
            <a:ext cx="10729080" cy="14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CustomShape 51"/>
          <p:cNvSpPr/>
          <p:nvPr/>
        </p:nvSpPr>
        <p:spPr>
          <a:xfrm>
            <a:off x="335520" y="764640"/>
            <a:ext cx="10729800" cy="4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de-DE" sz="2400" strike="noStrike" u="none">
                <a:solidFill>
                  <a:srgbClr val="000000"/>
                </a:solidFill>
                <a:effectLst/>
                <a:uFillTx/>
                <a:latin typeface="Arial Unicode MS"/>
                <a:ea typeface="DejaVu Sans"/>
              </a:rPr>
              <a:t>Course Evaluation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CustomShape 6"/>
          <p:cNvSpPr/>
          <p:nvPr/>
        </p:nvSpPr>
        <p:spPr>
          <a:xfrm>
            <a:off x="487800" y="1420920"/>
            <a:ext cx="5591880" cy="5032440"/>
          </a:xfrm>
          <a:prstGeom prst="rect">
            <a:avLst/>
          </a:prstGeom>
          <a:noFill/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360"/>
              </a:spcBef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5120" indent="-190800" defTabSz="9144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115000"/>
              <a:buFont typeface="Wingdings" charset="2"/>
              <a:buChar char=""/>
            </a:pPr>
            <a:r>
              <a:rPr b="0" lang="de-DE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Link: </a:t>
            </a:r>
            <a:r>
              <a:rPr b="0" lang="de-DE" sz="1800" strike="noStrike" u="sng">
                <a:solidFill>
                  <a:srgbClr val="0000ee"/>
                </a:solidFill>
                <a:effectLst/>
                <a:uFillTx/>
                <a:latin typeface="Arial"/>
                <a:ea typeface="DejaVu Sans"/>
                <a:hlinkClick r:id="rId1"/>
              </a:rPr>
              <a:t>Click Me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0" name="" descr=""/>
          <p:cNvPicPr/>
          <p:nvPr/>
        </p:nvPicPr>
        <p:blipFill>
          <a:blip r:embed="rId2"/>
          <a:stretch/>
        </p:blipFill>
        <p:spPr>
          <a:xfrm>
            <a:off x="6660000" y="1620000"/>
            <a:ext cx="4262760" cy="4262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CustomShape 42"/>
          <p:cNvSpPr/>
          <p:nvPr/>
        </p:nvSpPr>
        <p:spPr>
          <a:xfrm>
            <a:off x="335520" y="4406760"/>
            <a:ext cx="10729080" cy="13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3000" strike="noStrike" u="none" cap="all">
                <a:solidFill>
                  <a:srgbClr val="008c4f"/>
                </a:solidFill>
                <a:effectLst/>
                <a:uFillTx/>
                <a:latin typeface="Arial Unicode MS"/>
                <a:ea typeface="DejaVu Sans"/>
              </a:rPr>
              <a:t>Introduction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CustomShape 7"/>
          <p:cNvSpPr/>
          <p:nvPr/>
        </p:nvSpPr>
        <p:spPr>
          <a:xfrm>
            <a:off x="335520" y="2906640"/>
            <a:ext cx="10729080" cy="14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CustomShape 12"/>
          <p:cNvSpPr/>
          <p:nvPr/>
        </p:nvSpPr>
        <p:spPr>
          <a:xfrm>
            <a:off x="335520" y="764640"/>
            <a:ext cx="1073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Introduction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CustomShape 8"/>
          <p:cNvSpPr/>
          <p:nvPr/>
        </p:nvSpPr>
        <p:spPr>
          <a:xfrm>
            <a:off x="432720" y="1148040"/>
            <a:ext cx="103392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Finite Systems – Sandbox / Playground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CustomShape 9"/>
          <p:cNvSpPr/>
          <p:nvPr/>
        </p:nvSpPr>
        <p:spPr>
          <a:xfrm>
            <a:off x="263520" y="6492240"/>
            <a:ext cx="10609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9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Al Silonov – https://commons.wikimedia.org/wiki/File:Sandbox-2013.jpg – </a:t>
            </a:r>
            <a:r>
              <a:rPr b="0" lang="en-GB" sz="900" strike="noStrike" u="sng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1"/>
              </a:rPr>
              <a:t>CC BY-SA 4.0</a:t>
            </a:r>
            <a:r>
              <a:rPr b="0" lang="en-GB" sz="9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.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6" name="Grafik 2" descr=""/>
          <p:cNvPicPr/>
          <p:nvPr/>
        </p:nvPicPr>
        <p:blipFill>
          <a:blip r:embed="rId2"/>
          <a:stretch/>
        </p:blipFill>
        <p:spPr>
          <a:xfrm>
            <a:off x="2103120" y="2216880"/>
            <a:ext cx="7436880" cy="3813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CustomShape 11"/>
          <p:cNvSpPr/>
          <p:nvPr/>
        </p:nvSpPr>
        <p:spPr>
          <a:xfrm>
            <a:off x="335520" y="764640"/>
            <a:ext cx="1073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Introduction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CustomShape 13"/>
          <p:cNvSpPr/>
          <p:nvPr/>
        </p:nvSpPr>
        <p:spPr>
          <a:xfrm>
            <a:off x="432720" y="1148040"/>
            <a:ext cx="103392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Lotka–Volterra Equations (Predator–Prey Equations)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CustomShape 14"/>
          <p:cNvSpPr/>
          <p:nvPr/>
        </p:nvSpPr>
        <p:spPr>
          <a:xfrm>
            <a:off x="263520" y="6492240"/>
            <a:ext cx="10609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9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Gisling – https://commons.wikimedia.org/wiki/File:Lotka_Volterra_equation_Maple_plot.png – </a:t>
            </a:r>
            <a:r>
              <a:rPr b="0" lang="en-GB" sz="900" strike="noStrike" u="sng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1"/>
              </a:rPr>
              <a:t>CC BY-SA 3.0</a:t>
            </a:r>
            <a:r>
              <a:rPr b="0" lang="en-GB" sz="9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.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0" name="Grafik 1" descr=""/>
          <p:cNvPicPr/>
          <p:nvPr/>
        </p:nvPicPr>
        <p:blipFill>
          <a:blip r:embed="rId2"/>
          <a:stretch/>
        </p:blipFill>
        <p:spPr>
          <a:xfrm>
            <a:off x="914400" y="2468880"/>
            <a:ext cx="9504720" cy="332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CustomShape 15"/>
          <p:cNvSpPr/>
          <p:nvPr/>
        </p:nvSpPr>
        <p:spPr>
          <a:xfrm>
            <a:off x="335520" y="764640"/>
            <a:ext cx="1073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Introduction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CustomShape 16"/>
          <p:cNvSpPr/>
          <p:nvPr/>
        </p:nvSpPr>
        <p:spPr>
          <a:xfrm>
            <a:off x="432720" y="1148040"/>
            <a:ext cx="103392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World3 Standard Run – Business-as-Usual2 (BAU2)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CustomShape 17"/>
          <p:cNvSpPr/>
          <p:nvPr/>
        </p:nvSpPr>
        <p:spPr>
          <a:xfrm>
            <a:off x="274320" y="6447960"/>
            <a:ext cx="111474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9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Image recreated from: Gaya Herrington (2020) – Update to limits to growth: Comparing the World3 model with empirical data – </a:t>
            </a:r>
            <a:r>
              <a:rPr b="0" lang="en-GB" sz="900" strike="noStrike" u="sng">
                <a:solidFill>
                  <a:srgbClr val="0000ff"/>
                </a:solidFill>
                <a:effectLst/>
                <a:uFillTx/>
                <a:latin typeface="Roboto"/>
                <a:ea typeface="Roboto"/>
                <a:hlinkClick r:id="rId1"/>
              </a:rPr>
              <a:t>Link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CustomShape 18"/>
          <p:cNvSpPr/>
          <p:nvPr/>
        </p:nvSpPr>
        <p:spPr>
          <a:xfrm>
            <a:off x="1503000" y="5971320"/>
            <a:ext cx="7877880" cy="61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→ Collapse due to pollution (climate change equivalent)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5" name="Grafik 3" descr=""/>
          <p:cNvPicPr/>
          <p:nvPr/>
        </p:nvPicPr>
        <p:blipFill>
          <a:blip r:embed="rId2"/>
          <a:stretch/>
        </p:blipFill>
        <p:spPr>
          <a:xfrm>
            <a:off x="1719000" y="1755720"/>
            <a:ext cx="7192080" cy="4150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CustomShape 20"/>
          <p:cNvSpPr/>
          <p:nvPr/>
        </p:nvSpPr>
        <p:spPr>
          <a:xfrm>
            <a:off x="335520" y="764640"/>
            <a:ext cx="1073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Introduction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CustomShape 19"/>
          <p:cNvSpPr/>
          <p:nvPr/>
        </p:nvSpPr>
        <p:spPr>
          <a:xfrm>
            <a:off x="432720" y="1148040"/>
            <a:ext cx="103392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Forrester’s Dilemma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8" name="Grafik 4" descr=""/>
          <p:cNvPicPr/>
          <p:nvPr/>
        </p:nvPicPr>
        <p:blipFill>
          <a:blip r:embed="rId1"/>
          <a:stretch/>
        </p:blipFill>
        <p:spPr>
          <a:xfrm>
            <a:off x="3200760" y="1737360"/>
            <a:ext cx="5390640" cy="331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9" name="CustomShape 24"/>
          <p:cNvSpPr/>
          <p:nvPr/>
        </p:nvSpPr>
        <p:spPr>
          <a:xfrm>
            <a:off x="263520" y="6492240"/>
            <a:ext cx="106092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9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Image recreated from: Brian Hayes (2012) – Computation and the Human Condition (Harvard SEAS)  – </a:t>
            </a:r>
            <a:r>
              <a:rPr b="0" lang="en-GB" sz="900" strike="noStrike" u="sng">
                <a:solidFill>
                  <a:srgbClr val="0000ee"/>
                </a:solidFill>
                <a:effectLst/>
                <a:uFillTx/>
                <a:latin typeface="Roboto"/>
                <a:ea typeface="Roboto"/>
                <a:hlinkClick r:id="rId2"/>
              </a:rPr>
              <a:t>Link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CustomShape 25"/>
          <p:cNvSpPr/>
          <p:nvPr/>
        </p:nvSpPr>
        <p:spPr>
          <a:xfrm>
            <a:off x="263520" y="5486400"/>
            <a:ext cx="10597320" cy="10018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008c4f"/>
            </a:solidFill>
            <a:rou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91" name="TextShape 1"/>
          <p:cNvSpPr/>
          <p:nvPr/>
        </p:nvSpPr>
        <p:spPr>
          <a:xfrm>
            <a:off x="457200" y="5669280"/>
            <a:ext cx="10328760" cy="63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“One can forecast future conditions in the region where action is not effective, and one can have influence in the region where forecasting is not reliable.” – Forrester, 2007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CustomShape 81"/>
          <p:cNvSpPr/>
          <p:nvPr/>
        </p:nvSpPr>
        <p:spPr>
          <a:xfrm>
            <a:off x="335520" y="764640"/>
            <a:ext cx="1073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Introduction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CustomShape 91"/>
          <p:cNvSpPr/>
          <p:nvPr/>
        </p:nvSpPr>
        <p:spPr>
          <a:xfrm>
            <a:off x="335520" y="1268280"/>
            <a:ext cx="10733760" cy="50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94" name="CustomShape 92"/>
          <p:cNvSpPr/>
          <p:nvPr/>
        </p:nvSpPr>
        <p:spPr>
          <a:xfrm>
            <a:off x="432720" y="1148040"/>
            <a:ext cx="103392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Ancient Civilizations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CustomShape 94"/>
          <p:cNvSpPr/>
          <p:nvPr/>
        </p:nvSpPr>
        <p:spPr>
          <a:xfrm>
            <a:off x="263520" y="6492240"/>
            <a:ext cx="495540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9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Image recreated from BBC (2019) —  </a:t>
            </a:r>
            <a:r>
              <a:rPr b="0" lang="en-GB" sz="900" strike="noStrike" u="none">
                <a:solidFill>
                  <a:srgbClr val="0000ee"/>
                </a:solidFill>
                <a:effectLst/>
                <a:uFillTx/>
                <a:latin typeface="Roboto"/>
                <a:ea typeface="Roboto"/>
                <a:hlinkClick r:id="rId1"/>
              </a:rPr>
              <a:t>Link</a:t>
            </a:r>
            <a:r>
              <a:rPr b="0" lang="en-GB" sz="9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  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6" name="" descr=""/>
          <p:cNvPicPr/>
          <p:nvPr/>
        </p:nvPicPr>
        <p:blipFill>
          <a:blip r:embed="rId2"/>
          <a:stretch/>
        </p:blipFill>
        <p:spPr>
          <a:xfrm>
            <a:off x="5783400" y="686160"/>
            <a:ext cx="8457480" cy="5864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CustomShape 23"/>
          <p:cNvSpPr/>
          <p:nvPr/>
        </p:nvSpPr>
        <p:spPr>
          <a:xfrm>
            <a:off x="335520" y="764640"/>
            <a:ext cx="1073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Age of Empires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CustomShape 26"/>
          <p:cNvSpPr/>
          <p:nvPr/>
        </p:nvSpPr>
        <p:spPr>
          <a:xfrm>
            <a:off x="335520" y="1268280"/>
            <a:ext cx="10733760" cy="50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99" name="CustomShape 93"/>
          <p:cNvSpPr/>
          <p:nvPr/>
        </p:nvSpPr>
        <p:spPr>
          <a:xfrm>
            <a:off x="432720" y="1148040"/>
            <a:ext cx="103392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How do History’s empires compare?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CustomShape 95"/>
          <p:cNvSpPr/>
          <p:nvPr/>
        </p:nvSpPr>
        <p:spPr>
          <a:xfrm>
            <a:off x="263520" y="6432840"/>
            <a:ext cx="5679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9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Image recreated from Brian Hay From J. Schwochow’s ‘The World Explained in 264 Infographics’ (2021)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1" name="" descr=""/>
          <p:cNvPicPr/>
          <p:nvPr/>
        </p:nvPicPr>
        <p:blipFill>
          <a:blip r:embed="rId1"/>
          <a:stretch/>
        </p:blipFill>
        <p:spPr>
          <a:xfrm>
            <a:off x="152640" y="569880"/>
            <a:ext cx="11277000" cy="583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2" name=""/>
          <p:cNvSpPr/>
          <p:nvPr/>
        </p:nvSpPr>
        <p:spPr>
          <a:xfrm>
            <a:off x="457200" y="2057400"/>
            <a:ext cx="70862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DejaVu Sans"/>
              </a:rPr>
              <a:t>Empires don’t grow and collapse at a steady rate; they grow in hops and jumps and frequently collapse all at once (there’s often blood involved). This chart shows peak size, start and end dates, and symbolic rise and decline.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CustomShape 27"/>
          <p:cNvSpPr/>
          <p:nvPr/>
        </p:nvSpPr>
        <p:spPr>
          <a:xfrm>
            <a:off x="335520" y="4406760"/>
            <a:ext cx="10729080" cy="13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3000" strike="noStrike" u="none" cap="all">
                <a:solidFill>
                  <a:srgbClr val="008c4f"/>
                </a:solidFill>
                <a:effectLst/>
                <a:uFillTx/>
                <a:latin typeface="Arial Unicode MS"/>
                <a:ea typeface="DejaVu Sans"/>
              </a:rPr>
              <a:t>Task 1 – what is Collapse gonna Look Like?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GB" sz="3000" strike="noStrike" u="none" cap="all">
                <a:solidFill>
                  <a:srgbClr val="008c4f"/>
                </a:solidFill>
                <a:effectLst/>
                <a:uFillTx/>
                <a:latin typeface="Arial Unicode MS"/>
                <a:ea typeface="DejaVu Sans"/>
              </a:rPr>
              <a:t>(20min)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CustomShape 28"/>
          <p:cNvSpPr/>
          <p:nvPr/>
        </p:nvSpPr>
        <p:spPr>
          <a:xfrm>
            <a:off x="335520" y="2906640"/>
            <a:ext cx="10729080" cy="14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CustomShape 29"/>
          <p:cNvSpPr/>
          <p:nvPr/>
        </p:nvSpPr>
        <p:spPr>
          <a:xfrm>
            <a:off x="335520" y="4406760"/>
            <a:ext cx="10729080" cy="13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3000" strike="noStrike" u="none" cap="all">
                <a:solidFill>
                  <a:srgbClr val="008c4f"/>
                </a:solidFill>
                <a:effectLst/>
                <a:uFillTx/>
                <a:latin typeface="Arial Unicode MS"/>
                <a:ea typeface="DejaVu Sans"/>
              </a:rPr>
              <a:t>Catabolic Collapse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CustomShape 30"/>
          <p:cNvSpPr/>
          <p:nvPr/>
        </p:nvSpPr>
        <p:spPr>
          <a:xfrm>
            <a:off x="335520" y="2906640"/>
            <a:ext cx="10729080" cy="14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CustomShape 31"/>
          <p:cNvSpPr/>
          <p:nvPr/>
        </p:nvSpPr>
        <p:spPr>
          <a:xfrm>
            <a:off x="335520" y="764640"/>
            <a:ext cx="1073700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Catabolic Collapse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CustomShape 32"/>
          <p:cNvSpPr/>
          <p:nvPr/>
        </p:nvSpPr>
        <p:spPr>
          <a:xfrm>
            <a:off x="342360" y="1268640"/>
            <a:ext cx="10627560" cy="502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“A society has collapsed when it displays a rapid, significant loss of an established level of sociopolitical complexity”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CustomShape 33"/>
          <p:cNvSpPr/>
          <p:nvPr/>
        </p:nvSpPr>
        <p:spPr>
          <a:xfrm>
            <a:off x="372600" y="2834640"/>
            <a:ext cx="10597320" cy="19152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008c4f"/>
            </a:solidFill>
            <a:rou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10" name="CustomShape 34"/>
          <p:cNvSpPr/>
          <p:nvPr/>
        </p:nvSpPr>
        <p:spPr>
          <a:xfrm>
            <a:off x="263520" y="6492240"/>
            <a:ext cx="10609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9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Joseph Tainter (1988) – The Collapse of Complex Societies. Cambridge University Press.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CustomShape 35"/>
          <p:cNvSpPr/>
          <p:nvPr/>
        </p:nvSpPr>
        <p:spPr>
          <a:xfrm>
            <a:off x="432720" y="1148040"/>
            <a:ext cx="103392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Collapse 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CustomShape 36"/>
          <p:cNvSpPr/>
          <p:nvPr/>
        </p:nvSpPr>
        <p:spPr>
          <a:xfrm>
            <a:off x="335520" y="764640"/>
            <a:ext cx="1073700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Catabolic Collapse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CustomShape 37"/>
          <p:cNvSpPr/>
          <p:nvPr/>
        </p:nvSpPr>
        <p:spPr>
          <a:xfrm>
            <a:off x="342360" y="1268640"/>
            <a:ext cx="10627560" cy="502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“Relationships among </a:t>
            </a:r>
            <a:r>
              <a:rPr b="1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resources</a:t>
            </a:r>
            <a:r>
              <a:rPr b="0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, </a:t>
            </a:r>
            <a:r>
              <a:rPr b="1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capital</a:t>
            </a:r>
            <a:r>
              <a:rPr b="0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, </a:t>
            </a:r>
            <a:r>
              <a:rPr b="1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waste</a:t>
            </a:r>
            <a:r>
              <a:rPr b="0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, and </a:t>
            </a:r>
            <a:r>
              <a:rPr b="1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production</a:t>
            </a:r>
            <a:r>
              <a:rPr b="0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form the basis for an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ecological model of </a:t>
            </a:r>
            <a:r>
              <a:rPr b="1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collapse</a:t>
            </a:r>
            <a:r>
              <a:rPr b="0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in which production fails to meet maintenance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requirements for existing capital. </a:t>
            </a:r>
            <a:r>
              <a:rPr b="1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Societies</a:t>
            </a:r>
            <a:r>
              <a:rPr b="0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facing such crises after </a:t>
            </a:r>
            <a:r>
              <a:rPr b="1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having depleted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essential resources risk catabolic collapse</a:t>
            </a:r>
            <a:r>
              <a:rPr b="0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, a self-reinforcing cycle of contraction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converting most capital to waste.”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CustomShape 38"/>
          <p:cNvSpPr/>
          <p:nvPr/>
        </p:nvSpPr>
        <p:spPr>
          <a:xfrm>
            <a:off x="372600" y="2834640"/>
            <a:ext cx="10597320" cy="19152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008c4f"/>
            </a:solidFill>
            <a:rou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15" name="CustomShape 39"/>
          <p:cNvSpPr/>
          <p:nvPr/>
        </p:nvSpPr>
        <p:spPr>
          <a:xfrm>
            <a:off x="263520" y="6492240"/>
            <a:ext cx="10609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9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John Michael Greer (2015) – How Civilizations Fall: A Theory of Catabolic Collapse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CustomShape 40"/>
          <p:cNvSpPr/>
          <p:nvPr/>
        </p:nvSpPr>
        <p:spPr>
          <a:xfrm>
            <a:off x="432720" y="1148040"/>
            <a:ext cx="103392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Definition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CustomShape 41"/>
          <p:cNvSpPr/>
          <p:nvPr/>
        </p:nvSpPr>
        <p:spPr>
          <a:xfrm>
            <a:off x="335520" y="764640"/>
            <a:ext cx="1073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Catabolic Collapse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CustomShape 43"/>
          <p:cNvSpPr/>
          <p:nvPr/>
        </p:nvSpPr>
        <p:spPr>
          <a:xfrm>
            <a:off x="335520" y="1268280"/>
            <a:ext cx="10733760" cy="50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Resources (R)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Naturally occurring exploitable factors in the environment 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Not (yet) extracted/incorporated into the society’s flows of energy and material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E.g., not yet mined minerals, soil fertility, human resources (not yet working), etc.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Capital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All factors from whatever source that have been incorporated into the society’s flows of energy and material but are capable of further use.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E.g., food, tools, buildings, human capital (labourers), etc. 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CustomShape 44"/>
          <p:cNvSpPr/>
          <p:nvPr/>
        </p:nvSpPr>
        <p:spPr>
          <a:xfrm>
            <a:off x="432720" y="1148040"/>
            <a:ext cx="103392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Theory – Resources and Capital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CustomShape 45"/>
          <p:cNvSpPr/>
          <p:nvPr/>
        </p:nvSpPr>
        <p:spPr>
          <a:xfrm>
            <a:off x="263520" y="6492240"/>
            <a:ext cx="10609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9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John Michael Greer (2015) – How Civilizations Fall: A Theory of Catabolic Collapse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CustomShape 46"/>
          <p:cNvSpPr/>
          <p:nvPr/>
        </p:nvSpPr>
        <p:spPr>
          <a:xfrm>
            <a:off x="335520" y="764640"/>
            <a:ext cx="1073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Catabolic Collapse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CustomShape 47"/>
          <p:cNvSpPr/>
          <p:nvPr/>
        </p:nvSpPr>
        <p:spPr>
          <a:xfrm>
            <a:off x="335520" y="1268280"/>
            <a:ext cx="10733760" cy="50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Waste (W)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Energy and material that have been incorporated into society but are now exploited to the point that they are incapable of further use.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Also → pollution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Production (P)</a:t>
            </a: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 is the process by which existing capital and resources are combined to create new capital and waste.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CustomShape 48"/>
          <p:cNvSpPr/>
          <p:nvPr/>
        </p:nvSpPr>
        <p:spPr>
          <a:xfrm>
            <a:off x="432720" y="1148040"/>
            <a:ext cx="103392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Theory – Waste and Production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CustomShape 49"/>
          <p:cNvSpPr/>
          <p:nvPr/>
        </p:nvSpPr>
        <p:spPr>
          <a:xfrm>
            <a:off x="263520" y="6492240"/>
            <a:ext cx="10609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9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John Michael Greer (2015) – How Civilizations Fall: A Theory of Catabolic Collapse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CustomShape 50"/>
          <p:cNvSpPr/>
          <p:nvPr/>
        </p:nvSpPr>
        <p:spPr>
          <a:xfrm>
            <a:off x="335520" y="764640"/>
            <a:ext cx="1073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Catabolic Collapse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CustomShape 52"/>
          <p:cNvSpPr/>
          <p:nvPr/>
        </p:nvSpPr>
        <p:spPr>
          <a:xfrm>
            <a:off x="335520" y="1268280"/>
            <a:ext cx="10733760" cy="50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C(p) = M(p)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C(p) is new capital produced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M(p) is maintenance of production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C(p) = M(p) = W(p) + W(c) == steady state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W(p) is existing capital converted to waste in the production of new capital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W(c) is existing capital converted to waste outside of production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C(p) &gt; M(p) == expansion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C(p) &lt; M(p) == contraction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CustomShape 53"/>
          <p:cNvSpPr/>
          <p:nvPr/>
        </p:nvSpPr>
        <p:spPr>
          <a:xfrm>
            <a:off x="432720" y="1148040"/>
            <a:ext cx="103392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Theory – Production vs. Maintenance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CustomShape 54"/>
          <p:cNvSpPr/>
          <p:nvPr/>
        </p:nvSpPr>
        <p:spPr>
          <a:xfrm>
            <a:off x="263520" y="6492240"/>
            <a:ext cx="10609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9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John Michael Greer (2015) – How Civilizations Fall: A Theory of Catabolic Collapse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CustomShape 60"/>
          <p:cNvSpPr/>
          <p:nvPr/>
        </p:nvSpPr>
        <p:spPr>
          <a:xfrm>
            <a:off x="335520" y="764640"/>
            <a:ext cx="1073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Catabolic Collapse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CustomShape 55"/>
          <p:cNvSpPr/>
          <p:nvPr/>
        </p:nvSpPr>
        <p:spPr>
          <a:xfrm>
            <a:off x="335520" y="1268280"/>
            <a:ext cx="10733760" cy="50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C(p) = M(p)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C(p) is new capital produced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M(p) is maintenance of production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C(p) = M(p) = W(p) + W(c) == steady state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W(p) is existing capital converted to waste in the production of new capital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W(c) is existing capital converted to waste outside of production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C(p) &gt; M(p) == expansion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C(p) &lt; M(p) == contraction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1" name="CustomShape 56"/>
          <p:cNvSpPr/>
          <p:nvPr/>
        </p:nvSpPr>
        <p:spPr>
          <a:xfrm>
            <a:off x="432720" y="1148040"/>
            <a:ext cx="103392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Theory – Production vs. Maintenance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CustomShape 57"/>
          <p:cNvSpPr/>
          <p:nvPr/>
        </p:nvSpPr>
        <p:spPr>
          <a:xfrm>
            <a:off x="263520" y="6492240"/>
            <a:ext cx="10609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9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John Michael Greer (2015) – How Civilizations Fall: A Theory of Catabolic Collapse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CustomShape 61"/>
          <p:cNvSpPr/>
          <p:nvPr/>
        </p:nvSpPr>
        <p:spPr>
          <a:xfrm>
            <a:off x="335520" y="764640"/>
            <a:ext cx="1073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Catabolic Collapse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CustomShape 62"/>
          <p:cNvSpPr/>
          <p:nvPr/>
        </p:nvSpPr>
        <p:spPr>
          <a:xfrm>
            <a:off x="335520" y="1268280"/>
            <a:ext cx="10733760" cy="50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C(p) = M(p)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C(p) is new capital produced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M(p) is maintenance of production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C(p) = M(p) = W(p) + W(c) == steady state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W(p) is existing capital converted to waste in the production of new capital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W(c) is existing capital converted to waste outside of production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C(p) &gt; M(p) == expansion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C(p) &lt; M(p) == contraction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CustomShape 63"/>
          <p:cNvSpPr/>
          <p:nvPr/>
        </p:nvSpPr>
        <p:spPr>
          <a:xfrm>
            <a:off x="432720" y="1148040"/>
            <a:ext cx="103392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Theory – Production vs. Maintenance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CustomShape 64"/>
          <p:cNvSpPr/>
          <p:nvPr/>
        </p:nvSpPr>
        <p:spPr>
          <a:xfrm>
            <a:off x="263520" y="6492240"/>
            <a:ext cx="10609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9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John Michael Greer (2015) – How Civilizations Fall: A Theory of Catabolic Collapse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CustomShape 58"/>
          <p:cNvSpPr/>
          <p:nvPr/>
        </p:nvSpPr>
        <p:spPr>
          <a:xfrm>
            <a:off x="335520" y="764640"/>
            <a:ext cx="1073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Catabolic Collapse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CustomShape 59"/>
          <p:cNvSpPr/>
          <p:nvPr/>
        </p:nvSpPr>
        <p:spPr>
          <a:xfrm>
            <a:off x="335520" y="1268280"/>
            <a:ext cx="10733760" cy="50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C(p) = M(p)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C(p) is new capital produced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M(p) is maintenance of production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C(p) = M(p) = W(p) + W(c) == steady state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W(p) is existing capital converted to waste in the production of new capital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W(c) is existing capital converted to waste outside of production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C(p) &gt; M(p) == expansion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C(p) &lt; M(p) == contraction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CustomShape 65"/>
          <p:cNvSpPr/>
          <p:nvPr/>
        </p:nvSpPr>
        <p:spPr>
          <a:xfrm>
            <a:off x="432720" y="1148040"/>
            <a:ext cx="103392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Theory – Production vs. Maintenance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CustomShape 66"/>
          <p:cNvSpPr/>
          <p:nvPr/>
        </p:nvSpPr>
        <p:spPr>
          <a:xfrm>
            <a:off x="263520" y="6492240"/>
            <a:ext cx="10609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9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John Michael Greer (2015) – How Civilizations Fall: A Theory of Catabolic Collapse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CustomShape 68"/>
          <p:cNvSpPr/>
          <p:nvPr/>
        </p:nvSpPr>
        <p:spPr>
          <a:xfrm>
            <a:off x="335520" y="764640"/>
            <a:ext cx="1073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Catabolic Collapse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CustomShape 67"/>
          <p:cNvSpPr/>
          <p:nvPr/>
        </p:nvSpPr>
        <p:spPr>
          <a:xfrm>
            <a:off x="335520" y="1268280"/>
            <a:ext cx="10733760" cy="50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r(R)  → replenishment rate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d(R) → depletion rate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d(R) / r(R) &gt; 1 → resources become depleted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Liebig’s law of the minimum: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800" strike="noStrike" u="none">
                <a:solidFill>
                  <a:srgbClr val="ffffff"/>
                </a:solidFill>
                <a:effectLst/>
                <a:uFillTx/>
                <a:latin typeface="DejaVu Sans"/>
                <a:ea typeface="DejaVu Sans"/>
              </a:rPr>
              <a:t>Essential resource with the highest value for d(R)/r(R) may be used as a working value of d(R)/r(R) for resources as a whole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CustomShape 72"/>
          <p:cNvSpPr/>
          <p:nvPr/>
        </p:nvSpPr>
        <p:spPr>
          <a:xfrm>
            <a:off x="432720" y="1148040"/>
            <a:ext cx="103392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Theory – Replenishment vs. Depletion 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CustomShape 73"/>
          <p:cNvSpPr/>
          <p:nvPr/>
        </p:nvSpPr>
        <p:spPr>
          <a:xfrm>
            <a:off x="263520" y="6492240"/>
            <a:ext cx="10609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9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John Michael Greer (2015) – How Civilizations Fall: A Theory of Catabolic Collapse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CustomShape 69"/>
          <p:cNvSpPr/>
          <p:nvPr/>
        </p:nvSpPr>
        <p:spPr>
          <a:xfrm>
            <a:off x="335520" y="764640"/>
            <a:ext cx="1073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Catabolic Collapse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CustomShape 70"/>
          <p:cNvSpPr/>
          <p:nvPr/>
        </p:nvSpPr>
        <p:spPr>
          <a:xfrm>
            <a:off x="335520" y="1268280"/>
            <a:ext cx="10733760" cy="50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r(R)  → replenishment rate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d(R) → depletion rate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d(R) / r(R) &gt; 1 → resources become depleted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Liebig’s law of the minimum: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Essential resource with the highest value for d(R)/r(R) may be used as a working value of d(R)/r(R) for resources as a whole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CustomShape 71"/>
          <p:cNvSpPr/>
          <p:nvPr/>
        </p:nvSpPr>
        <p:spPr>
          <a:xfrm>
            <a:off x="432720" y="1148040"/>
            <a:ext cx="103392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Theory – Replenishment vs. Depletion 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8" name="CustomShape 74"/>
          <p:cNvSpPr/>
          <p:nvPr/>
        </p:nvSpPr>
        <p:spPr>
          <a:xfrm>
            <a:off x="263520" y="6492240"/>
            <a:ext cx="10609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9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John Michael Greer (2015) – How Civilizations Fall: A Theory of Catabolic Collapse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CustomShape 75"/>
          <p:cNvSpPr/>
          <p:nvPr/>
        </p:nvSpPr>
        <p:spPr>
          <a:xfrm>
            <a:off x="335520" y="764640"/>
            <a:ext cx="1073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Catabolic Collapse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CustomShape 76"/>
          <p:cNvSpPr/>
          <p:nvPr/>
        </p:nvSpPr>
        <p:spPr>
          <a:xfrm>
            <a:off x="335520" y="1268280"/>
            <a:ext cx="10733760" cy="50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C(p) &lt; M(p) → contraction, but also </a:t>
            </a: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maintenance crisis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d(R) / r(R) &gt; 1 → contraction, but also </a:t>
            </a:r>
            <a:r>
              <a:rPr b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depletion crisis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1" name="CustomShape 77"/>
          <p:cNvSpPr/>
          <p:nvPr/>
        </p:nvSpPr>
        <p:spPr>
          <a:xfrm>
            <a:off x="432720" y="1148040"/>
            <a:ext cx="103392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Theory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CustomShape 79"/>
          <p:cNvSpPr/>
          <p:nvPr/>
        </p:nvSpPr>
        <p:spPr>
          <a:xfrm>
            <a:off x="263520" y="6492240"/>
            <a:ext cx="10609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9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John Michael Greer (2015) – How Civilizations Fall: A Theory of Catabolic Collapse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CustomShape 80"/>
          <p:cNvSpPr/>
          <p:nvPr/>
        </p:nvSpPr>
        <p:spPr>
          <a:xfrm>
            <a:off x="335520" y="764640"/>
            <a:ext cx="1073700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Catabolic Collapse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CustomShape 82"/>
          <p:cNvSpPr/>
          <p:nvPr/>
        </p:nvSpPr>
        <p:spPr>
          <a:xfrm>
            <a:off x="342360" y="1268640"/>
            <a:ext cx="10627560" cy="502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“</a:t>
            </a:r>
            <a:r>
              <a:rPr b="1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A self-reinforcing process in which C(p) stays below M(p) while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both decline</a:t>
            </a:r>
            <a:r>
              <a:rPr b="0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. Catabolic cycles may occur in maintenance crises if the gap between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C(p) and M(p) is large enough, but tend to be self-limiting in such cases. </a:t>
            </a:r>
            <a:r>
              <a:rPr b="1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In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depletion crises, by contrast, catabolic cycles can proceed to catabolic collapse</a:t>
            </a:r>
            <a:r>
              <a:rPr b="0" i="1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, in which C(p) approaches zero and most of a society’s capital is converted to waste.”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CustomShape 83"/>
          <p:cNvSpPr/>
          <p:nvPr/>
        </p:nvSpPr>
        <p:spPr>
          <a:xfrm>
            <a:off x="372600" y="2834640"/>
            <a:ext cx="10597320" cy="19152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008c4f"/>
            </a:solidFill>
            <a:rou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56" name="CustomShape 84"/>
          <p:cNvSpPr/>
          <p:nvPr/>
        </p:nvSpPr>
        <p:spPr>
          <a:xfrm>
            <a:off x="263520" y="6492240"/>
            <a:ext cx="106092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GB" sz="900" strike="noStrike" u="none">
                <a:solidFill>
                  <a:srgbClr val="a6a6a6"/>
                </a:solidFill>
                <a:effectLst/>
                <a:uFillTx/>
                <a:latin typeface="Roboto"/>
                <a:ea typeface="Roboto"/>
              </a:rPr>
              <a:t>John Michael Greer (2015) – How Civilizations Fall: A Theory of Catabolic Collapse</a:t>
            </a:r>
            <a:endParaRPr b="0" lang="en-GB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CustomShape 85"/>
          <p:cNvSpPr/>
          <p:nvPr/>
        </p:nvSpPr>
        <p:spPr>
          <a:xfrm>
            <a:off x="432720" y="1148040"/>
            <a:ext cx="103392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Theory – Catabolic Cycle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CustomShape 78"/>
          <p:cNvSpPr/>
          <p:nvPr/>
        </p:nvSpPr>
        <p:spPr>
          <a:xfrm>
            <a:off x="335520" y="764640"/>
            <a:ext cx="1073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Collapse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CustomShape 21"/>
          <p:cNvSpPr/>
          <p:nvPr/>
        </p:nvSpPr>
        <p:spPr>
          <a:xfrm>
            <a:off x="335520" y="1268280"/>
            <a:ext cx="10733760" cy="50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15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Resource scarcity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Large-scale catastrophic events (e.g., pandemics)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Inadequate institutional responsiveness (e.g., insufficient speed or adaptability)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Inter-societal conflict among complex polities (e.g., interstate warfare)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External incursions (e.g., raids by non-state or peripheral groups)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Governance failures and administrative mismanagement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Social fragmentation and dysfunction (e.g., intensified intra-familial conflict)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Cascading systemic failures (i.e., sequential, compounding disruptions)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5000"/>
              </a:lnSpc>
              <a:spcBef>
                <a:spcPts val="360"/>
              </a:spcBef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Economic collapse or severe fiscal distress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CustomShape 22"/>
          <p:cNvSpPr/>
          <p:nvPr/>
        </p:nvSpPr>
        <p:spPr>
          <a:xfrm>
            <a:off x="432720" y="1148040"/>
            <a:ext cx="103392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Causes of Collapse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CustomShape 86"/>
          <p:cNvSpPr/>
          <p:nvPr/>
        </p:nvSpPr>
        <p:spPr>
          <a:xfrm>
            <a:off x="335520" y="4406760"/>
            <a:ext cx="10729080" cy="13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3000" strike="noStrike" u="none" cap="all">
                <a:solidFill>
                  <a:srgbClr val="008c4f"/>
                </a:solidFill>
                <a:effectLst/>
                <a:uFillTx/>
                <a:latin typeface="Arial Unicode MS"/>
                <a:ea typeface="DejaVu Sans"/>
              </a:rPr>
              <a:t>Task 2 – Lessons Learned? (15 min)</a:t>
            </a:r>
            <a:endParaRPr b="0" lang="en-GB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CustomShape 87"/>
          <p:cNvSpPr/>
          <p:nvPr/>
        </p:nvSpPr>
        <p:spPr>
          <a:xfrm>
            <a:off x="335520" y="2906640"/>
            <a:ext cx="10729080" cy="14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CustomShape 88"/>
          <p:cNvSpPr/>
          <p:nvPr/>
        </p:nvSpPr>
        <p:spPr>
          <a:xfrm>
            <a:off x="335520" y="764640"/>
            <a:ext cx="10733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24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Catabolic Collapse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CustomShape 89"/>
          <p:cNvSpPr/>
          <p:nvPr/>
        </p:nvSpPr>
        <p:spPr>
          <a:xfrm>
            <a:off x="335520" y="1268280"/>
            <a:ext cx="10733760" cy="50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“Technology is gonna safe us” vs. maintenance cost/crisis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Minimize use of resources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Sufficiency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Consume less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Less complex societies → The earlier we adapt, the better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8c4f"/>
              </a:buClr>
              <a:buSzPct val="45000"/>
              <a:buFont typeface="Monotype Sorts" charset="2"/>
              <a:buChar char=""/>
            </a:pPr>
            <a:r>
              <a:rPr b="0" lang="en-GB" sz="1800" strike="noStrike" u="none">
                <a:solidFill>
                  <a:srgbClr val="000000"/>
                </a:solidFill>
                <a:effectLst/>
                <a:uFillTx/>
                <a:latin typeface="DejaVu Sans"/>
                <a:ea typeface="DejaVu Sans"/>
              </a:rPr>
              <a:t>What else?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CustomShape 90"/>
          <p:cNvSpPr/>
          <p:nvPr/>
        </p:nvSpPr>
        <p:spPr>
          <a:xfrm>
            <a:off x="432720" y="1148040"/>
            <a:ext cx="10339200" cy="4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GB" sz="2200" strike="noStrike" u="none">
                <a:solidFill>
                  <a:srgbClr val="666666"/>
                </a:solidFill>
                <a:effectLst/>
                <a:uFillTx/>
                <a:latin typeface="DejaVu Sans"/>
                <a:ea typeface="DejaVu Sans"/>
              </a:rPr>
              <a:t>Lessons Learned / Implications</a:t>
            </a:r>
            <a:endParaRPr b="0" lang="en-GB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0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1615</TotalTime>
  <Application>LibreOffice/25.2.7.2$Linux_X86_64 LibreOffice_project/520$Build-2</Application>
  <AppVersion>15.0000</AppVersion>
  <Words>2250</Words>
  <Paragraphs>287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2013-05-21T09:22:36Z</dcterms:created>
  <dc:creator>Hooby</dc:creator>
  <dc:description/>
  <dc:language>en-US</dc:language>
  <cp:lastModifiedBy>Benjamin Leiding</cp:lastModifiedBy>
  <cp:lastPrinted>2026-01-12T08:16:36Z</cp:lastPrinted>
  <dcterms:modified xsi:type="dcterms:W3CDTF">2026-01-12T08:19:48Z</dcterms:modified>
  <cp:revision>4111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LinksUpToDate">
    <vt:bool>0</vt:bool>
  </property>
  <property fmtid="{D5CDD505-2E9C-101B-9397-08002B2CF9AE}" pid="5" name="MMClips">
    <vt:i4>0</vt:i4>
  </property>
  <property fmtid="{D5CDD505-2E9C-101B-9397-08002B2CF9AE}" pid="6" name="Notes">
    <vt:i4>5</vt:i4>
  </property>
  <property fmtid="{D5CDD505-2E9C-101B-9397-08002B2CF9AE}" pid="7" name="PresentationFormat">
    <vt:lpwstr>Breitbild</vt:lpwstr>
  </property>
  <property fmtid="{D5CDD505-2E9C-101B-9397-08002B2CF9AE}" pid="8" name="ScaleCrop">
    <vt:bool>0</vt:bool>
  </property>
  <property fmtid="{D5CDD505-2E9C-101B-9397-08002B2CF9AE}" pid="9" name="ShareDoc">
    <vt:bool>0</vt:bool>
  </property>
  <property fmtid="{D5CDD505-2E9C-101B-9397-08002B2CF9AE}" pid="10" name="Slides">
    <vt:i4>54</vt:i4>
  </property>
</Properties>
</file>