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5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jpeg" ContentType="image/jpeg"/>
  <Override PartName="/ppt/media/image4.jpeg" ContentType="image/jpeg"/>
  <Override PartName="/ppt/media/image5.jpeg" ContentType="image/jpeg"/>
  <Override PartName="/ppt/media/image6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E663044-5FC4-4C3A-A874-EC61A49C0881}" type="slidenum"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GB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1320" cy="375948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960" cy="451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Shape 3"/>
          <p:cNvSpPr/>
          <p:nvPr/>
        </p:nvSpPr>
        <p:spPr>
          <a:xfrm>
            <a:off x="4399200" y="9555480"/>
            <a:ext cx="336024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3146B85B-BE93-49A6-930D-D5A90718294C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1320" cy="375948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960" cy="451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Shape 3"/>
          <p:cNvSpPr/>
          <p:nvPr/>
        </p:nvSpPr>
        <p:spPr>
          <a:xfrm>
            <a:off x="4399200" y="9555480"/>
            <a:ext cx="336024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FF508804-8A31-4ABB-BA3E-0B9AC73FED95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1320" cy="375948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960" cy="451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Shape 3"/>
          <p:cNvSpPr/>
          <p:nvPr/>
        </p:nvSpPr>
        <p:spPr>
          <a:xfrm>
            <a:off x="4399200" y="9555480"/>
            <a:ext cx="336024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200E5F57-16F1-494A-A754-6B4619049EE2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1320" cy="375948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4960" cy="451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Shape 3"/>
          <p:cNvSpPr/>
          <p:nvPr/>
        </p:nvSpPr>
        <p:spPr>
          <a:xfrm>
            <a:off x="4399200" y="9555480"/>
            <a:ext cx="336024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6385461E-6F92-443C-BEBD-AE0D0C26C2AF}" type="slidenum"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D2C01E1-F557-4226-ABDF-55815422201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EED7183-6FD0-4257-8083-05FA9FE15426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A5EFC52-6C33-4695-890F-3F710BB7AA8C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1A0BD56-3FB9-419A-90B5-42377C05318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DD8F603-7FBB-468F-AEF0-1EF1FE672E5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CD09834-F58A-4392-9E8B-81D703C033A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38C3171-8BF1-496E-A944-8DA1F3F2DBB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3E65FFE-079D-4FB9-A7F1-465F76345881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0E0090E-0D83-4A6C-8564-D460CE0A371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080C840-BCF2-4606-8794-8CAB9FC372E6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0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4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0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7E0E9D6-5A7E-425D-97DF-2E70A678C03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1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5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6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3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2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30B90BD-240B-450D-BB38-9346559710B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CustomShape 4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7" name="CustomShape 5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8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3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43CE39F-14A1-4D58-8582-DD6C9A5FFF37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3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8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47AC702-14CB-4044-B8EF-3BF4AA71643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6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D64FE73E-08B9-44C2-88D7-9964D182D61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8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1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CA21898-8809-46EE-A9E0-667FC5128B46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19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1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6F1D76F-EBC4-46D4-8BD0-170E1F101565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6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BF0A0D9-DACF-46D9-9594-D389249DBD7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1EA5935-0973-4883-A152-35B2E1BD196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6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B605354-934A-4C13-B352-67915EA9CEE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0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29350C54-0A1D-4808-876F-337E84D9FB8F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85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7A4E9C8-7EC8-482D-B26E-0059975CB59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0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5718C3F3-79D0-449F-B8ED-6098B30C030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3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EAA1475-E03C-41F3-80C9-31E0298CEA14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1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EB85B2D-F819-40CA-A3C9-356C9AD059DB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6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00F1F67-E1A0-4D32-A617-AC3F29144D0E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0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4F8FD6B-D3E5-4FA3-8C7B-612E19E2C98A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3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5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E75DBD41-0743-4213-A938-92A19F51BC92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8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BE7426C7-EF7C-40A6-B0F3-90B6F68A439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20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1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3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A9F3AAE-1E87-48A3-8BBD-1BBCADCB7D7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0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C5FE94C-79EB-4022-8F4D-F93D0761EDE7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2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3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5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1C48371-D0E5-4C1C-AA0B-7C0E2D277B6D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2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1F80513-F247-4C87-B8AC-508DF29E628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4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5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7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17A9502-1F56-46CD-9676-C8A68A8169D8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20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3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CustomShape 1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4" name="CustomShape 2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E323AB0-6CD4-4FD9-B0B2-69A13F824593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CustomShape 3"/>
          <p:cNvSpPr/>
          <p:nvPr/>
        </p:nvSpPr>
        <p:spPr>
          <a:xfrm>
            <a:off x="912240" y="1268280"/>
            <a:ext cx="920520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56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200" cy="559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7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040" cy="51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CustomShape 4"/>
          <p:cNvSpPr/>
          <p:nvPr/>
        </p:nvSpPr>
        <p:spPr>
          <a:xfrm>
            <a:off x="11444760" y="0"/>
            <a:ext cx="738360" cy="68472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9" name="CustomShape 5"/>
          <p:cNvSpPr/>
          <p:nvPr/>
        </p:nvSpPr>
        <p:spPr>
          <a:xfrm>
            <a:off x="11438640" y="6453360"/>
            <a:ext cx="755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9DFB3FA-073D-4742-A057-BF8A45CAEE06}" type="slidenum">
              <a:rPr b="0" lang="en-US" sz="1800" strike="noStrike" u="non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CustomShape 6"/>
          <p:cNvSpPr/>
          <p:nvPr/>
        </p:nvSpPr>
        <p:spPr>
          <a:xfrm>
            <a:off x="0" y="6642720"/>
            <a:ext cx="121813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trike="noStrike" u="non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Requirements Engineering – TU Clausthal</a:t>
            </a:r>
            <a:endParaRPr b="0" lang="en-GB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1360" cy="189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1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hyperlink" Target="https://www.zdf.de/dokumentation/planet-e/planet-e-roboter-als-retter-100.html" TargetMode="External"/><Relationship Id="rId3" Type="http://schemas.openxmlformats.org/officeDocument/2006/relationships/hyperlink" Target="https://www.youtube.com/watch?v=3QO1stC4fvs" TargetMode="External"/><Relationship Id="rId4" Type="http://schemas.openxmlformats.org/officeDocument/2006/relationships/slideLayout" Target="../slideLayouts/slideLayout15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re.etce-lab.de/" TargetMode="External"/><Relationship Id="rId2" Type="http://schemas.openxmlformats.org/officeDocument/2006/relationships/hyperlink" Target="https://github.com/ETCE-LAB/teaching-material/tree/master/Requirements-Engineering#readme" TargetMode="External"/><Relationship Id="rId3" Type="http://schemas.openxmlformats.org/officeDocument/2006/relationships/slideLayout" Target="../slideLayouts/slideLayout1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hsg-rt9-6ur" TargetMode="External"/><Relationship Id="rId2" Type="http://schemas.openxmlformats.org/officeDocument/2006/relationships/hyperlink" Target="https://webconf.tu-clausthal.de/rooms/ben-hsg-rt9-6ur/join" TargetMode="External"/><Relationship Id="rId3" Type="http://schemas.openxmlformats.org/officeDocument/2006/relationships/slideLayout" Target="../slideLayouts/slideLayout1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1"/>
          <p:cNvSpPr/>
          <p:nvPr/>
        </p:nvSpPr>
        <p:spPr>
          <a:xfrm>
            <a:off x="527400" y="1412640"/>
            <a:ext cx="10358280" cy="11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GB" sz="3200" strike="noStrike" u="non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Requirement Engineering</a:t>
            </a:r>
            <a:endParaRPr b="0" lang="en-GB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CustomShape 2"/>
          <p:cNvSpPr/>
          <p:nvPr/>
        </p:nvSpPr>
        <p:spPr>
          <a:xfrm>
            <a:off x="527400" y="2852640"/>
            <a:ext cx="10358280" cy="23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539640" y="764640"/>
            <a:ext cx="10742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3" name="Grafik 2" descr=""/>
          <p:cNvPicPr/>
          <p:nvPr/>
        </p:nvPicPr>
        <p:blipFill>
          <a:blip r:embed="rId1"/>
          <a:stretch/>
        </p:blipFill>
        <p:spPr>
          <a:xfrm>
            <a:off x="2684520" y="1323360"/>
            <a:ext cx="1465200" cy="216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4" name="Grafik 11" descr=""/>
          <p:cNvPicPr/>
          <p:nvPr/>
        </p:nvPicPr>
        <p:blipFill>
          <a:blip r:embed="rId2"/>
          <a:stretch/>
        </p:blipFill>
        <p:spPr>
          <a:xfrm>
            <a:off x="7269840" y="1716120"/>
            <a:ext cx="1779120" cy="177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CustomShape 2"/>
          <p:cNvSpPr/>
          <p:nvPr/>
        </p:nvSpPr>
        <p:spPr>
          <a:xfrm>
            <a:off x="1620000" y="3439440"/>
            <a:ext cx="362988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en-GB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3"/>
          <p:cNvSpPr/>
          <p:nvPr/>
        </p:nvSpPr>
        <p:spPr>
          <a:xfrm>
            <a:off x="6322680" y="3460320"/>
            <a:ext cx="362988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en-GB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CustomShape 7"/>
          <p:cNvSpPr/>
          <p:nvPr/>
        </p:nvSpPr>
        <p:spPr>
          <a:xfrm>
            <a:off x="1311840" y="5920200"/>
            <a:ext cx="3623040" cy="6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8" name="CustomShape 8"/>
          <p:cNvSpPr/>
          <p:nvPr/>
        </p:nvSpPr>
        <p:spPr>
          <a:xfrm>
            <a:off x="3950280" y="5903280"/>
            <a:ext cx="3623040" cy="66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de-DE" sz="1600" strike="noStrike" u="non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9" name="Picture 322" descr="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4863240" y="4150440"/>
            <a:ext cx="1797120" cy="179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CustomShape 1"/>
          <p:cNvSpPr/>
          <p:nvPr/>
        </p:nvSpPr>
        <p:spPr>
          <a:xfrm>
            <a:off x="542880" y="721800"/>
            <a:ext cx="103482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CustomShape 2"/>
          <p:cNvSpPr/>
          <p:nvPr/>
        </p:nvSpPr>
        <p:spPr>
          <a:xfrm>
            <a:off x="451800" y="1709280"/>
            <a:ext cx="8215560" cy="43437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2" name="TextShape 3"/>
          <p:cNvSpPr/>
          <p:nvPr/>
        </p:nvSpPr>
        <p:spPr>
          <a:xfrm>
            <a:off x="609480" y="1769400"/>
            <a:ext cx="10578600" cy="48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b="1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 and Circular Societies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Sustainable and resilient food production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(SS – M.Sc.)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CustomShape 1"/>
          <p:cNvSpPr/>
          <p:nvPr/>
        </p:nvSpPr>
        <p:spPr>
          <a:xfrm>
            <a:off x="542880" y="721800"/>
            <a:ext cx="103482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Group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CustomShape 2"/>
          <p:cNvSpPr/>
          <p:nvPr/>
        </p:nvSpPr>
        <p:spPr>
          <a:xfrm>
            <a:off x="451800" y="1709280"/>
            <a:ext cx="8215560" cy="43437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TextShape 3"/>
          <p:cNvSpPr/>
          <p:nvPr/>
        </p:nvSpPr>
        <p:spPr>
          <a:xfrm>
            <a:off x="609480" y="1769400"/>
            <a:ext cx="10578600" cy="48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Website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Thesis/project topics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Publications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Our research in action: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ZDF documentary (German)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Klartext Preis 2020 (German) – </a:t>
            </a:r>
            <a:r>
              <a:rPr b="0" lang="en-GB" sz="20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3"/>
              </a:rPr>
              <a:t>Link</a:t>
            </a: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16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CustomShape 1"/>
          <p:cNvSpPr/>
          <p:nvPr/>
        </p:nvSpPr>
        <p:spPr>
          <a:xfrm>
            <a:off x="542880" y="721800"/>
            <a:ext cx="103482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CustomShape 2"/>
          <p:cNvSpPr/>
          <p:nvPr/>
        </p:nvSpPr>
        <p:spPr>
          <a:xfrm>
            <a:off x="451800" y="1709280"/>
            <a:ext cx="8215560" cy="43437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8" name="TextShape 3"/>
          <p:cNvSpPr/>
          <p:nvPr/>
        </p:nvSpPr>
        <p:spPr>
          <a:xfrm>
            <a:off x="609480" y="1769400"/>
            <a:ext cx="10578600" cy="48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process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Elicitation techniques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Documentation methods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Textual, model-based and formal requirements specification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negotiation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Management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Traceability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validation and quality assurance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CustomShape 1"/>
          <p:cNvSpPr/>
          <p:nvPr/>
        </p:nvSpPr>
        <p:spPr>
          <a:xfrm>
            <a:off x="542880" y="721800"/>
            <a:ext cx="1034820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CustomShape 2"/>
          <p:cNvSpPr/>
          <p:nvPr/>
        </p:nvSpPr>
        <p:spPr>
          <a:xfrm>
            <a:off x="451800" y="1709280"/>
            <a:ext cx="8215560" cy="43437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1" name="TextShape 3"/>
          <p:cNvSpPr/>
          <p:nvPr/>
        </p:nvSpPr>
        <p:spPr>
          <a:xfrm>
            <a:off x="609480" y="1769400"/>
            <a:ext cx="10578600" cy="48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of the requirements engineering process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Ability to choose, justify and apply appropriate methods and techniques for each step of the requirements engineering process given project constraints and properties</a:t>
            </a: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endParaRPr b="0" lang="en-GB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b="1" lang="en-GB" sz="16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What is this course about, what is it not about? </a:t>
            </a:r>
            <a:endParaRPr b="0" lang="en-GB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CustomShape 1"/>
          <p:cNvSpPr/>
          <p:nvPr/>
        </p:nvSpPr>
        <p:spPr>
          <a:xfrm>
            <a:off x="539640" y="764640"/>
            <a:ext cx="10742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Disclaimer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CustomShape 2"/>
          <p:cNvSpPr/>
          <p:nvPr/>
        </p:nvSpPr>
        <p:spPr>
          <a:xfrm>
            <a:off x="539640" y="1268280"/>
            <a:ext cx="10742400" cy="50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course modelled and built based on the book „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(2010)” from Klaus Pohl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Special thanks to Prof. Dr. Steffen Herbold and Dr. Christian Bartelt, who provided valuable input in the form of the teaching materials of their requirements engineering courses.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CustomShape 1"/>
          <p:cNvSpPr/>
          <p:nvPr/>
        </p:nvSpPr>
        <p:spPr>
          <a:xfrm>
            <a:off x="542880" y="721800"/>
            <a:ext cx="10351080" cy="4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</a:t>
            </a:r>
            <a:endParaRPr b="0" lang="en-GB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5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6200" cy="207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5"/>
          <p:cNvSpPr/>
          <p:nvPr/>
        </p:nvSpPr>
        <p:spPr>
          <a:xfrm>
            <a:off x="539640" y="764640"/>
            <a:ext cx="107355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"/>
          <p:cNvGraphicFramePr/>
          <p:nvPr/>
        </p:nvGraphicFramePr>
        <p:xfrm>
          <a:off x="716040" y="1441440"/>
          <a:ext cx="10189800" cy="4967280"/>
        </p:xfrm>
        <a:graphic>
          <a:graphicData uri="http://schemas.openxmlformats.org/drawingml/2006/table">
            <a:tbl>
              <a:tblPr/>
              <a:tblGrid>
                <a:gridCol w="1221120"/>
                <a:gridCol w="1220040"/>
                <a:gridCol w="5589360"/>
                <a:gridCol w="2159640"/>
              </a:tblGrid>
              <a:tr h="47124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Week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Date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Lecture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Location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03.11.25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Organization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10.11.25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Introduction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3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17.11.25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System Context/Boundaries and Types of Requirements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6252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4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24.11.25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Eliciation I &amp; II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01.12.25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Negotiation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08.12.25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Introduction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7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15.12.25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Textual Requirements Specification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8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05.01.26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Model-based Requirements Documentation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9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Documentation – Formal Requirements Specification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10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19.01.26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Validation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11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26.02.26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Management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Requirements Traceability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13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09.02.26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Tool Support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14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16.02.26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Exam Q&amp;A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GB" sz="12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CustomShape 1"/>
          <p:cNvSpPr/>
          <p:nvPr/>
        </p:nvSpPr>
        <p:spPr>
          <a:xfrm>
            <a:off x="539640" y="764640"/>
            <a:ext cx="10742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9" name="Table 1"/>
          <p:cNvGraphicFramePr/>
          <p:nvPr/>
        </p:nvGraphicFramePr>
        <p:xfrm>
          <a:off x="898920" y="1556280"/>
          <a:ext cx="9435240" cy="2416320"/>
        </p:xfrm>
        <a:graphic>
          <a:graphicData uri="http://schemas.openxmlformats.org/drawingml/2006/table">
            <a:tbl>
              <a:tblPr/>
              <a:tblGrid>
                <a:gridCol w="1757160"/>
                <a:gridCol w="1532880"/>
                <a:gridCol w="6145560"/>
              </a:tblGrid>
              <a:tr h="539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Publication Date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Submission Deadline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Exercise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17.11.2025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24.11.2025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E01 – Knowledge Test (MC)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01.12.2025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08.12.2025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E02 – Elicitation I, E03 – Elicitation II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05.01.2026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E04 – Agent-Oriented Modeling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19.01.2026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E05 – CPN I, E06 – CPN II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26.01.2026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E07 – Management (MC)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DejaVu Sans"/>
                        </a:rPr>
                        <a:t>09.02.2026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DejaVu Sans"/>
                          <a:ea typeface="WenQuanYi Zen Hei"/>
                        </a:rPr>
                        <a:t>E08 – Traceability (MC)</a:t>
                      </a:r>
                      <a:endParaRPr b="0" lang="en-GB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noFill/>
                      <a:prstDash val="solid"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CustomShape 32"/>
          <p:cNvSpPr/>
          <p:nvPr/>
        </p:nvSpPr>
        <p:spPr>
          <a:xfrm>
            <a:off x="539640" y="764640"/>
            <a:ext cx="107355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CustomShape 33"/>
          <p:cNvSpPr/>
          <p:nvPr/>
        </p:nvSpPr>
        <p:spPr>
          <a:xfrm>
            <a:off x="539640" y="1268280"/>
            <a:ext cx="10735560" cy="50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Massive Open Online Course (MOOC) style asynchronous learning: 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re.etce-lab.de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content is mainly delivered as pre-produced learning material.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additionally available via Github (</a:t>
            </a:r>
            <a:r>
              <a:rPr b="0" lang="en-US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 Session live streams (BBB – next slide)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b="0" lang="de-DE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etce-re@tu-clausthal.de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b="1" lang="en-GB" sz="1800" strike="noStrike" u="sng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9"/>
          <p:cNvSpPr/>
          <p:nvPr/>
        </p:nvSpPr>
        <p:spPr>
          <a:xfrm>
            <a:off x="539640" y="764640"/>
            <a:ext cx="1073412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10"/>
          <p:cNvSpPr/>
          <p:nvPr/>
        </p:nvSpPr>
        <p:spPr>
          <a:xfrm>
            <a:off x="539640" y="1268640"/>
            <a:ext cx="10734120" cy="50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2:00 pm to 3:30 pm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03.11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2025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16.02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 (Bi-Weekly):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4:00 pm to 5:00 pm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03.11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2025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09.02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2026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BigBlueButton (</a:t>
            </a:r>
            <a:r>
              <a:rPr b="0" lang="en-GB" sz="1800" strike="noStrike" u="sng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CustomShape 1"/>
          <p:cNvSpPr/>
          <p:nvPr/>
        </p:nvSpPr>
        <p:spPr>
          <a:xfrm>
            <a:off x="539640" y="764640"/>
            <a:ext cx="10742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CustomShape 2"/>
          <p:cNvSpPr/>
          <p:nvPr/>
        </p:nvSpPr>
        <p:spPr>
          <a:xfrm>
            <a:off x="539640" y="1268280"/>
            <a:ext cx="10742400" cy="50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exercise: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 →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group submissions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practical tasks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7-14 days to submit (depending on the task)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deadline is always Monday at 1:59pm (right before the next lecture period)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each exercise is mandatory (except for the MC exercises)</a:t>
            </a:r>
            <a:r>
              <a:rPr b="1" lang="en-GB" sz="1800" strike="noStrike" u="non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ow on the next slides (Examination)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9"/>
          <p:cNvSpPr/>
          <p:nvPr/>
        </p:nvSpPr>
        <p:spPr>
          <a:xfrm>
            <a:off x="539640" y="764640"/>
            <a:ext cx="107355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CustomShape 20"/>
          <p:cNvSpPr/>
          <p:nvPr/>
        </p:nvSpPr>
        <p:spPr>
          <a:xfrm>
            <a:off x="539640" y="1268280"/>
            <a:ext cx="10735560" cy="50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exercises: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Self-evaluated, available directly on the MOOC website.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are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 GRADED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and not part of your exam eligibility.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Wingdings" charset="2"/>
              <a:buChar char="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Tasks: Submitted via Moodle.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CustomShape 6"/>
          <p:cNvSpPr/>
          <p:nvPr/>
        </p:nvSpPr>
        <p:spPr>
          <a:xfrm>
            <a:off x="539640" y="764640"/>
            <a:ext cx="107355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CustomShape 11"/>
          <p:cNvSpPr/>
          <p:nvPr/>
        </p:nvSpPr>
        <p:spPr>
          <a:xfrm>
            <a:off x="539640" y="1268280"/>
            <a:ext cx="10735560" cy="50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exercises: Self-evaluated, available directly on the MOOC website.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Practical Tasks: Submitted via Moodle.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Bonus task: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may miss/fail one of the regular practical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AND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passing the bonus task substitutes the missed/failed exercise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DejaVu Sans"/>
                <a:ea typeface="DejaVu Sans"/>
              </a:rPr>
              <a:t>Bonus task will be very difficult</a:t>
            </a:r>
            <a:r>
              <a:rPr b="0" lang="en-GB" sz="1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DejaVu Sans"/>
                <a:ea typeface="DejaVu Sans"/>
              </a:rPr>
              <a:t> → don’t “plan” with the bonus task. Rather submit and pass the regular exercises.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539640" y="764640"/>
            <a:ext cx="10742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539640" y="1268640"/>
            <a:ext cx="10742400" cy="50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for admission to the final exam (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all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criteria have to be fulfilled):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Successful completion of the compulsory five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pass an exercise if you score 50% (or more) of the exercises that are not MC exercises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have to submit </a:t>
            </a:r>
            <a:r>
              <a:rPr b="1" lang="en-GB" sz="1800" strike="noStrike" u="sng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every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(except for the MC exercises)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 (tentative):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02.03.2026 → 14:00 – 16:00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Written exam (120min)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CustomShape 1"/>
          <p:cNvSpPr/>
          <p:nvPr/>
        </p:nvSpPr>
        <p:spPr>
          <a:xfrm>
            <a:off x="539640" y="764640"/>
            <a:ext cx="10742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CustomShape 2"/>
          <p:cNvSpPr/>
          <p:nvPr/>
        </p:nvSpPr>
        <p:spPr>
          <a:xfrm>
            <a:off x="539640" y="1268280"/>
            <a:ext cx="10742400" cy="50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for your future career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Of course it won’t hurt to have extra knowledge to impress us during the examination ;)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CustomShape 3"/>
          <p:cNvSpPr/>
          <p:nvPr/>
        </p:nvSpPr>
        <p:spPr>
          <a:xfrm>
            <a:off x="6489720" y="2132640"/>
            <a:ext cx="511920" cy="49176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5" name="CustomShape 4"/>
          <p:cNvSpPr/>
          <p:nvPr/>
        </p:nvSpPr>
        <p:spPr>
          <a:xfrm>
            <a:off x="4294080" y="2247480"/>
            <a:ext cx="2280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 → 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CustomShape 1"/>
          <p:cNvSpPr/>
          <p:nvPr/>
        </p:nvSpPr>
        <p:spPr>
          <a:xfrm>
            <a:off x="539640" y="764640"/>
            <a:ext cx="10742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b="0" lang="en-GB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CustomShape 2"/>
          <p:cNvSpPr/>
          <p:nvPr/>
        </p:nvSpPr>
        <p:spPr>
          <a:xfrm>
            <a:off x="539640" y="1268640"/>
            <a:ext cx="10742400" cy="50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the exam.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K. Pohl.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K. Pohl, C. Rupp.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Fundamentals: A Study Guide for Requirements Engineering Foundation Level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(2011).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J. Dick, E. Hull, K. Jackson.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(4</a:t>
            </a:r>
            <a:r>
              <a:rPr b="0" i="1" lang="en-GB" sz="1800" strike="noStrike" u="none" baseline="30000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Edition)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(2017).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Chris Rupp et al. </a:t>
            </a:r>
            <a:r>
              <a:rPr b="0" i="1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und Management – Das Handbuch für Anforderungen in jeder Situation (7th Edition) </a:t>
            </a:r>
            <a:r>
              <a:rPr b="0" lang="en-GB" sz="18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(2021).</a:t>
            </a:r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CustomShape 1"/>
          <p:cNvSpPr/>
          <p:nvPr/>
        </p:nvSpPr>
        <p:spPr>
          <a:xfrm>
            <a:off x="335520" y="1268640"/>
            <a:ext cx="10742400" cy="50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GB" sz="4000" strike="noStrike" u="non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b="0" lang="en-GB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CustomShape 2"/>
          <p:cNvSpPr/>
          <p:nvPr/>
        </p:nvSpPr>
        <p:spPr>
          <a:xfrm>
            <a:off x="335520" y="764640"/>
            <a:ext cx="107424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LibreOffice/25.2.6.2$Linux_X86_64 LibreOffice_project/520$Build-2</Application>
  <AppVersion>15.0000</AppVersion>
  <Words>971</Words>
  <Paragraphs>201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>Benjamin Leiding</cp:lastModifiedBy>
  <cp:lastPrinted>2025-11-02T12:20:02Z</cp:lastPrinted>
  <dcterms:modified xsi:type="dcterms:W3CDTF">2025-11-04T05:44:53Z</dcterms:modified>
  <cp:revision>3103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4</vt:i4>
  </property>
  <property fmtid="{D5CDD505-2E9C-101B-9397-08002B2CF9AE}" pid="7" name="PresentationFormat">
    <vt:lpwstr>Widescreen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18</vt:i4>
  </property>
</Properties>
</file>