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3.jpeg" ContentType="image/jpeg"/>
  <Override PartName="/ppt/media/image2.png" ContentType="image/png"/>
  <Override PartName="/ppt/media/image4.jpeg" ContentType="image/jpeg"/>
  <Override PartName="/ppt/media/image5.jpeg" ContentType="image/jpeg"/>
  <Override PartName="/ppt/media/image6.png" ContentType="image/png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8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9A325A0-6DAC-44BB-BABA-414E37622182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400" cy="37605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040" cy="45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Shape 3"/>
          <p:cNvSpPr/>
          <p:nvPr/>
        </p:nvSpPr>
        <p:spPr>
          <a:xfrm>
            <a:off x="4399200" y="9555480"/>
            <a:ext cx="336132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5F1E0497-1A0C-443C-84F0-D84FC0ACC76F}" type="slidenum">
              <a:rPr b="0" lang="en-GB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400" cy="3760560"/>
          </a:xfrm>
          <a:prstGeom prst="rect">
            <a:avLst/>
          </a:prstGeom>
          <a:ln w="0">
            <a:noFill/>
          </a:ln>
        </p:spPr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040" cy="45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Shape 3"/>
          <p:cNvSpPr/>
          <p:nvPr/>
        </p:nvSpPr>
        <p:spPr>
          <a:xfrm>
            <a:off x="4399200" y="9555480"/>
            <a:ext cx="336132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8356AD8E-4B4C-4408-BBFD-44F1B5B5D646}" type="slidenum">
              <a:rPr b="0" lang="en-GB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400" cy="376056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040" cy="45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Shape 3"/>
          <p:cNvSpPr/>
          <p:nvPr/>
        </p:nvSpPr>
        <p:spPr>
          <a:xfrm>
            <a:off x="4399200" y="9555480"/>
            <a:ext cx="336132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BEA1D05E-15C0-4CC6-846B-C08B00C7FCFA}" type="slidenum">
              <a:rPr b="0" lang="en-GB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sldImg"/>
          </p:nvPr>
        </p:nvSpPr>
        <p:spPr>
          <a:xfrm>
            <a:off x="533520" y="763560"/>
            <a:ext cx="6692400" cy="3760560"/>
          </a:xfrm>
          <a:prstGeom prst="rect">
            <a:avLst/>
          </a:prstGeom>
          <a:ln w="0">
            <a:noFill/>
          </a:ln>
        </p:spPr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06040" cy="4514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Shape 3"/>
          <p:cNvSpPr/>
          <p:nvPr/>
        </p:nvSpPr>
        <p:spPr>
          <a:xfrm>
            <a:off x="4399200" y="9555480"/>
            <a:ext cx="3361320" cy="4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 algn="r">
              <a:lnSpc>
                <a:spcPct val="100000"/>
              </a:lnSpc>
            </a:pPr>
            <a:fld id="{7A300F85-10BA-4A17-96CE-96952C8FF3C9}" type="slidenum">
              <a:rPr b="0" lang="en-GB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CC63F30C-01F0-4236-98EF-CF350306DB81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280" cy="56016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120" cy="51228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6"/>
          <p:cNvSpPr/>
          <p:nvPr/>
        </p:nvSpPr>
        <p:spPr>
          <a:xfrm>
            <a:off x="0" y="6642720"/>
            <a:ext cx="121824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DejaVu Sans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6915D30A-E58D-4AF3-A8C2-A60EAF20EED8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628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50280" cy="56016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6120" cy="51228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11444760" y="0"/>
            <a:ext cx="739440" cy="684828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38640" y="6453360"/>
            <a:ext cx="756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F984C39-3853-4518-95B8-76D7D323295B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CustomShape 6"/>
          <p:cNvSpPr/>
          <p:nvPr/>
        </p:nvSpPr>
        <p:spPr>
          <a:xfrm>
            <a:off x="0" y="6642720"/>
            <a:ext cx="121824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DejaVu Sans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image" Target="../media/image4.jpeg"/><Relationship Id="rId3" Type="http://schemas.openxmlformats.org/officeDocument/2006/relationships/image" Target="../media/image5.jpeg"/><Relationship Id="rId4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hyperlink" Target="https://www.etce-lab.de/" TargetMode="External"/><Relationship Id="rId2" Type="http://schemas.openxmlformats.org/officeDocument/2006/relationships/hyperlink" Target="https://www.zdf.de/dokumentation/planet-e/planet-e-roboter-als-retter-100.html" TargetMode="External"/><Relationship Id="rId3" Type="http://schemas.openxmlformats.org/officeDocument/2006/relationships/hyperlink" Target="https://www.youtube.com/watch?v=3QO1stC4fvs" TargetMode="External"/><Relationship Id="rId4" Type="http://schemas.openxmlformats.org/officeDocument/2006/relationships/slideLayout" Target="../slideLayouts/slideLayout13.xml"/><Relationship Id="rId5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re.etce-lab.de/" TargetMode="External"/><Relationship Id="rId2" Type="http://schemas.openxmlformats.org/officeDocument/2006/relationships/hyperlink" Target="https://github.com/ETCE-LAB/teaching-material/tree/master/Requirements-Engineering#readme" TargetMode="External"/><Relationship Id="rId3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hyperlink" Target="https://webconf.tu-clausthal.de/b/ben-hsg-rt9-6ur" TargetMode="External"/><Relationship Id="rId2" Type="http://schemas.openxmlformats.org/officeDocument/2006/relationships/hyperlink" Target="https://webconf.tu-clausthal.de/rooms/ben-hsg-rt9-6ur/join" TargetMode="External"/><Relationship Id="rId3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ustomShape 1"/>
          <p:cNvSpPr/>
          <p:nvPr/>
        </p:nvSpPr>
        <p:spPr>
          <a:xfrm>
            <a:off x="527400" y="1412640"/>
            <a:ext cx="10359360" cy="11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GB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2"/>
          <p:cNvSpPr/>
          <p:nvPr/>
        </p:nvSpPr>
        <p:spPr>
          <a:xfrm>
            <a:off x="527400" y="2852640"/>
            <a:ext cx="10359360" cy="23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0: Organization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Team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Grafik 2" descr=""/>
          <p:cNvPicPr/>
          <p:nvPr/>
        </p:nvPicPr>
        <p:blipFill>
          <a:blip r:embed="rId1"/>
          <a:stretch/>
        </p:blipFill>
        <p:spPr>
          <a:xfrm>
            <a:off x="2684520" y="1323360"/>
            <a:ext cx="1466280" cy="2167560"/>
          </a:xfrm>
          <a:prstGeom prst="rect">
            <a:avLst/>
          </a:prstGeom>
          <a:ln w="0">
            <a:noFill/>
          </a:ln>
        </p:spPr>
      </p:pic>
      <p:pic>
        <p:nvPicPr>
          <p:cNvPr id="102" name="Grafik 11" descr=""/>
          <p:cNvPicPr/>
          <p:nvPr/>
        </p:nvPicPr>
        <p:blipFill>
          <a:blip r:embed="rId2"/>
          <a:stretch/>
        </p:blipFill>
        <p:spPr>
          <a:xfrm>
            <a:off x="7269840" y="1716120"/>
            <a:ext cx="1780200" cy="1772280"/>
          </a:xfrm>
          <a:prstGeom prst="rect">
            <a:avLst/>
          </a:prstGeom>
          <a:ln w="0">
            <a:noFill/>
          </a:ln>
        </p:spPr>
      </p:pic>
      <p:sp>
        <p:nvSpPr>
          <p:cNvPr id="103" name="CustomShape 2"/>
          <p:cNvSpPr/>
          <p:nvPr/>
        </p:nvSpPr>
        <p:spPr>
          <a:xfrm>
            <a:off x="1620000" y="3439440"/>
            <a:ext cx="3630960" cy="67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pc="-1" strike="noStrike">
                <a:solidFill>
                  <a:srgbClr val="595959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CustomShape 3"/>
          <p:cNvSpPr/>
          <p:nvPr/>
        </p:nvSpPr>
        <p:spPr>
          <a:xfrm>
            <a:off x="6322680" y="3460320"/>
            <a:ext cx="3630960" cy="67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en-GB" sz="1600" spc="-1" strike="noStrike">
                <a:solidFill>
                  <a:srgbClr val="595959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CustomShape 7"/>
          <p:cNvSpPr/>
          <p:nvPr/>
        </p:nvSpPr>
        <p:spPr>
          <a:xfrm>
            <a:off x="1311840" y="5920200"/>
            <a:ext cx="3624120" cy="6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" name="CustomShape 8"/>
          <p:cNvSpPr/>
          <p:nvPr/>
        </p:nvSpPr>
        <p:spPr>
          <a:xfrm>
            <a:off x="3950280" y="5903280"/>
            <a:ext cx="3624120" cy="66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360" algn="ctr">
              <a:lnSpc>
                <a:spcPct val="100000"/>
              </a:lnSpc>
              <a:spcBef>
                <a:spcPts val="360"/>
              </a:spcBef>
            </a:pPr>
            <a:r>
              <a:rPr b="0" lang="de-DE" sz="1600" spc="-1" strike="noStrike">
                <a:solidFill>
                  <a:srgbClr val="595959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Picture 322" descr=""/>
          <p:cNvPicPr/>
          <p:nvPr/>
        </p:nvPicPr>
        <p:blipFill>
          <a:blip r:embed="rId3"/>
          <a:srcRect l="0" t="4799" r="0" b="28459"/>
          <a:stretch/>
        </p:blipFill>
        <p:spPr>
          <a:xfrm>
            <a:off x="4863240" y="4150440"/>
            <a:ext cx="1798200" cy="1798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CustomShape 1"/>
          <p:cNvSpPr/>
          <p:nvPr/>
        </p:nvSpPr>
        <p:spPr>
          <a:xfrm>
            <a:off x="542880" y="721800"/>
            <a:ext cx="10349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Research Group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CustomShape 2"/>
          <p:cNvSpPr/>
          <p:nvPr/>
        </p:nvSpPr>
        <p:spPr>
          <a:xfrm>
            <a:off x="451800" y="1709280"/>
            <a:ext cx="8216640" cy="43448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" name="TextShape 3"/>
          <p:cNvSpPr/>
          <p:nvPr/>
        </p:nvSpPr>
        <p:spPr>
          <a:xfrm>
            <a:off x="609480" y="1769400"/>
            <a:ext cx="10579680" cy="48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1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merging </a:t>
            </a:r>
            <a:r>
              <a:rPr b="1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echnologies for the </a:t>
            </a:r>
            <a:r>
              <a:rPr b="1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ircular </a:t>
            </a:r>
            <a:r>
              <a:rPr b="1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conomy → </a:t>
            </a:r>
            <a:r>
              <a:rPr b="1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ETCE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Research focus: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Intersection of IT and sustainability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Circular Economy and Circular Societies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Self-organized, decentralized and distributed systems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Sustainable and resilient food production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Other courses: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Arial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Emerging Technologies for the Circular Economy (SS – M.Sc.)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24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Arial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Limits to Growth – Sustainability and the Circular Economy (WS – open for everyone)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CustomShape 1"/>
          <p:cNvSpPr/>
          <p:nvPr/>
        </p:nvSpPr>
        <p:spPr>
          <a:xfrm>
            <a:off x="542880" y="721800"/>
            <a:ext cx="10349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Research Group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451800" y="1709280"/>
            <a:ext cx="8216640" cy="43448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" name="TextShape 3"/>
          <p:cNvSpPr/>
          <p:nvPr/>
        </p:nvSpPr>
        <p:spPr>
          <a:xfrm>
            <a:off x="609480" y="1769400"/>
            <a:ext cx="10579680" cy="48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Website – </a:t>
            </a:r>
            <a:r>
              <a:rPr b="0" lang="en-GB" sz="20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1"/>
              </a:rPr>
              <a:t>Link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Course material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Thesis/project topics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Publications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Etc.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Our research in action: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ZDF documentary (German) – </a:t>
            </a:r>
            <a:r>
              <a:rPr b="0" lang="en-GB" sz="20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009"/>
              </a:spcBef>
              <a:buClr>
                <a:srgbClr val="008c4f"/>
              </a:buClr>
              <a:buSzPct val="60000"/>
              <a:buFont typeface="DejaVu Sans"/>
              <a:buChar char="—"/>
              <a:tabLst>
                <a:tab algn="l" pos="0"/>
              </a:tabLst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Klartext Preis 2020 (German) – </a:t>
            </a:r>
            <a:r>
              <a:rPr b="0" lang="en-GB" sz="20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3"/>
              </a:rPr>
              <a:t>Link</a:t>
            </a: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You want join us? Write us an email!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45000"/>
              <a:buFont typeface="DejaVu Sans"/>
              <a:buChar char="◾"/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→ </a:t>
            </a: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benjamin.leiding@tu-clausthal.de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CustomShape 1"/>
          <p:cNvSpPr/>
          <p:nvPr/>
        </p:nvSpPr>
        <p:spPr>
          <a:xfrm>
            <a:off x="542880" y="721800"/>
            <a:ext cx="10349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Course 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CustomShape 2"/>
          <p:cNvSpPr/>
          <p:nvPr/>
        </p:nvSpPr>
        <p:spPr>
          <a:xfrm>
            <a:off x="451800" y="1709280"/>
            <a:ext cx="8216640" cy="43448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TextShape 3"/>
          <p:cNvSpPr/>
          <p:nvPr/>
        </p:nvSpPr>
        <p:spPr>
          <a:xfrm>
            <a:off x="609480" y="1769400"/>
            <a:ext cx="10579680" cy="48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engineering process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Elicitation techniques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 methods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Textual, model-based and formal requirements specification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negotiation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Management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validation and quality assurance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CustomShape 1"/>
          <p:cNvSpPr/>
          <p:nvPr/>
        </p:nvSpPr>
        <p:spPr>
          <a:xfrm>
            <a:off x="542880" y="721800"/>
            <a:ext cx="1034928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Learning Outcome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CustomShape 2"/>
          <p:cNvSpPr/>
          <p:nvPr/>
        </p:nvSpPr>
        <p:spPr>
          <a:xfrm>
            <a:off x="451800" y="1709280"/>
            <a:ext cx="8216640" cy="434484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" name="TextShape 3"/>
          <p:cNvSpPr/>
          <p:nvPr/>
        </p:nvSpPr>
        <p:spPr>
          <a:xfrm>
            <a:off x="609480" y="1769400"/>
            <a:ext cx="10579680" cy="484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Core terminology and core tasks of requirements engineering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Understanding of the requirements engineering process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5640">
              <a:lnSpc>
                <a:spcPct val="90000"/>
              </a:lnSpc>
              <a:spcBef>
                <a:spcPts val="1009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GB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Ability to choose, justify and apply appropriate methods and techniques for each step of the requirements engineering process given project constraints and properties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240">
              <a:lnSpc>
                <a:spcPct val="90000"/>
              </a:lnSpc>
              <a:spcBef>
                <a:spcPts val="1009"/>
              </a:spcBef>
              <a:tabLst>
                <a:tab algn="l" pos="0"/>
              </a:tabLst>
            </a:pPr>
            <a:r>
              <a:rPr b="1" lang="en-GB" sz="1600" spc="-1" strike="noStrike">
                <a:solidFill>
                  <a:srgbClr val="ffffff"/>
                </a:solidFill>
                <a:latin typeface="DejaVu Sans"/>
                <a:ea typeface="DejaVu Sans"/>
              </a:rPr>
              <a:t>What is this course about, what is it not about? 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CustomShape 1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Disclaimer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539640" y="126828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The course modelled and built based on the book „</a:t>
            </a:r>
            <a:r>
              <a:rPr b="0" i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(2010)” from Klaus Pohl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Special thanks to Prof. Dr. Steffen Herbold and Dr. Christian Bartelt, who provided valuable input in the form of the teaching materials of their requirements engineering courses.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CustomShape 1"/>
          <p:cNvSpPr/>
          <p:nvPr/>
        </p:nvSpPr>
        <p:spPr>
          <a:xfrm>
            <a:off x="542880" y="721800"/>
            <a:ext cx="1035216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GB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Course 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7280" cy="2074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5"/>
          <p:cNvSpPr/>
          <p:nvPr/>
        </p:nvSpPr>
        <p:spPr>
          <a:xfrm>
            <a:off x="53964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5" name="Table 2"/>
          <p:cNvGraphicFramePr/>
          <p:nvPr/>
        </p:nvGraphicFramePr>
        <p:xfrm>
          <a:off x="716040" y="1441440"/>
          <a:ext cx="10189800" cy="4967280"/>
        </p:xfrm>
        <a:graphic>
          <a:graphicData uri="http://schemas.openxmlformats.org/drawingml/2006/table">
            <a:tbl>
              <a:tblPr/>
              <a:tblGrid>
                <a:gridCol w="1221120"/>
                <a:gridCol w="1220040"/>
                <a:gridCol w="5589360"/>
                <a:gridCol w="2159640"/>
              </a:tblGrid>
              <a:tr h="47124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Week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Date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Lecture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5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Location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03.11.25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Organization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2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10.11.25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Introduction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3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17.11.25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System Context/Boundaries and Types of Requirements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6252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4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24.11.25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Eliciation I &amp; II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01.12.25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Negotiation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08.12.25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Documentation – Introduction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7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15.12.25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Documentation – Textual Requirements Specification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8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05.01.26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Documentation – Model-based Requirements Documentation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2220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9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12.01.26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Documentation – Formal Requirements Specification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10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19.01.26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Requirements Validation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11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26.02.26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Requirements Management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12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02.02.26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Requirements Traceability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13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09.02.26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Tool Support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MOOC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316080"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14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DE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16.02.26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marL="457200">
                        <a:lnSpc>
                          <a:spcPct val="100000"/>
                        </a:lnSpc>
                      </a:pPr>
                      <a:r>
                        <a:rPr b="0" lang="en-GB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Exam Q&amp;A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4320" rIns="432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GB" sz="1200" spc="-1" strike="noStrike">
                          <a:solidFill>
                            <a:schemeClr val="dk1"/>
                          </a:solidFill>
                          <a:latin typeface="DejaVu Sans"/>
                          <a:ea typeface="DejaVu Sans"/>
                        </a:rPr>
                        <a:t>BBB (Online)</a:t>
                      </a:r>
                      <a:endParaRPr b="0" lang="en-GB" sz="12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4320" marR="432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CustomShape 1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Exercises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7" name="Table 1"/>
          <p:cNvGraphicFramePr/>
          <p:nvPr/>
        </p:nvGraphicFramePr>
        <p:xfrm>
          <a:off x="898920" y="1556280"/>
          <a:ext cx="9435240" cy="2416680"/>
        </p:xfrm>
        <a:graphic>
          <a:graphicData uri="http://schemas.openxmlformats.org/drawingml/2006/table">
            <a:tbl>
              <a:tblPr/>
              <a:tblGrid>
                <a:gridCol w="1757160"/>
                <a:gridCol w="1532880"/>
                <a:gridCol w="6145560"/>
              </a:tblGrid>
              <a:tr h="539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Publication Date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Submission Deadline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Exercise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17.11.2025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24.11.2025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WenQuanYi Zen Hei"/>
                        </a:rPr>
                        <a:t>E01 – Knowledge Test (MC)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01.12.2025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08.12.2025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WenQuanYi Zen Hei"/>
                        </a:rPr>
                        <a:t>E02 – Elicitation I, E03 – Elicitation II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05.01.2026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WenQuanYi Zen Hei"/>
                        </a:rPr>
                        <a:t>E04 – Agent-Oriented Modeling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12.01.2026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19.01.2026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WenQuanYi Zen Hei"/>
                        </a:rPr>
                        <a:t>E05 – CPN I, E06 – CPN II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26.01.2026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WenQuanYi Zen Hei"/>
                        </a:rPr>
                        <a:t>E07 – Management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  <a:tr h="27036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02.02.2026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noFill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09.02.2026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noFill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500" spc="-1" strike="noStrike">
                          <a:solidFill>
                            <a:srgbClr val="000000"/>
                          </a:solidFill>
                          <a:latin typeface="DejaVu Sans"/>
                          <a:ea typeface="WenQuanYi Zen Hei"/>
                        </a:rPr>
                        <a:t>E08 – Traceability</a:t>
                      </a:r>
                      <a:endParaRPr b="0" lang="en-GB" sz="15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noFill/>
                    </a:lnB>
                    <a:solidFill>
                      <a:schemeClr val="lt1">
                        <a:lumMod val="8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CustomShape 32"/>
          <p:cNvSpPr/>
          <p:nvPr/>
        </p:nvSpPr>
        <p:spPr>
          <a:xfrm>
            <a:off x="53964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Course Organization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CustomShape 33"/>
          <p:cNvSpPr/>
          <p:nvPr/>
        </p:nvSpPr>
        <p:spPr>
          <a:xfrm>
            <a:off x="539640" y="1268280"/>
            <a:ext cx="10736640" cy="502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Organization of the lecture: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Massive Open Online Course (MOOC) style asynchronous learning: 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1"/>
              </a:rPr>
              <a:t>re.etce-lab.de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Course content is mainly delivered as pre-produced learning material.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Slides are additionally available via Github (</a:t>
            </a:r>
            <a:r>
              <a:rPr b="0" lang="en-US" sz="18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)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Exercise / Q&amp;A Session live streams (BBB – next slide)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Exercise time slots </a:t>
            </a: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= 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Time for questions and eventual tutorials related to the exercises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ctr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 Write us an email: </a:t>
            </a:r>
            <a:r>
              <a:rPr b="0" lang="en-GB" sz="18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etce-re@tu-clausthal.de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←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We will </a:t>
            </a:r>
            <a:r>
              <a:rPr b="1" lang="en-GB" sz="1800" spc="-1" strike="noStrike" u="sng">
                <a:solidFill>
                  <a:srgbClr val="c9211e"/>
                </a:solidFill>
                <a:uFillTx/>
                <a:latin typeface="DejaVu Sans"/>
                <a:ea typeface="DejaVu Sans"/>
              </a:rPr>
              <a:t>only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respond to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60"/>
              </a:spcBef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emails written to this specific email address!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CustomShape 9"/>
          <p:cNvSpPr/>
          <p:nvPr/>
        </p:nvSpPr>
        <p:spPr>
          <a:xfrm>
            <a:off x="539640" y="764640"/>
            <a:ext cx="10735200" cy="48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Dates/Times/Locations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CustomShape 10"/>
          <p:cNvSpPr/>
          <p:nvPr/>
        </p:nvSpPr>
        <p:spPr>
          <a:xfrm>
            <a:off x="539640" y="1268640"/>
            <a:ext cx="10735200" cy="502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Lecture: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Monday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2:00 pm to 3:30 pm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(Berlin time) –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03.11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2025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to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16.02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2026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Location: BigBlueButton (</a:t>
            </a:r>
            <a:r>
              <a:rPr b="0" lang="en-GB" sz="18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1"/>
              </a:rPr>
              <a:t>Link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Exercise / Q&amp;A (Bi-Weekly):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Monday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4:00 pm to 5:00 pm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(Berlin time) –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03.11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2025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to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09.02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.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2026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Location: BigBlueButton (</a:t>
            </a:r>
            <a:r>
              <a:rPr b="0" lang="en-GB" sz="1800" spc="-1" strike="noStrike" u="sng">
                <a:solidFill>
                  <a:srgbClr val="0000ff"/>
                </a:solidFill>
                <a:uFillTx/>
                <a:latin typeface="DejaVu Sans"/>
                <a:ea typeface="DejaVu Sans"/>
                <a:hlinkClick r:id="rId2"/>
              </a:rPr>
              <a:t>Link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Exercises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539640" y="126828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Organization of the exercise: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Individual work →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group submissions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Multiple-Choice or practical tasks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7-14 days to submit (depending on the task)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Submission deadline is always Monday at 1:59pm (right before the next lecture period)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Submission of each exercise is mandatory</a:t>
            </a:r>
            <a:r>
              <a:rPr b="1" lang="en-GB" sz="1800" spc="-1" strike="noStrike">
                <a:solidFill>
                  <a:srgbClr val="ffffff"/>
                </a:solidFill>
                <a:latin typeface="DejaVu Sans"/>
                <a:ea typeface="DejaVu Sans"/>
              </a:rPr>
              <a:t>ow on the next slides (Examination)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CustomShape 19"/>
          <p:cNvSpPr/>
          <p:nvPr/>
        </p:nvSpPr>
        <p:spPr>
          <a:xfrm>
            <a:off x="53964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Exercises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CustomShape 20"/>
          <p:cNvSpPr/>
          <p:nvPr/>
        </p:nvSpPr>
        <p:spPr>
          <a:xfrm>
            <a:off x="539640" y="1268280"/>
            <a:ext cx="10736640" cy="502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Practical Tasks: Submitted via Moodle.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CustomShape 6"/>
          <p:cNvSpPr/>
          <p:nvPr/>
        </p:nvSpPr>
        <p:spPr>
          <a:xfrm>
            <a:off x="539640" y="764640"/>
            <a:ext cx="107366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Exercises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CustomShape 11"/>
          <p:cNvSpPr/>
          <p:nvPr/>
        </p:nvSpPr>
        <p:spPr>
          <a:xfrm>
            <a:off x="539640" y="1268280"/>
            <a:ext cx="10736640" cy="502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Multiple-choice exercises: Self-evaluated, available directly on the MOOC website.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Practical Tasks: Submitted via Moodle.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Bonus task: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You may miss/fail one of the regular practical exercises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Submitting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AND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passing the bonus task substitutes the missed/failed 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1" lang="en-GB" sz="1800" spc="-1" strike="noStrike">
                <a:solidFill>
                  <a:srgbClr val="000000"/>
                </a:solidFill>
                <a:highlight>
                  <a:srgbClr val="ffffff"/>
                </a:highlight>
                <a:latin typeface="DejaVu Sans"/>
                <a:ea typeface="DejaVu Sans"/>
              </a:rPr>
              <a:t>Bonus task will be very difficult</a:t>
            </a:r>
            <a:r>
              <a:rPr b="0" lang="en-GB" sz="1800" spc="-1" strike="noStrike">
                <a:solidFill>
                  <a:srgbClr val="000000"/>
                </a:solidFill>
                <a:highlight>
                  <a:srgbClr val="ffffff"/>
                </a:highlight>
                <a:latin typeface="DejaVu Sans"/>
                <a:ea typeface="DejaVu Sans"/>
              </a:rPr>
              <a:t> → don’t “plan” with the bonus task. Rather submit and pass the regular exercises.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Examination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539640" y="126864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Prerequisites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for admission to the final exam (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all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criteria have to be fulfilled):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Successful completion of the compulsory seven exercises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You pass an exercise if you score 50% (or more)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You have to submit </a:t>
            </a:r>
            <a:r>
              <a:rPr b="1" lang="en-GB" sz="18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every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45000"/>
              <a:buFont typeface="DejaVu Sans"/>
              <a:buChar char="◾"/>
            </a:pP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Final exam (tentative):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02.03.2026 → 14:00 – 16:00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60000"/>
              <a:buFont typeface="DejaVu Sans"/>
              <a:buChar char="—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Written exam (120min)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Self-Study Star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539640" y="126828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Slides with the self-study star indicate optional/additional study material that is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not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mandatory but could be helpful for your future career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Of course it won’t hurt to have extra knowledge to impress us during the examination ;)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CustomShape 3"/>
          <p:cNvSpPr/>
          <p:nvPr/>
        </p:nvSpPr>
        <p:spPr>
          <a:xfrm>
            <a:off x="6489720" y="2132640"/>
            <a:ext cx="513000" cy="492840"/>
          </a:xfrm>
          <a:prstGeom prst="star5">
            <a:avLst>
              <a:gd name="adj" fmla="val 19098"/>
              <a:gd name="hf" fmla="val 105146"/>
              <a:gd name="vf" fmla="val 110557"/>
            </a:avLst>
          </a:prstGeom>
          <a:solidFill>
            <a:srgbClr val="92d050"/>
          </a:solidFill>
          <a:ln>
            <a:solidFill>
              <a:srgbClr val="0d0d0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" name="CustomShape 4"/>
          <p:cNvSpPr/>
          <p:nvPr/>
        </p:nvSpPr>
        <p:spPr>
          <a:xfrm>
            <a:off x="4294080" y="2247480"/>
            <a:ext cx="2281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Self-Study Star →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ustomShape 1"/>
          <p:cNvSpPr/>
          <p:nvPr/>
        </p:nvSpPr>
        <p:spPr>
          <a:xfrm>
            <a:off x="53964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GB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Literature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2"/>
          <p:cNvSpPr/>
          <p:nvPr/>
        </p:nvSpPr>
        <p:spPr>
          <a:xfrm>
            <a:off x="539640" y="126864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This course is not based on a single book and you </a:t>
            </a:r>
            <a:r>
              <a:rPr b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 not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need to buy a book to pass the exam.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360"/>
              </a:spcBef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K. Pohl. </a:t>
            </a:r>
            <a:r>
              <a:rPr b="0" i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Engineering – Fundamentals, Principles and Techniques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(2010).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K. Pohl, C. Rupp. </a:t>
            </a:r>
            <a:r>
              <a:rPr b="0" i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Engineering Fundamentals: A Study Guide for Requirements Engineering Foundation Level 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(2011).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J. Dick, E. Hull, K. Jackson. </a:t>
            </a:r>
            <a:r>
              <a:rPr b="0" i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Engineering (4</a:t>
            </a:r>
            <a:r>
              <a:rPr b="0" i="1" lang="en-GB" sz="1800" spc="-1" strike="noStrike" baseline="30000">
                <a:solidFill>
                  <a:srgbClr val="000000"/>
                </a:solidFill>
                <a:latin typeface="DejaVu Sans"/>
                <a:ea typeface="DejaVu Sans"/>
              </a:rPr>
              <a:t>th</a:t>
            </a:r>
            <a:r>
              <a:rPr b="0" i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Edition) 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(2017).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195120" indent="-193680">
              <a:lnSpc>
                <a:spcPct val="100000"/>
              </a:lnSpc>
              <a:spcBef>
                <a:spcPts val="360"/>
              </a:spcBef>
              <a:buClr>
                <a:srgbClr val="008c4f"/>
              </a:buClr>
              <a:buSzPct val="80000"/>
              <a:buFont typeface="Wingdings" charset="2"/>
              <a:buChar char=""/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Chris Rupp et al. </a:t>
            </a:r>
            <a:r>
              <a:rPr b="0" i="1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Engineering und Management – Das Handbuch für Anforderungen in jeder Situation (7th Edition) </a:t>
            </a: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(2021).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CustomShape 1"/>
          <p:cNvSpPr/>
          <p:nvPr/>
        </p:nvSpPr>
        <p:spPr>
          <a:xfrm>
            <a:off x="335520" y="1268640"/>
            <a:ext cx="10743480" cy="503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GB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CustomShape 2"/>
          <p:cNvSpPr/>
          <p:nvPr/>
        </p:nvSpPr>
        <p:spPr>
          <a:xfrm>
            <a:off x="335520" y="764640"/>
            <a:ext cx="1074348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LibreOffice/7.4.7.2$Linux_X86_64 LibreOffice_project/40$Build-2</Application>
  <AppVersion>15.0000</AppVersion>
  <Words>971</Words>
  <Paragraphs>201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cp:lastPrinted>2025-11-02T12:20:02Z</cp:lastPrinted>
  <dcterms:modified xsi:type="dcterms:W3CDTF">2025-11-03T12:19:36Z</dcterms:modified>
  <cp:revision>3097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4</vt:i4>
  </property>
  <property fmtid="{D5CDD505-2E9C-101B-9397-08002B2CF9AE}" pid="7" name="PresentationFormat">
    <vt:lpwstr>Widescreen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18</vt:i4>
  </property>
</Properties>
</file>