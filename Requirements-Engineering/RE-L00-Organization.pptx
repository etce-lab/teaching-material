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jpeg" ContentType="image/jpeg"/>
  <Override PartName="/ppt/media/image4.jpeg" ContentType="image/jpeg"/>
  <Override PartName="/ppt/media/image5.jpeg" ContentType="image/jpeg"/>
  <Override PartName="/ppt/media/image6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3F84D4F-E0FB-4625-85DC-7E237CEA50C1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600" cy="375876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240" cy="451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Shape 3"/>
          <p:cNvSpPr/>
          <p:nvPr/>
        </p:nvSpPr>
        <p:spPr>
          <a:xfrm>
            <a:off x="4399200" y="9555480"/>
            <a:ext cx="33595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184FC0B1-C890-4B7A-B414-45DC4097F0F6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600" cy="375876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240" cy="451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Shape 3"/>
          <p:cNvSpPr/>
          <p:nvPr/>
        </p:nvSpPr>
        <p:spPr>
          <a:xfrm>
            <a:off x="4399200" y="9555480"/>
            <a:ext cx="33595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10AA4513-EC01-4D66-96E5-3797D45F7291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600" cy="375876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240" cy="451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Shape 3"/>
          <p:cNvSpPr/>
          <p:nvPr/>
        </p:nvSpPr>
        <p:spPr>
          <a:xfrm>
            <a:off x="4399200" y="9555480"/>
            <a:ext cx="33595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56DB8A21-5187-4A4E-9A42-97402CD9AD1C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600" cy="375876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240" cy="451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Shape 3"/>
          <p:cNvSpPr/>
          <p:nvPr/>
        </p:nvSpPr>
        <p:spPr>
          <a:xfrm>
            <a:off x="4399200" y="9555480"/>
            <a:ext cx="335952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263D3FE-C465-4A77-89DE-2D61DA5783F0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1162866-A301-495E-9625-B61D255EDE4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D7937DF-D2D1-4158-9E45-D2BDA568071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21B73E4-F117-4E28-98FB-21957DF682F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8EA1808-80DD-47EC-AED4-9BE92BC2D6F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2DAD2CB-14D9-4B40-B444-3D1984E79C0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9756488-CB3B-445A-B600-803906C38FE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1C2C855-C448-4228-8DCF-6D93B8B91D5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06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9400D47-0EAF-428E-91A4-A5B24F8C7D7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06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FC24DEF-D5A7-4E1A-B8B5-17BD5522CB4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583A215-5439-4776-BF84-B9B6E0B8A98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4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D5ED522-43E6-47B7-9063-2E218C3F79A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0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4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1ABF79C-3E17-4272-9A14-AE58D21468D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CustomShape 4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CustomShape 5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79336D3-492F-43DC-9A49-9C98F59613E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819611F-C6C7-4AE0-9C49-0B80BA6EEE8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C4DEA8F-0E26-4B54-B9FF-02C752597F0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8F6B3D1-A43D-47F2-9550-A119FAE03DB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DBFF7C7-403C-42EA-8E95-014AE978FC8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75099FD-8B1D-486C-8423-852A223EF91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0F5447D-0590-4DA7-8934-912187F1CDE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BB80828-D2E3-4B02-9D74-3AA1E589927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BA9633F-F2F3-4655-80CF-4243C2A4B3E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6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0FC3C0E-EE74-486B-AA94-9C130465719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466199F-FD0E-4D55-AA4F-4B50583BA22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991709E-063C-4DA6-B324-5EAED6A8717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397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A8DC039-3C85-4826-BB4A-5CF9979A649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0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440438A-D49D-4291-B0D1-893157A565A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06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7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A85D09C-FC0D-4ED4-96A0-5D7F698CAD5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2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DB9E5EC-4ED4-4E18-BC77-F4BFE976652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06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2DA3D02-5071-435E-A929-92F705872B5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3852A73-E2F3-423D-8CD0-518F0A37A49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48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F0FFABF-3A1F-4A47-A0EF-3EFE7991E12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6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E7EBE88-4D74-4204-B04D-281F5ED95AD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1240" cy="189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AE1E334-E586-4DAD-AA76-9FDF333D770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1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042A687-3611-4FA1-AE2C-C0A72FD5423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00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1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7344F35-DC87-4FE1-A74D-1F7E7BF0759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3"/>
          <p:cNvSpPr/>
          <p:nvPr/>
        </p:nvSpPr>
        <p:spPr>
          <a:xfrm>
            <a:off x="912240" y="1268280"/>
            <a:ext cx="92044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480" cy="55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4320" cy="51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CustomShape 4"/>
          <p:cNvSpPr/>
          <p:nvPr/>
        </p:nvSpPr>
        <p:spPr>
          <a:xfrm>
            <a:off x="11444760" y="0"/>
            <a:ext cx="737640" cy="68464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1" name="CustomShape 5"/>
          <p:cNvSpPr/>
          <p:nvPr/>
        </p:nvSpPr>
        <p:spPr>
          <a:xfrm>
            <a:off x="11438640" y="6453360"/>
            <a:ext cx="754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80B568C-2525-4373-8AA8-31E2035CFD5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6"/>
          <p:cNvSpPr/>
          <p:nvPr/>
        </p:nvSpPr>
        <p:spPr>
          <a:xfrm>
            <a:off x="0" y="6642720"/>
            <a:ext cx="121806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hyperlink" Target="https://www.zdf.de/dokumentation/planet-e/planet-e-roboter-als-retter-100.html" TargetMode="External"/><Relationship Id="rId3" Type="http://schemas.openxmlformats.org/officeDocument/2006/relationships/hyperlink" Target="https://www.youtube.com/watch?v=3QO1stC4fvs" TargetMode="External"/><Relationship Id="rId4" Type="http://schemas.openxmlformats.org/officeDocument/2006/relationships/slideLayout" Target="../slideLayouts/slideLayout23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re.etce-lab.de/" TargetMode="External"/><Relationship Id="rId2" Type="http://schemas.openxmlformats.org/officeDocument/2006/relationships/hyperlink" Target="https://github.com/ETCE-LAB/teaching-material/tree/master/Requirements-Engineering#readme" TargetMode="External"/><Relationship Id="rId3" Type="http://schemas.openxmlformats.org/officeDocument/2006/relationships/slideLayout" Target="../slideLayouts/slideLayout2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hsg-rt9-6ur" TargetMode="External"/><Relationship Id="rId2" Type="http://schemas.openxmlformats.org/officeDocument/2006/relationships/hyperlink" Target="https://webconf.tu-clausthal.de/rooms/ben-hsg-rt9-6ur/join" TargetMode="External"/><Relationship Id="rId3" Type="http://schemas.openxmlformats.org/officeDocument/2006/relationships/slideLayout" Target="../slideLayouts/slideLayout2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527400" y="1412640"/>
            <a:ext cx="10357560" cy="11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GB" sz="3200" strike="noStrike" u="non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Requirement Engineering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527400" y="2852640"/>
            <a:ext cx="10357560" cy="23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53964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" name="Grafik 2" descr=""/>
          <p:cNvPicPr/>
          <p:nvPr/>
        </p:nvPicPr>
        <p:blipFill>
          <a:blip r:embed="rId1"/>
          <a:stretch/>
        </p:blipFill>
        <p:spPr>
          <a:xfrm>
            <a:off x="2684520" y="1323360"/>
            <a:ext cx="1464480" cy="21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4" name="Grafik 11" descr=""/>
          <p:cNvPicPr/>
          <p:nvPr/>
        </p:nvPicPr>
        <p:blipFill>
          <a:blip r:embed="rId2"/>
          <a:stretch/>
        </p:blipFill>
        <p:spPr>
          <a:xfrm>
            <a:off x="7269840" y="1716120"/>
            <a:ext cx="1778400" cy="177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CustomShape 2"/>
          <p:cNvSpPr/>
          <p:nvPr/>
        </p:nvSpPr>
        <p:spPr>
          <a:xfrm>
            <a:off x="1620000" y="3439440"/>
            <a:ext cx="362916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3"/>
          <p:cNvSpPr/>
          <p:nvPr/>
        </p:nvSpPr>
        <p:spPr>
          <a:xfrm>
            <a:off x="6322680" y="3460320"/>
            <a:ext cx="362916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CustomShape 7"/>
          <p:cNvSpPr/>
          <p:nvPr/>
        </p:nvSpPr>
        <p:spPr>
          <a:xfrm>
            <a:off x="1311840" y="5920200"/>
            <a:ext cx="362232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8" name="CustomShape 8"/>
          <p:cNvSpPr/>
          <p:nvPr/>
        </p:nvSpPr>
        <p:spPr>
          <a:xfrm>
            <a:off x="3950280" y="5903280"/>
            <a:ext cx="362232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de-DE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Picture 322" descr="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863240" y="4150440"/>
            <a:ext cx="1796400" cy="1796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542880" y="721800"/>
            <a:ext cx="103474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CustomShape 2"/>
          <p:cNvSpPr/>
          <p:nvPr/>
        </p:nvSpPr>
        <p:spPr>
          <a:xfrm>
            <a:off x="451800" y="1709280"/>
            <a:ext cx="8214840" cy="43430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2" name="TextShape 3"/>
          <p:cNvSpPr/>
          <p:nvPr/>
        </p:nvSpPr>
        <p:spPr>
          <a:xfrm>
            <a:off x="609480" y="1769400"/>
            <a:ext cx="1057788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(SS – M.Sc.)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CustomShape 1"/>
          <p:cNvSpPr/>
          <p:nvPr/>
        </p:nvSpPr>
        <p:spPr>
          <a:xfrm>
            <a:off x="542880" y="721800"/>
            <a:ext cx="103474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CustomShape 2"/>
          <p:cNvSpPr/>
          <p:nvPr/>
        </p:nvSpPr>
        <p:spPr>
          <a:xfrm>
            <a:off x="451800" y="1709280"/>
            <a:ext cx="8214840" cy="43430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Shape 3"/>
          <p:cNvSpPr/>
          <p:nvPr/>
        </p:nvSpPr>
        <p:spPr>
          <a:xfrm>
            <a:off x="609480" y="1769400"/>
            <a:ext cx="1057788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Website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Thesis/project topics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Publications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Our research in action: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ZDF documentary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Klartext Preis 2020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CustomShape 1"/>
          <p:cNvSpPr/>
          <p:nvPr/>
        </p:nvSpPr>
        <p:spPr>
          <a:xfrm>
            <a:off x="542880" y="721800"/>
            <a:ext cx="103474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CustomShape 2"/>
          <p:cNvSpPr/>
          <p:nvPr/>
        </p:nvSpPr>
        <p:spPr>
          <a:xfrm>
            <a:off x="451800" y="1709280"/>
            <a:ext cx="8214840" cy="43430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8" name="TextShape 3"/>
          <p:cNvSpPr/>
          <p:nvPr/>
        </p:nvSpPr>
        <p:spPr>
          <a:xfrm>
            <a:off x="609480" y="1769400"/>
            <a:ext cx="1057788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Elicitation techniques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Documentation methods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Textual, model-based and formal requirements specification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negotiation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Management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Traceability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validation and quality assurance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/>
          <p:cNvSpPr/>
          <p:nvPr/>
        </p:nvSpPr>
        <p:spPr>
          <a:xfrm>
            <a:off x="542880" y="721800"/>
            <a:ext cx="103474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ustomShape 2"/>
          <p:cNvSpPr/>
          <p:nvPr/>
        </p:nvSpPr>
        <p:spPr>
          <a:xfrm>
            <a:off x="451800" y="1709280"/>
            <a:ext cx="8214840" cy="43430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TextShape 3"/>
          <p:cNvSpPr/>
          <p:nvPr/>
        </p:nvSpPr>
        <p:spPr>
          <a:xfrm>
            <a:off x="609480" y="1769400"/>
            <a:ext cx="1057788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of the 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choose, justify and apply appropriate methods and techniques for each step of the requirements engineering process given project constraints and properties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b="1" lang="en-GB" sz="16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What is this course about, what is it not about? 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53964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Disclaimer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539640" y="126828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course modelled and built based on the book „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(2010)” from Klaus Pohl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Special thanks to Prof. Dr. Steffen Herbold and Dr. Christian Bartelt, who provided valuable input in the form of the teaching materials of their requirements engineering courses.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CustomShape 1"/>
          <p:cNvSpPr/>
          <p:nvPr/>
        </p:nvSpPr>
        <p:spPr>
          <a:xfrm>
            <a:off x="542880" y="721800"/>
            <a:ext cx="103503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5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5480" cy="20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5"/>
          <p:cNvSpPr/>
          <p:nvPr/>
        </p:nvSpPr>
        <p:spPr>
          <a:xfrm>
            <a:off x="539640" y="764640"/>
            <a:ext cx="10734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"/>
          <p:cNvGraphicFramePr/>
          <p:nvPr/>
        </p:nvGraphicFramePr>
        <p:xfrm>
          <a:off x="716040" y="1441440"/>
          <a:ext cx="10189800" cy="4967280"/>
        </p:xfrm>
        <a:graphic>
          <a:graphicData uri="http://schemas.openxmlformats.org/drawingml/2006/table">
            <a:tbl>
              <a:tblPr/>
              <a:tblGrid>
                <a:gridCol w="1221120"/>
                <a:gridCol w="1220040"/>
                <a:gridCol w="5589360"/>
                <a:gridCol w="2159640"/>
              </a:tblGrid>
              <a:tr h="47124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Week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Lecture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Location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03.11.25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Organization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System Context/Boundaries and Types of Requirements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6252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Eliciation I &amp; II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Negotiation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7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15.12.25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Textual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8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Model-based Requirements Documentation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9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Formal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Validation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Management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Traceability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Tool Support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Exam Q&amp;A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CustomShape 1"/>
          <p:cNvSpPr/>
          <p:nvPr/>
        </p:nvSpPr>
        <p:spPr>
          <a:xfrm>
            <a:off x="53964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9" name="Table 1"/>
          <p:cNvGraphicFramePr/>
          <p:nvPr/>
        </p:nvGraphicFramePr>
        <p:xfrm>
          <a:off x="898920" y="1556280"/>
          <a:ext cx="9435240" cy="2471400"/>
        </p:xfrm>
        <a:graphic>
          <a:graphicData uri="http://schemas.openxmlformats.org/drawingml/2006/table">
            <a:tbl>
              <a:tblPr/>
              <a:tblGrid>
                <a:gridCol w="1757160"/>
                <a:gridCol w="1532880"/>
                <a:gridCol w="6145560"/>
              </a:tblGrid>
              <a:tr h="539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Publication 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Submission Deadline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Exercise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E01 – Knowledge Test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E02 – Elicitation I, E03 – Elicitation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E04 – Agent-Oriented Modeling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E05 – CPN I, E06 – CPN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E07 – Management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E08 – Traceability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ustomShape 32"/>
          <p:cNvSpPr/>
          <p:nvPr/>
        </p:nvSpPr>
        <p:spPr>
          <a:xfrm>
            <a:off x="539640" y="764640"/>
            <a:ext cx="10734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CustomShape 33"/>
          <p:cNvSpPr/>
          <p:nvPr/>
        </p:nvSpPr>
        <p:spPr>
          <a:xfrm>
            <a:off x="539640" y="1268280"/>
            <a:ext cx="10734840" cy="50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Massive Open Online Course (MOOC) style asynchronous learning: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re.etce-lab.de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 is mainly delivered as pre-produced learning material.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additionally available via Github (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Session live streams (BBB – next slide)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etce-re@tu-clausthal.de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b="1" lang="en-GB" sz="1800" strike="noStrike" u="sng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9"/>
          <p:cNvSpPr/>
          <p:nvPr/>
        </p:nvSpPr>
        <p:spPr>
          <a:xfrm>
            <a:off x="539640" y="764640"/>
            <a:ext cx="1073340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10"/>
          <p:cNvSpPr/>
          <p:nvPr/>
        </p:nvSpPr>
        <p:spPr>
          <a:xfrm>
            <a:off x="539640" y="1268640"/>
            <a:ext cx="10733400" cy="50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2:00 pm to 3:30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16.02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MOOC and/or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(Bi-Weekly):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4:00 pm to 5:00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09.02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53964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539640" y="126828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exercise: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 →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group submissions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practical tasks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is always Monday at 1:59pm (right before the next lecture period)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each exercise is mandatory (except for the MC exercises)</a:t>
            </a: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9"/>
          <p:cNvSpPr/>
          <p:nvPr/>
        </p:nvSpPr>
        <p:spPr>
          <a:xfrm>
            <a:off x="539640" y="764640"/>
            <a:ext cx="10734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CustomShape 20"/>
          <p:cNvSpPr/>
          <p:nvPr/>
        </p:nvSpPr>
        <p:spPr>
          <a:xfrm>
            <a:off x="539640" y="1268280"/>
            <a:ext cx="10734840" cy="50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are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 GRADED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and not part of your exam eligibility.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6"/>
          <p:cNvSpPr/>
          <p:nvPr/>
        </p:nvSpPr>
        <p:spPr>
          <a:xfrm>
            <a:off x="539640" y="764640"/>
            <a:ext cx="10734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CustomShape 11"/>
          <p:cNvSpPr/>
          <p:nvPr/>
        </p:nvSpPr>
        <p:spPr>
          <a:xfrm>
            <a:off x="539640" y="1268280"/>
            <a:ext cx="10734840" cy="50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Bonus task: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may miss/fail one of the regular practical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AND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passing the bonus task substitutes the missed/failed 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Bonus task will be very difficult</a:t>
            </a:r>
            <a:r>
              <a:rPr b="0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 → don’t “plan” with the bonus task. Rather submit and pass the regular exercises.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53964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539640" y="126864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for admission to the final exam (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all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criteria have to be fulfilled):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Successful completion of the compulsory five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an exercise if you score 50% (or more) of the exercises that are not MC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have to submit </a:t>
            </a:r>
            <a:r>
              <a:rPr b="1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every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(except for the MC exercises)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 (tentative):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02.03.2026 → 14:00 – 16:00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CustomShape 1"/>
          <p:cNvSpPr/>
          <p:nvPr/>
        </p:nvSpPr>
        <p:spPr>
          <a:xfrm>
            <a:off x="53964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CustomShape 2"/>
          <p:cNvSpPr/>
          <p:nvPr/>
        </p:nvSpPr>
        <p:spPr>
          <a:xfrm>
            <a:off x="539640" y="126828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for your future career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Of course it won’t hurt to have extra knowledge to impress us during the examination ;)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CustomShape 3"/>
          <p:cNvSpPr/>
          <p:nvPr/>
        </p:nvSpPr>
        <p:spPr>
          <a:xfrm>
            <a:off x="6489720" y="2132640"/>
            <a:ext cx="511200" cy="4910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CustomShape 4"/>
          <p:cNvSpPr/>
          <p:nvPr/>
        </p:nvSpPr>
        <p:spPr>
          <a:xfrm>
            <a:off x="4294080" y="2247480"/>
            <a:ext cx="2279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 →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53964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539640" y="126864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Pohl, C. Rupp.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Fundamentals: A Study Guide for Requirements Engineering Foundation Level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J. Dick, E. Hull, K. Jackson.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(4</a:t>
            </a:r>
            <a:r>
              <a:rPr b="0" i="1" lang="en-GB" sz="1800" strike="noStrike" u="none" baseline="30000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(2017).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Chris Rupp et al.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und Management – Das Handbuch für Anforderungen in jeder Situation (7th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(2021).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1"/>
          <p:cNvSpPr/>
          <p:nvPr/>
        </p:nvSpPr>
        <p:spPr>
          <a:xfrm>
            <a:off x="335520" y="126864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GB" sz="4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ustomShape 2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LibreOffice/25.2.6.2$Linux_X86_64 LibreOffice_project/520$Build-2</Application>
  <AppVersion>15.0000</AppVersion>
  <Words>971</Words>
  <Paragraphs>201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cp:lastPrinted>2025-11-02T12:20:02Z</cp:lastPrinted>
  <dcterms:modified xsi:type="dcterms:W3CDTF">2025-11-07T16:17:15Z</dcterms:modified>
  <cp:revision>3105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4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18</vt:i4>
  </property>
</Properties>
</file>