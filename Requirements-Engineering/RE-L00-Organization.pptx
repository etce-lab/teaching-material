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94" r:id="rId21"/>
    <p:sldMasterId id="2147483696" r:id="rId22"/>
    <p:sldMasterId id="2147483698" r:id="rId23"/>
    <p:sldMasterId id="2147483700" r:id="rId24"/>
    <p:sldMasterId id="2147483702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9F2CDA-5740-4DDD-9C69-0A2749D75A5D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760" cy="3760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400" cy="45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Shape 3"/>
          <p:cNvSpPr/>
          <p:nvPr/>
        </p:nvSpPr>
        <p:spPr>
          <a:xfrm>
            <a:off x="4399200" y="9555480"/>
            <a:ext cx="336168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65C62C6D-5C90-4FDB-927A-D4EE8A800471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760" cy="3760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400" cy="45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Shape 3"/>
          <p:cNvSpPr/>
          <p:nvPr/>
        </p:nvSpPr>
        <p:spPr>
          <a:xfrm>
            <a:off x="4399200" y="9555480"/>
            <a:ext cx="336168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66E9B2FB-B0D3-4944-91F9-D12FD63BA867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760" cy="3760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400" cy="45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Shape 3"/>
          <p:cNvSpPr/>
          <p:nvPr/>
        </p:nvSpPr>
        <p:spPr>
          <a:xfrm>
            <a:off x="4399200" y="9555480"/>
            <a:ext cx="336168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59963086-BF1F-4163-B31D-52E7E4A4C3E9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760" cy="3760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400" cy="45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Shape 3"/>
          <p:cNvSpPr/>
          <p:nvPr/>
        </p:nvSpPr>
        <p:spPr>
          <a:xfrm>
            <a:off x="4399200" y="9555480"/>
            <a:ext cx="336168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34C0E911-0D00-4F99-8C40-084DE6629117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8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9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0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1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3C95C85-3170-427C-BAE3-92ACC594862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3899B51-1DAE-4917-961A-97B828792C6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6F90541-AFCA-4BF4-87AA-963CEF4C58B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C3D84DF-483D-499D-95C7-98F1F3C29D8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03C173D-DC3B-4ED2-99B7-7507E50991F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61BA12B-F304-4B72-928E-6B889CDF706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24C25C0-38E1-44B9-8602-C0C12909967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0AAABFE-2EF2-46E3-B5DD-74EF9C3CA82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1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8976802-F0D4-45A7-872B-946BBFE7615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6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7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28C1C15-8E77-4B56-ABEA-B2E14BF4E2B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49FBFF2-3A67-4588-B0A4-93F968619CE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1BA7552-53ED-4F18-961F-C85D43AC962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CustomShape 4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CustomShape 5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FD26850-F5E4-491D-9134-C997F27BD1F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19A10EC-7538-4D14-9F30-BC098A2E708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4ED4FCB-6416-4E36-9088-BD17D4B61FC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FC86259-2E45-4F7A-AB2E-C52076F3314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32C041F-F802-43DB-970B-8BDAAEC53F9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043AEEF-44DE-482C-BDA3-40120405EEF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D8793F-435E-4FFD-98B6-C64D1CF8A39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80ED6D0-ED26-4C83-B235-C8DC8264C00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49B0826-F8CD-438D-9575-2ED12FBA08F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644BD27-D75C-43D0-8131-81AEABBF38B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5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973D209-4F55-402C-9DA1-420AC58618D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F13E375-C960-4181-ABDA-D1797351BAF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A059DB6-EA03-4410-874C-FF6B06977C0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8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EE40C43-71FC-4E98-B94E-656901B9D8C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2B268BE-C1BC-4807-AB43-5F164A7D083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4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B36392E-6B5D-402E-956E-3834043E54A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18AA1B3-42FB-4C72-8662-3E8D35D6CFB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6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809A7E6-B107-4D59-A32F-14C252B5450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59F8691-28CE-4F27-943F-8F8E67DCA04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8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114B09F-3ACB-4944-93FD-435ECDEA3E9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DE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DE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29A85B4-70B3-4008-ACBE-D07E9EA7ABC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2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BC8C5D-EBAD-49B3-B426-3C8DD3F77F8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DE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4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CustomShape 1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7" name="CustomShape 2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2A52584-E829-4EE2-A73E-3BB7CB772AC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CustomShape 3"/>
          <p:cNvSpPr/>
          <p:nvPr/>
        </p:nvSpPr>
        <p:spPr>
          <a:xfrm>
            <a:off x="912240" y="1268280"/>
            <a:ext cx="92066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640" cy="560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480" cy="5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CustomShape 4"/>
          <p:cNvSpPr/>
          <p:nvPr/>
        </p:nvSpPr>
        <p:spPr>
          <a:xfrm>
            <a:off x="11444760" y="0"/>
            <a:ext cx="739800" cy="68486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2" name="CustomShape 5"/>
          <p:cNvSpPr/>
          <p:nvPr/>
        </p:nvSpPr>
        <p:spPr>
          <a:xfrm>
            <a:off x="11438640" y="6453360"/>
            <a:ext cx="756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30D557E-AE53-412B-B7DE-40633BD448A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ustomShape 6"/>
          <p:cNvSpPr/>
          <p:nvPr/>
        </p:nvSpPr>
        <p:spPr>
          <a:xfrm>
            <a:off x="0" y="6642720"/>
            <a:ext cx="12182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27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2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2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527400" y="1412640"/>
            <a:ext cx="10359720" cy="11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GB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Requirement Engineering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527400" y="2852640"/>
            <a:ext cx="10359720" cy="236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6640" cy="21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80560" cy="177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CustomShape 2"/>
          <p:cNvSpPr/>
          <p:nvPr/>
        </p:nvSpPr>
        <p:spPr>
          <a:xfrm>
            <a:off x="1620000" y="3439440"/>
            <a:ext cx="3631320" cy="6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 defTabSz="914400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ustomShape 3"/>
          <p:cNvSpPr/>
          <p:nvPr/>
        </p:nvSpPr>
        <p:spPr>
          <a:xfrm>
            <a:off x="6322680" y="3460320"/>
            <a:ext cx="3631320" cy="6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 defTabSz="914400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CustomShape 7"/>
          <p:cNvSpPr/>
          <p:nvPr/>
        </p:nvSpPr>
        <p:spPr>
          <a:xfrm>
            <a:off x="1311840" y="5920200"/>
            <a:ext cx="362448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CustomShape 8"/>
          <p:cNvSpPr/>
          <p:nvPr/>
        </p:nvSpPr>
        <p:spPr>
          <a:xfrm>
            <a:off x="3950280" y="5903280"/>
            <a:ext cx="362448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 defTabSz="914400">
              <a:lnSpc>
                <a:spcPct val="100000"/>
              </a:lnSpc>
              <a:spcBef>
                <a:spcPts val="360"/>
              </a:spcBef>
            </a:pPr>
            <a:r>
              <a:rPr b="0" lang="de-DE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8560" cy="179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542880" y="721800"/>
            <a:ext cx="10349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451800" y="1709280"/>
            <a:ext cx="8217000" cy="43452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2" name="TextShape 3"/>
          <p:cNvSpPr/>
          <p:nvPr/>
        </p:nvSpPr>
        <p:spPr>
          <a:xfrm>
            <a:off x="609480" y="1769400"/>
            <a:ext cx="10580040" cy="48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CustomShape 1"/>
          <p:cNvSpPr/>
          <p:nvPr/>
        </p:nvSpPr>
        <p:spPr>
          <a:xfrm>
            <a:off x="542880" y="721800"/>
            <a:ext cx="10349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451800" y="1709280"/>
            <a:ext cx="8217000" cy="43452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5" name="TextShape 3"/>
          <p:cNvSpPr/>
          <p:nvPr/>
        </p:nvSpPr>
        <p:spPr>
          <a:xfrm>
            <a:off x="609480" y="1769400"/>
            <a:ext cx="10580040" cy="48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Website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Thesis/project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Publications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CustomShape 1"/>
          <p:cNvSpPr/>
          <p:nvPr/>
        </p:nvSpPr>
        <p:spPr>
          <a:xfrm>
            <a:off x="542880" y="721800"/>
            <a:ext cx="10349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ustomShape 2"/>
          <p:cNvSpPr/>
          <p:nvPr/>
        </p:nvSpPr>
        <p:spPr>
          <a:xfrm>
            <a:off x="451800" y="1709280"/>
            <a:ext cx="8217000" cy="43452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TextShape 3"/>
          <p:cNvSpPr/>
          <p:nvPr/>
        </p:nvSpPr>
        <p:spPr>
          <a:xfrm>
            <a:off x="609480" y="1769400"/>
            <a:ext cx="10580040" cy="48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Elicitation techniques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Documentation methods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negotiation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Management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Traceability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validation and quality assurance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CustomShape 1"/>
          <p:cNvSpPr/>
          <p:nvPr/>
        </p:nvSpPr>
        <p:spPr>
          <a:xfrm>
            <a:off x="542880" y="721800"/>
            <a:ext cx="10349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451800" y="1709280"/>
            <a:ext cx="8217000" cy="43452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TextShape 3"/>
          <p:cNvSpPr/>
          <p:nvPr/>
        </p:nvSpPr>
        <p:spPr>
          <a:xfrm>
            <a:off x="609480" y="1769400"/>
            <a:ext cx="10580040" cy="48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of the 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 defTabSz="9144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 defTabSz="91440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 defTabSz="91440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What is this course about, what is it not about?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Disclaimer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CustomShape 2"/>
          <p:cNvSpPr/>
          <p:nvPr/>
        </p:nvSpPr>
        <p:spPr>
          <a:xfrm>
            <a:off x="539640" y="126828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(2010)” from Klaus Pohl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7640" cy="207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CustomShape 5"/>
          <p:cNvSpPr/>
          <p:nvPr/>
        </p:nvSpPr>
        <p:spPr>
          <a:xfrm>
            <a:off x="53964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7" name="Table 2"/>
          <p:cNvGraphicFramePr/>
          <p:nvPr/>
        </p:nvGraphicFramePr>
        <p:xfrm>
          <a:off x="716040" y="1441440"/>
          <a:ext cx="10190520" cy="507600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marL="457200" defTabSz="9144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tIns="432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9" name="Table 1"/>
          <p:cNvGraphicFramePr/>
          <p:nvPr/>
        </p:nvGraphicFramePr>
        <p:xfrm>
          <a:off x="898920" y="1556280"/>
          <a:ext cx="9435240" cy="247140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E07 – Management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E08 – Traceability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CustomShape 32"/>
          <p:cNvSpPr/>
          <p:nvPr/>
        </p:nvSpPr>
        <p:spPr>
          <a:xfrm>
            <a:off x="53964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CustomShape 33"/>
          <p:cNvSpPr/>
          <p:nvPr/>
        </p:nvSpPr>
        <p:spPr>
          <a:xfrm>
            <a:off x="539640" y="126828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GB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CustomShape 9"/>
          <p:cNvSpPr/>
          <p:nvPr/>
        </p:nvSpPr>
        <p:spPr>
          <a:xfrm>
            <a:off x="53964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CustomShape 10"/>
          <p:cNvSpPr/>
          <p:nvPr/>
        </p:nvSpPr>
        <p:spPr>
          <a:xfrm>
            <a:off x="539640" y="126864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16.02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4:00 pm to 5:00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09.02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CustomShape 2"/>
          <p:cNvSpPr/>
          <p:nvPr/>
        </p:nvSpPr>
        <p:spPr>
          <a:xfrm>
            <a:off x="539640" y="126828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exercise: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 →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practical tasks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each exercise is mandatory</a:t>
            </a: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ustomShape 19"/>
          <p:cNvSpPr/>
          <p:nvPr/>
        </p:nvSpPr>
        <p:spPr>
          <a:xfrm>
            <a:off x="53964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CustomShape 20"/>
          <p:cNvSpPr/>
          <p:nvPr/>
        </p:nvSpPr>
        <p:spPr>
          <a:xfrm>
            <a:off x="539640" y="126828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CustomShape 6"/>
          <p:cNvSpPr/>
          <p:nvPr/>
        </p:nvSpPr>
        <p:spPr>
          <a:xfrm>
            <a:off x="53964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CustomShape 11"/>
          <p:cNvSpPr/>
          <p:nvPr/>
        </p:nvSpPr>
        <p:spPr>
          <a:xfrm>
            <a:off x="539640" y="126828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task: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may miss/fail one of the regular practical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Bonus task will be very difficult</a:t>
            </a:r>
            <a:r>
              <a:rPr b="0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ustomShape 2"/>
          <p:cNvSpPr/>
          <p:nvPr/>
        </p:nvSpPr>
        <p:spPr>
          <a:xfrm>
            <a:off x="539640" y="126864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admission to the final exam (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Successful completion of the compulsory seven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an exercise if you score 50% (or more)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have to submit </a:t>
            </a:r>
            <a:r>
              <a:rPr b="1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every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 (tentative):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02.03.2026 → 14:00 – 16:00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539640" y="126828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for your future career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3"/>
          <p:cNvSpPr/>
          <p:nvPr/>
        </p:nvSpPr>
        <p:spPr>
          <a:xfrm>
            <a:off x="6489720" y="2132640"/>
            <a:ext cx="513360" cy="4932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CustomShape 4"/>
          <p:cNvSpPr/>
          <p:nvPr/>
        </p:nvSpPr>
        <p:spPr>
          <a:xfrm>
            <a:off x="4294080" y="2247480"/>
            <a:ext cx="2281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 →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CustomShape 1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CustomShape 2"/>
          <p:cNvSpPr/>
          <p:nvPr/>
        </p:nvSpPr>
        <p:spPr>
          <a:xfrm>
            <a:off x="539640" y="126864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Pohl, C. Rupp.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J. Dick, E. Hull, K. Jackson.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(4</a:t>
            </a:r>
            <a:r>
              <a:rPr b="0" i="1" lang="en-GB" sz="1800" strike="noStrike" u="none" baseline="30000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 defTabSz="9144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Chris Rupp et al.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(2021).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CustomShape 1"/>
          <p:cNvSpPr/>
          <p:nvPr/>
        </p:nvSpPr>
        <p:spPr>
          <a:xfrm>
            <a:off x="335520" y="126864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33552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LibreOffice/25.2.6.2$Linux_X86_64 LibreOffice_project/520$Build-2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2025-11-02T12:20:02Z</cp:lastPrinted>
  <dcterms:modified xsi:type="dcterms:W3CDTF">2025-11-02T12:20:44Z</dcterms:modified>
  <cp:revision>3096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