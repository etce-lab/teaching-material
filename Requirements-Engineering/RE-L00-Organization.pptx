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001A820-EFE0-4469-82D4-6103DC68ADAC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960" cy="375912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600" cy="451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Shape 3"/>
          <p:cNvSpPr/>
          <p:nvPr/>
        </p:nvSpPr>
        <p:spPr>
          <a:xfrm>
            <a:off x="4399200" y="9555480"/>
            <a:ext cx="33598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E8E7AAD-0E4B-4E2A-8C74-D1A1093F3A17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960" cy="375912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600" cy="451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Shape 3"/>
          <p:cNvSpPr/>
          <p:nvPr/>
        </p:nvSpPr>
        <p:spPr>
          <a:xfrm>
            <a:off x="4399200" y="9555480"/>
            <a:ext cx="33598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D294182-D07F-4808-9CAD-77E0E7C4ED42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960" cy="37591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600" cy="451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Shape 3"/>
          <p:cNvSpPr/>
          <p:nvPr/>
        </p:nvSpPr>
        <p:spPr>
          <a:xfrm>
            <a:off x="4399200" y="9555480"/>
            <a:ext cx="33598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22EF428-9522-4315-A1CF-36C5AB37DD62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960" cy="37591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600" cy="451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Shape 3"/>
          <p:cNvSpPr/>
          <p:nvPr/>
        </p:nvSpPr>
        <p:spPr>
          <a:xfrm>
            <a:off x="4399200" y="9555480"/>
            <a:ext cx="33598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E549CF7E-29B8-4844-A335-E6A315A12417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186828D-FF0E-4F33-9CB8-31E91FED163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EE0E1B8-B271-42A3-A243-AC1C76FC175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29BAFF-AFAF-4929-925F-BC51199F63C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9BDA096-F914-4D1B-B5D1-B4B7077E4B0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10BF9F1-48B5-46F6-8A12-9407739A8CF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7CA4339-83C9-4431-8535-5B0F20DF085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61D94B8-F503-40D6-868D-E543FC82352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3AABA18-472E-4B5C-943C-2BCB3667D10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9772B30-0F71-400B-83F9-8AE07873B6A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B034355-54C1-49F1-878B-037D8B98ABD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0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1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8D5F550-B312-4D58-8ABA-BBB4EFCA536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1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46D0859-F4B1-4714-8EA8-C2E2B423370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CustomShape 4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5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F2A82D0-228C-4FC5-8065-DF453FFDD0A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1D7F694-9F42-42AE-A497-09CCC107415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D76F7B4-C9DC-40DD-B317-349246376FA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279D2C1-9D9E-4C95-AB70-A982A2F155C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83B2B71-AC4E-4A18-A3BC-A13AD418DB5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FBC1BE7-32CC-456D-8689-B0C54D2E66F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9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449BF7E-31B9-4CFC-8F0A-C5968EB3EA8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C8FB23A-CCFF-43BD-B283-4382252E1DC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0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943E6B6-D9B2-4F65-BABE-BE135A16C7B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484160E-ED8C-4CF0-8719-F4B1111F7E7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84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3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CE5CA8E-0364-4260-AFBE-211562A6C4A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8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1D2B2D9-728D-42AE-8EF9-916E54D0877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600" cy="189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6416DAF-3182-476C-89DF-E8BB74CC2D3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3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5D022B0-4426-472F-939B-8C1421190D0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985437F-E4F4-40D3-8012-B2173866660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B5F3208-8332-48DB-B203-DEC524AF893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7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4710A57-5163-4F06-89A0-FC5EF07034B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2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B0ED4D5-B571-4268-97D4-0EBBD9EEADC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E205587-D73D-441D-B349-E1622D42B33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49FC918-7A61-45BC-AB89-5368B12EFC7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8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8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959FF6E-CCCD-4476-8C0B-A40C24ABB24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3BDCCB5-8939-4DB7-9BF9-446122088F8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0E473D3-0A83-4D1E-985B-9A49B7E1112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CustomShape 3"/>
          <p:cNvSpPr/>
          <p:nvPr/>
        </p:nvSpPr>
        <p:spPr>
          <a:xfrm>
            <a:off x="912240" y="1268280"/>
            <a:ext cx="92048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840" cy="55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680" cy="51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CustomShape 4"/>
          <p:cNvSpPr/>
          <p:nvPr/>
        </p:nvSpPr>
        <p:spPr>
          <a:xfrm>
            <a:off x="11444760" y="0"/>
            <a:ext cx="738000" cy="68468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2" name="CustomShape 5"/>
          <p:cNvSpPr/>
          <p:nvPr/>
        </p:nvSpPr>
        <p:spPr>
          <a:xfrm>
            <a:off x="11438640" y="6453360"/>
            <a:ext cx="75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2C55A27-FFC9-49A2-9BF1-FEA7BD52710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6"/>
          <p:cNvSpPr/>
          <p:nvPr/>
        </p:nvSpPr>
        <p:spPr>
          <a:xfrm>
            <a:off x="0" y="6642720"/>
            <a:ext cx="12180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1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1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1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527400" y="1412640"/>
            <a:ext cx="10357920" cy="11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GB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Requirement Engineering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27400" y="2852640"/>
            <a:ext cx="10357920" cy="23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4840" cy="21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78760" cy="177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CustomShape 2"/>
          <p:cNvSpPr/>
          <p:nvPr/>
        </p:nvSpPr>
        <p:spPr>
          <a:xfrm>
            <a:off x="1620000" y="3439440"/>
            <a:ext cx="36295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6322680" y="3460320"/>
            <a:ext cx="36295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CustomShape 7"/>
          <p:cNvSpPr/>
          <p:nvPr/>
        </p:nvSpPr>
        <p:spPr>
          <a:xfrm>
            <a:off x="1311840" y="5920200"/>
            <a:ext cx="362268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8" name="CustomShape 8"/>
          <p:cNvSpPr/>
          <p:nvPr/>
        </p:nvSpPr>
        <p:spPr>
          <a:xfrm>
            <a:off x="3950280" y="5903280"/>
            <a:ext cx="362268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de-DE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6760" cy="179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542880" y="721800"/>
            <a:ext cx="103478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451800" y="1709280"/>
            <a:ext cx="8215200" cy="4343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TextShape 3"/>
          <p:cNvSpPr/>
          <p:nvPr/>
        </p:nvSpPr>
        <p:spPr>
          <a:xfrm>
            <a:off x="609480" y="1769400"/>
            <a:ext cx="10578240" cy="48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542880" y="721800"/>
            <a:ext cx="103478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451800" y="1709280"/>
            <a:ext cx="8215200" cy="4343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Shape 3"/>
          <p:cNvSpPr/>
          <p:nvPr/>
        </p:nvSpPr>
        <p:spPr>
          <a:xfrm>
            <a:off x="609480" y="1769400"/>
            <a:ext cx="10578240" cy="48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Website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Thesis/project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Publications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542880" y="721800"/>
            <a:ext cx="103478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451800" y="1709280"/>
            <a:ext cx="8215200" cy="4343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8" name="TextShape 3"/>
          <p:cNvSpPr/>
          <p:nvPr/>
        </p:nvSpPr>
        <p:spPr>
          <a:xfrm>
            <a:off x="609480" y="1769400"/>
            <a:ext cx="10578240" cy="48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Elicitation techniques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Documentation methods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negotiation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Management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Traceability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validation and quality assurance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542880" y="721800"/>
            <a:ext cx="103478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451800" y="1709280"/>
            <a:ext cx="8215200" cy="4343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Shape 3"/>
          <p:cNvSpPr/>
          <p:nvPr/>
        </p:nvSpPr>
        <p:spPr>
          <a:xfrm>
            <a:off x="609480" y="1769400"/>
            <a:ext cx="10578240" cy="48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of the 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What is this course about, what is it not about?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Disclaimer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539640" y="126828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(2010)” from Klaus Pohl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42880" y="721800"/>
            <a:ext cx="1035072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5840" cy="20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5"/>
          <p:cNvSpPr/>
          <p:nvPr/>
        </p:nvSpPr>
        <p:spPr>
          <a:xfrm>
            <a:off x="53964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"/>
          <p:cNvGraphicFramePr/>
          <p:nvPr/>
        </p:nvGraphicFramePr>
        <p:xfrm>
          <a:off x="716040" y="1441440"/>
          <a:ext cx="10189800" cy="496728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9" name="Table 1"/>
          <p:cNvGraphicFramePr/>
          <p:nvPr/>
        </p:nvGraphicFramePr>
        <p:xfrm>
          <a:off x="898920" y="1556280"/>
          <a:ext cx="9435240" cy="247140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E07 – Management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E08 – Traceability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32"/>
          <p:cNvSpPr/>
          <p:nvPr/>
        </p:nvSpPr>
        <p:spPr>
          <a:xfrm>
            <a:off x="53964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ustomShape 33"/>
          <p:cNvSpPr/>
          <p:nvPr/>
        </p:nvSpPr>
        <p:spPr>
          <a:xfrm>
            <a:off x="539640" y="1268280"/>
            <a:ext cx="10735200" cy="50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GB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9"/>
          <p:cNvSpPr/>
          <p:nvPr/>
        </p:nvSpPr>
        <p:spPr>
          <a:xfrm>
            <a:off x="539640" y="764640"/>
            <a:ext cx="1073376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10"/>
          <p:cNvSpPr/>
          <p:nvPr/>
        </p:nvSpPr>
        <p:spPr>
          <a:xfrm>
            <a:off x="539640" y="1268640"/>
            <a:ext cx="10733760" cy="50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16.02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MOOC and/or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4:00 pm to 5:00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09.02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539640" y="126828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exercise: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 →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practical tasks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each exercise is mandatory (except for the MC exercises)</a:t>
            </a: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9"/>
          <p:cNvSpPr/>
          <p:nvPr/>
        </p:nvSpPr>
        <p:spPr>
          <a:xfrm>
            <a:off x="53964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0"/>
          <p:cNvSpPr/>
          <p:nvPr/>
        </p:nvSpPr>
        <p:spPr>
          <a:xfrm>
            <a:off x="539640" y="1268280"/>
            <a:ext cx="10735200" cy="50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 GRADED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and not part of your exam eligibility.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6"/>
          <p:cNvSpPr/>
          <p:nvPr/>
        </p:nvSpPr>
        <p:spPr>
          <a:xfrm>
            <a:off x="53964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11"/>
          <p:cNvSpPr/>
          <p:nvPr/>
        </p:nvSpPr>
        <p:spPr>
          <a:xfrm>
            <a:off x="539640" y="1268280"/>
            <a:ext cx="10735200" cy="50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task: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may miss/fail one of the regular practical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Bonus task will be very difficult</a:t>
            </a:r>
            <a:r>
              <a:rPr b="0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39640" y="126864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admission to the final exam (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Successful completion of the compulsory five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an exercise if you score 50% (or more) of the exercises that are not MC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have to submit </a:t>
            </a:r>
            <a:r>
              <a:rPr b="1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every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(except for the MC exercises)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 (tentative):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02.03.2026 → 14:00 – 16:00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39640" y="126828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for your future career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6489720" y="2132640"/>
            <a:ext cx="511560" cy="4914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CustomShape 4"/>
          <p:cNvSpPr/>
          <p:nvPr/>
        </p:nvSpPr>
        <p:spPr>
          <a:xfrm>
            <a:off x="4294080" y="2247480"/>
            <a:ext cx="2279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 →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3964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39640" y="126864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Pohl, C. Rupp.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J. Dick, E. Hull, K. Jackson.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(4</a:t>
            </a:r>
            <a:r>
              <a:rPr b="0" i="1" lang="en-GB" sz="1800" strike="noStrike" u="none" baseline="30000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Chris Rupp et al.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(2021).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335520" y="1268640"/>
            <a:ext cx="10742040" cy="50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335520" y="764640"/>
            <a:ext cx="10742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LibreOffice/25.2.6.2$Linux_X86_64 LibreOffice_project/520$Build-2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2025-11-02T12:20:02Z</cp:lastPrinted>
  <dcterms:modified xsi:type="dcterms:W3CDTF">2025-11-04T05:48:06Z</dcterms:modified>
  <cp:revision>3104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