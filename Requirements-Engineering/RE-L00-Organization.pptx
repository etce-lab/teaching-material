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3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25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jpeg" ContentType="image/jpeg"/>
  <Override PartName="/ppt/media/image4.jpeg" ContentType="image/jpeg"/>
  <Override PartName="/ppt/media/image5.jpeg" ContentType="image/jpeg"/>
  <Override PartName="/ppt/media/image6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GB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0751D84-263C-40C9-9913-F7872FF6DB57}" type="slidenum"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1680" cy="3759840"/>
          </a:xfrm>
          <a:prstGeom prst="rect">
            <a:avLst/>
          </a:prstGeom>
          <a:ln w="0">
            <a:noFill/>
          </a:ln>
        </p:spPr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5320" cy="451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Shape 3"/>
          <p:cNvSpPr/>
          <p:nvPr/>
        </p:nvSpPr>
        <p:spPr>
          <a:xfrm>
            <a:off x="4399200" y="9555480"/>
            <a:ext cx="336060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D4E0F3C5-7880-41A6-ADB5-80868038073C}" type="slidenum"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1680" cy="3759840"/>
          </a:xfrm>
          <a:prstGeom prst="rect">
            <a:avLst/>
          </a:prstGeom>
          <a:ln w="0">
            <a:noFill/>
          </a:ln>
        </p:spPr>
      </p:sp>
      <p:sp>
        <p:nvSpPr>
          <p:cNvPr id="32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5320" cy="451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Shape 3"/>
          <p:cNvSpPr/>
          <p:nvPr/>
        </p:nvSpPr>
        <p:spPr>
          <a:xfrm>
            <a:off x="4399200" y="9555480"/>
            <a:ext cx="336060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CBE784B2-8C1F-4D4F-9EFB-11689F48B29D}" type="slidenum"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1680" cy="375984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5320" cy="451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Shape 3"/>
          <p:cNvSpPr/>
          <p:nvPr/>
        </p:nvSpPr>
        <p:spPr>
          <a:xfrm>
            <a:off x="4399200" y="9555480"/>
            <a:ext cx="336060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C1B342C7-90A6-4B7F-AD3A-D6F8112844F3}" type="slidenum"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1680" cy="375984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5320" cy="451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Shape 3"/>
          <p:cNvSpPr/>
          <p:nvPr/>
        </p:nvSpPr>
        <p:spPr>
          <a:xfrm>
            <a:off x="4399200" y="9555480"/>
            <a:ext cx="336060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480B3B24-6CA0-4009-A4B3-C3E740D5C8DA}" type="slidenum"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" name="CustomShape 2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7B7C95C-1523-457D-BF4D-B0153CAB464E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CustomShape 3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560" cy="55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40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CustomShape 4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" name="CustomShape 5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" name="CustomShape 6"/>
          <p:cNvSpPr/>
          <p:nvPr/>
        </p:nvSpPr>
        <p:spPr>
          <a:xfrm>
            <a:off x="0" y="6642720"/>
            <a:ext cx="12181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ustomShape 1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" name="CustomShape 2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7CE5D99E-9E17-434F-9B76-B7643479FFF4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CustomShape 3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560" cy="55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40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CustomShape 4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" name="CustomShape 5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" name="CustomShape 6"/>
          <p:cNvSpPr/>
          <p:nvPr/>
        </p:nvSpPr>
        <p:spPr>
          <a:xfrm>
            <a:off x="0" y="6642720"/>
            <a:ext cx="12181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ustomShape 1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" name="CustomShape 2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137761A-8FA6-423F-B245-E37354C977C0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CustomShape 3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4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560" cy="55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40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CustomShape 4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" name="CustomShape 5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" name="CustomShape 6"/>
          <p:cNvSpPr/>
          <p:nvPr/>
        </p:nvSpPr>
        <p:spPr>
          <a:xfrm>
            <a:off x="0" y="6642720"/>
            <a:ext cx="12181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ustomShape 1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" name="CustomShape 2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745B6D88-1FD1-4D44-99D0-0D47A145CE41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CustomShape 3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560" cy="55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40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CustomShape 4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" name="CustomShape 5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" name="CustomShape 6"/>
          <p:cNvSpPr/>
          <p:nvPr/>
        </p:nvSpPr>
        <p:spPr>
          <a:xfrm>
            <a:off x="0" y="6642720"/>
            <a:ext cx="12181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CustomShape 1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" name="CustomShape 2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AF8597A-81B0-4F06-959A-E9209ACDE0F2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CustomShape 3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560" cy="55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40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CustomShape 4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" name="CustomShape 5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" name="CustomShape 6"/>
          <p:cNvSpPr/>
          <p:nvPr/>
        </p:nvSpPr>
        <p:spPr>
          <a:xfrm>
            <a:off x="0" y="6642720"/>
            <a:ext cx="12181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CustomShape 1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" name="CustomShape 2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D7ECB18-8504-4A2E-AF03-155659BA4E51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CustomShape 3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560" cy="55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40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CustomShape 4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" name="CustomShape 5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7" name="CustomShape 6"/>
          <p:cNvSpPr/>
          <p:nvPr/>
        </p:nvSpPr>
        <p:spPr>
          <a:xfrm>
            <a:off x="0" y="6642720"/>
            <a:ext cx="12181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CustomShape 1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" name="CustomShape 2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7300A5C-81D3-41D0-979F-E50A05E28038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CustomShape 3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560" cy="55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40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CustomShape 4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" name="CustomShape 5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" name="CustomShape 6"/>
          <p:cNvSpPr/>
          <p:nvPr/>
        </p:nvSpPr>
        <p:spPr>
          <a:xfrm>
            <a:off x="0" y="6642720"/>
            <a:ext cx="12181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CustomShape 1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5" name="CustomShape 2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AEE9741-A838-409E-B1C0-4D1F7F92DADE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CustomShape 3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560" cy="55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40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CustomShape 4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0" name="CustomShape 5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" name="CustomShape 6"/>
          <p:cNvSpPr/>
          <p:nvPr/>
        </p:nvSpPr>
        <p:spPr>
          <a:xfrm>
            <a:off x="0" y="6642720"/>
            <a:ext cx="12181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CustomShape 1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6" name="CustomShape 2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13D9F51-1E9A-4EC2-94AA-917707499125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CustomShape 3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8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560" cy="55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9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40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CustomShape 4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" name="CustomShape 5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2" name="CustomShape 6"/>
          <p:cNvSpPr/>
          <p:nvPr/>
        </p:nvSpPr>
        <p:spPr>
          <a:xfrm>
            <a:off x="0" y="6642720"/>
            <a:ext cx="12181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CustomShape 1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9" name="CustomShape 2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DAEAFB4-D465-43FA-A111-C3D47F5CCE25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CustomShape 3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0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560" cy="55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2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40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" name="CustomShape 4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4" name="CustomShape 5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5" name="CustomShape 6"/>
          <p:cNvSpPr/>
          <p:nvPr/>
        </p:nvSpPr>
        <p:spPr>
          <a:xfrm>
            <a:off x="0" y="6642720"/>
            <a:ext cx="12181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CustomShape 1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4" name="CustomShape 2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29356464-8112-4ABC-8BDF-BFC25D33DB8E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CustomShape 3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16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560" cy="55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7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40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CustomShape 4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9" name="CustomShape 5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0" name="CustomShape 6"/>
          <p:cNvSpPr/>
          <p:nvPr/>
        </p:nvSpPr>
        <p:spPr>
          <a:xfrm>
            <a:off x="0" y="6642720"/>
            <a:ext cx="12181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CustomShape 1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4" name="CustomShape 2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02D551AF-54F5-4461-B84B-80B7690799EF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CustomShape 3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26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560" cy="55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7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40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CustomShape 4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9" name="CustomShape 5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0" name="CustomShape 6"/>
          <p:cNvSpPr/>
          <p:nvPr/>
        </p:nvSpPr>
        <p:spPr>
          <a:xfrm>
            <a:off x="0" y="6642720"/>
            <a:ext cx="12181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CustomShape 1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3" name="CustomShape 2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04F1318-D6D6-49E1-B86F-E6351F271FA0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CustomShape 3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3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560" cy="55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40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CustomShape 4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8" name="CustomShape 5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0A39377F-5431-4DC1-8FAD-4B209DF582AB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CustomShape 6"/>
          <p:cNvSpPr/>
          <p:nvPr/>
        </p:nvSpPr>
        <p:spPr>
          <a:xfrm>
            <a:off x="0" y="6642720"/>
            <a:ext cx="12181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CustomShape 1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3" name="CustomShape 2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11F1897-4078-4C6C-A304-2C2D307A5EC1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CustomShape 3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4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560" cy="55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40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" name="CustomShape 4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8" name="CustomShape 5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CC30CC2-DE51-407D-ADEF-CAE9B2981E16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CustomShape 6"/>
          <p:cNvSpPr/>
          <p:nvPr/>
        </p:nvSpPr>
        <p:spPr>
          <a:xfrm>
            <a:off x="0" y="6642720"/>
            <a:ext cx="12181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CustomShape 1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4" name="CustomShape 2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EA5518A-0094-4203-84DD-E6D6FDCBA28E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CustomShape 3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56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560" cy="55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7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40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CustomShape 4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9" name="CustomShape 5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32637A8-4442-42F3-8A9A-9B1D2728BDD3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CustomShape 6"/>
          <p:cNvSpPr/>
          <p:nvPr/>
        </p:nvSpPr>
        <p:spPr>
          <a:xfrm>
            <a:off x="0" y="6642720"/>
            <a:ext cx="12181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CustomShape 1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3" name="CustomShape 2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8C87B8A-7E2D-49A9-B83F-F2C5C220826E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CustomShape 3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6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560" cy="55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40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7" name="CustomShape 4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8" name="CustomShape 5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23C8A96C-96A8-4CCE-B730-8491013D106E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CustomShape 6"/>
          <p:cNvSpPr/>
          <p:nvPr/>
        </p:nvSpPr>
        <p:spPr>
          <a:xfrm>
            <a:off x="0" y="6642720"/>
            <a:ext cx="12181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CustomShape 1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1" name="CustomShape 2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25CB9AA2-7591-40B6-B090-729CDD25771C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CustomShape 3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7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560" cy="55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40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CustomShape 4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6" name="CustomShape 5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5EBBAF8-1B78-4901-BC50-BF0962B708AE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CustomShape 6"/>
          <p:cNvSpPr/>
          <p:nvPr/>
        </p:nvSpPr>
        <p:spPr>
          <a:xfrm>
            <a:off x="0" y="6642720"/>
            <a:ext cx="12181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CustomShape 1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3" name="CustomShape 2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8BE82EA-906C-4AEF-8CB5-2E8A92A3FC6C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CustomShape 3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8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560" cy="55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40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CustomShape 4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8" name="CustomShape 5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4F48DB4-39A1-4C13-B27C-708953DBC2E7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CustomShape 6"/>
          <p:cNvSpPr/>
          <p:nvPr/>
        </p:nvSpPr>
        <p:spPr>
          <a:xfrm>
            <a:off x="0" y="6642720"/>
            <a:ext cx="12181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CustomShape 1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5" name="CustomShape 2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B68488FF-E3B8-4658-9354-93E8C74D78F8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CustomShape 3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9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560" cy="55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8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40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CustomShape 4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0" name="CustomShape 5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263AB10-B9EA-4846-A212-F49930949372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CustomShape 6"/>
          <p:cNvSpPr/>
          <p:nvPr/>
        </p:nvSpPr>
        <p:spPr>
          <a:xfrm>
            <a:off x="0" y="6642720"/>
            <a:ext cx="12181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CustomShape 1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7" name="CustomShape 2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C74BAB6-44FA-44E0-A751-BF493F4C29C8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CustomShape 3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0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560" cy="55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40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1" name="CustomShape 4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2" name="CustomShape 5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235A6ED0-2538-4EAF-98DB-08C02E9CBB23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CustomShape 6"/>
          <p:cNvSpPr/>
          <p:nvPr/>
        </p:nvSpPr>
        <p:spPr>
          <a:xfrm>
            <a:off x="0" y="6642720"/>
            <a:ext cx="12181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CustomShape 1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8" name="CustomShape 2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0142ABE-3DA1-4F29-AD6C-DB00F6BE4996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CustomShape 3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20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560" cy="55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1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40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CustomShape 4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3" name="CustomShape 5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F25D1B9-BE6A-45F4-B98D-E3E5A7DCE124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CustomShape 6"/>
          <p:cNvSpPr/>
          <p:nvPr/>
        </p:nvSpPr>
        <p:spPr>
          <a:xfrm>
            <a:off x="0" y="6642720"/>
            <a:ext cx="12181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CustomShape 1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1" name="CustomShape 2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7CE8679D-1A70-4CA4-8CB6-7400C3493072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CustomShape 3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3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560" cy="55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40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CustomShape 4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6" name="CustomShape 5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7E0AF8F-EB6E-4399-99B9-6F5DE23176DC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CustomShape 6"/>
          <p:cNvSpPr/>
          <p:nvPr/>
        </p:nvSpPr>
        <p:spPr>
          <a:xfrm>
            <a:off x="0" y="6642720"/>
            <a:ext cx="12181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CustomShape 1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6" name="CustomShape 2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B50B094-175B-466B-AA45-7F8097E6A9D6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CustomShape 3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48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560" cy="55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9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40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" name="CustomShape 4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1" name="CustomShape 5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2C3F0286-04AC-4C94-8E02-204B0F8802DE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CustomShape 6"/>
          <p:cNvSpPr/>
          <p:nvPr/>
        </p:nvSpPr>
        <p:spPr>
          <a:xfrm>
            <a:off x="0" y="6642720"/>
            <a:ext cx="12181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CustomShape 1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6" name="CustomShape 2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47F7BB7-12B6-40AB-9375-08B6486B6464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CustomShape 3"/>
          <p:cNvSpPr/>
          <p:nvPr/>
        </p:nvSpPr>
        <p:spPr>
          <a:xfrm>
            <a:off x="912240" y="1268280"/>
            <a:ext cx="92055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58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560" cy="55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9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40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0" name="CustomShape 4"/>
          <p:cNvSpPr/>
          <p:nvPr/>
        </p:nvSpPr>
        <p:spPr>
          <a:xfrm>
            <a:off x="11444760" y="0"/>
            <a:ext cx="738720" cy="68475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1" name="CustomShape 5"/>
          <p:cNvSpPr/>
          <p:nvPr/>
        </p:nvSpPr>
        <p:spPr>
          <a:xfrm>
            <a:off x="11438640" y="6453360"/>
            <a:ext cx="75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209A144-6B95-4FCD-A57C-98993853C8C0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CustomShape 6"/>
          <p:cNvSpPr/>
          <p:nvPr/>
        </p:nvSpPr>
        <p:spPr>
          <a:xfrm>
            <a:off x="0" y="6642720"/>
            <a:ext cx="12181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slideLayout" Target="../slideLayouts/slideLayout2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s://www.etce-lab.de/" TargetMode="External"/><Relationship Id="rId2" Type="http://schemas.openxmlformats.org/officeDocument/2006/relationships/hyperlink" Target="https://www.zdf.de/dokumentation/planet-e/planet-e-roboter-als-retter-100.html" TargetMode="External"/><Relationship Id="rId3" Type="http://schemas.openxmlformats.org/officeDocument/2006/relationships/hyperlink" Target="https://www.youtube.com/watch?v=3QO1stC4fvs" TargetMode="External"/><Relationship Id="rId4" Type="http://schemas.openxmlformats.org/officeDocument/2006/relationships/slideLayout" Target="../slideLayouts/slideLayout23.xml"/><Relationship Id="rId5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https://re.etce-lab.de/" TargetMode="External"/><Relationship Id="rId2" Type="http://schemas.openxmlformats.org/officeDocument/2006/relationships/hyperlink" Target="https://github.com/ETCE-LAB/teaching-material/tree/master/Requirements-Engineering#readme" TargetMode="External"/><Relationship Id="rId3" Type="http://schemas.openxmlformats.org/officeDocument/2006/relationships/slideLayout" Target="../slideLayouts/slideLayout2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hyperlink" Target="https://webconf.tu-clausthal.de/b/ben-hsg-rt9-6ur" TargetMode="External"/><Relationship Id="rId2" Type="http://schemas.openxmlformats.org/officeDocument/2006/relationships/hyperlink" Target="https://webconf.tu-clausthal.de/rooms/ben-hsg-rt9-6ur/join" TargetMode="External"/><Relationship Id="rId3" Type="http://schemas.openxmlformats.org/officeDocument/2006/relationships/slideLayout" Target="../slideLayouts/slideLayout2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CustomShape 1"/>
          <p:cNvSpPr/>
          <p:nvPr/>
        </p:nvSpPr>
        <p:spPr>
          <a:xfrm>
            <a:off x="527400" y="1412640"/>
            <a:ext cx="10358640" cy="114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</a:pPr>
            <a:r>
              <a:rPr b="1" lang="en-GB" sz="3200" strike="noStrike" u="none">
                <a:solidFill>
                  <a:srgbClr val="008c4f"/>
                </a:solidFill>
                <a:effectLst/>
                <a:uFillTx/>
                <a:latin typeface="DejaVu Sans"/>
                <a:ea typeface="DejaVu Sans"/>
              </a:rPr>
              <a:t>Requirement Engineering</a:t>
            </a:r>
            <a:endParaRPr b="0" lang="en-GB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2"/>
          <p:cNvSpPr/>
          <p:nvPr/>
        </p:nvSpPr>
        <p:spPr>
          <a:xfrm>
            <a:off x="527400" y="2852640"/>
            <a:ext cx="10358640" cy="23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 0: Organization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M.Sc. Chintan Patel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CustomShape 1"/>
          <p:cNvSpPr/>
          <p:nvPr/>
        </p:nvSpPr>
        <p:spPr>
          <a:xfrm>
            <a:off x="539640" y="764640"/>
            <a:ext cx="107427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Team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3" name="Grafik 2" descr=""/>
          <p:cNvPicPr/>
          <p:nvPr/>
        </p:nvPicPr>
        <p:blipFill>
          <a:blip r:embed="rId1"/>
          <a:stretch/>
        </p:blipFill>
        <p:spPr>
          <a:xfrm>
            <a:off x="2684520" y="1323360"/>
            <a:ext cx="1465560" cy="216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4" name="Grafik 11" descr=""/>
          <p:cNvPicPr/>
          <p:nvPr/>
        </p:nvPicPr>
        <p:blipFill>
          <a:blip r:embed="rId2"/>
          <a:stretch/>
        </p:blipFill>
        <p:spPr>
          <a:xfrm>
            <a:off x="7269840" y="1716120"/>
            <a:ext cx="1779480" cy="177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5" name="CustomShape 2"/>
          <p:cNvSpPr/>
          <p:nvPr/>
        </p:nvSpPr>
        <p:spPr>
          <a:xfrm>
            <a:off x="1620000" y="3439440"/>
            <a:ext cx="3630240" cy="67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b="0" lang="en-GB" sz="1600" strike="noStrike" u="non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CustomShape 3"/>
          <p:cNvSpPr/>
          <p:nvPr/>
        </p:nvSpPr>
        <p:spPr>
          <a:xfrm>
            <a:off x="6322680" y="3460320"/>
            <a:ext cx="3630240" cy="67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b="0" lang="en-GB" sz="1600" strike="noStrike" u="non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CustomShape 7"/>
          <p:cNvSpPr/>
          <p:nvPr/>
        </p:nvSpPr>
        <p:spPr>
          <a:xfrm>
            <a:off x="1311840" y="5920200"/>
            <a:ext cx="3623400" cy="6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8" name="CustomShape 8"/>
          <p:cNvSpPr/>
          <p:nvPr/>
        </p:nvSpPr>
        <p:spPr>
          <a:xfrm>
            <a:off x="3950280" y="5903280"/>
            <a:ext cx="3623400" cy="6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b="0" lang="de-DE" sz="1600" strike="noStrike" u="non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Chintan Patel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9" name="Picture 322" descr=""/>
          <p:cNvPicPr/>
          <p:nvPr/>
        </p:nvPicPr>
        <p:blipFill>
          <a:blip r:embed="rId3"/>
          <a:srcRect l="0" t="4799" r="0" b="28459"/>
          <a:stretch/>
        </p:blipFill>
        <p:spPr>
          <a:xfrm>
            <a:off x="4863240" y="4150440"/>
            <a:ext cx="1797480" cy="1797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CustomShape 1"/>
          <p:cNvSpPr/>
          <p:nvPr/>
        </p:nvSpPr>
        <p:spPr>
          <a:xfrm>
            <a:off x="542880" y="721800"/>
            <a:ext cx="10348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Group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CustomShape 2"/>
          <p:cNvSpPr/>
          <p:nvPr/>
        </p:nvSpPr>
        <p:spPr>
          <a:xfrm>
            <a:off x="451800" y="1709280"/>
            <a:ext cx="8215920" cy="43441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2" name="TextShape 3"/>
          <p:cNvSpPr/>
          <p:nvPr/>
        </p:nvSpPr>
        <p:spPr>
          <a:xfrm>
            <a:off x="609480" y="1769400"/>
            <a:ext cx="10578960" cy="48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1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merging </a:t>
            </a:r>
            <a:r>
              <a:rPr b="1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echnologies for the </a:t>
            </a:r>
            <a:r>
              <a:rPr b="1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ircular </a:t>
            </a:r>
            <a:r>
              <a:rPr b="1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conomy → </a:t>
            </a:r>
            <a:r>
              <a:rPr b="1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focus: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Intersection of IT and sustainability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Circular Economy and Circular Societies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Self-organized, decentralized and distributed systems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Sustainable and resilient food production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Other courses: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Emerging Technologies for the Circular Economy (SS – M.Sc.)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Limits to Growth – Sustainability and the Circular Economy (WS – open for everyone)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CustomShape 1"/>
          <p:cNvSpPr/>
          <p:nvPr/>
        </p:nvSpPr>
        <p:spPr>
          <a:xfrm>
            <a:off x="542880" y="721800"/>
            <a:ext cx="10348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Group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CustomShape 2"/>
          <p:cNvSpPr/>
          <p:nvPr/>
        </p:nvSpPr>
        <p:spPr>
          <a:xfrm>
            <a:off x="451800" y="1709280"/>
            <a:ext cx="8215920" cy="43441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5" name="TextShape 3"/>
          <p:cNvSpPr/>
          <p:nvPr/>
        </p:nvSpPr>
        <p:spPr>
          <a:xfrm>
            <a:off x="609480" y="1769400"/>
            <a:ext cx="10578960" cy="48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Website – </a:t>
            </a:r>
            <a:r>
              <a:rPr b="0" lang="en-GB" sz="20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material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Thesis/project topics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Publications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Our research in action: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ZDF documentary (German) – </a:t>
            </a:r>
            <a:r>
              <a:rPr b="0" lang="en-GB" sz="20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Klartext Preis 2020 (German) – </a:t>
            </a:r>
            <a:r>
              <a:rPr b="0" lang="en-GB" sz="20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3"/>
              </a:rPr>
              <a:t>Link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want join us? Write us an email!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GB" sz="16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 benjamin.leiding@tu-clausthal.de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CustomShape 1"/>
          <p:cNvSpPr/>
          <p:nvPr/>
        </p:nvSpPr>
        <p:spPr>
          <a:xfrm>
            <a:off x="542880" y="721800"/>
            <a:ext cx="10348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Content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CustomShape 2"/>
          <p:cNvSpPr/>
          <p:nvPr/>
        </p:nvSpPr>
        <p:spPr>
          <a:xfrm>
            <a:off x="451800" y="1709280"/>
            <a:ext cx="8215920" cy="43441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8" name="TextShape 3"/>
          <p:cNvSpPr/>
          <p:nvPr/>
        </p:nvSpPr>
        <p:spPr>
          <a:xfrm>
            <a:off x="609480" y="1769400"/>
            <a:ext cx="10578960" cy="48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Core terminology and core tasks of requirements engineering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process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Elicitation techniques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Documentation methods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Textual, model-based and formal requirements specification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negotiation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Management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Traceability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validation and quality assurance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CustomShape 1"/>
          <p:cNvSpPr/>
          <p:nvPr/>
        </p:nvSpPr>
        <p:spPr>
          <a:xfrm>
            <a:off x="542880" y="721800"/>
            <a:ext cx="10348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Learning Outcome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CustomShape 2"/>
          <p:cNvSpPr/>
          <p:nvPr/>
        </p:nvSpPr>
        <p:spPr>
          <a:xfrm>
            <a:off x="451800" y="1709280"/>
            <a:ext cx="8215920" cy="43441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1" name="TextShape 3"/>
          <p:cNvSpPr/>
          <p:nvPr/>
        </p:nvSpPr>
        <p:spPr>
          <a:xfrm>
            <a:off x="609480" y="1769400"/>
            <a:ext cx="10578960" cy="48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Core terminology and core tasks of requirements engineering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Understanding of the requirements engineering process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Ability to choose, justify and apply appropriate methods and techniques for each step of the requirements engineering process given project constraints and properties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009"/>
              </a:spcBef>
              <a:tabLst>
                <a:tab algn="l" pos="0"/>
              </a:tabLst>
            </a:pP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009"/>
              </a:spcBef>
              <a:tabLst>
                <a:tab algn="l" pos="0"/>
              </a:tabLst>
            </a:pPr>
            <a:r>
              <a:rPr b="1" lang="en-GB" sz="16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What is this course about, what is it not about? 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CustomShape 1"/>
          <p:cNvSpPr/>
          <p:nvPr/>
        </p:nvSpPr>
        <p:spPr>
          <a:xfrm>
            <a:off x="539640" y="764640"/>
            <a:ext cx="107427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Disclaimer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CustomShape 2"/>
          <p:cNvSpPr/>
          <p:nvPr/>
        </p:nvSpPr>
        <p:spPr>
          <a:xfrm>
            <a:off x="539640" y="1268280"/>
            <a:ext cx="10742760" cy="50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course modelled and built based on the book „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– Fundamentals, Principles and Techniques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(2010)” from Klaus Pohl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Special thanks to Prof. Dr. Steffen Herbold and Dr. Christian Bartelt, who provided valuable input in the form of the teaching materials of their requirements engineering courses.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CustomShape 1"/>
          <p:cNvSpPr/>
          <p:nvPr/>
        </p:nvSpPr>
        <p:spPr>
          <a:xfrm>
            <a:off x="542880" y="721800"/>
            <a:ext cx="1035144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Content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5" name="Grafik 5" descr=""/>
          <p:cNvPicPr/>
          <p:nvPr/>
        </p:nvPicPr>
        <p:blipFill>
          <a:blip r:embed="rId1"/>
          <a:stretch/>
        </p:blipFill>
        <p:spPr>
          <a:xfrm>
            <a:off x="542880" y="2387520"/>
            <a:ext cx="10096560" cy="2073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CustomShape 5"/>
          <p:cNvSpPr/>
          <p:nvPr/>
        </p:nvSpPr>
        <p:spPr>
          <a:xfrm>
            <a:off x="539640" y="764640"/>
            <a:ext cx="10735920" cy="48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2"/>
          <p:cNvGraphicFramePr/>
          <p:nvPr/>
        </p:nvGraphicFramePr>
        <p:xfrm>
          <a:off x="716040" y="1441440"/>
          <a:ext cx="10189800" cy="4967280"/>
        </p:xfrm>
        <a:graphic>
          <a:graphicData uri="http://schemas.openxmlformats.org/drawingml/2006/table">
            <a:tbl>
              <a:tblPr/>
              <a:tblGrid>
                <a:gridCol w="1221120"/>
                <a:gridCol w="1220040"/>
                <a:gridCol w="5589360"/>
                <a:gridCol w="2159640"/>
              </a:tblGrid>
              <a:tr h="47124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5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Week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5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Date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5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Lecture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5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Location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03.11.25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Organization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GB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BBB (Online)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10.11.25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Introduction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2220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3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17.11.25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en-GB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System Context/Boundaries and Types of Requirements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6252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4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24.11.25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Eliciation I &amp; II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01.12.25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Negotiation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08.12.25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Documentation – Introduction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2220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7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15.12.25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Documentation – Textual Requirements Specification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2220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8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05.01.26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Documentation – Model-based Requirements Documentation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2220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9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12.01.26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Documentation – Formal Requirements Specification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10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19.01.26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Requirements Validation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11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26.02.26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Requirements Management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12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02.02.26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Requirements Traceability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13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09.02.26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Tool Support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14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16.02.26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en-GB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Exam Q&amp;A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GB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BBB (Online)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CustomShape 1"/>
          <p:cNvSpPr/>
          <p:nvPr/>
        </p:nvSpPr>
        <p:spPr>
          <a:xfrm>
            <a:off x="539640" y="764640"/>
            <a:ext cx="107427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9" name="Table 1"/>
          <p:cNvGraphicFramePr/>
          <p:nvPr/>
        </p:nvGraphicFramePr>
        <p:xfrm>
          <a:off x="898920" y="1556280"/>
          <a:ext cx="9435240" cy="2471400"/>
        </p:xfrm>
        <a:graphic>
          <a:graphicData uri="http://schemas.openxmlformats.org/drawingml/2006/table">
            <a:tbl>
              <a:tblPr/>
              <a:tblGrid>
                <a:gridCol w="1757160"/>
                <a:gridCol w="1532880"/>
                <a:gridCol w="6145560"/>
              </a:tblGrid>
              <a:tr h="53964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Publication Date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Submission Deadline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de-DE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Exercise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17.11.2025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24.11.2025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E01 – Knowledge Test (MC)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01.12.2025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08.12.2025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E02 – Elicitation I, E03 – Elicitation II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05.01.2026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12.01.2026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E04 – Agent-Oriented Modeling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12.01.2026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19.01.2026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E05 – CPN I, E06 – CPN II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26.01.2026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02.02.2026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E07 – Management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02.02.2026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noFill/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09.02.2026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noFill/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E08 – Traceability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noFill/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CustomShape 32"/>
          <p:cNvSpPr/>
          <p:nvPr/>
        </p:nvSpPr>
        <p:spPr>
          <a:xfrm>
            <a:off x="539640" y="764640"/>
            <a:ext cx="10735920" cy="48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Organization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CustomShape 33"/>
          <p:cNvSpPr/>
          <p:nvPr/>
        </p:nvSpPr>
        <p:spPr>
          <a:xfrm>
            <a:off x="539640" y="1268280"/>
            <a:ext cx="10735920" cy="50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Organization of the lecture: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Massive Open Online Course (MOOC) style asynchronous learning: </a:t>
            </a:r>
            <a:r>
              <a:rPr b="0" lang="en-US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re.etce-lab.de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content is mainly delivered as pre-produced learning material.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are additionally available via Github (</a:t>
            </a:r>
            <a:r>
              <a:rPr b="0" lang="en-US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/ Q&amp;A Session live streams (BBB – next slide)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time slots </a:t>
            </a:r>
            <a:r>
              <a:rPr b="0" lang="de-DE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= 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Time for questions and eventual tutorials related to the exercises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 Write us an email: </a:t>
            </a:r>
            <a:r>
              <a:rPr b="0" lang="en-GB" sz="1800" strike="noStrike" u="sng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etce-re@tu-clausthal.de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←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</a:t>
            </a:r>
            <a:r>
              <a:rPr b="1" lang="en-GB" sz="1800" strike="noStrike" u="sng">
                <a:solidFill>
                  <a:srgbClr val="c9211e"/>
                </a:solidFill>
                <a:effectLst/>
                <a:uFillTx/>
                <a:latin typeface="DejaVu Sans"/>
                <a:ea typeface="DejaVu Sans"/>
              </a:rPr>
              <a:t>only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respond to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emails written to this specific email address!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CustomShape 9"/>
          <p:cNvSpPr/>
          <p:nvPr/>
        </p:nvSpPr>
        <p:spPr>
          <a:xfrm>
            <a:off x="539640" y="764640"/>
            <a:ext cx="10734480" cy="4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Dates/Times/Locations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CustomShape 10"/>
          <p:cNvSpPr/>
          <p:nvPr/>
        </p:nvSpPr>
        <p:spPr>
          <a:xfrm>
            <a:off x="539640" y="1268640"/>
            <a:ext cx="10734480" cy="502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sng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2:00 pm to 3:30 pm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03.11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2025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16.02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2026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BigBlueButton (</a:t>
            </a:r>
            <a:r>
              <a:rPr b="0" lang="en-GB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sng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/ Q&amp;A (Bi-Weekly):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4:00 pm to 5:00 pm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03.11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2025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09.02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2026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BigBlueButton (</a:t>
            </a:r>
            <a:r>
              <a:rPr b="0" lang="en-GB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CustomShape 1"/>
          <p:cNvSpPr/>
          <p:nvPr/>
        </p:nvSpPr>
        <p:spPr>
          <a:xfrm>
            <a:off x="539640" y="764640"/>
            <a:ext cx="107427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CustomShape 2"/>
          <p:cNvSpPr/>
          <p:nvPr/>
        </p:nvSpPr>
        <p:spPr>
          <a:xfrm>
            <a:off x="539640" y="1268280"/>
            <a:ext cx="10742760" cy="50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Organization of the exercise: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Individual work →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group submissions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or practical tasks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7-14 days to submit (depending on the task)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deadline is always Monday at 1:59pm (right before the next lecture period)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of each exercise is mandatory</a:t>
            </a:r>
            <a:r>
              <a:rPr b="1" lang="en-GB" sz="18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ow on the next slides (Examination)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CustomShape 19"/>
          <p:cNvSpPr/>
          <p:nvPr/>
        </p:nvSpPr>
        <p:spPr>
          <a:xfrm>
            <a:off x="539640" y="764640"/>
            <a:ext cx="10735920" cy="48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CustomShape 20"/>
          <p:cNvSpPr/>
          <p:nvPr/>
        </p:nvSpPr>
        <p:spPr>
          <a:xfrm>
            <a:off x="539640" y="1268280"/>
            <a:ext cx="10735920" cy="50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exercises: Self-evaluated, available directly on the MOOC website.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Practical Tasks: Submitted via Moodle.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CustomShape 6"/>
          <p:cNvSpPr/>
          <p:nvPr/>
        </p:nvSpPr>
        <p:spPr>
          <a:xfrm>
            <a:off x="539640" y="764640"/>
            <a:ext cx="10735920" cy="48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CustomShape 11"/>
          <p:cNvSpPr/>
          <p:nvPr/>
        </p:nvSpPr>
        <p:spPr>
          <a:xfrm>
            <a:off x="539640" y="1268280"/>
            <a:ext cx="10735920" cy="50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exercises: Self-evaluated, available directly on the MOOC website.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Practical Tasks: Submitted via Moodle.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Bonus task: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may miss/fail one of the regular practical exercises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Submitting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AND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passing the bonus task substitutes the missed/failed exercise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1" lang="en-GB" sz="18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DejaVu Sans"/>
                <a:ea typeface="DejaVu Sans"/>
              </a:rPr>
              <a:t>Bonus task will be very difficult</a:t>
            </a:r>
            <a:r>
              <a:rPr b="0" lang="en-GB" sz="18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DejaVu Sans"/>
                <a:ea typeface="DejaVu Sans"/>
              </a:rPr>
              <a:t> → don’t “plan” with the bonus task. Rather submit and pass the regular exercises.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CustomShape 1"/>
          <p:cNvSpPr/>
          <p:nvPr/>
        </p:nvSpPr>
        <p:spPr>
          <a:xfrm>
            <a:off x="539640" y="764640"/>
            <a:ext cx="107427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Examination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CustomShape 2"/>
          <p:cNvSpPr/>
          <p:nvPr/>
        </p:nvSpPr>
        <p:spPr>
          <a:xfrm>
            <a:off x="539640" y="1268640"/>
            <a:ext cx="10742760" cy="50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Prerequisites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for admission to the final exam (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all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criteria have to be fulfilled):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Successful completion of the compulsory eight exercises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pass an exercise if you score 50% (or more)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have to submit </a:t>
            </a:r>
            <a:r>
              <a:rPr b="1" lang="en-GB" sz="1800" strike="noStrike" u="sng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every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Final exam (tentative):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02.03.2026 → 14:00 – 16:00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Written exam (120min)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CustomShape 1"/>
          <p:cNvSpPr/>
          <p:nvPr/>
        </p:nvSpPr>
        <p:spPr>
          <a:xfrm>
            <a:off x="539640" y="764640"/>
            <a:ext cx="107427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CustomShape 2"/>
          <p:cNvSpPr/>
          <p:nvPr/>
        </p:nvSpPr>
        <p:spPr>
          <a:xfrm>
            <a:off x="539640" y="1268280"/>
            <a:ext cx="10742760" cy="50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with the self-study star indicate optional/additional study material that is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not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mandatory but could be helpful for your future career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Of course it won’t hurt to have extra knowledge to impress us during the examination ;)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CustomShape 3"/>
          <p:cNvSpPr/>
          <p:nvPr/>
        </p:nvSpPr>
        <p:spPr>
          <a:xfrm>
            <a:off x="6489720" y="2132640"/>
            <a:ext cx="512280" cy="49212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5" name="CustomShape 4"/>
          <p:cNvSpPr/>
          <p:nvPr/>
        </p:nvSpPr>
        <p:spPr>
          <a:xfrm>
            <a:off x="4294080" y="2247480"/>
            <a:ext cx="2280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 →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CustomShape 1"/>
          <p:cNvSpPr/>
          <p:nvPr/>
        </p:nvSpPr>
        <p:spPr>
          <a:xfrm>
            <a:off x="539640" y="764640"/>
            <a:ext cx="107427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Literature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CustomShape 2"/>
          <p:cNvSpPr/>
          <p:nvPr/>
        </p:nvSpPr>
        <p:spPr>
          <a:xfrm>
            <a:off x="539640" y="1268640"/>
            <a:ext cx="10742760" cy="50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course is not based on a single book and you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need to buy a book to pass the exam.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K. Pohl. 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– Fundamentals, Principles and Techniques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(2010).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K. Pohl, C. Rupp. 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Fundamentals: A Study Guide for Requirements Engineering Foundation Level 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(2011).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J. Dick, E. Hull, K. Jackson. 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(4</a:t>
            </a:r>
            <a:r>
              <a:rPr b="0" i="1" lang="en-GB" sz="1800" strike="noStrike" u="none" baseline="30000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Edition) 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(2017).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Chris Rupp et al. 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und Management – Das Handbuch für Anforderungen in jeder Situation (7th Edition) 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(2021).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CustomShape 1"/>
          <p:cNvSpPr/>
          <p:nvPr/>
        </p:nvSpPr>
        <p:spPr>
          <a:xfrm>
            <a:off x="335520" y="1268640"/>
            <a:ext cx="10742760" cy="50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b="1" lang="en-GB" sz="4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</a:t>
            </a:r>
            <a:endParaRPr b="0" lang="en-GB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CustomShape 2"/>
          <p:cNvSpPr/>
          <p:nvPr/>
        </p:nvSpPr>
        <p:spPr>
          <a:xfrm>
            <a:off x="335520" y="764640"/>
            <a:ext cx="107427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LibreOffice/25.2.6.2$Linux_X86_64 LibreOffice_project/520$Build-2</Application>
  <AppVersion>15.0000</AppVersion>
  <Words>971</Words>
  <Paragraphs>201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>Benjamin Leiding</cp:lastModifiedBy>
  <cp:lastPrinted>2025-11-02T12:20:02Z</cp:lastPrinted>
  <dcterms:modified xsi:type="dcterms:W3CDTF">2025-11-03T13:12:11Z</dcterms:modified>
  <cp:revision>3099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4</vt:i4>
  </property>
  <property fmtid="{D5CDD505-2E9C-101B-9397-08002B2CF9AE}" pid="7" name="PresentationFormat">
    <vt:lpwstr>Widescreen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18</vt:i4>
  </property>
</Properties>
</file>