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3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4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25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36AB2D7-1EE0-4A87-9CED-329AB6AB9079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EC35081A-8BBC-4809-B484-E058D076E2B1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D374B45F-C950-4232-95EF-2101DE1CD1A2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34A0E2CD-6602-4CBA-8C22-2298747D5C6F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B3D1EDF1-8C5A-4E57-BDB0-5131A0098405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96651C9C-9BBF-47E3-B585-2CAC6D3B64EB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9A17217C-2A07-4799-BCB7-BB1E77966001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C0218BD3-F052-49C6-856A-5F9EDF85D547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040" cy="376740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92F31DE9-AF5B-462F-B8D4-CE89903B0773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pc="-1" strike="noStrike">
                <a:solidFill>
                  <a:srgbClr val="000000"/>
                </a:solidFill>
                <a:latin typeface="Times New Roman"/>
              </a:rPr>
              <a:t>Was muss ich für 5% mehr Umsatz machen?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E03381B8-C6D6-4A17-86C5-29A3227CEF49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747F1AAC-D3EF-4E92-9605-C2C8388417E0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CFD1C76A-FFF6-4122-9D35-06C0FE235567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AA9ED082-C361-4612-859E-3E608A06ABE1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040" cy="376740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90D1F1C7-090F-4E8B-A474-D7A77D8BA225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040" cy="376740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82EB5314-C236-447A-A427-01CFBA5B9182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3665DB83-0608-456A-BAC8-407B6F9840BC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040" cy="376740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30BB2959-4862-4584-8DA8-0FFDD55B4FB0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7C018A19-7CAF-4B62-B5E7-1896E1D4D594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pc="-1" strike="noStrike">
                <a:solidFill>
                  <a:srgbClr val="000000"/>
                </a:solidFill>
                <a:latin typeface="Times New Roman"/>
              </a:rPr>
              <a:t>Actor muss klar sein: Tut es das System oder die Umgebung.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pc="-1" strike="noStrike">
                <a:solidFill>
                  <a:srgbClr val="000000"/>
                </a:solidFill>
                <a:latin typeface="Times New Roman"/>
              </a:rPr>
              <a:t>Aber nicht Entwurf vorwegnehmen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2B6E2197-713C-4A15-9B1C-F7723E639413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pc="-1" strike="noStrike">
                <a:solidFill>
                  <a:srgbClr val="000000"/>
                </a:solidFill>
                <a:latin typeface="Times New Roman"/>
              </a:rPr>
              <a:t>Sauber trennen was ist Requirement und was ist Begründung (Rationale)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102ABD33-A080-4725-8422-55D75BC64645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64C7DB48-DF96-4776-9182-65DB50E9A042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E891F850-75F2-4B09-8903-50040E62435C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040" cy="376740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1035720" y="4775400"/>
            <a:ext cx="5695920" cy="452304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pc="-1" strike="noStrike">
                <a:solidFill>
                  <a:srgbClr val="000000"/>
                </a:solidFill>
                <a:latin typeface="Times New Roman"/>
              </a:rPr>
              <a:t>Nicht den Begriff Telefon verwenden um alle 3 Teile zu subsumieren, sondern Zielgruppe adäquat ansprechen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B24499AF-0EF3-4CC9-B425-98ED1D83B507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C02D5132-AE9B-4844-AD0B-4826949409BD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70C0E90E-59E5-4458-9864-1E747F4DAB32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745B3542-7CF1-4004-BC7E-9EFBC11CD7D4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A2DD4637-0996-4101-8734-6ED8D85E8B05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FDCA3FCA-AF56-4E47-B1AA-2AD3D5EA2523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4A6B8ADA-012C-43E4-954C-8A7D4E4E710A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F6E1FB2B-BB47-461E-A321-1BAEA1708E0C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FA009836-602E-44C5-9F46-2F57B00F440B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641F582E-53F8-4C72-A046-1D9E8DABAE60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Shape 1"/>
          <p:cNvSpPr/>
          <p:nvPr/>
        </p:nvSpPr>
        <p:spPr>
          <a:xfrm>
            <a:off x="4403880" y="9556200"/>
            <a:ext cx="3363480" cy="4978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49320" bIns="49320" anchor="b">
            <a:noAutofit/>
          </a:bodyPr>
          <a:p>
            <a:pPr algn="r">
              <a:lnSpc>
                <a:spcPct val="100000"/>
              </a:lnSpc>
            </a:pPr>
            <a:fld id="{ADDE20BB-32A7-4D2B-A63E-F505C27DED6D}" type="slidenum">
              <a:rPr b="0" lang="de-DE" sz="14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533520" y="755640"/>
            <a:ext cx="6701400" cy="376776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1035720" y="4777200"/>
            <a:ext cx="5695920" cy="45216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320" bIns="493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Vier Variablen Modell in einem Satz: Grundlagen sind Variablen (Grundlegendes Modell), Erweiterung über Realtionen -&gt; Grundlage für Dokumente: Wie dokumentiere ich sowas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Controlled V-&gt; Ausgabewerte die durch das System beschrieben / verändert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Monitored V -&gt; EingabeWerte, die durch das System beschrieben werden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Output V -&gt; represents controlled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Input V -&gt; </a:t>
            </a:r>
            <a:r>
              <a:rPr b="0" lang="de-DE" sz="12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represents monitored V.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ＭＳ Ｐゴシック"/>
              </a:rPr>
              <a:t>Eschbach, Elicitation &amp; Modeling: Embedded Systems Industrial Formal Techniques, 2006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11444760" y="0"/>
            <a:ext cx="741960" cy="685080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CustomShape 2"/>
          <p:cNvSpPr/>
          <p:nvPr/>
        </p:nvSpPr>
        <p:spPr>
          <a:xfrm>
            <a:off x="11438640" y="6453360"/>
            <a:ext cx="75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57291EDB-566E-4704-B7F1-1CE3CB0428C5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912240" y="1268280"/>
            <a:ext cx="92088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52800" cy="562680"/>
          </a:xfrm>
          <a:prstGeom prst="rect">
            <a:avLst/>
          </a:prstGeom>
          <a:ln w="0">
            <a:noFill/>
          </a:ln>
        </p:spPr>
      </p:pic>
      <p:pic>
        <p:nvPicPr>
          <p:cNvPr id="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98640" cy="51480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4"/>
          <p:cNvSpPr/>
          <p:nvPr/>
        </p:nvSpPr>
        <p:spPr>
          <a:xfrm>
            <a:off x="912240" y="1268280"/>
            <a:ext cx="92088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CustomShape 5"/>
          <p:cNvSpPr/>
          <p:nvPr/>
        </p:nvSpPr>
        <p:spPr>
          <a:xfrm>
            <a:off x="11444760" y="0"/>
            <a:ext cx="741960" cy="685080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" name="CustomShape 6"/>
          <p:cNvSpPr/>
          <p:nvPr/>
        </p:nvSpPr>
        <p:spPr>
          <a:xfrm>
            <a:off x="0" y="6646680"/>
            <a:ext cx="121849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Roboto"/>
                <a:ea typeface="DejaVu Sans"/>
              </a:rPr>
              <a:t>Requirements Engineering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11444760" y="0"/>
            <a:ext cx="741960" cy="685080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11438640" y="6453360"/>
            <a:ext cx="75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C839FD3-8DC0-48C7-A43E-015759572103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912240" y="1268280"/>
            <a:ext cx="92088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52800" cy="562680"/>
          </a:xfrm>
          <a:prstGeom prst="rect">
            <a:avLst/>
          </a:prstGeom>
          <a:ln w="0">
            <a:noFill/>
          </a:ln>
        </p:spPr>
      </p:pic>
      <p:pic>
        <p:nvPicPr>
          <p:cNvPr id="5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98640" cy="514800"/>
          </a:xfrm>
          <a:prstGeom prst="rect">
            <a:avLst/>
          </a:prstGeom>
          <a:ln w="0">
            <a:noFill/>
          </a:ln>
        </p:spPr>
      </p:pic>
      <p:sp>
        <p:nvSpPr>
          <p:cNvPr id="51" name="CustomShape 4"/>
          <p:cNvSpPr/>
          <p:nvPr/>
        </p:nvSpPr>
        <p:spPr>
          <a:xfrm>
            <a:off x="912240" y="1268280"/>
            <a:ext cx="92088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" name="CustomShape 5"/>
          <p:cNvSpPr/>
          <p:nvPr/>
        </p:nvSpPr>
        <p:spPr>
          <a:xfrm>
            <a:off x="11444760" y="0"/>
            <a:ext cx="741960" cy="685080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CustomShape 6"/>
          <p:cNvSpPr/>
          <p:nvPr/>
        </p:nvSpPr>
        <p:spPr>
          <a:xfrm>
            <a:off x="0" y="6646680"/>
            <a:ext cx="121849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Roboto"/>
                <a:ea typeface="DejaVu Sans"/>
              </a:rPr>
              <a:t>Requirements Engineering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11444760" y="0"/>
            <a:ext cx="741960" cy="685080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11438640" y="6453360"/>
            <a:ext cx="75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8FE7BB7F-5A56-4549-973C-2734C0E0FEAF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912240" y="1268280"/>
            <a:ext cx="92088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9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52800" cy="562680"/>
          </a:xfrm>
          <a:prstGeom prst="rect">
            <a:avLst/>
          </a:prstGeom>
          <a:ln w="0">
            <a:noFill/>
          </a:ln>
        </p:spPr>
      </p:pic>
      <p:pic>
        <p:nvPicPr>
          <p:cNvPr id="9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98640" cy="514800"/>
          </a:xfrm>
          <a:prstGeom prst="rect">
            <a:avLst/>
          </a:prstGeom>
          <a:ln w="0">
            <a:noFill/>
          </a:ln>
        </p:spPr>
      </p:pic>
      <p:sp>
        <p:nvSpPr>
          <p:cNvPr id="97" name="CustomShape 4"/>
          <p:cNvSpPr/>
          <p:nvPr/>
        </p:nvSpPr>
        <p:spPr>
          <a:xfrm>
            <a:off x="11444760" y="1440"/>
            <a:ext cx="741960" cy="685080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" name="CustomShape 5"/>
          <p:cNvSpPr/>
          <p:nvPr/>
        </p:nvSpPr>
        <p:spPr>
          <a:xfrm>
            <a:off x="11427480" y="6453360"/>
            <a:ext cx="75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C80062E-30A9-49CE-AC53-F3B6BDE58EB8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0" y="6646680"/>
            <a:ext cx="121849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Roboto"/>
                <a:ea typeface="DejaVu Sans"/>
              </a:rPr>
              <a:t>Requirements Engineering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11444760" y="0"/>
            <a:ext cx="741960" cy="685080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11438640" y="6453360"/>
            <a:ext cx="75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55473FD5-352E-4429-8E03-FB21923C0963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CustomShape 3"/>
          <p:cNvSpPr/>
          <p:nvPr/>
        </p:nvSpPr>
        <p:spPr>
          <a:xfrm>
            <a:off x="912240" y="1268280"/>
            <a:ext cx="92088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4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52800" cy="562680"/>
          </a:xfrm>
          <a:prstGeom prst="rect">
            <a:avLst/>
          </a:prstGeom>
          <a:ln w="0">
            <a:noFill/>
          </a:ln>
        </p:spPr>
      </p:pic>
      <p:pic>
        <p:nvPicPr>
          <p:cNvPr id="14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98640" cy="514800"/>
          </a:xfrm>
          <a:prstGeom prst="rect">
            <a:avLst/>
          </a:prstGeom>
          <a:ln w="0">
            <a:noFill/>
          </a:ln>
        </p:spPr>
      </p:pic>
      <p:sp>
        <p:nvSpPr>
          <p:cNvPr id="143" name="CustomShape 4"/>
          <p:cNvSpPr/>
          <p:nvPr/>
        </p:nvSpPr>
        <p:spPr>
          <a:xfrm>
            <a:off x="11444760" y="1440"/>
            <a:ext cx="741960" cy="685080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" name="CustomShape 5"/>
          <p:cNvSpPr/>
          <p:nvPr/>
        </p:nvSpPr>
        <p:spPr>
          <a:xfrm>
            <a:off x="11427480" y="6453360"/>
            <a:ext cx="758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74B70FBA-3CE0-44CE-A7A0-DAFD10F9CA17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CustomShape 6"/>
          <p:cNvSpPr/>
          <p:nvPr/>
        </p:nvSpPr>
        <p:spPr>
          <a:xfrm>
            <a:off x="0" y="6646680"/>
            <a:ext cx="121849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Roboto"/>
                <a:ea typeface="DejaVu Sans"/>
              </a:rPr>
              <a:t>Requirements Engineering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527400" y="1412640"/>
            <a:ext cx="10361880" cy="11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8c4f"/>
                </a:solidFill>
                <a:latin typeface="DejaVu Sans"/>
                <a:ea typeface="DejaVu Sans"/>
              </a:rPr>
              <a:t>Requirement Engineering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CustomShape 2"/>
          <p:cNvSpPr/>
          <p:nvPr/>
        </p:nvSpPr>
        <p:spPr>
          <a:xfrm>
            <a:off x="527400" y="2852640"/>
            <a:ext cx="10361880" cy="23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Lecture 7: Requirements Documentation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Prof. Dr. Benjamin Leiding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M.Sc. Anant Sujatanagarjuna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M.Sc. Chintan Patel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542880" y="721800"/>
            <a:ext cx="1035648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General Requirements Engineering Process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ustomShape 2"/>
          <p:cNvSpPr/>
          <p:nvPr/>
        </p:nvSpPr>
        <p:spPr>
          <a:xfrm>
            <a:off x="542880" y="1267200"/>
            <a:ext cx="1035648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Overview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Grafik 5" descr=""/>
          <p:cNvPicPr/>
          <p:nvPr/>
        </p:nvPicPr>
        <p:blipFill>
          <a:blip r:embed="rId1"/>
          <a:stretch/>
        </p:blipFill>
        <p:spPr>
          <a:xfrm>
            <a:off x="542880" y="2387520"/>
            <a:ext cx="10101600" cy="2079000"/>
          </a:xfrm>
          <a:prstGeom prst="rect">
            <a:avLst/>
          </a:prstGeom>
          <a:ln w="0">
            <a:noFill/>
          </a:ln>
        </p:spPr>
      </p:pic>
      <p:sp>
        <p:nvSpPr>
          <p:cNvPr id="195" name="CustomShape 3"/>
          <p:cNvSpPr/>
          <p:nvPr/>
        </p:nvSpPr>
        <p:spPr>
          <a:xfrm>
            <a:off x="3846240" y="2297880"/>
            <a:ext cx="1817640" cy="225792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542880" y="7218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Lecture 7: Requirements Documentation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542880" y="12672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Content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CustomShape 3"/>
          <p:cNvSpPr/>
          <p:nvPr/>
        </p:nvSpPr>
        <p:spPr>
          <a:xfrm>
            <a:off x="451800" y="1709280"/>
            <a:ext cx="8224920" cy="43531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Textual Requirements Specification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335520" y="4406760"/>
            <a:ext cx="10748160" cy="13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 cap="all">
                <a:solidFill>
                  <a:srgbClr val="008c4f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>
            <a:off x="335520" y="2906640"/>
            <a:ext cx="10748160" cy="14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542880" y="7218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Lecture 4: Requirements Documentation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542880" y="12672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Content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CustomShape 3"/>
          <p:cNvSpPr/>
          <p:nvPr/>
        </p:nvSpPr>
        <p:spPr>
          <a:xfrm>
            <a:off x="539640" y="1709280"/>
            <a:ext cx="8224920" cy="43531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Types of Requirements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Textual Requirements Specification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1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Ambiguity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Guidelines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Syntactic Requirements Patterns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Shape 1"/>
          <p:cNvSpPr/>
          <p:nvPr/>
        </p:nvSpPr>
        <p:spPr>
          <a:xfrm>
            <a:off x="539640" y="1339200"/>
            <a:ext cx="11520720" cy="4858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Arial"/>
              </a:rPr>
              <a:t>Three essential advantages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Universal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Can be used in any problem area or domain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Flexible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Allows arbitrary abstractions and refinements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Comprehensible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Can (potentially) be understood by any stakeholder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Advantages of Natural Language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/>
          <p:nvPr/>
        </p:nvSpPr>
        <p:spPr>
          <a:xfrm>
            <a:off x="542880" y="1600200"/>
            <a:ext cx="10731600" cy="47966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Mixing of the </a:t>
            </a:r>
            <a:r>
              <a:rPr b="1" i="1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three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 perspectives (data/structural, function, behavioral) in functional requirements 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Often even mixed with quality requirements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Arial"/>
              </a:rPr>
              <a:t>Example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The </a:t>
            </a:r>
            <a:r>
              <a:rPr b="0" lang="en-US" sz="1800" spc="-1" strike="noStrike">
                <a:solidFill>
                  <a:srgbClr val="00b050"/>
                </a:solidFill>
                <a:latin typeface="DejaVu Sans"/>
                <a:ea typeface="Arial"/>
              </a:rPr>
              <a:t>glass break detector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at the </a:t>
            </a:r>
            <a:r>
              <a:rPr b="0" lang="en-US" sz="1800" spc="-1" strike="noStrike">
                <a:solidFill>
                  <a:srgbClr val="00b050"/>
                </a:solidFill>
                <a:latin typeface="DejaVu Sans"/>
                <a:ea typeface="Arial"/>
              </a:rPr>
              <a:t>window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</a:t>
            </a:r>
            <a:r>
              <a:rPr b="0" lang="en-US" sz="1800" spc="-1" strike="noStrike">
                <a:solidFill>
                  <a:srgbClr val="00b0f0"/>
                </a:solidFill>
                <a:latin typeface="DejaVu Sans"/>
                <a:ea typeface="Arial"/>
              </a:rPr>
              <a:t>detects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that the </a:t>
            </a:r>
            <a:r>
              <a:rPr b="0" lang="en-US" sz="1800" spc="-1" strike="noStrike">
                <a:solidFill>
                  <a:srgbClr val="00b050"/>
                </a:solidFill>
                <a:latin typeface="DejaVu Sans"/>
                <a:ea typeface="Arial"/>
              </a:rPr>
              <a:t>pane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</a:t>
            </a:r>
            <a:r>
              <a:rPr b="0" lang="en-US" sz="1800" spc="-1" strike="noStrike">
                <a:solidFill>
                  <a:srgbClr val="ff0000"/>
                </a:solidFill>
                <a:latin typeface="DejaVu Sans"/>
                <a:ea typeface="Arial"/>
              </a:rPr>
              <a:t>has been damaged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, the </a:t>
            </a:r>
            <a:r>
              <a:rPr b="0" lang="en-US" sz="1800" spc="-1" strike="noStrike">
                <a:solidFill>
                  <a:srgbClr val="00b050"/>
                </a:solidFill>
                <a:latin typeface="DejaVu Sans"/>
                <a:ea typeface="Arial"/>
              </a:rPr>
              <a:t>system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</a:t>
            </a:r>
            <a:r>
              <a:rPr b="0" lang="en-US" sz="1800" spc="-1" strike="noStrike">
                <a:solidFill>
                  <a:srgbClr val="ff0000"/>
                </a:solidFill>
                <a:latin typeface="DejaVu Sans"/>
                <a:ea typeface="Arial"/>
              </a:rPr>
              <a:t>shall inf</a:t>
            </a:r>
            <a:r>
              <a:rPr b="0" lang="en-US" sz="1800" spc="-1" strike="noStrike">
                <a:solidFill>
                  <a:srgbClr val="00b0f0"/>
                </a:solidFill>
                <a:latin typeface="DejaVu Sans"/>
                <a:ea typeface="Arial"/>
              </a:rPr>
              <a:t>orm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the </a:t>
            </a:r>
            <a:r>
              <a:rPr b="0" lang="en-US" sz="1800" spc="-1" strike="noStrike">
                <a:solidFill>
                  <a:srgbClr val="00b050"/>
                </a:solidFill>
                <a:latin typeface="DejaVu Sans"/>
                <a:ea typeface="Arial"/>
              </a:rPr>
              <a:t>security service </a:t>
            </a:r>
            <a:r>
              <a:rPr b="0" lang="en-US" sz="1800" spc="-1" strike="noStrike">
                <a:solidFill>
                  <a:srgbClr val="ffc000"/>
                </a:solidFill>
                <a:latin typeface="DejaVu Sans"/>
                <a:ea typeface="Arial"/>
              </a:rPr>
              <a:t>within 2 seconds at the least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DejaVu Sans"/>
                <a:ea typeface="Arial"/>
              </a:rPr>
              <a:t>Structural: glass break detector, window, pane, system, security service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b0f0"/>
                </a:solidFill>
                <a:latin typeface="DejaVu Sans"/>
                <a:ea typeface="Arial"/>
              </a:rPr>
              <a:t>Function: detects, inform the security service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DejaVu Sans"/>
                <a:ea typeface="Arial"/>
              </a:rPr>
              <a:t>Behavior: if damaged, shall inform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ffc000"/>
                </a:solidFill>
                <a:latin typeface="DejaVu Sans"/>
                <a:ea typeface="Arial"/>
              </a:rPr>
              <a:t>Quality: 2 seconds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228240">
              <a:lnSpc>
                <a:spcPct val="100000"/>
              </a:lnSpc>
              <a:spcBef>
                <a:spcPts val="1511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→ </a:t>
            </a:r>
            <a:r>
              <a:rPr b="1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Mixing concepts is a bad idea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Mixing Concepts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/>
          <p:nvPr/>
        </p:nvSpPr>
        <p:spPr>
          <a:xfrm>
            <a:off x="539640" y="1339200"/>
            <a:ext cx="10657800" cy="4858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Arial"/>
              </a:rPr>
              <a:t>At least separate functional and quality aspects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Functional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The glass break detector at the window shall detect if the glass pane is damaged.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If the detector detects damage to the pane, the system shall inform the security service.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Quality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The system shall inform the security service within 2 seconds after detecting the damage.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Separation of Functional and Quality Aspects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542880" y="7239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ustomShape 2"/>
          <p:cNvSpPr/>
          <p:nvPr/>
        </p:nvSpPr>
        <p:spPr>
          <a:xfrm>
            <a:off x="542880" y="12693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Ambiguity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3"/>
          <p:cNvSpPr/>
          <p:nvPr/>
        </p:nvSpPr>
        <p:spPr>
          <a:xfrm>
            <a:off x="408960" y="2545560"/>
            <a:ext cx="10856880" cy="9738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8c4f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2000" spc="-1" strike="noStrike">
                <a:solidFill>
                  <a:srgbClr val="000000"/>
                </a:solidFill>
                <a:latin typeface="DejaVu Sans"/>
                <a:ea typeface="Arial"/>
              </a:rPr>
              <a:t>A requirement is </a:t>
            </a:r>
            <a:r>
              <a:rPr b="1" lang="en-GB" sz="2000" spc="-1" strike="noStrike">
                <a:solidFill>
                  <a:srgbClr val="c0504d"/>
                </a:solidFill>
                <a:latin typeface="DejaVu Sans"/>
                <a:ea typeface="Arial"/>
              </a:rPr>
              <a:t>ambiguous</a:t>
            </a:r>
            <a:r>
              <a:rPr b="0" lang="en-GB" sz="2000" spc="-1" strike="noStrike">
                <a:solidFill>
                  <a:srgbClr val="000000"/>
                </a:solidFill>
                <a:latin typeface="DejaVu Sans"/>
                <a:ea typeface="Arial"/>
              </a:rPr>
              <a:t>, if it allows more than one interpretation even though the relevant context (other requirements, application domain, software system) is known.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539640" y="1617840"/>
            <a:ext cx="10568520" cy="47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Ambiguity is a common problem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Ambiguity is often overlooked, as an interpretation is chosen unconsciously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791"/>
              </a:spcBef>
              <a:spcAft>
                <a:spcPts val="360"/>
              </a:spcAft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Cause: Ambiguity as „under-specification“ is a typical phenomenon of natural language. The solution of ambiguity is an (often unconscious) cognitive process taking context (e.g. shared situation) or other cues (e.g. nonverbal) into account.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791"/>
              </a:spcBef>
              <a:spcAft>
                <a:spcPts val="360"/>
              </a:spcAft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The „most likely“ interpretation of a requirement is chosen unconsciously, thus the interpretation causing the least contradictions with already known requirements, domain attributes or standards is chosen.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791"/>
              </a:spcBef>
              <a:spcAft>
                <a:spcPts val="360"/>
              </a:spcAft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Because requirements can be controversial, this – in contrast to the common, verbal everyday communication – is not an optimal strategy! Contradictions must be discussed with the parties and must be solved.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Ambiguity can be a sign for incompleteness!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542880" y="72432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CustomShape 3"/>
          <p:cNvSpPr/>
          <p:nvPr/>
        </p:nvSpPr>
        <p:spPr>
          <a:xfrm>
            <a:off x="542880" y="126972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Ambiguity – Why should we care?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1"/>
          <p:cNvSpPr/>
          <p:nvPr/>
        </p:nvSpPr>
        <p:spPr>
          <a:xfrm>
            <a:off x="539640" y="1339200"/>
            <a:ext cx="10731240" cy="52873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Consequences show up very late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During integration of software components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During acceptance test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During usage of the software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Are ambiguous requirements a frequent problem?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Result of a survey with specification techniques: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Omissions and conflicts in specifications are noticed more often than ambiguities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mbiguities are rather self-interpreted and more often misinterpreted than other types of defects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RE specific ambiguity: a frequent problem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Linguistic ambiguity: a rare problem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542880" y="7250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CustomShape 3"/>
          <p:cNvSpPr/>
          <p:nvPr/>
        </p:nvSpPr>
        <p:spPr>
          <a:xfrm>
            <a:off x="542880" y="12704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Ambiguity – </a:t>
            </a: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Impact on Software Engineering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467640" y="1973520"/>
            <a:ext cx="10396440" cy="40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901"/>
              </a:spcBef>
              <a:spcAft>
                <a:spcPts val="360"/>
              </a:spcAft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ＭＳ Ｐゴシック"/>
              </a:rPr>
              <a:t>Conscious ambiguity: 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44640" indent="-285480">
              <a:lnSpc>
                <a:spcPct val="100000"/>
              </a:lnSpc>
              <a:spcBef>
                <a:spcPts val="901"/>
              </a:spcBef>
              <a:spcAft>
                <a:spcPts val="360"/>
              </a:spcAft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Client wants to keep requirements open e.g. </a:t>
            </a: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usual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in public projects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spcAft>
                <a:spcPts val="360"/>
              </a:spcAft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ＭＳ Ｐゴシック"/>
              </a:rPr>
              <a:t>Unconscious ambiguity: 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44640" indent="-285480">
              <a:lnSpc>
                <a:spcPct val="100000"/>
              </a:lnSpc>
              <a:spcBef>
                <a:spcPts val="901"/>
              </a:spcBef>
              <a:spcAft>
                <a:spcPts val="360"/>
              </a:spcAft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Client expects a certain interpretation of the requirement, ambiguity occurs as the expectations of customer and client are not shared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spcAft>
                <a:spcPts val="360"/>
              </a:spcAft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ＭＳ Ｐゴシック"/>
              </a:rPr>
              <a:t>Linguistic ambiguity: 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44640" indent="-285480">
              <a:lnSpc>
                <a:spcPct val="100000"/>
              </a:lnSpc>
              <a:spcBef>
                <a:spcPts val="901"/>
              </a:spcBef>
              <a:spcAft>
                <a:spcPts val="360"/>
              </a:spcAft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Inherent attributes of the natural language „Flying airplanes can be dangerous”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spcAft>
                <a:spcPts val="360"/>
              </a:spcAft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ＭＳ Ｐゴシック"/>
              </a:rPr>
              <a:t>RE specific ambiguity: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44640" indent="-285480">
              <a:lnSpc>
                <a:spcPct val="100000"/>
              </a:lnSpc>
              <a:spcBef>
                <a:spcPts val="901"/>
              </a:spcBef>
              <a:spcAft>
                <a:spcPts val="360"/>
              </a:spcAft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Arises from interpretation of a requirement via background knowledge (other requirements, domain, etc.)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542880" y="7250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3"/>
          <p:cNvSpPr/>
          <p:nvPr/>
        </p:nvSpPr>
        <p:spPr>
          <a:xfrm>
            <a:off x="542880" y="12704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Ambiguity – Categories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/>
          <p:nvPr/>
        </p:nvSpPr>
        <p:spPr>
          <a:xfrm>
            <a:off x="539640" y="1339200"/>
            <a:ext cx="10502640" cy="4858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316440" indent="-31608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Arial"/>
              </a:rPr>
              <a:t>Vagueness: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Continuum of interpretations, diffuse classification, summarized version of the interpretation available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The text editor has to respond to user input in the adequate time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Are 10 seconds still adequate?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16440" indent="-31608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Arial"/>
              </a:rPr>
              <a:t>Generality: 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Continuum of interpretations, but exact classification, summarized version of the interpretation is available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The ATM system shall increase the market coverage of the bank company XYZ by at least 5%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No charge for ATM transactions, user interface should require as few user interactions as possible …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CustomShape 2"/>
          <p:cNvSpPr/>
          <p:nvPr/>
        </p:nvSpPr>
        <p:spPr>
          <a:xfrm>
            <a:off x="630720" y="1560600"/>
            <a:ext cx="10913040" cy="46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" name="CustomShape 3"/>
          <p:cNvSpPr/>
          <p:nvPr/>
        </p:nvSpPr>
        <p:spPr>
          <a:xfrm>
            <a:off x="542880" y="7250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CustomShape 4"/>
          <p:cNvSpPr/>
          <p:nvPr/>
        </p:nvSpPr>
        <p:spPr>
          <a:xfrm>
            <a:off x="542880" y="12704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Ambiguity – Types of Ambiguities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613800" y="1611360"/>
            <a:ext cx="11442600" cy="435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0" name="TextShape 2"/>
          <p:cNvSpPr/>
          <p:nvPr/>
        </p:nvSpPr>
        <p:spPr>
          <a:xfrm>
            <a:off x="539640" y="1339200"/>
            <a:ext cx="10731240" cy="4858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Arial"/>
              </a:rPr>
              <a:t>Genuine Ambiguity: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Countable number of interpretations, no summarized version of the interpretation available, thus immediate clarification needed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DejaVu Sans"/>
                <a:ea typeface="Arial"/>
              </a:rPr>
              <a:t>Lexical: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A term with several, in most cases related meanings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DejaVu Sans"/>
              <a:buChar char="—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When the user presses the L- and R-button simultaneously, </a:t>
            </a:r>
            <a:br>
              <a:rPr sz="1800"/>
            </a:b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alarm is turned off → </a:t>
            </a:r>
            <a:r>
              <a:rPr b="0" i="1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The current alarm or the ability to sound alarms?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DejaVu Sans"/>
                <a:ea typeface="Arial"/>
              </a:rPr>
              <a:t>Syntactic: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Structure of a sentence is not clear without ambiguity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DejaVu Sans"/>
              <a:buChar char="—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The customer enters a card with a code → </a:t>
            </a:r>
            <a:r>
              <a:rPr b="0" i="1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Is the code read from the card or is it typed in?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542880" y="7254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4"/>
          <p:cNvSpPr/>
          <p:nvPr/>
        </p:nvSpPr>
        <p:spPr>
          <a:xfrm>
            <a:off x="542880" y="12708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Ambiguity – Types of Ambiguities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539640" y="1598760"/>
            <a:ext cx="10566000" cy="45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lvl="1" marL="432000" indent="-215640">
              <a:lnSpc>
                <a:spcPct val="100000"/>
              </a:lnSpc>
              <a:spcBef>
                <a:spcPts val="601"/>
              </a:spcBef>
              <a:spcAft>
                <a:spcPts val="360"/>
              </a:spcAft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905120"/>
              </a:tabLst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DejaVu Sans"/>
                <a:ea typeface="ＭＳ Ｐゴシック"/>
              </a:rPr>
              <a:t>Semantic: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A sentence can be translated into several logic terms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5640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Clr>
                <a:srgbClr val="008c4f"/>
              </a:buClr>
              <a:buSzPct val="45000"/>
              <a:buFont typeface="DejaVu Sans"/>
              <a:buChar char="—"/>
              <a:tabLst>
                <a:tab algn="l" pos="19051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An alarm must be triggered if an aircraft is identified as hostile and </a:t>
            </a:r>
            <a:br>
              <a:rPr sz="1800"/>
            </a:b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has an unknown mission or in case the aircraft is able to reach the </a:t>
            </a:r>
            <a:br>
              <a:rPr sz="1800"/>
            </a:b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protected airspace within 5 minutes </a:t>
            </a: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→ </a:t>
            </a:r>
            <a:r>
              <a:rPr b="0" i="1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Is the „and“ or the „or“ the stronger binding operator?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901"/>
              </a:spcBef>
              <a:spcAft>
                <a:spcPts val="360"/>
              </a:spcAft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905120"/>
              </a:tabLst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DejaVu Sans"/>
                <a:ea typeface="ＭＳ Ｐゴシック"/>
              </a:rPr>
              <a:t>Referential: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A reference to an object is ambiguous to a previous sentence or subordinate clause. Is caused by nouns and pronouns.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5640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Clr>
                <a:srgbClr val="008c4f"/>
              </a:buClr>
              <a:buSzPct val="45000"/>
              <a:buFont typeface="DejaVu Sans"/>
              <a:buChar char="—"/>
              <a:tabLst>
                <a:tab algn="l" pos="19051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The customer enters a card and a numeric personal code. If it is not valid then the ATM rejects the card. </a:t>
            </a: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→ </a:t>
            </a:r>
            <a:r>
              <a:rPr b="0" i="1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Card or code not valid?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5640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Clr>
                <a:srgbClr val="008c4f"/>
              </a:buClr>
              <a:buSzPct val="45000"/>
              <a:buFont typeface="DejaVu Sans"/>
              <a:buChar char="—"/>
              <a:tabLst>
                <a:tab algn="l" pos="1905120"/>
              </a:tabLst>
            </a:pPr>
            <a:br>
              <a:rPr sz="1800"/>
            </a:b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</a:t>
            </a:r>
            <a:r>
              <a:rPr b="0" i="1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[…] The product shall show all roads predicted to freeze. Reference of “all roads”?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CustomShape 2"/>
          <p:cNvSpPr/>
          <p:nvPr/>
        </p:nvSpPr>
        <p:spPr>
          <a:xfrm>
            <a:off x="542880" y="7254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3"/>
          <p:cNvSpPr/>
          <p:nvPr/>
        </p:nvSpPr>
        <p:spPr>
          <a:xfrm>
            <a:off x="542880" y="12708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Ambiguity – Types of Ambiguities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613800" y="1544760"/>
            <a:ext cx="11124720" cy="46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7" name="TextShape 2"/>
          <p:cNvSpPr/>
          <p:nvPr/>
        </p:nvSpPr>
        <p:spPr>
          <a:xfrm>
            <a:off x="539640" y="1339200"/>
            <a:ext cx="10731240" cy="4858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Arial"/>
              </a:rPr>
              <a:t>Discourse ambiguity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 = A requirement is ambiguous in relation to other requirements.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DejaVu Sans"/>
              </a:rPr>
              <a:t>Example 1: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(A1) 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When the XYZ button is pressed, the Head-up Display (HUD) shows the aircraft‘s current coordinates.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(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A2) 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When the aircraft is not airborne, the HUD shows the current weather conditions.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685800" indent="-26352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→ </a:t>
            </a:r>
            <a:r>
              <a:rPr b="0" i="1" lang="en-US" sz="1600" spc="-1" strike="noStrike">
                <a:solidFill>
                  <a:srgbClr val="000000"/>
                </a:solidFill>
                <a:latin typeface="DejaVu Sans"/>
                <a:ea typeface="Arial"/>
              </a:rPr>
              <a:t>Will the coordinates be displayed if the XYZ button is pressed and the aircraft is currently not airborne?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Arial"/>
              </a:rPr>
              <a:t>Example 2: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The first dunning letter has to be created after 2 weeks and the second after 4 weeks. At that time the system is also sending a notice to the responsible official in charge. →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Is the notice send after 2 or after 4 weeks? (or after 6 weeks?)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ustomShape 3"/>
          <p:cNvSpPr/>
          <p:nvPr/>
        </p:nvSpPr>
        <p:spPr>
          <a:xfrm>
            <a:off x="542880" y="7254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ustomShape 4"/>
          <p:cNvSpPr/>
          <p:nvPr/>
        </p:nvSpPr>
        <p:spPr>
          <a:xfrm>
            <a:off x="542880" y="12708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Ambiguity – Types of Ambiguities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Shape 1"/>
          <p:cNvSpPr/>
          <p:nvPr/>
        </p:nvSpPr>
        <p:spPr>
          <a:xfrm>
            <a:off x="539640" y="1339200"/>
            <a:ext cx="10429200" cy="50576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Most requirements documentation is still done using text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Typical quality problems of requirements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791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Too restrictive: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requirements are described that unnecessarily restrict the range of possible interpretations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Unnecessary: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single users request highly specialized functions, or the requirement does not contribute to the software systems goals.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Inconsistent: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with goals of the software system, standards, directives, etc.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Redundant: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with other information (in the requirements document)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100000"/>
              </a:lnSpc>
              <a:spcBef>
                <a:spcPts val="1477"/>
              </a:spcBef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DejaVu Sans"/>
                <a:ea typeface="Arial"/>
              </a:rPr>
              <a:t>le guide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Typical Quality Problems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/>
          <p:cNvSpPr/>
          <p:nvPr/>
        </p:nvSpPr>
        <p:spPr>
          <a:xfrm>
            <a:off x="539640" y="1769760"/>
            <a:ext cx="10429200" cy="46270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Most requirements documentation is still done using text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Typical quality problems of requirements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791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Too restrictive: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requirements are described that unnecessarily restrict the range of possible interpretations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Unnecessary: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single users request highly specialized functions, or the requirement does not contribute to the software systems goals.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Inconsistent: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with goals of the software system, standards, directives, etc.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Redundant: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 with other information (in the requirements document)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729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→ 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Style Guide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100000"/>
              </a:lnSpc>
              <a:spcBef>
                <a:spcPts val="1477"/>
              </a:spcBef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DejaVu Sans"/>
                <a:ea typeface="Arial"/>
              </a:rPr>
              <a:t>Style guide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Typical Quality Problems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ustomShape 1"/>
          <p:cNvSpPr/>
          <p:nvPr/>
        </p:nvSpPr>
        <p:spPr>
          <a:xfrm>
            <a:off x="542880" y="7218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Lecture 4: Requirements Documentation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ustomShape 2"/>
          <p:cNvSpPr/>
          <p:nvPr/>
        </p:nvSpPr>
        <p:spPr>
          <a:xfrm>
            <a:off x="542880" y="12672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Content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CustomShape 3"/>
          <p:cNvSpPr/>
          <p:nvPr/>
        </p:nvSpPr>
        <p:spPr>
          <a:xfrm>
            <a:off x="539640" y="1709280"/>
            <a:ext cx="8224920" cy="43531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Types of Requirements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Textual Requirements Specification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Ambiguity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1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Guidelines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Syntactic Requirements Patterns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Shape 1"/>
          <p:cNvSpPr/>
          <p:nvPr/>
        </p:nvSpPr>
        <p:spPr>
          <a:xfrm>
            <a:off x="539640" y="1339200"/>
            <a:ext cx="10502640" cy="4858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16440" indent="-31608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Arial"/>
              </a:rPr>
              <a:t>Objectives: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Requirements are easier to read and thus easier to understand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Our style guide handles the most frequent problems, project-specific extensions may be reasonable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Directives should be consolidated in a company-specific style guide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ustomShape 2"/>
          <p:cNvSpPr/>
          <p:nvPr/>
        </p:nvSpPr>
        <p:spPr>
          <a:xfrm>
            <a:off x="542880" y="72252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542880" y="126792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Guidelines – Style Guide for the Specification of Requirements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539640" y="1681200"/>
            <a:ext cx="11346840" cy="45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Short sentences, because of the limitation of the human short-term memory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Describe only one requirement per sentence, avoid „and“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Avoid jargon, use abbreviations sparingly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Short paragraphs (max. 7 sentences)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Use lists, instead of listing sentences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Use terminology consistent; repetition of words is welcome!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Avoid nested logic terms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1141560" indent="-226800">
              <a:lnSpc>
                <a:spcPct val="9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→ 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If X or Y is given in case Z, but not..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9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= Use pseudo code or decision tables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ustomShape 2"/>
          <p:cNvSpPr/>
          <p:nvPr/>
        </p:nvSpPr>
        <p:spPr>
          <a:xfrm>
            <a:off x="542880" y="72288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CustomShape 3"/>
          <p:cNvSpPr/>
          <p:nvPr/>
        </p:nvSpPr>
        <p:spPr>
          <a:xfrm>
            <a:off x="542880" y="126828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Guidelines – </a:t>
            </a: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Style Guide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2461680" y="2104920"/>
            <a:ext cx="8735400" cy="36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spcBef>
                <a:spcPts val="901"/>
              </a:spcBef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Users attempting to access the ABC database should be reminded by a system message that will be acknowledged and by page headings on all reports that the data is sensitive, and access is limited by their system privileges.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40"/>
              </a:spcBef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4.1 The system shall notify users attempting to access the ABC    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      database that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798480" indent="-22680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"/>
              <a:tabLst>
                <a:tab algn="l" pos="171468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The ABC data is classified “sensitive”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lvl="1" marL="798480" indent="-22680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"/>
              <a:tabLst>
                <a:tab algn="l" pos="171468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Access to the ABC data is limited according to the user’s system privileges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lvl="1" marL="798480" indent="-22680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"/>
              <a:tabLst>
                <a:tab algn="l" pos="171468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Page headings on all reports generated using the ABC database must state that the report contains sensitive information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901"/>
              </a:spcBef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4.1.1 The system shall require the user to acknowledge the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         notification before being allowed to access the ABC database.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ustomShape 2"/>
          <p:cNvSpPr/>
          <p:nvPr/>
        </p:nvSpPr>
        <p:spPr>
          <a:xfrm>
            <a:off x="1078200" y="2408760"/>
            <a:ext cx="615600" cy="33264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de-DE" sz="1600" spc="-1" strike="noStrike">
                <a:solidFill>
                  <a:srgbClr val="ffffff"/>
                </a:solidFill>
                <a:latin typeface="DejaVu Sans"/>
                <a:ea typeface="ＭＳ Ｐゴシック"/>
              </a:rPr>
              <a:t>Bad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ustomShape 3"/>
          <p:cNvSpPr/>
          <p:nvPr/>
        </p:nvSpPr>
        <p:spPr>
          <a:xfrm>
            <a:off x="1005840" y="4343040"/>
            <a:ext cx="767880" cy="332640"/>
          </a:xfrm>
          <a:prstGeom prst="rect">
            <a:avLst/>
          </a:prstGeom>
          <a:solidFill>
            <a:srgbClr val="00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b="1" lang="de-DE" sz="16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Good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CustomShape 4"/>
          <p:cNvSpPr/>
          <p:nvPr/>
        </p:nvSpPr>
        <p:spPr>
          <a:xfrm>
            <a:off x="542880" y="7232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CustomShape 5"/>
          <p:cNvSpPr/>
          <p:nvPr/>
        </p:nvSpPr>
        <p:spPr>
          <a:xfrm>
            <a:off x="542880" y="12686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Guidelines – </a:t>
            </a: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Example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Line 6"/>
          <p:cNvSpPr/>
          <p:nvPr/>
        </p:nvSpPr>
        <p:spPr>
          <a:xfrm>
            <a:off x="805680" y="3392280"/>
            <a:ext cx="10359360" cy="5400"/>
          </a:xfrm>
          <a:prstGeom prst="line">
            <a:avLst/>
          </a:prstGeom>
          <a:ln w="3816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520" bIns="25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CustomShape 1"/>
          <p:cNvSpPr/>
          <p:nvPr/>
        </p:nvSpPr>
        <p:spPr>
          <a:xfrm>
            <a:off x="539640" y="1589040"/>
            <a:ext cx="10318680" cy="50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Use words like ‘must’, ‘can’, ‘ought’, ‘should’, ‘is’, etc. carefully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3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Either: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precise definition: ‘must’, ‘ought’ show that the requirement is mandatory, etc.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3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Or: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separate mandatory from optional requirements through a definition of a respective attribute or through a chapter heading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Use active instead of passive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3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Wrong: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a result is displayed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32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Right: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the system displays the result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(thus the actor is obvious!)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Illustrate complex dependencies with graphics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Use precise references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Use automatic spellchecker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CustomShape 2"/>
          <p:cNvSpPr/>
          <p:nvPr/>
        </p:nvSpPr>
        <p:spPr>
          <a:xfrm>
            <a:off x="542880" y="7232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ustomShape 3"/>
          <p:cNvSpPr/>
          <p:nvPr/>
        </p:nvSpPr>
        <p:spPr>
          <a:xfrm>
            <a:off x="542880" y="12686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Guidelines – </a:t>
            </a: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Style Guide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539640" y="1608120"/>
            <a:ext cx="10547280" cy="44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Express requirements so they are testable. Thus it is possible to check whether or not the system meets the requirements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Is it possible to create a test case for requirement X?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State rationale for each requirement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The rationale is important as a basis for deciding upon changes or omissions of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requirements during development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Explanations in requirements are confusing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i="1" lang="en-US" sz="1800" spc="-1" strike="noStrike" u="sng">
                <a:solidFill>
                  <a:srgbClr val="000000"/>
                </a:solidFill>
                <a:uFillTx/>
                <a:latin typeface="DejaVu Sans"/>
                <a:ea typeface="ＭＳ Ｐゴシック"/>
              </a:rPr>
              <a:t>Negative example: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“To enable an experienced user to work efficiently, the access authorization is also checked on double-clicking a list item and if this authorization is valid, the customer-specific data will be displayed in ‘Access’ field. In case the SQL-query returns an error code (-1), …“   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i="1" lang="en-US" sz="1800" spc="-1" strike="noStrike" u="sng">
                <a:solidFill>
                  <a:srgbClr val="000000"/>
                </a:solidFill>
                <a:uFillTx/>
                <a:latin typeface="DejaVu Sans"/>
                <a:ea typeface="ＭＳ Ｐゴシック"/>
              </a:rPr>
              <a:t>Better solution: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M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ake explanations explicit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542880" y="7232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542880" y="12686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Guidelines – </a:t>
            </a: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Style Guide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CustomShape 1"/>
          <p:cNvSpPr/>
          <p:nvPr/>
        </p:nvSpPr>
        <p:spPr>
          <a:xfrm>
            <a:off x="539640" y="1684440"/>
            <a:ext cx="10318680" cy="44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Avoid generalities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Leads to ambiguities → Example Tamagotchi: “On clicking the R-button the selected function is canceled.“ Is this also true for the time function?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Seems boring if it has platitude characteristics → Example: “Input masks should be displayed entirely on screen. Scrolling should be avoided if possible. That is a principle of graphical user-interface design!“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360"/>
              </a:spcBef>
              <a:tabLst>
                <a:tab algn="l" pos="171468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Document the sources (persons) of all requirements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For a large number of requirements or after a certain period of time, it is difficult to remember a source, if a requirement must be changed. 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CustomShape 2"/>
          <p:cNvSpPr/>
          <p:nvPr/>
        </p:nvSpPr>
        <p:spPr>
          <a:xfrm>
            <a:off x="542880" y="7232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CustomShape 3"/>
          <p:cNvSpPr/>
          <p:nvPr/>
        </p:nvSpPr>
        <p:spPr>
          <a:xfrm>
            <a:off x="542880" y="12686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Guidelines – </a:t>
            </a: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Style Guide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539640" y="1662120"/>
            <a:ext cx="10335960" cy="43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Why should technical terms be defined?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90000"/>
              </a:lnSpc>
              <a:spcBef>
                <a:spcPts val="9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The advantage is to avoid misunderstandings caused by the following phenomena: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Unclear terms. Meaning is unclear to the requirement engineer (e.g., “butterfly valve”)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Ordinary terms may have special meanings to clients/users (“article”, “call”)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Different terms for the same „thing“ (synonyms) used by different sources or because the vocabulary of concepts of the client is not yet defined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9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171468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Same term for related, but still different „things“ (polysemy)</a:t>
            </a:r>
            <a:r>
              <a:rPr b="0" lang="en-US" sz="1800" spc="-1" strike="noStrike">
                <a:solidFill>
                  <a:srgbClr val="0000ff"/>
                </a:solidFill>
                <a:latin typeface="DejaVu Sans"/>
                <a:ea typeface="ＭＳ Ｐゴシック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e.g.</a:t>
            </a:r>
            <a:r>
              <a:rPr b="0" lang="en-US" sz="1800" spc="-1" strike="noStrike">
                <a:solidFill>
                  <a:srgbClr val="0000ff"/>
                </a:solidFill>
                <a:latin typeface="DejaVu Sans"/>
                <a:ea typeface="ＭＳ Ｐゴシック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“school” = the institution </a:t>
            </a:r>
            <a:r>
              <a:rPr b="0" i="1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or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 specific school (e.g., Werner v. Siemens Schule in Hildesheim)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ustomShape 2"/>
          <p:cNvSpPr/>
          <p:nvPr/>
        </p:nvSpPr>
        <p:spPr>
          <a:xfrm>
            <a:off x="542880" y="7232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542880" y="126864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Guidelines – </a:t>
            </a: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Technical Terms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1"/>
          <p:cNvSpPr/>
          <p:nvPr/>
        </p:nvSpPr>
        <p:spPr>
          <a:xfrm>
            <a:off x="539640" y="1582560"/>
            <a:ext cx="10581480" cy="33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Choose terms appropriate for the readers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9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ＭＳ Ｐゴシック"/>
              </a:rPr>
              <a:t>Example </a:t>
            </a:r>
            <a:r>
              <a:rPr b="0" lang="en-US" sz="2000" spc="-1" strike="noStrike" u="sng">
                <a:solidFill>
                  <a:srgbClr val="008c4f"/>
                </a:solidFill>
                <a:uFillTx/>
                <a:latin typeface="Times New Roman"/>
                <a:ea typeface="ＭＳ Ｐゴシック"/>
              </a:rPr>
              <a:t>→</a:t>
            </a: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ＭＳ Ｐゴシック"/>
              </a:rPr>
              <a:t> ISDN phone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For the hardware engineer: 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key codes and activation of the LCD display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For the interface designer: 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key sequences and masks on the LCD display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For the user of the telephone: 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functions like call forwarding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DejaVu Sans"/>
              <a:buChar char="◾"/>
              <a:tabLst>
                <a:tab algn="l" pos="17146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ＭＳ Ｐゴシック"/>
              </a:rPr>
              <a:t>The correct description level is the one, that suits the expectations of the requirements-document reader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ustomShape 2"/>
          <p:cNvSpPr/>
          <p:nvPr/>
        </p:nvSpPr>
        <p:spPr>
          <a:xfrm>
            <a:off x="542880" y="7236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ustomShape 3"/>
          <p:cNvSpPr/>
          <p:nvPr/>
        </p:nvSpPr>
        <p:spPr>
          <a:xfrm>
            <a:off x="542880" y="12690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Guidelines – </a:t>
            </a: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Technical Terms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542880" y="7218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Lecture 4: Requirements Documentation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542880" y="12672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Content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ustomShape 3"/>
          <p:cNvSpPr/>
          <p:nvPr/>
        </p:nvSpPr>
        <p:spPr>
          <a:xfrm>
            <a:off x="539640" y="1709280"/>
            <a:ext cx="8224920" cy="43531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ctr">
            <a:noAutofit/>
          </a:bodyPr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Types of Requirements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Textual Requirements Specification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Ambiguity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Guidelines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1" lang="en-GB" sz="1800" spc="-1" strike="noStrike">
                <a:solidFill>
                  <a:srgbClr val="000000"/>
                </a:solidFill>
                <a:latin typeface="DejaVu Sans"/>
                <a:ea typeface="Arial"/>
              </a:rPr>
              <a:t>Syntactic Requirements Patterns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1"/>
          <p:cNvSpPr/>
          <p:nvPr/>
        </p:nvSpPr>
        <p:spPr>
          <a:xfrm>
            <a:off x="539640" y="1339200"/>
            <a:ext cx="10889280" cy="4858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Technique that aims at avoiding mistakes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Also known as </a:t>
            </a: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requirement templates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 algn="ctr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 good pattern contains: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Condition, subject, “legal obligation”, verb, object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24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CustomShape 4"/>
          <p:cNvSpPr/>
          <p:nvPr/>
        </p:nvSpPr>
        <p:spPr>
          <a:xfrm>
            <a:off x="465840" y="3309120"/>
            <a:ext cx="10889280" cy="10580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8c4f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“</a:t>
            </a: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 syntactic requirement pattern defines a syntactic structure for documenting requirements in natural language and defines meaning of each part of the syntactic structure.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”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ustomShape 5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K. Pohl (2010)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– Fundamentals, Principles and Techniques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Shape 1"/>
          <p:cNvSpPr/>
          <p:nvPr/>
        </p:nvSpPr>
        <p:spPr>
          <a:xfrm>
            <a:off x="539640" y="4363920"/>
            <a:ext cx="10889280" cy="18342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&lt;when?&gt; / &lt;under what conditions&gt;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Conditions under which the function documented in the requirement is performed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Temporal or logical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One or more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Example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CustomShape 4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C. Rupp (2009)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and Management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Picture 2" descr=""/>
          <p:cNvPicPr/>
          <p:nvPr/>
        </p:nvPicPr>
        <p:blipFill>
          <a:blip r:embed="rId1"/>
          <a:stretch/>
        </p:blipFill>
        <p:spPr>
          <a:xfrm>
            <a:off x="1040760" y="1868040"/>
            <a:ext cx="10106280" cy="2393640"/>
          </a:xfrm>
          <a:prstGeom prst="rect">
            <a:avLst/>
          </a:prstGeom>
          <a:ln w="0">
            <a:noFill/>
          </a:ln>
        </p:spPr>
      </p:pic>
      <p:sp>
        <p:nvSpPr>
          <p:cNvPr id="289" name="CustomShape 5"/>
          <p:cNvSpPr/>
          <p:nvPr/>
        </p:nvSpPr>
        <p:spPr>
          <a:xfrm>
            <a:off x="914400" y="2552400"/>
            <a:ext cx="1493640" cy="98172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Shape 1"/>
          <p:cNvSpPr/>
          <p:nvPr/>
        </p:nvSpPr>
        <p:spPr>
          <a:xfrm>
            <a:off x="539640" y="4363920"/>
            <a:ext cx="10889280" cy="18342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SYSTEM / &lt;system name&gt;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Name of the system that shall provide the functionality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Subject of the sentence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Example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ustomShape 4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C. Rupp (2009)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and Management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Picture 2" descr=""/>
          <p:cNvPicPr/>
          <p:nvPr/>
        </p:nvPicPr>
        <p:blipFill>
          <a:blip r:embed="rId1"/>
          <a:stretch/>
        </p:blipFill>
        <p:spPr>
          <a:xfrm>
            <a:off x="1040760" y="1868040"/>
            <a:ext cx="10106280" cy="2393640"/>
          </a:xfrm>
          <a:prstGeom prst="rect">
            <a:avLst/>
          </a:prstGeom>
          <a:ln w="0">
            <a:noFill/>
          </a:ln>
        </p:spPr>
      </p:pic>
      <p:sp>
        <p:nvSpPr>
          <p:cNvPr id="295" name="CustomShape 5"/>
          <p:cNvSpPr/>
          <p:nvPr/>
        </p:nvSpPr>
        <p:spPr>
          <a:xfrm>
            <a:off x="2586960" y="2574000"/>
            <a:ext cx="1493640" cy="98172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Shape 1"/>
          <p:cNvSpPr/>
          <p:nvPr/>
        </p:nvSpPr>
        <p:spPr>
          <a:xfrm>
            <a:off x="539640" y="4363920"/>
            <a:ext cx="10889280" cy="18342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SHALL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Legally binding requirement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If a statement does not contain “shall”, it is not a requirement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Example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CustomShape 4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C. Rupp (2009)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and Management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Picture 2" descr=""/>
          <p:cNvPicPr/>
          <p:nvPr/>
        </p:nvPicPr>
        <p:blipFill>
          <a:blip r:embed="rId1"/>
          <a:stretch/>
        </p:blipFill>
        <p:spPr>
          <a:xfrm>
            <a:off x="1040760" y="1868040"/>
            <a:ext cx="10106280" cy="2393640"/>
          </a:xfrm>
          <a:prstGeom prst="rect">
            <a:avLst/>
          </a:prstGeom>
          <a:ln w="0">
            <a:noFill/>
          </a:ln>
        </p:spPr>
      </p:pic>
      <p:sp>
        <p:nvSpPr>
          <p:cNvPr id="301" name="CustomShape 5"/>
          <p:cNvSpPr/>
          <p:nvPr/>
        </p:nvSpPr>
        <p:spPr>
          <a:xfrm>
            <a:off x="4512600" y="2252160"/>
            <a:ext cx="894600" cy="45684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Shape 1"/>
          <p:cNvSpPr/>
          <p:nvPr/>
        </p:nvSpPr>
        <p:spPr>
          <a:xfrm>
            <a:off x="539640" y="4363920"/>
            <a:ext cx="10889280" cy="18342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SHOULD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Highly recommended feature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Optional, not contractually required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More like goals instead of requirements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Example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CustomShape 4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C. Rupp (2009)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and Management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Picture 2" descr=""/>
          <p:cNvPicPr/>
          <p:nvPr/>
        </p:nvPicPr>
        <p:blipFill>
          <a:blip r:embed="rId1"/>
          <a:stretch/>
        </p:blipFill>
        <p:spPr>
          <a:xfrm>
            <a:off x="1040760" y="1868040"/>
            <a:ext cx="10106280" cy="2393640"/>
          </a:xfrm>
          <a:prstGeom prst="rect">
            <a:avLst/>
          </a:prstGeom>
          <a:ln w="0">
            <a:noFill/>
          </a:ln>
        </p:spPr>
      </p:pic>
      <p:sp>
        <p:nvSpPr>
          <p:cNvPr id="307" name="CustomShape 5"/>
          <p:cNvSpPr/>
          <p:nvPr/>
        </p:nvSpPr>
        <p:spPr>
          <a:xfrm>
            <a:off x="4512600" y="2836440"/>
            <a:ext cx="894600" cy="45684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Shape 1"/>
          <p:cNvSpPr/>
          <p:nvPr/>
        </p:nvSpPr>
        <p:spPr>
          <a:xfrm>
            <a:off x="539640" y="4363920"/>
            <a:ext cx="10889280" cy="18342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WILL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Statements of fact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Example: If I want to tell you something about another system I will use “will”.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Example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ustomShape 4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C. Rupp (2009)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and Management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Picture 2" descr=""/>
          <p:cNvPicPr/>
          <p:nvPr/>
        </p:nvPicPr>
        <p:blipFill>
          <a:blip r:embed="rId1"/>
          <a:stretch/>
        </p:blipFill>
        <p:spPr>
          <a:xfrm>
            <a:off x="1040760" y="1868040"/>
            <a:ext cx="10106280" cy="2393640"/>
          </a:xfrm>
          <a:prstGeom prst="rect">
            <a:avLst/>
          </a:prstGeom>
          <a:ln w="0">
            <a:noFill/>
          </a:ln>
        </p:spPr>
      </p:pic>
      <p:sp>
        <p:nvSpPr>
          <p:cNvPr id="313" name="CustomShape 5"/>
          <p:cNvSpPr/>
          <p:nvPr/>
        </p:nvSpPr>
        <p:spPr>
          <a:xfrm>
            <a:off x="4519800" y="3357360"/>
            <a:ext cx="894600" cy="45684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/>
          <p:cNvSpPr/>
          <p:nvPr/>
        </p:nvSpPr>
        <p:spPr>
          <a:xfrm>
            <a:off x="539640" y="4363920"/>
            <a:ext cx="10889280" cy="18342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PROVIDE &lt;whom?&gt; WITH THE ABILITY TO &lt;process&gt;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Same as &lt;process&gt;, except: Applies to requirements offered to specific users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→</a:t>
            </a: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 &lt;whom?&gt;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Example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CustomShape 4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C. Rupp (2009)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and Management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Picture 2" descr=""/>
          <p:cNvPicPr/>
          <p:nvPr/>
        </p:nvPicPr>
        <p:blipFill>
          <a:blip r:embed="rId1"/>
          <a:stretch/>
        </p:blipFill>
        <p:spPr>
          <a:xfrm>
            <a:off x="1040760" y="1868040"/>
            <a:ext cx="10106280" cy="2393640"/>
          </a:xfrm>
          <a:prstGeom prst="rect">
            <a:avLst/>
          </a:prstGeom>
          <a:ln w="0">
            <a:noFill/>
          </a:ln>
        </p:spPr>
      </p:pic>
      <p:sp>
        <p:nvSpPr>
          <p:cNvPr id="319" name="CustomShape 5"/>
          <p:cNvSpPr/>
          <p:nvPr/>
        </p:nvSpPr>
        <p:spPr>
          <a:xfrm>
            <a:off x="6296760" y="2605680"/>
            <a:ext cx="1698120" cy="92844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Shape 1"/>
          <p:cNvSpPr/>
          <p:nvPr/>
        </p:nvSpPr>
        <p:spPr>
          <a:xfrm>
            <a:off x="539640" y="4363920"/>
            <a:ext cx="10889280" cy="18342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BE ABLE TO &lt;process&gt;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Same as &lt;process&gt;, except: Applies to requirements that are performed as reactions to trigger events from other systems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Example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CustomShape 4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C. Rupp (2009)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and Management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4" name="Picture 2" descr=""/>
          <p:cNvPicPr/>
          <p:nvPr/>
        </p:nvPicPr>
        <p:blipFill>
          <a:blip r:embed="rId1"/>
          <a:stretch/>
        </p:blipFill>
        <p:spPr>
          <a:xfrm>
            <a:off x="1040760" y="1868040"/>
            <a:ext cx="10106280" cy="2393640"/>
          </a:xfrm>
          <a:prstGeom prst="rect">
            <a:avLst/>
          </a:prstGeom>
          <a:ln w="0">
            <a:noFill/>
          </a:ln>
        </p:spPr>
      </p:pic>
      <p:sp>
        <p:nvSpPr>
          <p:cNvPr id="325" name="CustomShape 5"/>
          <p:cNvSpPr/>
          <p:nvPr/>
        </p:nvSpPr>
        <p:spPr>
          <a:xfrm>
            <a:off x="6467760" y="3688200"/>
            <a:ext cx="1177560" cy="67140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Shape 1"/>
          <p:cNvSpPr/>
          <p:nvPr/>
        </p:nvSpPr>
        <p:spPr>
          <a:xfrm>
            <a:off x="539640" y="4363920"/>
            <a:ext cx="10889280" cy="18342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&lt;object&gt; and &lt;additional details about the object&gt;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Object for which the functionality is required, e.g., which document shall be printed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Example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C. Rupp (2009)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and Management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Picture 2" descr=""/>
          <p:cNvPicPr/>
          <p:nvPr/>
        </p:nvPicPr>
        <p:blipFill>
          <a:blip r:embed="rId1"/>
          <a:stretch/>
        </p:blipFill>
        <p:spPr>
          <a:xfrm>
            <a:off x="1040760" y="1868040"/>
            <a:ext cx="10106280" cy="2393640"/>
          </a:xfrm>
          <a:prstGeom prst="rect">
            <a:avLst/>
          </a:prstGeom>
          <a:ln w="0">
            <a:noFill/>
          </a:ln>
        </p:spPr>
      </p:pic>
      <p:sp>
        <p:nvSpPr>
          <p:cNvPr id="331" name="CustomShape 5"/>
          <p:cNvSpPr/>
          <p:nvPr/>
        </p:nvSpPr>
        <p:spPr>
          <a:xfrm>
            <a:off x="8750160" y="2632680"/>
            <a:ext cx="2396880" cy="90900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Shape 1"/>
          <p:cNvSpPr/>
          <p:nvPr/>
        </p:nvSpPr>
        <p:spPr>
          <a:xfrm>
            <a:off x="539640" y="1339200"/>
            <a:ext cx="10889280" cy="48589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“</a:t>
            </a:r>
            <a:r>
              <a:rPr b="0" lang="en-US" sz="2000" spc="-1" strike="noStrike">
                <a:solidFill>
                  <a:srgbClr val="00b0f0"/>
                </a:solidFill>
                <a:latin typeface="DejaVu Sans"/>
                <a:ea typeface="DejaVu Sans"/>
              </a:rPr>
              <a:t>If the glass break detector detects the damaging of a window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, </a:t>
            </a:r>
            <a:r>
              <a:rPr b="0" lang="en-US" sz="2000" spc="-1" strike="noStrike">
                <a:solidFill>
                  <a:srgbClr val="00b050"/>
                </a:solidFill>
                <a:latin typeface="DejaVu Sans"/>
                <a:ea typeface="DejaVu Sans"/>
              </a:rPr>
              <a:t>the Burglar3000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ff0000"/>
                </a:solidFill>
                <a:latin typeface="DejaVu Sans"/>
                <a:ea typeface="DejaVu Sans"/>
              </a:rPr>
              <a:t>shall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ffc000"/>
                </a:solidFill>
                <a:latin typeface="DejaVu Sans"/>
                <a:ea typeface="DejaVu Sans"/>
              </a:rPr>
              <a:t>inform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7030a0"/>
                </a:solidFill>
                <a:latin typeface="DejaVu Sans"/>
                <a:ea typeface="DejaVu Sans"/>
              </a:rPr>
              <a:t>the head office of the security service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.”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b0f0"/>
                </a:solidFill>
                <a:latin typeface="DejaVu Sans"/>
                <a:ea typeface="DejaVu Sans"/>
              </a:rPr>
              <a:t>&lt;when&gt;: if the glass break detector detects the damaging of a window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DejaVu Sans"/>
                <a:ea typeface="DejaVu Sans"/>
              </a:rPr>
              <a:t>&lt;system name&gt;: the Burglar3000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ff0000"/>
                </a:solidFill>
                <a:latin typeface="DejaVu Sans"/>
                <a:ea typeface="DejaVu Sans"/>
              </a:rPr>
              <a:t>SHALL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ffc000"/>
                </a:solidFill>
                <a:latin typeface="DejaVu Sans"/>
                <a:ea typeface="DejaVu Sans"/>
              </a:rPr>
              <a:t>&lt;process&gt;: inform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7030a0"/>
                </a:solidFill>
                <a:latin typeface="DejaVu Sans"/>
                <a:ea typeface="DejaVu Sans"/>
              </a:rPr>
              <a:t>&lt;object&gt;: the head office of the security service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2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CustomShape 3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Example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CustomShape 4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K. Pohl (2010)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– Fundamentals, Principles and Techniques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CustomShape 1"/>
          <p:cNvSpPr/>
          <p:nvPr/>
        </p:nvSpPr>
        <p:spPr>
          <a:xfrm>
            <a:off x="542880" y="7221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Textual Requirements Specification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CustomShape 2"/>
          <p:cNvSpPr/>
          <p:nvPr/>
        </p:nvSpPr>
        <p:spPr>
          <a:xfrm>
            <a:off x="542880" y="126756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Syntactic Requirements Patterns – Fitting a Requirement into the Pattern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CustomShape 3"/>
          <p:cNvSpPr/>
          <p:nvPr/>
        </p:nvSpPr>
        <p:spPr>
          <a:xfrm>
            <a:off x="263520" y="6411600"/>
            <a:ext cx="10916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K. Pohl (2010)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– Fundamentals, Principles and Techniques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9" name="Picture 2" descr=""/>
          <p:cNvPicPr/>
          <p:nvPr/>
        </p:nvPicPr>
        <p:blipFill>
          <a:blip r:embed="rId1"/>
          <a:stretch/>
        </p:blipFill>
        <p:spPr>
          <a:xfrm>
            <a:off x="2033280" y="1843920"/>
            <a:ext cx="8121240" cy="448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CustomShape 1"/>
          <p:cNvSpPr/>
          <p:nvPr/>
        </p:nvSpPr>
        <p:spPr>
          <a:xfrm>
            <a:off x="335520" y="4406760"/>
            <a:ext cx="10748160" cy="13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 cap="all">
                <a:solidFill>
                  <a:srgbClr val="008c4f"/>
                </a:solidFill>
                <a:latin typeface="DejaVu Sans"/>
                <a:ea typeface="DejaVu Sans"/>
              </a:rPr>
              <a:t>Summary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2"/>
          <p:cNvSpPr/>
          <p:nvPr/>
        </p:nvSpPr>
        <p:spPr>
          <a:xfrm>
            <a:off x="335520" y="2906640"/>
            <a:ext cx="10748160" cy="14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CustomShape 1"/>
          <p:cNvSpPr/>
          <p:nvPr/>
        </p:nvSpPr>
        <p:spPr>
          <a:xfrm>
            <a:off x="542880" y="721800"/>
            <a:ext cx="1035648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Summary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CustomShape 2"/>
          <p:cNvSpPr/>
          <p:nvPr/>
        </p:nvSpPr>
        <p:spPr>
          <a:xfrm>
            <a:off x="451800" y="1709280"/>
            <a:ext cx="8223840" cy="43520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4" name="TextShape 3"/>
          <p:cNvSpPr/>
          <p:nvPr/>
        </p:nvSpPr>
        <p:spPr>
          <a:xfrm>
            <a:off x="609480" y="1769400"/>
            <a:ext cx="10586880" cy="48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marL="216000" indent="-215640">
              <a:lnSpc>
                <a:spcPct val="100000"/>
              </a:lnSpc>
              <a:spcBef>
                <a:spcPts val="1001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Arial"/>
              </a:rPr>
              <a:t>Requirements Documentation is a key artifact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49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Required amount of requirements documentation depends on context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Natural language is a versatile means for requirements documentation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Versatility allows ambiguities and problems with the perspective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Ambiguity (multiple forms)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Arial"/>
              </a:rPr>
              <a:t>Guidelines for writing requirements documents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64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Syntactic Requirements Patterns define a fixed structure for the requirements documentation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564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Condition, subject, legal obligation, verb, object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ustomShape 1"/>
          <p:cNvSpPr/>
          <p:nvPr/>
        </p:nvSpPr>
        <p:spPr>
          <a:xfrm>
            <a:off x="335520" y="1268640"/>
            <a:ext cx="10746000" cy="50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DejaVu Sans"/>
                <a:ea typeface="DejaVu Sans"/>
              </a:rPr>
              <a:t>Questions?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CustomShape 2"/>
          <p:cNvSpPr/>
          <p:nvPr/>
        </p:nvSpPr>
        <p:spPr>
          <a:xfrm>
            <a:off x="335520" y="764640"/>
            <a:ext cx="1074600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Shape 1"/>
          <p:cNvSpPr/>
          <p:nvPr/>
        </p:nvSpPr>
        <p:spPr>
          <a:xfrm>
            <a:off x="542880" y="685800"/>
            <a:ext cx="1035756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References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</TotalTime>
  <Application>LibreOffice/7.4.7.2$Linux_X86_64 LibreOffice_project/40$Build-2</Application>
  <AppVersion>15.0000</AppVersion>
  <Words>4731</Words>
  <Paragraphs>653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2013-05-21T09:22:36Z</dcterms:created>
  <dc:creator>Hooby</dc:creator>
  <dc:description/>
  <dc:language>en-US</dc:language>
  <cp:lastModifiedBy/>
  <dcterms:modified xsi:type="dcterms:W3CDTF">2025-11-03T12:24:04Z</dcterms:modified>
  <cp:revision>3568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49</vt:i4>
  </property>
  <property fmtid="{D5CDD505-2E9C-101B-9397-08002B2CF9AE}" pid="4" name="PresentationFormat">
    <vt:lpwstr>Widescreen</vt:lpwstr>
  </property>
  <property fmtid="{D5CDD505-2E9C-101B-9397-08002B2CF9AE}" pid="5" name="Slides">
    <vt:i4>61</vt:i4>
  </property>
</Properties>
</file>