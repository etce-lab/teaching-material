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56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_rels/notesSlide46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36.xml.rels" ContentType="application/vnd.openxmlformats-package.relationships+xml"/>
  <Override PartName="/ppt/notesSlides/_rels/notesSlide62.xml.rels" ContentType="application/vnd.openxmlformats-package.relationships+xml"/>
  <Override PartName="/ppt/notesSlides/_rels/notesSlide66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58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3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59.xml.rels" ContentType="application/vnd.openxmlformats-package.relationships+xml"/>
  <Override PartName="/ppt/notesSlides/_rels/notesSlide60.xml.rels" ContentType="application/vnd.openxmlformats-package.relationships+xml"/>
  <Override PartName="/ppt/notesSlides/_rels/notesSlide49.xml.rels" ContentType="application/vnd.openxmlformats-package.relationships+xml"/>
  <Override PartName="/ppt/notesSlides/_rels/notesSlide53.xml.rels" ContentType="application/vnd.openxmlformats-package.relationships+xml"/>
  <Override PartName="/ppt/notesSlides/_rels/notesSlide68.xml.rels" ContentType="application/vnd.openxmlformats-package.relationships+xml"/>
  <Override PartName="/ppt/notesSlides/_rels/notesSlide56.xml.rels" ContentType="application/vnd.openxmlformats-package.relationships+xml"/>
  <Override PartName="/ppt/notesSlides/_rels/notesSlide63.xml.rels" ContentType="application/vnd.openxmlformats-package.relationships+xml"/>
  <Override PartName="/ppt/notesSlides/_rels/notesSlide47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41.xml.rels" ContentType="application/vnd.openxmlformats-package.relationships+xml"/>
  <Override PartName="/ppt/notesSlides/_rels/notesSlide54.xml.rels" ContentType="application/vnd.openxmlformats-package.relationships+xml"/>
  <Override PartName="/ppt/notesSlides/_rels/notesSlide70.xml.rels" ContentType="application/vnd.openxmlformats-package.relationships+xml"/>
  <Override PartName="/ppt/notesSlides/_rels/notesSlide61.xml.rels" ContentType="application/vnd.openxmlformats-package.relationships+xml"/>
  <Override PartName="/ppt/notesSlides/_rels/notesSlide72.xml.rels" ContentType="application/vnd.openxmlformats-package.relationships+xml"/>
  <Override PartName="/ppt/notesSlides/_rels/notesSlide6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6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45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44.xml.rels" ContentType="application/vnd.openxmlformats-package.relationships+xml"/>
  <Override PartName="/ppt/notesSlides/_rels/notesSlide52.xml.rels" ContentType="application/vnd.openxmlformats-package.relationships+xml"/>
  <Override PartName="/ppt/notesSlides/_rels/notesSlide48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57.xml.rels" ContentType="application/vnd.openxmlformats-package.relationships+xml"/>
  <Override PartName="/ppt/notesSlides/_rels/notesSlide64.xml.rels" ContentType="application/vnd.openxmlformats-package.relationships+xml"/>
  <Override PartName="/ppt/notesSlides/_rels/notesSlide71.xml.rels" ContentType="application/vnd.openxmlformats-package.relationships+xml"/>
  <Override PartName="/ppt/notesSlides/_rels/notesSlide51.xml.rels" ContentType="application/vnd.openxmlformats-package.relationships+xml"/>
  <Override PartName="/ppt/notesSlides/_rels/notesSlide8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42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50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9.xml.rels" ContentType="application/vnd.openxmlformats-package.relationships+xml"/>
  <Override PartName="/ppt/notesSlides/notesSlide6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9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56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6.xml" ContentType="application/vnd.openxmlformats-officedocument.presentationml.slide+xml"/>
  <Override PartName="/ppt/slides/slide45.xml" ContentType="application/vnd.openxmlformats-officedocument.presentationml.slide+xml"/>
  <Override PartName="/ppt/slides/slide39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35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21.xml" ContentType="application/vnd.openxmlformats-officedocument.presentationml.slide+xml"/>
  <Override PartName="/ppt/slides/slide58.xml" ContentType="application/vnd.openxmlformats-officedocument.presentationml.slide+xml"/>
  <Override PartName="/ppt/slides/slide22.xml" ContentType="application/vnd.openxmlformats-officedocument.presentationml.slide+xml"/>
  <Override PartName="/ppt/slides/slide59.xml" ContentType="application/vnd.openxmlformats-officedocument.presentationml.slide+xml"/>
  <Override PartName="/ppt/slides/slide23.xml" ContentType="application/vnd.openxmlformats-officedocument.presentationml.slide+xml"/>
  <Override PartName="/ppt/slides/slide60.xml" ContentType="application/vnd.openxmlformats-officedocument.presentationml.slide+xml"/>
  <Override PartName="/ppt/slides/slide18.xml" ContentType="application/vnd.openxmlformats-officedocument.presentationml.slide+xml"/>
  <Override PartName="/ppt/slides/slide24.xml" ContentType="application/vnd.openxmlformats-officedocument.presentationml.slide+xml"/>
  <Override PartName="/ppt/slides/slide61.xml" ContentType="application/vnd.openxmlformats-officedocument.presentationml.slide+xml"/>
  <Override PartName="/ppt/slides/slide19.xml" ContentType="application/vnd.openxmlformats-officedocument.presentationml.slide+xml"/>
  <Override PartName="/ppt/slides/slide25.xml" ContentType="application/vnd.openxmlformats-officedocument.presentationml.slide+xml"/>
  <Override PartName="/ppt/slides/slide62.xml" ContentType="application/vnd.openxmlformats-officedocument.presentationml.slide+xml"/>
  <Override PartName="/ppt/slides/slide26.xml" ContentType="application/vnd.openxmlformats-officedocument.presentationml.slide+xml"/>
  <Override PartName="/ppt/slides/slide63.xml" ContentType="application/vnd.openxmlformats-officedocument.presentationml.slide+xml"/>
  <Override PartName="/ppt/slides/slide27.xml" ContentType="application/vnd.openxmlformats-officedocument.presentationml.slide+xml"/>
  <Override PartName="/ppt/slides/slide64.xml" ContentType="application/vnd.openxmlformats-officedocument.presentationml.slide+xml"/>
  <Override PartName="/ppt/slides/slide77.xml" ContentType="application/vnd.openxmlformats-officedocument.presentationml.slide+xml"/>
  <Override PartName="/ppt/slides/slide40.xml" ContentType="application/vnd.openxmlformats-officedocument.presentationml.slide+xml"/>
  <Override PartName="/ppt/slides/slide28.xml" ContentType="application/vnd.openxmlformats-officedocument.presentationml.slide+xml"/>
  <Override PartName="/ppt/slides/slide70.xml" ContentType="application/vnd.openxmlformats-officedocument.presentationml.slide+xml"/>
  <Override PartName="/ppt/slides/slide65.xml" ContentType="application/vnd.openxmlformats-officedocument.presentationml.slide+xml"/>
  <Override PartName="/ppt/slides/slide76.xml" ContentType="application/vnd.openxmlformats-officedocument.presentationml.slide+xml"/>
  <Override PartName="/ppt/slides/slide75.xml" ContentType="application/vnd.openxmlformats-officedocument.presentationml.slide+xml"/>
  <Override PartName="/ppt/slides/slide74.xml" ContentType="application/vnd.openxmlformats-officedocument.presentationml.slide+xml"/>
  <Override PartName="/ppt/slides/slide2.xml" ContentType="application/vnd.openxmlformats-officedocument.presentationml.slide+xml"/>
  <Override PartName="/ppt/slides/slide73.xml" ContentType="application/vnd.openxmlformats-officedocument.presentationml.slide+xml"/>
  <Override PartName="/ppt/slides/slide1.xml" ContentType="application/vnd.openxmlformats-officedocument.presentationml.slide+xml"/>
  <Override PartName="/ppt/slides/slide72.xml" ContentType="application/vnd.openxmlformats-officedocument.presentationml.slide+xml"/>
  <Override PartName="/ppt/slides/slide71.xml" ContentType="application/vnd.openxmlformats-officedocument.presentationml.slide+xml"/>
  <Override PartName="/ppt/slides/slide29.xml" ContentType="application/vnd.openxmlformats-officedocument.presentationml.slide+xml"/>
  <Override PartName="/ppt/slides/slide69.xml" ContentType="application/vnd.openxmlformats-officedocument.presentationml.slide+xml"/>
  <Override PartName="/ppt/slides/slide68.xml" ContentType="application/vnd.openxmlformats-officedocument.presentationml.slide+xml"/>
  <Override PartName="/ppt/slides/slide67.xml" ContentType="application/vnd.openxmlformats-officedocument.presentationml.slide+xml"/>
  <Override PartName="/ppt/slides/slide30.xml" ContentType="application/vnd.openxmlformats-officedocument.presentationml.slide+xml"/>
  <Override PartName="/ppt/slides/slide66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17.xml" ContentType="application/vnd.openxmlformats-officedocument.presentationml.slide+xml"/>
  <Override PartName="/ppt/slides/slide41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42.xml" ContentType="application/vnd.openxmlformats-officedocument.presentationml.slide+xml"/>
  <Override PartName="/ppt/slides/slide3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15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16.xml" ContentType="application/vnd.openxmlformats-officedocument.presentationml.slide+xml"/>
  <Override PartName="/ppt/slides/slide9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12.xml" ContentType="application/vnd.openxmlformats-officedocument.presentationml.slide+xml"/>
  <Override PartName="/ppt/slides/slide49.xml" ContentType="application/vnd.openxmlformats-officedocument.presentationml.slide+xml"/>
  <Override PartName="/ppt/slides/_rels/slide6.xml.rels" ContentType="application/vnd.openxmlformats-package.relationships+xml"/>
  <Override PartName="/ppt/slides/_rels/slide41.xml.rels" ContentType="application/vnd.openxmlformats-package.relationships+xml"/>
  <Override PartName="/ppt/slides/_rels/slide49.xml.rels" ContentType="application/vnd.openxmlformats-package.relationships+xml"/>
  <Override PartName="/ppt/slides/_rels/slide12.xml.rels" ContentType="application/vnd.openxmlformats-package.relationships+xml"/>
  <Override PartName="/ppt/slides/_rels/slide18.xml.rels" ContentType="application/vnd.openxmlformats-package.relationships+xml"/>
  <Override PartName="/ppt/slides/_rels/slide22.xml.rels" ContentType="application/vnd.openxmlformats-package.relationships+xml"/>
  <Override PartName="/ppt/slides/_rels/slide42.xml.rels" ContentType="application/vnd.openxmlformats-package.relationships+xml"/>
  <Override PartName="/ppt/slides/_rels/slide7.xml.rels" ContentType="application/vnd.openxmlformats-package.relationships+xml"/>
  <Override PartName="/ppt/slides/_rels/slide1.xml.rels" ContentType="application/vnd.openxmlformats-package.relationships+xml"/>
  <Override PartName="/ppt/slides/_rels/slide32.xml.rels" ContentType="application/vnd.openxmlformats-package.relationships+xml"/>
  <Override PartName="/ppt/slides/_rels/slide57.xml.rels" ContentType="application/vnd.openxmlformats-package.relationships+xml"/>
  <Override PartName="/ppt/slides/_rels/slide61.xml.rels" ContentType="application/vnd.openxmlformats-package.relationships+xml"/>
  <Override PartName="/ppt/slides/_rels/slide20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9.xml.rels" ContentType="application/vnd.openxmlformats-package.relationships+xml"/>
  <Override PartName="/ppt/slides/_rels/slide23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5.xml.rels" ContentType="application/vnd.openxmlformats-package.relationships+xml"/>
  <Override PartName="/ppt/slides/_rels/slide55.xml.rels" ContentType="application/vnd.openxmlformats-package.relationships+xml"/>
  <Override PartName="/ppt/slides/_rels/slide64.xml.rels" ContentType="application/vnd.openxmlformats-package.relationships+xml"/>
  <Override PartName="/ppt/slides/_rels/slide48.xml.rels" ContentType="application/vnd.openxmlformats-package.relationships+xml"/>
  <Override PartName="/ppt/slides/_rels/slide40.xml.rels" ContentType="application/vnd.openxmlformats-package.relationships+xml"/>
  <Override PartName="/ppt/slides/_rels/slide5.xml.rels" ContentType="application/vnd.openxmlformats-package.relationships+xml"/>
  <Override PartName="/ppt/slides/_rels/slide28.xml.rels" ContentType="application/vnd.openxmlformats-package.relationships+xml"/>
  <Override PartName="/ppt/slides/_rels/slide44.xml.rels" ContentType="application/vnd.openxmlformats-package.relationships+xml"/>
  <Override PartName="/ppt/slides/_rels/slide9.xml.rels" ContentType="application/vnd.openxmlformats-package.relationships+xml"/>
  <Override PartName="/ppt/slides/_rels/slide37.xml.rels" ContentType="application/vnd.openxmlformats-package.relationships+xml"/>
  <Override PartName="/ppt/slides/_rels/slide3.xml.rels" ContentType="application/vnd.openxmlformats-package.relationships+xml"/>
  <Override PartName="/ppt/slides/_rels/slide8.xml.rels" ContentType="application/vnd.openxmlformats-package.relationships+xml"/>
  <Override PartName="/ppt/slides/_rels/slide43.xml.rels" ContentType="application/vnd.openxmlformats-package.relationships+xml"/>
  <Override PartName="/ppt/slides/_rels/slide27.xml.rels" ContentType="application/vnd.openxmlformats-package.relationships+xml"/>
  <Override PartName="/ppt/slides/_rels/slide2.xml.rels" ContentType="application/vnd.openxmlformats-package.relationships+xml"/>
  <Override PartName="/ppt/slides/_rels/slide36.xml.rels" ContentType="application/vnd.openxmlformats-package.relationships+xml"/>
  <Override PartName="/ppt/slides/_rels/slide17.xml.rels" ContentType="application/vnd.openxmlformats-package.relationships+xml"/>
  <Override PartName="/ppt/slides/_rels/slide21.xml.rels" ContentType="application/vnd.openxmlformats-package.relationships+xml"/>
  <Override PartName="/ppt/slides/_rels/slide31.xml.rels" ContentType="application/vnd.openxmlformats-package.relationships+xml"/>
  <Override PartName="/ppt/slides/_rels/slide39.xml.rels" ContentType="application/vnd.openxmlformats-package.relationships+xml"/>
  <Override PartName="/ppt/slides/_rels/slide24.xml.rels" ContentType="application/vnd.openxmlformats-package.relationships+xml"/>
  <Override PartName="/ppt/slides/_rels/slide15.xml.rels" ContentType="application/vnd.openxmlformats-package.relationships+xml"/>
  <Override PartName="/ppt/slides/_rels/slide54.xml.rels" ContentType="application/vnd.openxmlformats-package.relationships+xml"/>
  <Override PartName="/ppt/slides/_rels/slide63.xml.rels" ContentType="application/vnd.openxmlformats-package.relationships+xml"/>
  <Override PartName="/ppt/slides/_rels/slide70.xml.rels" ContentType="application/vnd.openxmlformats-package.relationships+xml"/>
  <Override PartName="/ppt/slides/_rels/slide47.xml.rels" ContentType="application/vnd.openxmlformats-package.relationships+xml"/>
  <Override PartName="/ppt/slides/_rels/slide4.xml.rels" ContentType="application/vnd.openxmlformats-package.relationships+xml"/>
  <Override PartName="/ppt/slides/_rels/slide35.xml.rels" ContentType="application/vnd.openxmlformats-package.relationships+xml"/>
  <Override PartName="/ppt/slides/_rels/slide51.xml.rels" ContentType="application/vnd.openxmlformats-package.relationships+xml"/>
  <Override PartName="/ppt/slides/_rels/slide53.xml.rels" ContentType="application/vnd.openxmlformats-package.relationships+xml"/>
  <Override PartName="/ppt/slides/_rels/slide46.xml.rels" ContentType="application/vnd.openxmlformats-package.relationships+xml"/>
  <Override PartName="/ppt/slides/_rels/slide62.xml.rels" ContentType="application/vnd.openxmlformats-package.relationships+xml"/>
  <Override PartName="/ppt/slides/_rels/slide72.xml.rels" ContentType="application/vnd.openxmlformats-package.relationships+xml"/>
  <Override PartName="/ppt/slides/_rels/slide68.xml.rels" ContentType="application/vnd.openxmlformats-package.relationships+xml"/>
  <Override PartName="/ppt/slides/_rels/slide34.xml.rels" ContentType="application/vnd.openxmlformats-package.relationships+xml"/>
  <Override PartName="/ppt/slides/_rels/slide50.xml.rels" ContentType="application/vnd.openxmlformats-package.relationships+xml"/>
  <Override PartName="/ppt/slides/_rels/slide52.xml.rels" ContentType="application/vnd.openxmlformats-package.relationships+xml"/>
  <Override PartName="/ppt/slides/_rels/slide76.xml.rels" ContentType="application/vnd.openxmlformats-package.relationships+xml"/>
  <Override PartName="/ppt/slides/_rels/slide30.xml.rels" ContentType="application/vnd.openxmlformats-package.relationships+xml"/>
  <Override PartName="/ppt/slides/_rels/slide14.xml.rels" ContentType="application/vnd.openxmlformats-package.relationships+xml"/>
  <Override PartName="/ppt/slides/_rels/slide33.xml.rels" ContentType="application/vnd.openxmlformats-package.relationships+xml"/>
  <Override PartName="/ppt/slides/_rels/slide29.xml.rels" ContentType="application/vnd.openxmlformats-package.relationships+xml"/>
  <Override PartName="/ppt/slides/_rels/slide45.xml.rels" ContentType="application/vnd.openxmlformats-package.relationships+xml"/>
  <Override PartName="/ppt/slides/_rels/slide38.xml.rels" ContentType="application/vnd.openxmlformats-package.relationships+xml"/>
  <Override PartName="/ppt/slides/_rels/slide77.xml.rels" ContentType="application/vnd.openxmlformats-package.relationships+xml"/>
  <Override PartName="/ppt/slides/_rels/slide67.xml.rels" ContentType="application/vnd.openxmlformats-package.relationships+xml"/>
  <Override PartName="/ppt/slides/_rels/slide71.xml.rels" ContentType="application/vnd.openxmlformats-package.relationships+xml"/>
  <Override PartName="/ppt/slides/_rels/slide58.xml.rels" ContentType="application/vnd.openxmlformats-package.relationships+xml"/>
  <Override PartName="/ppt/slides/_rels/slide74.xml.rels" ContentType="application/vnd.openxmlformats-package.relationships+xml"/>
  <Override PartName="/ppt/slides/_rels/slide65.xml.rels" ContentType="application/vnd.openxmlformats-package.relationships+xml"/>
  <Override PartName="/ppt/slides/_rels/slide66.xml.rels" ContentType="application/vnd.openxmlformats-package.relationships+xml"/>
  <Override PartName="/ppt/slides/_rels/slide10.xml.rels" ContentType="application/vnd.openxmlformats-package.relationships+xml"/>
  <Override PartName="/ppt/slides/_rels/slide59.xml.rels" ContentType="application/vnd.openxmlformats-package.relationships+xml"/>
  <Override PartName="/ppt/slides/_rels/slide56.xml.rels" ContentType="application/vnd.openxmlformats-package.relationships+xml"/>
  <Override PartName="/ppt/slides/_rels/slide60.xml.rels" ContentType="application/vnd.openxmlformats-package.relationships+xml"/>
  <Override PartName="/ppt/slides/_rels/slide75.xml.rels" ContentType="application/vnd.openxmlformats-package.relationships+xml"/>
  <Override PartName="/ppt/slides/_rels/slide69.xml.rels" ContentType="application/vnd.openxmlformats-package.relationships+xml"/>
  <Override PartName="/ppt/slides/_rels/slide73.xml.rels" ContentType="application/vnd.openxmlformats-package.relationships+xml"/>
  <Override PartName="/ppt/slides/slide6.xml" ContentType="application/vnd.openxmlformats-officedocument.presentationml.slide+xml"/>
  <Override PartName="/ppt/slides/slide13.xml" ContentType="application/vnd.openxmlformats-officedocument.presentationml.slide+xml"/>
  <Override PartName="/ppt/comments/comment60.xml" ContentType="application/vnd.openxmlformats-officedocument.presentationml.comments+xml"/>
  <Override PartName="/ppt/comments/comment61.xml" ContentType="application/vnd.openxmlformats-officedocument.presentationml.comments+xml"/>
  <Override PartName="/ppt/comments/comment62.xml" ContentType="application/vnd.openxmlformats-officedocument.presentationml.comments+xml"/>
  <Override PartName="/ppt/comments/comment63.xml" ContentType="application/vnd.openxmlformats-officedocument.presentationml.comments+xml"/>
  <Override PartName="/ppt/commentAuthors.xml" ContentType="application/vnd.openxmlformats-officedocument.presentationml.commentAuthor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</p:sldIdLst>
  <p:sldSz cx="12192000" cy="6858000"/>
  <p:notesSz cx="7772400" cy="10058400"/>
</p:presentation>
</file>

<file path=ppt/commentAuthors.xml><?xml version="1.0" encoding="utf-8"?>
<p:cmAuthorLst xmlns:p="http://schemas.openxmlformats.org/presentationml/2006/main">
  <p:cmAuthor id="0" name="" initials="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presProps" Target="presProps.xml"/><Relationship Id="rId85" Type="http://schemas.openxmlformats.org/officeDocument/2006/relationships/commentAuthors" Target="commentAuthors.xml"/>
</Relationships>
</file>

<file path=ppt/comments/comment60.xml><?xml version="1.0" encoding="utf-8"?>
<p:cmLst xmlns:p="http://schemas.openxmlformats.org/presentationml/2006/main">
  <p:cm authorId="0" dt="2022-02-15T18:19:09.000000000" idx="1">
    <p:pos x="0" y="0"/>
    <p:text>Split into two slides?</p:text>
  </p:cm>
</p:cmLst>
</file>

<file path=ppt/comments/comment61.xml><?xml version="1.0" encoding="utf-8"?>
<p:cmLst xmlns:p="http://schemas.openxmlformats.org/presentationml/2006/main">
  <p:cm authorId="0" dt="2022-02-15T18:19:09.000000000" idx="2">
    <p:pos x="0" y="0"/>
    <p:text/>
  </p:cm>
</p:cmLst>
</file>

<file path=ppt/comments/comment62.xml><?xml version="1.0" encoding="utf-8"?>
<p:cmLst xmlns:p="http://schemas.openxmlformats.org/presentationml/2006/main">
  <p:cm authorId="0" dt="2022-02-15T18:19:09.000000000" idx="3">
    <p:pos x="0" y="0"/>
    <p:text/>
  </p:cm>
</p:cmLst>
</file>

<file path=ppt/comments/comment63.xml><?xml version="1.0" encoding="utf-8"?>
<p:cmLst xmlns:p="http://schemas.openxmlformats.org/presentationml/2006/main">
  <p:cm authorId="0" dt="2022-02-15T18:19:09.000000000" idx="4">
    <p:pos x="0" y="0"/>
    <p:text/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7AA01E8-E4A7-4D85-A5DB-4D2D68432761}" type="slidenum"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4880"/>
          </a:xfrm>
          <a:prstGeom prst="rect">
            <a:avLst/>
          </a:prstGeom>
          <a:ln w="0">
            <a:noFill/>
          </a:ln>
        </p:spPr>
      </p:sp>
      <p:sp>
        <p:nvSpPr>
          <p:cNvPr id="53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sldNum" idx="4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5AC3B54-3878-45BF-8440-ABBC092A8D06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4880"/>
          </a:xfrm>
          <a:prstGeom prst="rect">
            <a:avLst/>
          </a:prstGeom>
          <a:ln w="0">
            <a:noFill/>
          </a:ln>
        </p:spPr>
      </p:sp>
      <p:sp>
        <p:nvSpPr>
          <p:cNvPr id="53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3"/>
          <p:cNvSpPr>
            <a:spLocks noGrp="1"/>
          </p:cNvSpPr>
          <p:nvPr>
            <p:ph type="sldNum" idx="5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1F96993-2A9E-4E2B-9F4F-7852C3C6E045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3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3"/>
          <p:cNvSpPr>
            <a:spLocks noGrp="1"/>
          </p:cNvSpPr>
          <p:nvPr>
            <p:ph type="sldNum" idx="6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59A17DC-DEFF-48A4-9F45-F2B297B311FD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4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3"/>
          <p:cNvSpPr>
            <a:spLocks noGrp="1"/>
          </p:cNvSpPr>
          <p:nvPr>
            <p:ph type="sldNum" idx="7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9EF2F78-329B-431C-ABE7-22170EC07727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4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PlaceHolder 3"/>
          <p:cNvSpPr>
            <a:spLocks noGrp="1"/>
          </p:cNvSpPr>
          <p:nvPr>
            <p:ph type="sldNum" idx="8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1CD0A81-FB78-47A4-A95E-973F0214D466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4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3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039AE3A-B3E4-4B31-8BCA-F203AE6BD787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4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 type="sldNum" idx="10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CEBFF06-DBDC-4F26-88AC-A599D14AAEA7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5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3"/>
          <p:cNvSpPr>
            <a:spLocks noGrp="1"/>
          </p:cNvSpPr>
          <p:nvPr>
            <p:ph type="sldNum" idx="11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120424A-7585-48D3-9079-8D71ACF6A79C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5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PlaceHolder 3"/>
          <p:cNvSpPr>
            <a:spLocks noGrp="1"/>
          </p:cNvSpPr>
          <p:nvPr>
            <p:ph type="sldNum" idx="12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4F2A3B8-10B0-44C9-9C50-EA5FFEB9938A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5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3"/>
          <p:cNvSpPr>
            <a:spLocks noGrp="1"/>
          </p:cNvSpPr>
          <p:nvPr>
            <p:ph type="sldNum" idx="13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A2A7E6-CB87-413E-A933-FAB3628AD38E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6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PlaceHolder 3"/>
          <p:cNvSpPr>
            <a:spLocks noGrp="1"/>
          </p:cNvSpPr>
          <p:nvPr>
            <p:ph type="sldNum" idx="14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7B391F5-3CDB-4C10-BDC3-B61EF6ED7260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6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3"/>
          <p:cNvSpPr>
            <a:spLocks noGrp="1"/>
          </p:cNvSpPr>
          <p:nvPr>
            <p:ph type="sldNum" idx="15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AA8D0F5-FFB9-48E3-8939-CDD086944C04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6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 type="sldNum" idx="16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D0320F7-B789-4D30-BC56-604D6FEAC2A8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7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3"/>
          <p:cNvSpPr>
            <a:spLocks noGrp="1"/>
          </p:cNvSpPr>
          <p:nvPr>
            <p:ph type="sldNum" idx="17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21A19D-FAB5-4701-A309-8C9B86D1D990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7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PlaceHolder 3"/>
          <p:cNvSpPr>
            <a:spLocks noGrp="1"/>
          </p:cNvSpPr>
          <p:nvPr>
            <p:ph type="sldNum" idx="18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94393DB-5C7A-4FC1-A678-185CCB281F96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7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3"/>
          <p:cNvSpPr>
            <a:spLocks noGrp="1"/>
          </p:cNvSpPr>
          <p:nvPr>
            <p:ph type="sldNum" idx="19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28B8495-6D4A-4141-BCD6-13F247896892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7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 type="sldNum" idx="20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0B2672D-E38C-4278-AC47-27736AE05BC5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8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PlaceHolder 3"/>
          <p:cNvSpPr>
            <a:spLocks noGrp="1"/>
          </p:cNvSpPr>
          <p:nvPr>
            <p:ph type="sldNum" idx="21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99A10D2-21A7-4F3E-ADBB-6BFF5C1595FF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8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PlaceHolder 3"/>
          <p:cNvSpPr>
            <a:spLocks noGrp="1"/>
          </p:cNvSpPr>
          <p:nvPr>
            <p:ph type="sldNum" idx="22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F5E448-94E7-4AB6-9D65-535187972267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8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PlaceHolder 3"/>
          <p:cNvSpPr>
            <a:spLocks noGrp="1"/>
          </p:cNvSpPr>
          <p:nvPr>
            <p:ph type="sldNum" idx="23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A185DF6-BD2B-422C-98E2-8075B77BBFDE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9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3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B47854B-8E82-46A6-B2D2-78502B20ABE5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75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9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 type="sldNum" idx="25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BA85522-AFF8-4D35-BEBA-8EC120B14873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59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3"/>
          <p:cNvSpPr>
            <a:spLocks noGrp="1"/>
          </p:cNvSpPr>
          <p:nvPr>
            <p:ph type="sldNum" idx="26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61D41BC-3D7E-4D62-B091-CAE9E07E7B36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sldNum" idx="27"/>
          </p:nvPr>
        </p:nvSpPr>
        <p:spPr>
          <a:xfrm>
            <a:off x="4403880" y="9556200"/>
            <a:ext cx="3360960" cy="4953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6D8E6A-C341-4942-8428-95CADA8305FF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" name="Rectangle 44"/>
          <p:cNvSpPr/>
          <p:nvPr/>
        </p:nvSpPr>
        <p:spPr>
          <a:xfrm>
            <a:off x="4403880" y="9556200"/>
            <a:ext cx="336096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2600" rIns="102600" tIns="51120" bIns="51120" anchor="b">
            <a:noAutofit/>
          </a:bodyPr>
          <a:p>
            <a:pPr algn="r">
              <a:lnSpc>
                <a:spcPct val="100000"/>
              </a:lnSpc>
            </a:pPr>
            <a:fld id="{B9C1D78C-4856-482F-9576-5EE245750F78}" type="slidenum">
              <a:rPr b="0" lang="de-DE" sz="1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2"/>
          <p:cNvSpPr>
            <a:spLocks noGrp="1"/>
          </p:cNvSpPr>
          <p:nvPr>
            <p:ph type="sldImg"/>
          </p:nvPr>
        </p:nvSpPr>
        <p:spPr>
          <a:xfrm>
            <a:off x="536400" y="755640"/>
            <a:ext cx="6693840" cy="3763440"/>
          </a:xfrm>
          <a:prstGeom prst="rect">
            <a:avLst/>
          </a:prstGeom>
          <a:ln w="0">
            <a:noFill/>
          </a:ln>
        </p:spPr>
      </p:sp>
      <p:sp>
        <p:nvSpPr>
          <p:cNvPr id="602" name="PlaceHolder 3"/>
          <p:cNvSpPr>
            <a:spLocks noGrp="1"/>
          </p:cNvSpPr>
          <p:nvPr>
            <p:ph type="body"/>
          </p:nvPr>
        </p:nvSpPr>
        <p:spPr>
          <a:xfrm>
            <a:off x="1035720" y="4775400"/>
            <a:ext cx="5693400" cy="4520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102600" rIns="102600" tIns="51120" bIns="511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Times New Roman"/>
              </a:rPr>
              <a:t>further benefits Pohl, Kap. 3, F. 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ldNum" idx="28"/>
          </p:nvPr>
        </p:nvSpPr>
        <p:spPr>
          <a:xfrm>
            <a:off x="4403880" y="9556200"/>
            <a:ext cx="3360960" cy="4953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421B641-A53F-463A-ABF8-6C4FA27A0D2E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" name="Rectangle 56"/>
          <p:cNvSpPr/>
          <p:nvPr/>
        </p:nvSpPr>
        <p:spPr>
          <a:xfrm>
            <a:off x="4403880" y="9556200"/>
            <a:ext cx="336096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2600" rIns="102600" tIns="51120" bIns="51120" anchor="b">
            <a:noAutofit/>
          </a:bodyPr>
          <a:p>
            <a:pPr algn="r">
              <a:lnSpc>
                <a:spcPct val="100000"/>
              </a:lnSpc>
            </a:pPr>
            <a:fld id="{2C584C2C-9121-4557-BDB2-5E8C3A3EC7DB}" type="slidenum">
              <a:rPr b="0" lang="de-DE" sz="16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PlaceHolder 2"/>
          <p:cNvSpPr>
            <a:spLocks noGrp="1"/>
          </p:cNvSpPr>
          <p:nvPr>
            <p:ph type="sldImg"/>
          </p:nvPr>
        </p:nvSpPr>
        <p:spPr>
          <a:xfrm>
            <a:off x="536400" y="755640"/>
            <a:ext cx="6693840" cy="3763440"/>
          </a:xfrm>
          <a:prstGeom prst="rect">
            <a:avLst/>
          </a:prstGeom>
          <a:ln w="0">
            <a:noFill/>
          </a:ln>
        </p:spPr>
      </p:sp>
      <p:sp>
        <p:nvSpPr>
          <p:cNvPr id="606" name="PlaceHolder 3"/>
          <p:cNvSpPr>
            <a:spLocks noGrp="1"/>
          </p:cNvSpPr>
          <p:nvPr>
            <p:ph type="body"/>
          </p:nvPr>
        </p:nvSpPr>
        <p:spPr>
          <a:xfrm>
            <a:off x="1035720" y="4775400"/>
            <a:ext cx="5693400" cy="4520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102600" rIns="102600" tIns="51120" bIns="511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Times New Roman"/>
              </a:rPr>
              <a:t>further benefits Pohl, Kap. 3, F. 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0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3"/>
          <p:cNvSpPr>
            <a:spLocks noGrp="1"/>
          </p:cNvSpPr>
          <p:nvPr>
            <p:ph type="sldNum" idx="29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9819A13-CB54-473A-8B51-6F13225553A2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440" cy="3765240"/>
          </a:xfrm>
          <a:prstGeom prst="rect">
            <a:avLst/>
          </a:prstGeom>
          <a:ln w="0">
            <a:noFill/>
          </a:ln>
        </p:spPr>
      </p:sp>
      <p:sp>
        <p:nvSpPr>
          <p:cNvPr id="61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PlaceHolder 3"/>
          <p:cNvSpPr>
            <a:spLocks noGrp="1"/>
          </p:cNvSpPr>
          <p:nvPr>
            <p:ph type="sldNum" idx="30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C5BF0EB-C39E-4F34-BC4C-3831F2E0E816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440" cy="3765240"/>
          </a:xfrm>
          <a:prstGeom prst="rect">
            <a:avLst/>
          </a:prstGeom>
          <a:ln w="0">
            <a:noFill/>
          </a:ln>
        </p:spPr>
      </p:sp>
      <p:sp>
        <p:nvSpPr>
          <p:cNvPr id="61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PlaceHolder 3"/>
          <p:cNvSpPr>
            <a:spLocks noGrp="1"/>
          </p:cNvSpPr>
          <p:nvPr>
            <p:ph type="sldNum" idx="31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6313AE-A3F0-4C5D-9FC5-95FE2EE25306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1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3"/>
          <p:cNvSpPr>
            <a:spLocks noGrp="1"/>
          </p:cNvSpPr>
          <p:nvPr>
            <p:ph type="sldNum" idx="32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8A7A997-23D7-4121-8D94-776F9902B893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 type="sldNum" idx="33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4C57C8A-2764-432A-9C2B-B26560DB4D18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2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PlaceHolder 3"/>
          <p:cNvSpPr>
            <a:spLocks noGrp="1"/>
          </p:cNvSpPr>
          <p:nvPr>
            <p:ph type="sldNum" idx="34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9A2E4A2-8B5B-41A5-AE00-5EDC042FA7C1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2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3"/>
          <p:cNvSpPr>
            <a:spLocks noGrp="1"/>
          </p:cNvSpPr>
          <p:nvPr>
            <p:ph type="sldNum" idx="35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A565988-7ED8-45AD-8801-10D28AD29D68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2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PlaceHolder 3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2740C0A-D792-42C0-AEC2-213EFC5A963C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440" cy="376524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PlaceHolder 3"/>
          <p:cNvSpPr>
            <a:spLocks noGrp="1"/>
          </p:cNvSpPr>
          <p:nvPr>
            <p:ph type="sldNum" idx="37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2C20F9A-1401-449D-A017-BBC10DF1D922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440" cy="3765240"/>
          </a:xfrm>
          <a:prstGeom prst="rect">
            <a:avLst/>
          </a:prstGeom>
          <a:ln w="0">
            <a:noFill/>
          </a:ln>
        </p:spPr>
      </p:sp>
      <p:sp>
        <p:nvSpPr>
          <p:cNvPr id="63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 type="sldNum" idx="38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A1CEB5-AEE8-4F5B-A626-0E38FA0F5688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PlaceHolder 3"/>
          <p:cNvSpPr>
            <a:spLocks noGrp="1"/>
          </p:cNvSpPr>
          <p:nvPr>
            <p:ph type="sldNum" idx="39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910D3D7-78C3-4DD6-AF7D-294540706806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4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3"/>
          <p:cNvSpPr>
            <a:spLocks noGrp="1"/>
          </p:cNvSpPr>
          <p:nvPr>
            <p:ph type="sldNum" idx="40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500B20B-1A6D-4DA2-AD20-CBB73262EF79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4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 type="sldNum" idx="41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D1A9B5C-C30E-476C-8815-3B01E623ADBC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4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 type="sldNum" idx="42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3D6594-027E-42C3-A8A9-2E9B56365267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5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3"/>
          <p:cNvSpPr>
            <a:spLocks noGrp="1"/>
          </p:cNvSpPr>
          <p:nvPr>
            <p:ph type="sldNum" idx="43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83B415B-68FA-4178-B2AA-6ED03099C62A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5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 type="sldNum" idx="44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8F4BD4-4E5F-4FFA-9E56-B644B147BB58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5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3"/>
          <p:cNvSpPr>
            <a:spLocks noGrp="1"/>
          </p:cNvSpPr>
          <p:nvPr>
            <p:ph type="sldNum" idx="45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625FD28-80ED-4FC1-B9D4-A2B99FD03621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5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PlaceHolder 3"/>
          <p:cNvSpPr>
            <a:spLocks noGrp="1"/>
          </p:cNvSpPr>
          <p:nvPr>
            <p:ph type="sldNum" idx="46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542DCA-0502-4681-BF21-5010CEC10D1C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6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PlaceHolder 3"/>
          <p:cNvSpPr>
            <a:spLocks noGrp="1"/>
          </p:cNvSpPr>
          <p:nvPr>
            <p:ph type="sldNum" idx="47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412D78D-B272-4B3D-9028-83D371AC1201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6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PlaceHolder 3"/>
          <p:cNvSpPr>
            <a:spLocks noGrp="1"/>
          </p:cNvSpPr>
          <p:nvPr>
            <p:ph type="sldNum" idx="48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12151EE-4D83-433F-A1A5-E3518692EA60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6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 type="sldNum" idx="49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92FB9E4-BA16-4D4E-B626-1D870388805A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7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3"/>
          <p:cNvSpPr>
            <a:spLocks noGrp="1"/>
          </p:cNvSpPr>
          <p:nvPr>
            <p:ph type="sldNum" idx="50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D1EC26A-F717-4096-85FA-22DEC72F7D01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7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PlaceHolder 3"/>
          <p:cNvSpPr>
            <a:spLocks noGrp="1"/>
          </p:cNvSpPr>
          <p:nvPr>
            <p:ph type="sldNum" idx="51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4AF4BBE-5EDB-496E-B793-D3337B338031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7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PlaceHolder 3"/>
          <p:cNvSpPr>
            <a:spLocks noGrp="1"/>
          </p:cNvSpPr>
          <p:nvPr>
            <p:ph type="sldNum" idx="52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52C6ED5-5FF5-4B3A-9EF2-92C4C5107998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8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 type="sldNum" idx="53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6794068-C27A-4F72-BBD2-7E3EBEF3B180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 type="sldNum" idx="54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E59A46-D0C0-4D19-A003-D31767C75AD3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68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PlaceHolder 3"/>
          <p:cNvSpPr>
            <a:spLocks noGrp="1"/>
          </p:cNvSpPr>
          <p:nvPr>
            <p:ph type="sldNum" idx="55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C5AF10F-6C79-40E9-906D-1E28AE2FE7F8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440" cy="3765240"/>
          </a:xfrm>
          <a:prstGeom prst="rect">
            <a:avLst/>
          </a:prstGeom>
          <a:ln w="0">
            <a:noFill/>
          </a:ln>
        </p:spPr>
      </p:sp>
      <p:sp>
        <p:nvSpPr>
          <p:cNvPr id="68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PlaceHolder 3"/>
          <p:cNvSpPr>
            <a:spLocks noGrp="1"/>
          </p:cNvSpPr>
          <p:nvPr>
            <p:ph type="sldNum" idx="56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9B854D-DA54-426E-92CA-F4B267092F3F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440" cy="3765240"/>
          </a:xfrm>
          <a:prstGeom prst="rect">
            <a:avLst/>
          </a:prstGeom>
          <a:ln w="0">
            <a:noFill/>
          </a:ln>
        </p:spPr>
      </p:sp>
      <p:sp>
        <p:nvSpPr>
          <p:cNvPr id="69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3"/>
          <p:cNvSpPr>
            <a:spLocks noGrp="1"/>
          </p:cNvSpPr>
          <p:nvPr>
            <p:ph type="sldNum" idx="57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7A3EE58-115E-4263-8FDB-4DE51C59F2FB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440" cy="3765240"/>
          </a:xfrm>
          <a:prstGeom prst="rect">
            <a:avLst/>
          </a:prstGeom>
          <a:ln w="0">
            <a:noFill/>
          </a:ln>
        </p:spPr>
      </p:sp>
      <p:sp>
        <p:nvSpPr>
          <p:cNvPr id="69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sldNum" idx="58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8A85F0-5B45-4B69-A157-2515A5DDF1AD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440" cy="3765240"/>
          </a:xfrm>
          <a:prstGeom prst="rect">
            <a:avLst/>
          </a:prstGeom>
          <a:ln w="0">
            <a:noFill/>
          </a:ln>
        </p:spPr>
      </p:sp>
      <p:sp>
        <p:nvSpPr>
          <p:cNvPr id="69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PlaceHolder 3"/>
          <p:cNvSpPr>
            <a:spLocks noGrp="1"/>
          </p:cNvSpPr>
          <p:nvPr>
            <p:ph type="sldNum" idx="59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07DBE9E-99DE-4938-BF64-2EF1E11A1AAD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70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3"/>
          <p:cNvSpPr>
            <a:spLocks noGrp="1"/>
          </p:cNvSpPr>
          <p:nvPr>
            <p:ph type="sldNum" idx="60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C7CB22-8250-44D6-A147-ADAB1F9250FF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70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 type="sldNum" idx="61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37C1DC-19CD-405E-9197-94AA3CFC6347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70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PlaceHolder 3"/>
          <p:cNvSpPr>
            <a:spLocks noGrp="1"/>
          </p:cNvSpPr>
          <p:nvPr>
            <p:ph type="sldNum" idx="62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74D671-84FA-4BC9-AB76-2B113FD18B99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71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PlaceHolder 3"/>
          <p:cNvSpPr>
            <a:spLocks noGrp="1"/>
          </p:cNvSpPr>
          <p:nvPr>
            <p:ph type="sldNum" idx="63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3F472C-56FC-4C30-BA06-CD2D38A978A7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71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PlaceHolder 3"/>
          <p:cNvSpPr>
            <a:spLocks noGrp="1"/>
          </p:cNvSpPr>
          <p:nvPr>
            <p:ph type="sldNum" idx="64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5B36250-85CD-4706-9F17-E3101246ACC9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71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3"/>
          <p:cNvSpPr>
            <a:spLocks noGrp="1"/>
          </p:cNvSpPr>
          <p:nvPr>
            <p:ph type="sldNum" idx="65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8900DFF-242F-4D49-838D-299FAD97B2B9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080" cy="3765240"/>
          </a:xfrm>
          <a:prstGeom prst="rect">
            <a:avLst/>
          </a:prstGeom>
          <a:ln w="0">
            <a:noFill/>
          </a:ln>
        </p:spPr>
      </p:sp>
      <p:sp>
        <p:nvSpPr>
          <p:cNvPr id="71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PlaceHolder 3"/>
          <p:cNvSpPr>
            <a:spLocks noGrp="1"/>
          </p:cNvSpPr>
          <p:nvPr>
            <p:ph type="sldNum" idx="66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3E03A6A-FEB7-46FA-A5E1-9C4079BFA202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440" cy="3765240"/>
          </a:xfrm>
          <a:prstGeom prst="rect">
            <a:avLst/>
          </a:prstGeom>
          <a:ln w="0">
            <a:noFill/>
          </a:ln>
        </p:spPr>
      </p:sp>
      <p:sp>
        <p:nvSpPr>
          <p:cNvPr id="72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PlaceHolder 3"/>
          <p:cNvSpPr>
            <a:spLocks noGrp="1"/>
          </p:cNvSpPr>
          <p:nvPr>
            <p:ph type="sldNum" idx="67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8451C68-B5AE-414E-AEBD-0A3AC450F68B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7440" cy="3765240"/>
          </a:xfrm>
          <a:prstGeom prst="rect">
            <a:avLst/>
          </a:prstGeom>
          <a:ln w="0">
            <a:noFill/>
          </a:ln>
        </p:spPr>
      </p:sp>
      <p:sp>
        <p:nvSpPr>
          <p:cNvPr id="72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0720" cy="45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PlaceHolder 3"/>
          <p:cNvSpPr>
            <a:spLocks noGrp="1"/>
          </p:cNvSpPr>
          <p:nvPr>
            <p:ph type="sldNum" idx="68"/>
          </p:nvPr>
        </p:nvSpPr>
        <p:spPr>
          <a:xfrm>
            <a:off x="4399200" y="9555480"/>
            <a:ext cx="336600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8BCC722-84A3-46F9-A781-BD6EAEB8E75D}" type="slidenum">
              <a:rPr b="0" lang="de-DE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11444760" y="0"/>
            <a:ext cx="739440" cy="68482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CustomShape 2"/>
          <p:cNvSpPr/>
          <p:nvPr/>
        </p:nvSpPr>
        <p:spPr>
          <a:xfrm>
            <a:off x="11438640" y="6453360"/>
            <a:ext cx="756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72667874-B4A6-4758-A62E-4058DE108D8E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912240" y="1268280"/>
            <a:ext cx="92062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280" cy="560160"/>
          </a:xfrm>
          <a:prstGeom prst="rect">
            <a:avLst/>
          </a:prstGeom>
          <a:ln w="0">
            <a:noFill/>
          </a:ln>
        </p:spPr>
      </p:pic>
      <p:pic>
        <p:nvPicPr>
          <p:cNvPr id="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120" cy="512280"/>
          </a:xfrm>
          <a:prstGeom prst="rect">
            <a:avLst/>
          </a:prstGeom>
          <a:ln w="0">
            <a:noFill/>
          </a:ln>
        </p:spPr>
      </p:pic>
      <p:sp>
        <p:nvSpPr>
          <p:cNvPr id="5" name="CustomShape 4"/>
          <p:cNvSpPr/>
          <p:nvPr/>
        </p:nvSpPr>
        <p:spPr>
          <a:xfrm>
            <a:off x="912240" y="1268280"/>
            <a:ext cx="92062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" name="CustomShape 5"/>
          <p:cNvSpPr/>
          <p:nvPr/>
        </p:nvSpPr>
        <p:spPr>
          <a:xfrm>
            <a:off x="11444760" y="0"/>
            <a:ext cx="739440" cy="68482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" name="CustomShape 7"/>
          <p:cNvSpPr/>
          <p:nvPr/>
        </p:nvSpPr>
        <p:spPr>
          <a:xfrm>
            <a:off x="0" y="6646680"/>
            <a:ext cx="1218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stomShape 1"/>
          <p:cNvSpPr/>
          <p:nvPr/>
        </p:nvSpPr>
        <p:spPr>
          <a:xfrm>
            <a:off x="11444760" y="0"/>
            <a:ext cx="739440" cy="68482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7" name="CustomShape 2"/>
          <p:cNvSpPr/>
          <p:nvPr/>
        </p:nvSpPr>
        <p:spPr>
          <a:xfrm>
            <a:off x="11438640" y="6453360"/>
            <a:ext cx="756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FD2234A-BAE2-4A35-A084-CF6526525D25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CustomShape 3"/>
          <p:cNvSpPr/>
          <p:nvPr/>
        </p:nvSpPr>
        <p:spPr>
          <a:xfrm>
            <a:off x="912240" y="1268280"/>
            <a:ext cx="92062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280" cy="560160"/>
          </a:xfrm>
          <a:prstGeom prst="rect">
            <a:avLst/>
          </a:prstGeom>
          <a:ln w="0">
            <a:noFill/>
          </a:ln>
        </p:spPr>
      </p:pic>
      <p:pic>
        <p:nvPicPr>
          <p:cNvPr id="5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120" cy="512280"/>
          </a:xfrm>
          <a:prstGeom prst="rect">
            <a:avLst/>
          </a:prstGeom>
          <a:ln w="0">
            <a:noFill/>
          </a:ln>
        </p:spPr>
      </p:pic>
      <p:sp>
        <p:nvSpPr>
          <p:cNvPr id="51" name="CustomShape 4"/>
          <p:cNvSpPr/>
          <p:nvPr/>
        </p:nvSpPr>
        <p:spPr>
          <a:xfrm>
            <a:off x="912240" y="1268280"/>
            <a:ext cx="92062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" name="CustomShape 5"/>
          <p:cNvSpPr/>
          <p:nvPr/>
        </p:nvSpPr>
        <p:spPr>
          <a:xfrm>
            <a:off x="11444760" y="0"/>
            <a:ext cx="739440" cy="68482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CustomShape 7"/>
          <p:cNvSpPr/>
          <p:nvPr/>
        </p:nvSpPr>
        <p:spPr>
          <a:xfrm>
            <a:off x="0" y="6646680"/>
            <a:ext cx="1218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11444760" y="0"/>
            <a:ext cx="739440" cy="68482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438640" y="6453360"/>
            <a:ext cx="756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89A09BA-6308-4B65-B196-6068F2B9943B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CustomShape 3"/>
          <p:cNvSpPr/>
          <p:nvPr/>
        </p:nvSpPr>
        <p:spPr>
          <a:xfrm>
            <a:off x="912240" y="1268280"/>
            <a:ext cx="92062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9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280" cy="560160"/>
          </a:xfrm>
          <a:prstGeom prst="rect">
            <a:avLst/>
          </a:prstGeom>
          <a:ln w="0">
            <a:noFill/>
          </a:ln>
        </p:spPr>
      </p:pic>
      <p:pic>
        <p:nvPicPr>
          <p:cNvPr id="9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120" cy="512280"/>
          </a:xfrm>
          <a:prstGeom prst="rect">
            <a:avLst/>
          </a:prstGeom>
          <a:ln w="0">
            <a:noFill/>
          </a:ln>
        </p:spPr>
      </p:pic>
      <p:sp>
        <p:nvSpPr>
          <p:cNvPr id="97" name="CustomShape 4"/>
          <p:cNvSpPr/>
          <p:nvPr/>
        </p:nvSpPr>
        <p:spPr>
          <a:xfrm>
            <a:off x="11444760" y="1440"/>
            <a:ext cx="739440" cy="68482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8" name="CustomShape 5"/>
          <p:cNvSpPr/>
          <p:nvPr/>
        </p:nvSpPr>
        <p:spPr>
          <a:xfrm>
            <a:off x="11427480" y="6453360"/>
            <a:ext cx="756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E52F0BE-C10A-4B45-9197-46B60187CB0A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CustomShape 7"/>
          <p:cNvSpPr/>
          <p:nvPr/>
        </p:nvSpPr>
        <p:spPr>
          <a:xfrm>
            <a:off x="0" y="6646680"/>
            <a:ext cx="1218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1"/>
          <p:cNvSpPr/>
          <p:nvPr/>
        </p:nvSpPr>
        <p:spPr>
          <a:xfrm>
            <a:off x="11444760" y="0"/>
            <a:ext cx="739440" cy="68482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9" name="CustomShape 2"/>
          <p:cNvSpPr/>
          <p:nvPr/>
        </p:nvSpPr>
        <p:spPr>
          <a:xfrm>
            <a:off x="11438640" y="6453360"/>
            <a:ext cx="756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DD9FCE9-2A8D-4F38-A02D-1177196B7BE4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CustomShape 3"/>
          <p:cNvSpPr/>
          <p:nvPr/>
        </p:nvSpPr>
        <p:spPr>
          <a:xfrm>
            <a:off x="912240" y="1268280"/>
            <a:ext cx="92062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4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280" cy="560160"/>
          </a:xfrm>
          <a:prstGeom prst="rect">
            <a:avLst/>
          </a:prstGeom>
          <a:ln w="0">
            <a:noFill/>
          </a:ln>
        </p:spPr>
      </p:pic>
      <p:pic>
        <p:nvPicPr>
          <p:cNvPr id="14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120" cy="512280"/>
          </a:xfrm>
          <a:prstGeom prst="rect">
            <a:avLst/>
          </a:prstGeom>
          <a:ln w="0">
            <a:noFill/>
          </a:ln>
        </p:spPr>
      </p:pic>
      <p:sp>
        <p:nvSpPr>
          <p:cNvPr id="143" name="CustomShape 4"/>
          <p:cNvSpPr/>
          <p:nvPr/>
        </p:nvSpPr>
        <p:spPr>
          <a:xfrm>
            <a:off x="11444760" y="1440"/>
            <a:ext cx="739440" cy="68482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4" name="CustomShape 5"/>
          <p:cNvSpPr/>
          <p:nvPr/>
        </p:nvSpPr>
        <p:spPr>
          <a:xfrm>
            <a:off x="11427480" y="6453360"/>
            <a:ext cx="756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60EEDAC-3A52-4A00-BE55-BC342EB24BD2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CustomShape 7"/>
          <p:cNvSpPr/>
          <p:nvPr/>
        </p:nvSpPr>
        <p:spPr>
          <a:xfrm>
            <a:off x="0" y="6646680"/>
            <a:ext cx="1218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omments" Target="../comments/comment60.xml"/><Relationship Id="rId3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omments" Target="../comments/comment61.xml"/><Relationship Id="rId3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omments" Target="../comments/comment62.xml"/><Relationship Id="rId3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omments" Target="../comments/comment63.xml"/><Relationship Id="rId3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hyperlink" Target="http://ftp.tu-clausthal.de/pub/institute/informatik/v-modell-xt/Releases/2.3/Dokumentation/V-Modell-XT-HTML/index.html" TargetMode="External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hyperlink" Target="https://www.volere.org/" TargetMode="External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CustomShape 1"/>
          <p:cNvSpPr/>
          <p:nvPr/>
        </p:nvSpPr>
        <p:spPr>
          <a:xfrm>
            <a:off x="527400" y="1412640"/>
            <a:ext cx="10359360" cy="11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b="1" lang="en-US" sz="3200" spc="-1" strike="noStrike">
                <a:solidFill>
                  <a:srgbClr val="008c4f"/>
                </a:solidFill>
                <a:latin typeface="DejaVu Sans"/>
                <a:ea typeface="DejaVu Sans"/>
              </a:rPr>
              <a:t>Requirement Engineering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CustomShape 2"/>
          <p:cNvSpPr/>
          <p:nvPr/>
        </p:nvSpPr>
        <p:spPr>
          <a:xfrm>
            <a:off x="527400" y="2852640"/>
            <a:ext cx="10359360" cy="23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6: Requirements Documentation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Prof. Dr. Benjamin Leiding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Anant Sujatanagarjuna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Chintan Patel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9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General Requirements Engineering Process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Rechteck 13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4" name="Grafik 1" descr=""/>
          <p:cNvPicPr/>
          <p:nvPr/>
        </p:nvPicPr>
        <p:blipFill>
          <a:blip r:embed="rId1"/>
          <a:stretch/>
        </p:blipFill>
        <p:spPr>
          <a:xfrm>
            <a:off x="542880" y="2387520"/>
            <a:ext cx="10099080" cy="2076480"/>
          </a:xfrm>
          <a:prstGeom prst="rect">
            <a:avLst/>
          </a:prstGeom>
          <a:ln w="0">
            <a:noFill/>
          </a:ln>
        </p:spPr>
      </p:pic>
      <p:sp>
        <p:nvSpPr>
          <p:cNvPr id="195" name="Rahmen 1"/>
          <p:cNvSpPr/>
          <p:nvPr/>
        </p:nvSpPr>
        <p:spPr>
          <a:xfrm>
            <a:off x="3846240" y="2297880"/>
            <a:ext cx="1815120" cy="2255400"/>
          </a:xfrm>
          <a:prstGeom prst="frame">
            <a:avLst>
              <a:gd name="adj1" fmla="val 1311"/>
            </a:avLst>
          </a:prstGeom>
          <a:solidFill>
            <a:srgbClr val="ff0000"/>
          </a:solidFill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4"/>
          <p:cNvSpPr/>
          <p:nvPr/>
        </p:nvSpPr>
        <p:spPr>
          <a:xfrm>
            <a:off x="542880" y="721800"/>
            <a:ext cx="103550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6: Requirements 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echteck 334"/>
          <p:cNvSpPr/>
          <p:nvPr/>
        </p:nvSpPr>
        <p:spPr>
          <a:xfrm>
            <a:off x="542880" y="1267200"/>
            <a:ext cx="103550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HSN-Hierarchy 26"/>
          <p:cNvSpPr/>
          <p:nvPr/>
        </p:nvSpPr>
        <p:spPr>
          <a:xfrm>
            <a:off x="451800" y="1709280"/>
            <a:ext cx="8222400" cy="43506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Arial"/>
              </a:rPr>
              <a:t>Documentation in General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Arial"/>
              </a:rPr>
              <a:t>Criteria for Good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Document Structure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Templates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CustomShape 1"/>
          <p:cNvSpPr/>
          <p:nvPr/>
        </p:nvSpPr>
        <p:spPr>
          <a:xfrm>
            <a:off x="335520" y="4406760"/>
            <a:ext cx="10745640" cy="13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Documentation in general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CustomShape 2"/>
          <p:cNvSpPr/>
          <p:nvPr/>
        </p:nvSpPr>
        <p:spPr>
          <a:xfrm>
            <a:off x="335520" y="2906640"/>
            <a:ext cx="10745640" cy="14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in General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Software Projects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" name="PlaceHolder 16"/>
          <p:cNvSpPr/>
          <p:nvPr/>
        </p:nvSpPr>
        <p:spPr>
          <a:xfrm>
            <a:off x="609840" y="2261520"/>
            <a:ext cx="10584360" cy="31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Require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cooperation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 of large numbers of people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May extend over a significant period of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time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Are typically based on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contracts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May require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maintenance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 over many years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Complete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change of personnel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 might be required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→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Documentation is a means to deal with these issues.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316440" indent="-216000" algn="ctr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in General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Software Projects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8" name="PlaceHolder 1"/>
          <p:cNvSpPr>
            <a:spLocks noGrp="1"/>
          </p:cNvSpPr>
          <p:nvPr>
            <p:ph/>
          </p:nvPr>
        </p:nvSpPr>
        <p:spPr>
          <a:xfrm>
            <a:off x="609480" y="2286000"/>
            <a:ext cx="10584360" cy="319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Require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cooperation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 of large numbers of people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May extend over a significant period of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time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Are typically based on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contracts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May require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maintenance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 over many years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Complete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change of personnel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 might be required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→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Documentation is a means to deal with these issues.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316440" indent="0" algn="ctr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CustomShape 4"/>
          <p:cNvSpPr/>
          <p:nvPr/>
        </p:nvSpPr>
        <p:spPr>
          <a:xfrm>
            <a:off x="2072520" y="5374440"/>
            <a:ext cx="7626600" cy="112644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08c4f"/>
            </a:solidFill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noAutofit/>
          </a:bodyPr>
          <a:p>
            <a:pPr marL="316440" indent="-316440" algn="ctr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Agile methods try to avoid documentation.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316440" indent="-316440" algn="ctr"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This leads to short term gains, but incurs long term costs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in General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Why?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Requirements are the basis of system development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Influence analysis, design, implementation, and test phases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Requirements document has strong impact on the project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Specifications have legal relevance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Often the foundation for contracts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Ambiguities may lead to legal conflicts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Requirements are possibly extremely complex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Thousands of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Complex interdependencies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Requirements must be accessible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Without documentation access for all involved persons not possible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in General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Communication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7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28600" indent="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Documentation serves communication purposes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Communication within the team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Communication over time (e.g., change of personnel)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Communication between development team and customer (contracts)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spcAft>
                <a:spcPts val="553"/>
              </a:spcAft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Depending on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553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The importance of these dimensions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553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The involved stakeholder groups (e.g., capability to deal with notations)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553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Project characteristics (e.g., reliabiliy, maintenance period)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73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The amount, form and contents of the requirements documentation needs to be adapted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in General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Documentation vs Specification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" name="PlaceHolder 1"/>
          <p:cNvSpPr>
            <a:spLocks noGrp="1"/>
          </p:cNvSpPr>
          <p:nvPr>
            <p:ph/>
          </p:nvPr>
        </p:nvSpPr>
        <p:spPr>
          <a:xfrm>
            <a:off x="55764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Documentation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→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Refers to any form of information written down relating to a software or system artifact.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Requirements documentation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→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Any form of explicit documentation of a requirement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Requirement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→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Any (documented) information relating to a system that shall be developed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324000">
              <a:lnSpc>
                <a:spcPct val="9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Note</a:t>
            </a:r>
            <a:r>
              <a:rPr b="0" lang="en-US" sz="2000" spc="-1" strike="noStrike">
                <a:solidFill>
                  <a:srgbClr val="008c4f"/>
                </a:solidFill>
                <a:latin typeface="DejaVu Sans"/>
                <a:ea typeface="Arial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This is sometimes used in contrast to specification, then requirements only refers to informal (i.e. abstract)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in General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Documentation vs Specification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554904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Specification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→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Requirements documentation that is in accordance with a certain specification approach.  (not necessarily formal)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324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Note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This is sometimes also used to imply that the requirements are specified on the level of developer requirements (we will not use it this way).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Documentation"/>
          <p:cNvSpPr/>
          <p:nvPr/>
        </p:nvSpPr>
        <p:spPr>
          <a:xfrm>
            <a:off x="6400800" y="2178000"/>
            <a:ext cx="4565160" cy="3193560"/>
          </a:xfrm>
          <a:custGeom>
            <a:avLst/>
            <a:gdLst>
              <a:gd name="textAreaLeft" fmla="*/ 0 w 4565160"/>
              <a:gd name="textAreaRight" fmla="*/ 4567680 w 4565160"/>
              <a:gd name="textAreaTop" fmla="*/ 0 h 3193560"/>
              <a:gd name="textAreaBottom" fmla="*/ 3196080 h 3193560"/>
            </a:gdLst>
            <a:ahLst/>
            <a:rect l="textAreaLeft" t="textAreaTop" r="textAreaRight" b="textAreaBottom"/>
            <a:pathLst>
              <a:path w="12702" h="8892">
                <a:moveTo>
                  <a:pt x="1481" y="0"/>
                </a:moveTo>
                <a:lnTo>
                  <a:pt x="1482" y="0"/>
                </a:lnTo>
                <a:cubicBezTo>
                  <a:pt x="1222" y="0"/>
                  <a:pt x="966" y="68"/>
                  <a:pt x="741" y="199"/>
                </a:cubicBezTo>
                <a:cubicBezTo>
                  <a:pt x="516" y="329"/>
                  <a:pt x="329" y="516"/>
                  <a:pt x="199" y="741"/>
                </a:cubicBezTo>
                <a:cubicBezTo>
                  <a:pt x="68" y="966"/>
                  <a:pt x="0" y="1222"/>
                  <a:pt x="0" y="1482"/>
                </a:cubicBezTo>
                <a:lnTo>
                  <a:pt x="0" y="7409"/>
                </a:lnTo>
                <a:lnTo>
                  <a:pt x="0" y="7409"/>
                </a:lnTo>
                <a:cubicBezTo>
                  <a:pt x="0" y="7669"/>
                  <a:pt x="68" y="7925"/>
                  <a:pt x="199" y="8150"/>
                </a:cubicBezTo>
                <a:cubicBezTo>
                  <a:pt x="329" y="8375"/>
                  <a:pt x="516" y="8562"/>
                  <a:pt x="741" y="8692"/>
                </a:cubicBezTo>
                <a:cubicBezTo>
                  <a:pt x="966" y="8823"/>
                  <a:pt x="1222" y="8891"/>
                  <a:pt x="1482" y="8891"/>
                </a:cubicBezTo>
                <a:lnTo>
                  <a:pt x="11219" y="8891"/>
                </a:lnTo>
                <a:lnTo>
                  <a:pt x="11219" y="8891"/>
                </a:lnTo>
                <a:cubicBezTo>
                  <a:pt x="11479" y="8891"/>
                  <a:pt x="11735" y="8823"/>
                  <a:pt x="11960" y="8692"/>
                </a:cubicBezTo>
                <a:cubicBezTo>
                  <a:pt x="12185" y="8562"/>
                  <a:pt x="12372" y="8375"/>
                  <a:pt x="12502" y="8150"/>
                </a:cubicBezTo>
                <a:cubicBezTo>
                  <a:pt x="12633" y="7925"/>
                  <a:pt x="12701" y="7669"/>
                  <a:pt x="12701" y="7409"/>
                </a:cubicBezTo>
                <a:lnTo>
                  <a:pt x="12701" y="1481"/>
                </a:lnTo>
                <a:lnTo>
                  <a:pt x="12701" y="1482"/>
                </a:lnTo>
                <a:lnTo>
                  <a:pt x="12701" y="1482"/>
                </a:lnTo>
                <a:cubicBezTo>
                  <a:pt x="12701" y="1222"/>
                  <a:pt x="12633" y="966"/>
                  <a:pt x="12502" y="741"/>
                </a:cubicBezTo>
                <a:cubicBezTo>
                  <a:pt x="12372" y="516"/>
                  <a:pt x="12185" y="329"/>
                  <a:pt x="11960" y="199"/>
                </a:cubicBezTo>
                <a:cubicBezTo>
                  <a:pt x="11735" y="68"/>
                  <a:pt x="11479" y="0"/>
                  <a:pt x="11219" y="0"/>
                </a:cubicBezTo>
                <a:lnTo>
                  <a:pt x="1481" y="0"/>
                </a:lnTo>
              </a:path>
            </a:pathLst>
          </a:custGeom>
          <a:solidFill>
            <a:srgbClr val="ffff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" name="Freihandform: Form 8"/>
          <p:cNvSpPr/>
          <p:nvPr/>
        </p:nvSpPr>
        <p:spPr>
          <a:xfrm>
            <a:off x="6858000" y="2514600"/>
            <a:ext cx="3650760" cy="2050560"/>
          </a:xfrm>
          <a:custGeom>
            <a:avLst/>
            <a:gdLst>
              <a:gd name="textAreaLeft" fmla="*/ 0 w 3650760"/>
              <a:gd name="textAreaRight" fmla="*/ 3653280 w 3650760"/>
              <a:gd name="textAreaTop" fmla="*/ 0 h 2050560"/>
              <a:gd name="textAreaBottom" fmla="*/ 2053080 h 2050560"/>
            </a:gdLst>
            <a:ahLst/>
            <a:rect l="textAreaLeft" t="textAreaTop" r="textAreaRight" b="textAreaBottom"/>
            <a:pathLst>
              <a:path w="10162" h="5717">
                <a:moveTo>
                  <a:pt x="952" y="0"/>
                </a:moveTo>
                <a:lnTo>
                  <a:pt x="953" y="0"/>
                </a:lnTo>
                <a:cubicBezTo>
                  <a:pt x="785" y="0"/>
                  <a:pt x="621" y="44"/>
                  <a:pt x="476" y="128"/>
                </a:cubicBezTo>
                <a:cubicBezTo>
                  <a:pt x="332" y="211"/>
                  <a:pt x="211" y="332"/>
                  <a:pt x="128" y="476"/>
                </a:cubicBezTo>
                <a:cubicBezTo>
                  <a:pt x="44" y="621"/>
                  <a:pt x="0" y="785"/>
                  <a:pt x="0" y="953"/>
                </a:cubicBezTo>
                <a:lnTo>
                  <a:pt x="0" y="4763"/>
                </a:lnTo>
                <a:lnTo>
                  <a:pt x="0" y="4763"/>
                </a:lnTo>
                <a:cubicBezTo>
                  <a:pt x="0" y="4931"/>
                  <a:pt x="44" y="5095"/>
                  <a:pt x="128" y="5240"/>
                </a:cubicBezTo>
                <a:cubicBezTo>
                  <a:pt x="211" y="5384"/>
                  <a:pt x="332" y="5505"/>
                  <a:pt x="476" y="5588"/>
                </a:cubicBezTo>
                <a:cubicBezTo>
                  <a:pt x="621" y="5672"/>
                  <a:pt x="785" y="5716"/>
                  <a:pt x="953" y="5716"/>
                </a:cubicBezTo>
                <a:lnTo>
                  <a:pt x="9208" y="5715"/>
                </a:lnTo>
                <a:lnTo>
                  <a:pt x="9208" y="5716"/>
                </a:lnTo>
                <a:cubicBezTo>
                  <a:pt x="9376" y="5716"/>
                  <a:pt x="9540" y="5672"/>
                  <a:pt x="9685" y="5588"/>
                </a:cubicBezTo>
                <a:cubicBezTo>
                  <a:pt x="9829" y="5505"/>
                  <a:pt x="9950" y="5384"/>
                  <a:pt x="10033" y="5240"/>
                </a:cubicBezTo>
                <a:cubicBezTo>
                  <a:pt x="10117" y="5095"/>
                  <a:pt x="10161" y="4931"/>
                  <a:pt x="10161" y="4763"/>
                </a:cubicBezTo>
                <a:lnTo>
                  <a:pt x="10161" y="952"/>
                </a:lnTo>
                <a:lnTo>
                  <a:pt x="10161" y="953"/>
                </a:lnTo>
                <a:lnTo>
                  <a:pt x="10161" y="953"/>
                </a:lnTo>
                <a:cubicBezTo>
                  <a:pt x="10161" y="785"/>
                  <a:pt x="10117" y="621"/>
                  <a:pt x="10033" y="476"/>
                </a:cubicBezTo>
                <a:cubicBezTo>
                  <a:pt x="9950" y="332"/>
                  <a:pt x="9829" y="211"/>
                  <a:pt x="9685" y="128"/>
                </a:cubicBezTo>
                <a:cubicBezTo>
                  <a:pt x="9540" y="44"/>
                  <a:pt x="9376" y="0"/>
                  <a:pt x="9208" y="0"/>
                </a:cubicBezTo>
                <a:lnTo>
                  <a:pt x="952" y="0"/>
                </a:lnTo>
              </a:path>
            </a:pathLst>
          </a:custGeom>
          <a:solidFill>
            <a:srgbClr val="5983b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8" name="Freihandform: Form 9"/>
          <p:cNvSpPr/>
          <p:nvPr/>
        </p:nvSpPr>
        <p:spPr>
          <a:xfrm>
            <a:off x="7315200" y="2971800"/>
            <a:ext cx="2736360" cy="907560"/>
          </a:xfrm>
          <a:custGeom>
            <a:avLst/>
            <a:gdLst>
              <a:gd name="textAreaLeft" fmla="*/ 0 w 2736360"/>
              <a:gd name="textAreaRight" fmla="*/ 2738880 w 2736360"/>
              <a:gd name="textAreaTop" fmla="*/ 0 h 907560"/>
              <a:gd name="textAreaBottom" fmla="*/ 910080 h 907560"/>
            </a:gdLst>
            <a:ahLst/>
            <a:rect l="textAreaLeft" t="textAreaTop" r="textAreaRight" b="textAreaBottom"/>
            <a:pathLst>
              <a:path w="7622" h="2542">
                <a:moveTo>
                  <a:pt x="423" y="0"/>
                </a:moveTo>
                <a:lnTo>
                  <a:pt x="424" y="0"/>
                </a:lnTo>
                <a:cubicBezTo>
                  <a:pt x="349" y="0"/>
                  <a:pt x="276" y="20"/>
                  <a:pt x="212" y="57"/>
                </a:cubicBezTo>
                <a:cubicBezTo>
                  <a:pt x="147" y="94"/>
                  <a:pt x="94" y="147"/>
                  <a:pt x="57" y="212"/>
                </a:cubicBezTo>
                <a:cubicBezTo>
                  <a:pt x="20" y="276"/>
                  <a:pt x="0" y="349"/>
                  <a:pt x="0" y="424"/>
                </a:cubicBezTo>
                <a:lnTo>
                  <a:pt x="0" y="2117"/>
                </a:lnTo>
                <a:lnTo>
                  <a:pt x="0" y="2118"/>
                </a:lnTo>
                <a:cubicBezTo>
                  <a:pt x="0" y="2192"/>
                  <a:pt x="20" y="2265"/>
                  <a:pt x="57" y="2329"/>
                </a:cubicBezTo>
                <a:cubicBezTo>
                  <a:pt x="94" y="2394"/>
                  <a:pt x="147" y="2447"/>
                  <a:pt x="212" y="2484"/>
                </a:cubicBezTo>
                <a:cubicBezTo>
                  <a:pt x="276" y="2521"/>
                  <a:pt x="349" y="2541"/>
                  <a:pt x="424" y="2541"/>
                </a:cubicBezTo>
                <a:lnTo>
                  <a:pt x="7197" y="2541"/>
                </a:lnTo>
                <a:lnTo>
                  <a:pt x="7198" y="2541"/>
                </a:lnTo>
                <a:cubicBezTo>
                  <a:pt x="7272" y="2541"/>
                  <a:pt x="7345" y="2521"/>
                  <a:pt x="7409" y="2484"/>
                </a:cubicBezTo>
                <a:cubicBezTo>
                  <a:pt x="7474" y="2447"/>
                  <a:pt x="7527" y="2394"/>
                  <a:pt x="7564" y="2329"/>
                </a:cubicBezTo>
                <a:cubicBezTo>
                  <a:pt x="7601" y="2265"/>
                  <a:pt x="7621" y="2192"/>
                  <a:pt x="7621" y="2118"/>
                </a:cubicBezTo>
                <a:lnTo>
                  <a:pt x="7621" y="423"/>
                </a:lnTo>
                <a:lnTo>
                  <a:pt x="7621" y="424"/>
                </a:lnTo>
                <a:lnTo>
                  <a:pt x="7621" y="424"/>
                </a:lnTo>
                <a:cubicBezTo>
                  <a:pt x="7621" y="349"/>
                  <a:pt x="7601" y="276"/>
                  <a:pt x="7564" y="212"/>
                </a:cubicBezTo>
                <a:cubicBezTo>
                  <a:pt x="7527" y="147"/>
                  <a:pt x="7474" y="94"/>
                  <a:pt x="7409" y="57"/>
                </a:cubicBezTo>
                <a:cubicBezTo>
                  <a:pt x="7345" y="20"/>
                  <a:pt x="7272" y="0"/>
                  <a:pt x="7198" y="0"/>
                </a:cubicBezTo>
                <a:lnTo>
                  <a:pt x="423" y="0"/>
                </a:lnTo>
              </a:path>
            </a:pathLst>
          </a:custGeom>
          <a:solidFill>
            <a:srgbClr val="ff8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9" name="Textfeld 10"/>
          <p:cNvSpPr/>
          <p:nvPr/>
        </p:nvSpPr>
        <p:spPr>
          <a:xfrm>
            <a:off x="7543800" y="3200400"/>
            <a:ext cx="22791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d7"/>
                </a:solidFill>
                <a:latin typeface="DejaVu Sans"/>
                <a:ea typeface="DejaVu Sans"/>
              </a:rPr>
              <a:t>Specification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feld 11"/>
          <p:cNvSpPr/>
          <p:nvPr/>
        </p:nvSpPr>
        <p:spPr>
          <a:xfrm>
            <a:off x="7543800" y="4800600"/>
            <a:ext cx="22791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feld 12"/>
          <p:cNvSpPr/>
          <p:nvPr/>
        </p:nvSpPr>
        <p:spPr>
          <a:xfrm>
            <a:off x="7543800" y="3987720"/>
            <a:ext cx="227916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ffffd7"/>
                </a:solidFill>
                <a:latin typeface="DejaVu Sans"/>
                <a:ea typeface="DejaVu Sans"/>
              </a:rPr>
              <a:t>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in General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Perspectives on Functional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35" name="" descr=""/>
          <p:cNvPicPr/>
          <p:nvPr/>
        </p:nvPicPr>
        <p:blipFill>
          <a:blip r:embed="rId1"/>
          <a:stretch/>
        </p:blipFill>
        <p:spPr>
          <a:xfrm>
            <a:off x="1168560" y="1912320"/>
            <a:ext cx="8658720" cy="4257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5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in General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Rechteck 12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Perspectives on Functional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HSN-Hierarchy 12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Three different perspectives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Data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Functional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Behavioral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in General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Perspectives on Functional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Data perspective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Static-structural perspective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Structure of input/output data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Static structure of the system itself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Usage relationships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Dependencies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in General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Perspectives on Functional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7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Functional perspective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Which information is received by the system and how is it manipulated?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Data-flow through the system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Dynamic!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Behavioral perspective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State-oriented perspective on how the system is embedded into the system context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Documents reactions by the system on events in the system context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Reaction depends on the system’s state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Reactions include state transitions and effects on the system’s environment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in General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Types of 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1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Three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 different ways to document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Natural language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Conceptual Models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Hybrid approach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No “one best way”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Depends on the project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Requirements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People involved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in General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Types of Documentation – Natural Language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Most commonly applied documentation form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Usually: prose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Advantages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Can be read by every stakeholder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Applicable for miscellaneous purposes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Can be used for any kind of requirement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Well-suited for all three perspectives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Drawbacks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Ambiguities possible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Unintentional mix of different kinds of requirements possible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Unintentional mix of different perspectives possible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in General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Types of Documentation – Conceptual Models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Different kinds of conceptual models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Cannot be used universally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Have to fit the type of the requirements and the perspective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Advantages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Correct use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→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no switch of perspective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Compact documentation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Easy for trained readers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Less ambiguity than natural language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Drawbacks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Knowledge about modeling required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in General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Types of Documentation – Conceptual Model Types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Pohl, C. Rupp (2011)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Fundamentals: A study guide for Requirements Engineering Foundation Level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3" name="Picture 2" descr=""/>
          <p:cNvPicPr/>
          <p:nvPr/>
        </p:nvPicPr>
        <p:blipFill>
          <a:blip r:embed="rId1"/>
          <a:stretch/>
        </p:blipFill>
        <p:spPr>
          <a:xfrm>
            <a:off x="3778560" y="3278520"/>
            <a:ext cx="7073640" cy="3127320"/>
          </a:xfrm>
          <a:prstGeom prst="rect">
            <a:avLst/>
          </a:prstGeom>
          <a:ln w="0">
            <a:noFill/>
          </a:ln>
        </p:spPr>
      </p:pic>
      <p:sp>
        <p:nvSpPr>
          <p:cNvPr id="264" name="PlaceHolder 1"/>
          <p:cNvSpPr/>
          <p:nvPr/>
        </p:nvSpPr>
        <p:spPr>
          <a:xfrm>
            <a:off x="609480" y="1769400"/>
            <a:ext cx="10584360" cy="157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Use case diagrams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Quick overview of system functionalities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Do not describe responsibilities in detail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in General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Types of Documentation – Conceptual Model Types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8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Pohl, C. Rupp (2011)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Fundamentals: A study guide for Requirements Engineering Foundation Level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1"/>
          <p:cNvSpPr/>
          <p:nvPr/>
        </p:nvSpPr>
        <p:spPr>
          <a:xfrm>
            <a:off x="609480" y="1769400"/>
            <a:ext cx="10584360" cy="157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Class diagrams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Capture static structure of data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Structural dependencies between the system and the context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0" name="Picture 2" descr=""/>
          <p:cNvPicPr/>
          <p:nvPr/>
        </p:nvPicPr>
        <p:blipFill>
          <a:blip r:embed="rId1"/>
          <a:stretch/>
        </p:blipFill>
        <p:spPr>
          <a:xfrm>
            <a:off x="3270960" y="3299760"/>
            <a:ext cx="5644440" cy="3106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in General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Types of Documentation – Conceptual Model Types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4" name="PlaceHolder 1"/>
          <p:cNvSpPr/>
          <p:nvPr/>
        </p:nvSpPr>
        <p:spPr>
          <a:xfrm>
            <a:off x="609480" y="1769400"/>
            <a:ext cx="5086800" cy="284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Activity diagrams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Business processes, sequence-oriented dependencies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Sequential character of use cases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Pohl, C. Rupp (2011)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Fundamentals: A study guide for Requirements Engineering Foundation Level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6" name="Picture 2" descr=""/>
          <p:cNvPicPr/>
          <p:nvPr/>
        </p:nvPicPr>
        <p:blipFill>
          <a:blip r:embed="rId1"/>
          <a:stretch/>
        </p:blipFill>
        <p:spPr>
          <a:xfrm>
            <a:off x="8055000" y="1709280"/>
            <a:ext cx="2720880" cy="503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in General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Types of Documentation – Conceptual Model Types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Pohl, C. Rupp (2011)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Fundamentals: A study guide for Requirements Engineering Foundation Level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1"/>
          <p:cNvSpPr/>
          <p:nvPr/>
        </p:nvSpPr>
        <p:spPr>
          <a:xfrm>
            <a:off x="609480" y="1769400"/>
            <a:ext cx="10584360" cy="157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State diagram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Event-driven behavior of a system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2" name="Picture 2" descr=""/>
          <p:cNvPicPr/>
          <p:nvPr/>
        </p:nvPicPr>
        <p:blipFill>
          <a:blip r:embed="rId1"/>
          <a:stretch/>
        </p:blipFill>
        <p:spPr>
          <a:xfrm>
            <a:off x="1234080" y="3342240"/>
            <a:ext cx="8496720" cy="2929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in General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Types of Documentation – Conceptual Models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6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No single type of documentation has to be selected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Depends on the view, audience, ...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Hybrid = natural language + conceptual models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Not redundant, but complementary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Balance out each others weaknesses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Example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Description of the general architecture in natural language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spcAft>
                <a:spcPts val="369"/>
              </a:spcAft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Details in form of models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CustomShape 1"/>
          <p:cNvSpPr/>
          <p:nvPr/>
        </p:nvSpPr>
        <p:spPr>
          <a:xfrm>
            <a:off x="335520" y="4406760"/>
            <a:ext cx="10745640" cy="13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Criteria For Good Requirements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CustomShape 2"/>
          <p:cNvSpPr/>
          <p:nvPr/>
        </p:nvSpPr>
        <p:spPr>
          <a:xfrm>
            <a:off x="335520" y="2906640"/>
            <a:ext cx="10745640" cy="14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Criteria for Good Requirements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Characteristics of Good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358280" cy="463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Agreed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 reflects the correct and agreed upon opinion of all stakeholders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Ranked (IEEE Std. 830-1998)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E.g., by legal obligations or priorities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Especially important if not all functionalities are provided at with the same release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Unambiguous (IEEE Std. 830-1998)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be understood in only one way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Conceptual models help to achieve this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Valid and up-to-date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Must be consistent with the system context and not outdated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CustomShape 5"/>
          <p:cNvSpPr/>
          <p:nvPr/>
        </p:nvSpPr>
        <p:spPr>
          <a:xfrm>
            <a:off x="263520" y="6411600"/>
            <a:ext cx="10916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IEEE 830-1998 (1998) – IEEE Recommended Practice for Software Requirements Specifications (https://standards.ieee.org/ieee/830/1222/)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Criteria for Good Requirements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Characteristics of Good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7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626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Correct (IEEE Std. 830-1998)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requirement represents the idea of the stakeholder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Consistent (IEEE Std. 830-1998)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must not contradict each other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must be on the same level of abstraction/detail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should use the same documentation type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CustomShape 5"/>
          <p:cNvSpPr/>
          <p:nvPr/>
        </p:nvSpPr>
        <p:spPr>
          <a:xfrm>
            <a:off x="263520" y="6411600"/>
            <a:ext cx="10916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IEEE 830-1998 (1998) – IEEE Recommended Practice for Software Requirements Specifications (https://standards.ieee.org/ieee/830/1222/)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9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Criteria for Good Requirements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echteck 2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Characteristics of Good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HSN-Hierarchy 2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626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rmAutofit/>
          </a:bodyPr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Verifiable (IEEE Std. 830-1998)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Definition of a requirement must allow for its verification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→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e.g., through tests or measurements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Realizable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must be implementable within the scope of the project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Traceable (IEEE Std. 830-1998)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Retracing of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90000"/>
              </a:lnSpc>
              <a:spcBef>
                <a:spcPts val="850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origin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90000"/>
              </a:lnSpc>
              <a:spcBef>
                <a:spcPts val="850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realization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90000"/>
              </a:lnSpc>
              <a:spcBef>
                <a:spcPts val="850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Relationships to other documents → e.g., through unique identifiers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CustomShape 6"/>
          <p:cNvSpPr/>
          <p:nvPr/>
        </p:nvSpPr>
        <p:spPr>
          <a:xfrm>
            <a:off x="263520" y="6411600"/>
            <a:ext cx="10916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IEEE 830-1998 (1998) – IEEE Recommended Practice for Software Requirements Specifications (https://standards.ieee.org/ieee/830/1222/)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Criteria for Good Requirements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Characteristics of Good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7" name="PlaceHolder 1"/>
          <p:cNvSpPr>
            <a:spLocks noGrp="1"/>
          </p:cNvSpPr>
          <p:nvPr>
            <p:ph/>
          </p:nvPr>
        </p:nvSpPr>
        <p:spPr>
          <a:xfrm>
            <a:off x="595440" y="1780920"/>
            <a:ext cx="10584360" cy="4625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Complete (IEEE Std. 830-1998)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must fully describe the specified functionality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If not yet known → mark, e.g., as “tbd” (“to be determined”)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Understandability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must be comprehensible for all stakeholders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CustomShape 5"/>
          <p:cNvSpPr/>
          <p:nvPr/>
        </p:nvSpPr>
        <p:spPr>
          <a:xfrm>
            <a:off x="263520" y="6411600"/>
            <a:ext cx="10916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IEEE 830-1998 (1998) – IEEE Recommended Practice for Software Requirements Specifications (https://standards.ieee.org/ieee/830/1222/)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Criteria for Good Requirements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Further Characteristics of Good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Atomic (it is not possible to subdivide the requirement)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/>
          </p:nvPr>
        </p:nvSpPr>
        <p:spPr>
          <a:xfrm>
            <a:off x="465840" y="1519200"/>
            <a:ext cx="10728720" cy="41896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b">
            <a:normAutofit/>
          </a:bodyPr>
          <a:p>
            <a:pPr marL="228600" indent="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None/>
              <a:tabLst>
                <a:tab algn="l" pos="0"/>
              </a:tabLst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marL="316440" indent="0" algn="ctr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Why are these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not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 unambiguous?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 Box 14"/>
          <p:cNvSpPr/>
          <p:nvPr/>
        </p:nvSpPr>
        <p:spPr>
          <a:xfrm>
            <a:off x="727920" y="2957400"/>
            <a:ext cx="9221400" cy="1004040"/>
          </a:xfrm>
          <a:prstGeom prst="rect">
            <a:avLst/>
          </a:prstGeom>
          <a:noFill/>
          <a:ln w="1270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spcBef>
                <a:spcPts val="901"/>
              </a:spcBef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In order to retrieve money from the ATM (automatic teller machine), the customer needs to insert a valid card and type in his PIN. If the validation fails, the machine keeps the card.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 Box 15"/>
          <p:cNvSpPr/>
          <p:nvPr/>
        </p:nvSpPr>
        <p:spPr>
          <a:xfrm>
            <a:off x="711000" y="4102560"/>
            <a:ext cx="9221400" cy="699120"/>
          </a:xfrm>
          <a:prstGeom prst="rect">
            <a:avLst/>
          </a:prstGeom>
          <a:noFill/>
          <a:ln w="1270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spcBef>
                <a:spcPts val="901"/>
              </a:spcBef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When the driver turns the steering wheel, the direction of the car is changed accordingly.</a:t>
            </a: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11"/>
          <p:cNvSpPr/>
          <p:nvPr/>
        </p:nvSpPr>
        <p:spPr>
          <a:xfrm>
            <a:off x="542880" y="690480"/>
            <a:ext cx="103550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000000"/>
                </a:solidFill>
                <a:latin typeface="DejaVu Sans"/>
                <a:ea typeface="DejaVu Sans"/>
              </a:rPr>
              <a:t>Criteria for Good Requirements</a:t>
            </a:r>
            <a:endParaRPr b="0" lang="en-GB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Rechteck 7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Example – Unambiguous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/>
          </p:nvPr>
        </p:nvSpPr>
        <p:spPr>
          <a:xfrm>
            <a:off x="465840" y="1339200"/>
            <a:ext cx="11518200" cy="48564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316440" indent="0">
              <a:lnSpc>
                <a:spcPct val="100000"/>
              </a:lnSpc>
              <a:spcBef>
                <a:spcPts val="1001"/>
              </a:spcBef>
              <a:spcAft>
                <a:spcPts val="369"/>
              </a:spcAft>
              <a:buNone/>
              <a:tabLst>
                <a:tab algn="l" pos="0"/>
              </a:tabLst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marL="31644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marL="31644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marL="31644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marL="31644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marL="31644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marL="316440" indent="0" algn="ctr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Why is this </a:t>
            </a:r>
            <a:r>
              <a:rPr b="0" lang="en-US" sz="2000" spc="-1" strike="noStrike">
                <a:solidFill>
                  <a:srgbClr val="c0504d"/>
                </a:solidFill>
                <a:latin typeface="DejaVu Sans"/>
                <a:ea typeface="Arial"/>
              </a:rPr>
              <a:t>not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 atomic ?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 Box 12"/>
          <p:cNvSpPr/>
          <p:nvPr/>
        </p:nvSpPr>
        <p:spPr>
          <a:xfrm>
            <a:off x="727920" y="3399840"/>
            <a:ext cx="9221400" cy="699480"/>
          </a:xfrm>
          <a:prstGeom prst="rect">
            <a:avLst/>
          </a:prstGeom>
          <a:noFill/>
          <a:ln w="1270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001"/>
              </a:spcBef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As part of the web shop, the customers may search for goods using key words or product categories.</a:t>
            </a: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12"/>
          <p:cNvSpPr/>
          <p:nvPr/>
        </p:nvSpPr>
        <p:spPr>
          <a:xfrm>
            <a:off x="542880" y="690480"/>
            <a:ext cx="103550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000000"/>
                </a:solidFill>
                <a:latin typeface="DejaVu Sans"/>
                <a:ea typeface="DejaVu Sans"/>
              </a:rPr>
              <a:t>Criteria for Good Requirements</a:t>
            </a:r>
            <a:endParaRPr b="0" lang="en-GB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Rechteck 6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Example – Atomic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CustomShape 1"/>
          <p:cNvSpPr/>
          <p:nvPr/>
        </p:nvSpPr>
        <p:spPr>
          <a:xfrm>
            <a:off x="335520" y="4406760"/>
            <a:ext cx="10745640" cy="13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Document Structure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CustomShape 2"/>
          <p:cNvSpPr/>
          <p:nvPr/>
        </p:nvSpPr>
        <p:spPr>
          <a:xfrm>
            <a:off x="335520" y="2906640"/>
            <a:ext cx="10745640" cy="14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Characteristics of Good Requirements Documents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7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Unambiguity and Consistency (IEEE Std. 830-1998)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Requires individual requirements also to be unambiguous and consistent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All requirements should be uniquely identifiable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Modifiability and Extendibility (IEEE Std. 830-1998)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Must be easy to modify and to extend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Should be subject to a version control management system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CustomShape 5"/>
          <p:cNvSpPr/>
          <p:nvPr/>
        </p:nvSpPr>
        <p:spPr>
          <a:xfrm>
            <a:off x="263520" y="6411600"/>
            <a:ext cx="10916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IEEE 830-1998 (1998) – IEEE Recommended Practice for Software Requirements Specifications (https://standards.ieee.org/ieee/830/1222/)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Characteristics of Good Requirements Documents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2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360080" cy="4626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Completeness (IEEE Std. 830-1998)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Must contain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all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Each requirement must be documented completely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Required additional information must be present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CustomShape 5"/>
          <p:cNvSpPr/>
          <p:nvPr/>
        </p:nvSpPr>
        <p:spPr>
          <a:xfrm>
            <a:off x="261720" y="6496920"/>
            <a:ext cx="10916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IEEE 830-1998 (1998) – IEEE Recommended Practice for Software Requirements Specifications (https://standards.ieee.org/ieee/830/1222/)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21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Rechteck 3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Characteristics of Good Requirements Documents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HSN-Hierarchy 3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7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360080" cy="4626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Includes: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Required reactions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Influential factors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Inputs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Error and exception cases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Quality requirements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Structural completeness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Labels for figures and tables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Consistent references and index directories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CustomShape 7"/>
          <p:cNvSpPr/>
          <p:nvPr/>
        </p:nvSpPr>
        <p:spPr>
          <a:xfrm>
            <a:off x="261720" y="6496920"/>
            <a:ext cx="10916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IEEE 830-1998 (1998) – IEEE Recommended Practice for Software Requirements Specifications (https://standards.ieee.org/ieee/830/1222/)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Characteristics of Good Requirements Documents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2" name="PlaceHolder 1"/>
          <p:cNvSpPr>
            <a:spLocks noGrp="1"/>
          </p:cNvSpPr>
          <p:nvPr>
            <p:ph/>
          </p:nvPr>
        </p:nvSpPr>
        <p:spPr>
          <a:xfrm>
            <a:off x="609480" y="176688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Traceability (IEEE Std. 830-1998)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Relationships between requirements documents and other documents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Traceability of changes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Clear Structure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Comprehensive and clear structure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Examples shown in the previous section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CustomShape 5"/>
          <p:cNvSpPr/>
          <p:nvPr/>
        </p:nvSpPr>
        <p:spPr>
          <a:xfrm>
            <a:off x="263520" y="6411600"/>
            <a:ext cx="10916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IEEE 830-1998 (1998) – IEEE Recommended Practice for Software Requirements Specifications (https://standards.ieee.org/ieee/830/1222/)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Types of Documents – Characterizing Developer vs. User Requirements 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7" name="PlaceHolder 1"/>
          <p:cNvSpPr>
            <a:spLocks noGrp="1"/>
          </p:cNvSpPr>
          <p:nvPr>
            <p:ph/>
          </p:nvPr>
        </p:nvSpPr>
        <p:spPr>
          <a:xfrm>
            <a:off x="609480" y="2286000"/>
            <a:ext cx="10131480" cy="411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Lastenheft (engl. product requirements document)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Written by the customer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Defines what is expected / has to be provided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Legally: may define a call for bids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4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Rechteck 4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Types of Documents – Characterizing Developer vs. User Requirements 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HSN-Hierarchy 4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1" name="PlaceHolder 27"/>
          <p:cNvSpPr/>
          <p:nvPr/>
        </p:nvSpPr>
        <p:spPr>
          <a:xfrm>
            <a:off x="613800" y="2286000"/>
            <a:ext cx="10617480" cy="41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Pflichtenheft (engl. scope statement)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Written by the development organization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Defines what will be delivered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(this may exceed, restrict, or modify the expectations of the “Lastenheft”)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Rectangle 1"/>
          <p:cNvSpPr/>
          <p:nvPr/>
        </p:nvSpPr>
        <p:spPr>
          <a:xfrm>
            <a:off x="539640" y="5486400"/>
            <a:ext cx="10657080" cy="67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28600" indent="-2286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Lasten- and Pflichtenheft are mostly defined by their implications for legal affairs and negotiation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Types of Documents – Characterizing Developer vs. User Requirements 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6" name="PlaceHolder 1"/>
          <p:cNvSpPr>
            <a:spLocks noGrp="1"/>
          </p:cNvSpPr>
          <p:nvPr>
            <p:ph/>
          </p:nvPr>
        </p:nvSpPr>
        <p:spPr>
          <a:xfrm>
            <a:off x="609480" y="2286360"/>
            <a:ext cx="5329440" cy="296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Lastenheft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Should not overconstrain the possible solution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Should focus on prioritized expectations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6"/>
          <p:cNvSpPr/>
          <p:nvPr/>
        </p:nvSpPr>
        <p:spPr>
          <a:xfrm>
            <a:off x="5973840" y="2286360"/>
            <a:ext cx="5329440" cy="296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Pflichtenheft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Should also have a user focus in writing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Also addresses “User requirements”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Typically uses the same techniques for specification as in Lastenheft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ectangle 341"/>
          <p:cNvSpPr/>
          <p:nvPr/>
        </p:nvSpPr>
        <p:spPr>
          <a:xfrm>
            <a:off x="685800" y="5258160"/>
            <a:ext cx="10510920" cy="12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 u="sng">
                <a:solidFill>
                  <a:srgbClr val="000000"/>
                </a:solidFill>
                <a:uFillTx/>
                <a:latin typeface="DejaVu Sans"/>
                <a:ea typeface="DejaVu Sans"/>
              </a:rPr>
              <a:t>Note: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There are typically requirements that are not described in “Pflichtenheft”, e.g., internal to development organization, higher level of detail, technical aspects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Required Content – ToC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2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Every requirement document should contain certain contents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General Overview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Appendices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Index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Independent of the concrete structure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Required Content – Introduction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6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Contains information about the entire document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Provides an overview of the system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Addresses the following issues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Purpose Why was the document created, who is the target audience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System coverage → Name, principle goals, and advantages of the system to be developed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 →  List of stakeholders and their relevant information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5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Rechteck 5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Required Content – Introduction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HSN-Hierarchy 5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0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rmAutofit/>
          </a:bodyPr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Definitions, acronyms, and abbreviations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Terms used throughout the document are defined for consistent use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also be in the appendix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References (might be part of the appendix)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→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List of all referenced documents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Overview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→ 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Outline of the content and structure of the remainder of the document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Required Content – General Overview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4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Information that increase the understandability of the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Operational information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No administrative, management of organizational aspects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Addresses the following issues: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System environment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How is the system embedded into its environment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Defines the system boundary and the context boundary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Architecture description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Operational interfaces of the system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Additional information pertaining to the architecture → e.g., storage limitations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3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Rechteck 11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Required Content – General Overview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HSN-Hierarchy 11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System functionality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Tasks and coarse functionalities of the system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→ </a:t>
            </a: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e.g., use cases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User and target audience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Users of the system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State the target audience separately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→ </a:t>
            </a: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Not all users are necessarily part of the target audience!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Constraints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Everything that is not documented elsewhere that poses constraints on the system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Assumptions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General assumptions about the system context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→ </a:t>
            </a: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e.g., that a certain functionality is out of scope due to budgeting reasons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Required Content – Remainder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2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Contains the functional and non-functional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Appendices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Additional information that completes the document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Standards, conventions, background information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Index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Table of contents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Index directory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Glossary – Why?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6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Some technical terms are ambiguous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Example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Interface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User Interface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Java Interfaces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API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...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Service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Web service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Generic term to describe provided functionality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Stern: 5 Zacken 1"/>
          <p:cNvSpPr/>
          <p:nvPr/>
        </p:nvSpPr>
        <p:spPr>
          <a:xfrm>
            <a:off x="9950040" y="915480"/>
            <a:ext cx="514800" cy="4946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Glossary – Why?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1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Some terms may not be known by all stakeholders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Some terms may be specific to the project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Example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Model Driven Architecture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Interoperability Testing Framework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tern: 5 Zacken 5"/>
          <p:cNvSpPr/>
          <p:nvPr/>
        </p:nvSpPr>
        <p:spPr>
          <a:xfrm>
            <a:off x="9950040" y="935640"/>
            <a:ext cx="514800" cy="4946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Glossary – Purpose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6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Definition of the meaning of terms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Increases the understandability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Avoids misunderstandings and different interpretations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Unifies language between the stakeholders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Glossary entries can (and should) be reused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Across projects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Some definitions are even universal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→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IEEE Std. 610.12-1990: Standard Glossary of Software Engineering Terminology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tern: 5 Zacken 5"/>
          <p:cNvSpPr/>
          <p:nvPr/>
        </p:nvSpPr>
        <p:spPr>
          <a:xfrm>
            <a:off x="9950040" y="915480"/>
            <a:ext cx="514800" cy="4946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Glossary – Definition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1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Reference book for the terms in the requirements document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 indent="0" algn="ctr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 indent="0" algn="ctr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 indent="0" algn="ctr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 indent="0" algn="ctr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 indent="0" algn="ctr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CustomShape 4"/>
          <p:cNvSpPr/>
          <p:nvPr/>
        </p:nvSpPr>
        <p:spPr>
          <a:xfrm>
            <a:off x="609480" y="3384720"/>
            <a:ext cx="10577160" cy="16218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08c4f"/>
            </a:solidFill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noAutofit/>
          </a:bodyPr>
          <a:p>
            <a:pPr marL="108000" indent="-228600" algn="ctr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“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 glossary is a collection of technical terms that are part of a language (terminology). A glossary defines the specific meaning of each of these terms. A glossary can additionally contain references to related terms as well as examples that explain the terms.”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CustomShape 5"/>
          <p:cNvSpPr/>
          <p:nvPr/>
        </p:nvSpPr>
        <p:spPr>
          <a:xfrm>
            <a:off x="263520" y="6411600"/>
            <a:ext cx="10916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tern: 5 Zacken 7"/>
          <p:cNvSpPr/>
          <p:nvPr/>
        </p:nvSpPr>
        <p:spPr>
          <a:xfrm>
            <a:off x="9950040" y="915480"/>
            <a:ext cx="514800" cy="4946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Glossary – Elements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Context-specific technical terms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Abbreviations and acronyms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Everyday concepts with special meaning in the given context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Synonyms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Same meaning, different terms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Homonyms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Different meaning, same terms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Stern: 5 Zacken 5"/>
          <p:cNvSpPr/>
          <p:nvPr/>
        </p:nvSpPr>
        <p:spPr>
          <a:xfrm>
            <a:off x="9950040" y="915480"/>
            <a:ext cx="514800" cy="4946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Glossary – Rules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Central Management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Only one valid glossary at a time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Responsibilities must be clear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One individual must be responsible for the glossary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Avoids confusion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Maintenance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glossary is a living document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Must be maintained throughout the life cycle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Commonly accessible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Available for all involved persons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tern: 5 Zacken 5"/>
          <p:cNvSpPr/>
          <p:nvPr/>
        </p:nvSpPr>
        <p:spPr>
          <a:xfrm>
            <a:off x="9950040" y="915480"/>
            <a:ext cx="514800" cy="4946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Glossary – Rules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Obligatory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Only the terms from the glossary are to be used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If additional synonyms are available, they are not to be used!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Should include sources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If a source for a term is available, it should be part of a glossary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Avoids discussions about terms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Agreed upon between stakeholders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stakeholders should agree on the terminology that is used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Consistent structure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All entries must have the same structure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tern: 5 Zacken 5"/>
          <p:cNvSpPr/>
          <p:nvPr/>
        </p:nvSpPr>
        <p:spPr>
          <a:xfrm>
            <a:off x="9950040" y="915480"/>
            <a:ext cx="514800" cy="4946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Glossary – Structure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Each entry in a glossary should have the same general structure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 good glossary structure contains: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name of the term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definition of the term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Synonyms of the term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Related terms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Examples/counter-examples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tern: 5 Zacken 5"/>
          <p:cNvSpPr/>
          <p:nvPr/>
        </p:nvSpPr>
        <p:spPr>
          <a:xfrm>
            <a:off x="9950040" y="915480"/>
            <a:ext cx="514800" cy="4946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Glossary – Structure (Example)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Example of a (tabular) glossary entry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tern: 5 Zacken 5"/>
          <p:cNvSpPr/>
          <p:nvPr/>
        </p:nvSpPr>
        <p:spPr>
          <a:xfrm>
            <a:off x="9950040" y="915480"/>
            <a:ext cx="514800" cy="4946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aphicFrame>
        <p:nvGraphicFramePr>
          <p:cNvPr id="430" name="Table 3"/>
          <p:cNvGraphicFramePr/>
          <p:nvPr/>
        </p:nvGraphicFramePr>
        <p:xfrm>
          <a:off x="1469160" y="3819240"/>
          <a:ext cx="8869320" cy="2086920"/>
        </p:xfrm>
        <a:graphic>
          <a:graphicData uri="http://schemas.openxmlformats.org/drawingml/2006/table">
            <a:tbl>
              <a:tblPr/>
              <a:tblGrid>
                <a:gridCol w="3435480"/>
                <a:gridCol w="5434200"/>
              </a:tblGrid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GB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Term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GB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Route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5490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GB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Definition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GB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The specific distance of a direction from a starting point to a destination.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GB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Synonyms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GB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Itinerary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GB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Related Terms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GB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Alternative route (specialization)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GB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Examples/Counter-examples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GB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https://goo.gl/maps/3L82YanUoidbj1HJ6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Structure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Glossary – How to create a glossary?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4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Definition of the structure of the glossary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Provide initial entries and definitions for all glossary entries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Ask stakeholders to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Check the definitions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Provide their own definition in case of differences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Identify missing entries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Update and align definitions in the glossary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Make the glossary available to everyone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Ideally online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tern: 5 Zacken 5"/>
          <p:cNvSpPr/>
          <p:nvPr/>
        </p:nvSpPr>
        <p:spPr>
          <a:xfrm>
            <a:off x="9950040" y="915480"/>
            <a:ext cx="514800" cy="4946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CustomShape 1"/>
          <p:cNvSpPr/>
          <p:nvPr/>
        </p:nvSpPr>
        <p:spPr>
          <a:xfrm>
            <a:off x="335520" y="4406760"/>
            <a:ext cx="10745640" cy="13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Arial Unicode MS"/>
                <a:ea typeface="DejaVu Sans"/>
              </a:rPr>
              <a:t>Document Templates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CustomShape 2"/>
          <p:cNvSpPr/>
          <p:nvPr/>
        </p:nvSpPr>
        <p:spPr>
          <a:xfrm>
            <a:off x="335520" y="2906640"/>
            <a:ext cx="10745640" cy="14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Templates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Standardized Document Structures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1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Standard outlines predefine the structure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Simplify incorporation of new staff members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Desired contents can be quickly found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Selective reading possibly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Automated verification of documents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→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e.g., their completeness (is every required section present)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Reuse of contents of other requirements documents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108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108000" indent="0" algn="ctr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CustomShape 4"/>
          <p:cNvSpPr/>
          <p:nvPr/>
        </p:nvSpPr>
        <p:spPr>
          <a:xfrm>
            <a:off x="2668680" y="5590800"/>
            <a:ext cx="6597000" cy="53856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08c4f"/>
            </a:solidFill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Structures must be tailored to project properties!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Templates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Standardized Document Structures – Overview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6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Various document templates and guidelines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Some selected (common) examples: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IEEE-830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V-Model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V-Model XT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Volere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Templates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IEEE Std. 830-1998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0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Recommended Practice for Software Requirements Specifications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Developed by IEEE 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Presents a template that might be used to specify developer requirements (some times it is partially used to describe user developer requirements as it contains parts that are on a higher level)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 addition the template provides characteristics for a good software requirements specification document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Templates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IEEE Std. 830-1998 – Structure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4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Suggest dividing the document into three main chapters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Chapter with introductory information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90000"/>
              </a:lnSpc>
              <a:spcBef>
                <a:spcPts val="85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System goal, system bounds, ...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Chapter with general descriptions of the software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90000"/>
              </a:lnSpc>
              <a:spcBef>
                <a:spcPts val="85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Perspective of the system, future users, constraints, ...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Chapter with specific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90000"/>
              </a:lnSpc>
              <a:spcBef>
                <a:spcPts val="85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Functional and non-functional requirements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Templates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IEEE Std. 830-1998 – Example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8" name="PlaceHolder 1"/>
          <p:cNvSpPr>
            <a:spLocks noGrp="1"/>
          </p:cNvSpPr>
          <p:nvPr>
            <p:ph/>
          </p:nvPr>
        </p:nvSpPr>
        <p:spPr>
          <a:xfrm>
            <a:off x="609480" y="1805400"/>
            <a:ext cx="10131480" cy="456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Purpose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Definitions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System Overview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References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tern: 5 Zacken 6"/>
          <p:cNvSpPr/>
          <p:nvPr/>
        </p:nvSpPr>
        <p:spPr>
          <a:xfrm>
            <a:off x="9950040" y="915480"/>
            <a:ext cx="514800" cy="4946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8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Templates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Rechteck 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IEEE Std. 830-1998 – Example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HSN-Hierarchy 8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3" name="Stern: 5 Zacken 4"/>
          <p:cNvSpPr/>
          <p:nvPr/>
        </p:nvSpPr>
        <p:spPr>
          <a:xfrm>
            <a:off x="9950040" y="915480"/>
            <a:ext cx="514800" cy="4946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4" name="PlaceHolder 42"/>
          <p:cNvSpPr/>
          <p:nvPr/>
        </p:nvSpPr>
        <p:spPr>
          <a:xfrm>
            <a:off x="577800" y="2514600"/>
            <a:ext cx="10391760" cy="38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2" spcCol="0" lIns="0" rIns="0" tIns="0" bIns="0" anchor="ctr">
            <a:normAutofit fontScale="74000"/>
          </a:bodyPr>
          <a:p>
            <a:pPr marL="218160" indent="-21816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Overall Description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7040" indent="-21816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Product perspective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56280" indent="-21816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System Interfaces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56280" indent="-21816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User Interfaces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56280" indent="-21816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Hardware Interfaces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56280" indent="-21816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Software Interfaces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56280" indent="-21816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Communication Interfaces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56280" indent="-21816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Memory Constraints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56280" indent="-21816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Operations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56280" indent="-21816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Site Adaptation Requirements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75"/>
              </a:spcBef>
            </a:pP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75"/>
              </a:spcBef>
            </a:pP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75"/>
              </a:spcBef>
            </a:pP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7040" indent="-218160">
              <a:lnSpc>
                <a:spcPct val="100000"/>
              </a:lnSpc>
              <a:spcBef>
                <a:spcPts val="1134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Product functions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56280" indent="-218160">
              <a:lnSpc>
                <a:spcPct val="100000"/>
              </a:lnSpc>
              <a:spcBef>
                <a:spcPts val="85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User Characteristics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56280" indent="-218160">
              <a:lnSpc>
                <a:spcPct val="100000"/>
              </a:lnSpc>
              <a:spcBef>
                <a:spcPts val="85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Constraints, Assumptions and Dependencies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34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Templates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Rechteck 8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IEEE Std. 830-1998 – Example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HSN-Hierarchy 7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8" name="Stern: 5 Zacken 3"/>
          <p:cNvSpPr/>
          <p:nvPr/>
        </p:nvSpPr>
        <p:spPr>
          <a:xfrm>
            <a:off x="9950040" y="915480"/>
            <a:ext cx="514800" cy="4946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9" name="PlaceHolder 37"/>
          <p:cNvSpPr/>
          <p:nvPr/>
        </p:nvSpPr>
        <p:spPr>
          <a:xfrm>
            <a:off x="575640" y="1758600"/>
            <a:ext cx="10968840" cy="41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Specific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External Interface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5"/>
              </a:spcBef>
              <a:buClr>
                <a:srgbClr val="000000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Functional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5"/>
              </a:spcBef>
              <a:buClr>
                <a:srgbClr val="000000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Design Constraints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Standard Compliance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38"/>
          <p:cNvSpPr/>
          <p:nvPr/>
        </p:nvSpPr>
        <p:spPr>
          <a:xfrm>
            <a:off x="5879880" y="1801800"/>
            <a:ext cx="4970880" cy="461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575"/>
              </a:spcBef>
              <a:buClr>
                <a:srgbClr val="000000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Logical Database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Software System Attributes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Reliability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Availability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Security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Maintainability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575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Portability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Other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8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Templates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Rechteck 1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IEEE Std. 830-1998 – Example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HSN-Hierarchy 1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4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463968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78000"/>
          </a:bodyPr>
          <a:p>
            <a:pPr marL="277200" indent="-27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554760" indent="-27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Purpose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554760" indent="-27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Definitions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554760" indent="-27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System Overview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554760" indent="-27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References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77200" indent="-27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Overall Description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554760" indent="-27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Product perspective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832320" indent="-27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200" spc="-1" strike="noStrike">
                <a:solidFill>
                  <a:srgbClr val="000000"/>
                </a:solidFill>
                <a:latin typeface="DejaVu Sans"/>
                <a:ea typeface="DejaVu Sans"/>
              </a:rPr>
              <a:t>System Interfaces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2" marL="832320" indent="-27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200" spc="-1" strike="noStrike">
                <a:solidFill>
                  <a:srgbClr val="000000"/>
                </a:solidFill>
                <a:latin typeface="DejaVu Sans"/>
                <a:ea typeface="DejaVu Sans"/>
              </a:rPr>
              <a:t>User Interfaces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2" marL="832320" indent="-27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200" spc="-1" strike="noStrike">
                <a:solidFill>
                  <a:srgbClr val="000000"/>
                </a:solidFill>
                <a:latin typeface="DejaVu Sans"/>
                <a:ea typeface="DejaVu Sans"/>
              </a:rPr>
              <a:t>Hardware Interfaces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2" marL="832320" indent="-27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200" spc="-1" strike="noStrike">
                <a:solidFill>
                  <a:srgbClr val="000000"/>
                </a:solidFill>
                <a:latin typeface="DejaVu Sans"/>
                <a:ea typeface="DejaVu Sans"/>
              </a:rPr>
              <a:t>Software Interfaces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2" marL="832320" indent="-27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200" spc="-1" strike="noStrike">
                <a:solidFill>
                  <a:srgbClr val="000000"/>
                </a:solidFill>
                <a:latin typeface="DejaVu Sans"/>
                <a:ea typeface="DejaVu Sans"/>
              </a:rPr>
              <a:t>Communication Interfaces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2" marL="832320" indent="-27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200" spc="-1" strike="noStrike">
                <a:solidFill>
                  <a:srgbClr val="000000"/>
                </a:solidFill>
                <a:latin typeface="DejaVu Sans"/>
                <a:ea typeface="DejaVu Sans"/>
              </a:rPr>
              <a:t>Memory Constraints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2" marL="832320" indent="-27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200" spc="-1" strike="noStrike">
                <a:solidFill>
                  <a:srgbClr val="000000"/>
                </a:solidFill>
                <a:latin typeface="DejaVu Sans"/>
                <a:ea typeface="DejaVu Sans"/>
              </a:rPr>
              <a:t>Operations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2" marL="832320" indent="-27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200" spc="-1" strike="noStrike">
                <a:solidFill>
                  <a:srgbClr val="000000"/>
                </a:solidFill>
                <a:latin typeface="DejaVu Sans"/>
                <a:ea typeface="DejaVu Sans"/>
              </a:rPr>
              <a:t>Site Adaptation Requirements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554760" indent="-27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Product Functions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10"/>
          <p:cNvSpPr/>
          <p:nvPr/>
        </p:nvSpPr>
        <p:spPr>
          <a:xfrm>
            <a:off x="6095880" y="1812600"/>
            <a:ext cx="4639680" cy="485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7000"/>
          </a:bodyPr>
          <a:p>
            <a:pPr lvl="1" marL="456840" indent="-22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OpenSymbol"/>
              <a:buChar char="—"/>
            </a:pPr>
            <a:r>
              <a:rPr b="0" lang="en-US" sz="1200" spc="-1" strike="noStrike">
                <a:solidFill>
                  <a:srgbClr val="000000"/>
                </a:solidFill>
                <a:latin typeface="DejaVu Sans"/>
                <a:ea typeface="DejaVu Sans"/>
              </a:rPr>
              <a:t>User Characteristics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456840" indent="-22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OpenSymbol"/>
              <a:buChar char="—"/>
            </a:pPr>
            <a:r>
              <a:rPr b="0" lang="en-US" sz="1200" spc="-1" strike="noStrike">
                <a:solidFill>
                  <a:srgbClr val="000000"/>
                </a:solidFill>
                <a:latin typeface="DejaVu Sans"/>
                <a:ea typeface="DejaVu Sans"/>
              </a:rPr>
              <a:t>Constraints, Assumptions and Dependencies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28240" indent="-2282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Specific Requirements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56840" indent="-22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OpenSymbol"/>
              <a:buChar char="—"/>
            </a:pPr>
            <a:r>
              <a:rPr b="0" lang="en-US" sz="1200" spc="-1" strike="noStrike">
                <a:solidFill>
                  <a:srgbClr val="000000"/>
                </a:solidFill>
                <a:latin typeface="DejaVu Sans"/>
                <a:ea typeface="DejaVu Sans"/>
              </a:rPr>
              <a:t>External Interface Requirements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456840" indent="-22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OpenSymbol"/>
              <a:buChar char="—"/>
            </a:pPr>
            <a:r>
              <a:rPr b="0" lang="en-US" sz="1200" spc="-1" strike="noStrike">
                <a:solidFill>
                  <a:srgbClr val="000000"/>
                </a:solidFill>
                <a:latin typeface="DejaVu Sans"/>
                <a:ea typeface="DejaVu Sans"/>
              </a:rPr>
              <a:t>Functional Requirements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456840" indent="-22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OpenSymbol"/>
              <a:buChar char="—"/>
            </a:pPr>
            <a:r>
              <a:rPr b="0" lang="en-US" sz="1200" spc="-1" strike="noStrike">
                <a:solidFill>
                  <a:srgbClr val="000000"/>
                </a:solidFill>
                <a:latin typeface="DejaVu Sans"/>
                <a:ea typeface="DejaVu Sans"/>
              </a:rPr>
              <a:t>Design Constraints 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2" marL="685800" indent="-2282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800" spc="-1" strike="noStrike">
                <a:solidFill>
                  <a:srgbClr val="000000"/>
                </a:solidFill>
                <a:latin typeface="DejaVu Sans"/>
                <a:ea typeface="DejaVu Sans"/>
              </a:rPr>
              <a:t>Standard Compliance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  <a:p>
            <a:pPr lvl="1" marL="456840" indent="-22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OpenSymbol"/>
              <a:buChar char="—"/>
            </a:pPr>
            <a:r>
              <a:rPr b="0" lang="en-US" sz="1200" spc="-1" strike="noStrike">
                <a:solidFill>
                  <a:srgbClr val="000000"/>
                </a:solidFill>
                <a:latin typeface="DejaVu Sans"/>
                <a:ea typeface="DejaVu Sans"/>
              </a:rPr>
              <a:t>Logical Database Requirements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456840" indent="-22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OpenSymbol"/>
              <a:buChar char="—"/>
            </a:pPr>
            <a:r>
              <a:rPr b="0" lang="en-US" sz="1200" spc="-1" strike="noStrike">
                <a:solidFill>
                  <a:srgbClr val="000000"/>
                </a:solidFill>
                <a:latin typeface="DejaVu Sans"/>
                <a:ea typeface="DejaVu Sans"/>
              </a:rPr>
              <a:t>Software System Attributes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2" marL="685800" indent="-2282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800" spc="-1" strike="noStrike">
                <a:solidFill>
                  <a:srgbClr val="000000"/>
                </a:solidFill>
                <a:latin typeface="DejaVu Sans"/>
                <a:ea typeface="DejaVu Sans"/>
              </a:rPr>
              <a:t>Reliability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  <a:p>
            <a:pPr lvl="2" marL="685800" indent="-2282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800" spc="-1" strike="noStrike">
                <a:solidFill>
                  <a:srgbClr val="000000"/>
                </a:solidFill>
                <a:latin typeface="DejaVu Sans"/>
                <a:ea typeface="DejaVu Sans"/>
              </a:rPr>
              <a:t>Availability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  <a:p>
            <a:pPr lvl="2" marL="685800" indent="-2282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800" spc="-1" strike="noStrike">
                <a:solidFill>
                  <a:srgbClr val="000000"/>
                </a:solidFill>
                <a:latin typeface="DejaVu Sans"/>
                <a:ea typeface="DejaVu Sans"/>
              </a:rPr>
              <a:t>Security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  <a:p>
            <a:pPr lvl="2" marL="685800" indent="-2282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800" spc="-1" strike="noStrike">
                <a:solidFill>
                  <a:srgbClr val="000000"/>
                </a:solidFill>
                <a:latin typeface="DejaVu Sans"/>
                <a:ea typeface="DejaVu Sans"/>
              </a:rPr>
              <a:t>Maintainability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  <a:p>
            <a:pPr lvl="2" marL="685800" indent="-22824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800" spc="-1" strike="noStrike">
                <a:solidFill>
                  <a:srgbClr val="000000"/>
                </a:solidFill>
                <a:latin typeface="DejaVu Sans"/>
                <a:ea typeface="DejaVu Sans"/>
              </a:rPr>
              <a:t>Portability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  <a:p>
            <a:pPr lvl="1" marL="456840" indent="-22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OpenSymbol"/>
              <a:buChar char="—"/>
            </a:pPr>
            <a:r>
              <a:rPr b="0" lang="en-US" sz="1200" spc="-1" strike="noStrike">
                <a:solidFill>
                  <a:srgbClr val="000000"/>
                </a:solidFill>
                <a:latin typeface="DejaVu Sans"/>
                <a:ea typeface="DejaVu Sans"/>
              </a:rPr>
              <a:t>Other Requirements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Stern: 5 Zacken 2"/>
          <p:cNvSpPr/>
          <p:nvPr/>
        </p:nvSpPr>
        <p:spPr>
          <a:xfrm>
            <a:off x="9950040" y="915480"/>
            <a:ext cx="514800" cy="4946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Templates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V-Model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0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numCol="1" spcCol="360000"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Defines different structures, depending on the creator of the document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 Germany DIN 69905 defines the structure and terminology of the “Lastenheft” and “Pflichtenheft”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Customer Requirements Specification (“Lastenheft”)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Describes demands on the contractor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Deliveries and services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Often includes demands of users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Includes constraints on the system, the development, ...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Templates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Rechteck 10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V-Model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HSN-Hierarchy 9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4" name="PlaceHolder 1"/>
          <p:cNvSpPr>
            <a:spLocks noGrp="1"/>
          </p:cNvSpPr>
          <p:nvPr>
            <p:ph/>
          </p:nvPr>
        </p:nvSpPr>
        <p:spPr>
          <a:xfrm>
            <a:off x="542880" y="176328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numCol="1" spcCol="360000" lIns="0" rIns="0" tIns="0" bIns="0" anchor="ctr">
            <a:normAutofit/>
          </a:bodyPr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System Requirements Specification (“Pflichtenheft”)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Based on the Customer Requirements Specification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Refinement that includes implementation suggestions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Templates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V-Model – Structure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Structure of the Customer/System Requirements Specification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Objectives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Product Usage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Product Functions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Product Data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Product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Quality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Supplements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Glossary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Difference in the level of detail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Templates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V-Model XT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2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XT =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Extreme Tailoring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V-Model vs. V-Model XT: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Tailoring V-Model to specific needs, thereby avoiding unnecessary work by defining deletion conditions for small and medium-sized projects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Better suited for smaller and medium-sized projects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Involvement of the client: Up to now, the specifications were geared towards the contractor.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Greater modularization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Stronger orientation towards agile and incremental approaches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Available Online (German): </a:t>
            </a:r>
            <a:r>
              <a:rPr b="0" lang="en-US" sz="1800" spc="-1" strike="noStrike" u="sng">
                <a:solidFill>
                  <a:srgbClr val="0000ff"/>
                </a:solidFill>
                <a:highlight>
                  <a:srgbClr val="ffffff"/>
                </a:highlight>
                <a:uFillTx/>
                <a:latin typeface="DejaVu Sans"/>
                <a:ea typeface="DejaVu Sans"/>
                <a:hlinkClick r:id="rId1"/>
              </a:rPr>
              <a:t>Link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Templates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V-Model (XT) – Why V?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5" name="Grafik 2" descr=""/>
          <p:cNvPicPr/>
          <p:nvPr/>
        </p:nvPicPr>
        <p:blipFill>
          <a:blip r:embed="rId1"/>
          <a:stretch/>
        </p:blipFill>
        <p:spPr>
          <a:xfrm>
            <a:off x="1881720" y="1812600"/>
            <a:ext cx="8421480" cy="4603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Templates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Volere Template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9" name="PlaceHolder 1"/>
          <p:cNvSpPr>
            <a:spLocks noGrp="1"/>
          </p:cNvSpPr>
          <p:nvPr>
            <p:ph/>
          </p:nvPr>
        </p:nvSpPr>
        <p:spPr>
          <a:xfrm>
            <a:off x="603360" y="178164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Developed by James &amp; Suzanne Robertson (The Atlantic Systems Guild)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Presents a template that may be used to specify user requirements as well as developer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some template sections describe very detailed information about the system while other sections are very high level (developer vs. user)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some template sections can be used for a developer audience as well as a user audience.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In these cases either the used notation is the key differentiator or the information contained in the user document is refined in the developer section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Available online: </a:t>
            </a:r>
            <a:r>
              <a:rPr b="0" lang="en-US" sz="2000" spc="-1" strike="noStrike" u="sng">
                <a:solidFill>
                  <a:srgbClr val="0000ff"/>
                </a:solidFill>
                <a:uFillTx/>
                <a:latin typeface="DejaVu Sans"/>
                <a:ea typeface="Arial"/>
                <a:hlinkClick r:id="rId1"/>
              </a:rPr>
              <a:t>Link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CustomShape 5"/>
          <p:cNvSpPr/>
          <p:nvPr/>
        </p:nvSpPr>
        <p:spPr>
          <a:xfrm>
            <a:off x="263520" y="6411600"/>
            <a:ext cx="10916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https://www.volere.org/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Templates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Volere Template – Structure 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4" name="PlaceHolder 1"/>
          <p:cNvSpPr>
            <a:spLocks noGrp="1"/>
          </p:cNvSpPr>
          <p:nvPr>
            <p:ph/>
          </p:nvPr>
        </p:nvSpPr>
        <p:spPr>
          <a:xfrm>
            <a:off x="603360" y="178164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DejaVu Sans"/>
              <a:buAutoNum type="arabicPlain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The Purpose of the Project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9"/>
              </a:spcBef>
              <a:buClr>
                <a:srgbClr val="000000"/>
              </a:buClr>
              <a:buFont typeface="DejaVu Sans"/>
              <a:buAutoNum type="arabicPlain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The Stakeholders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4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Project Constraints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75"/>
              </a:spcBef>
              <a:buClr>
                <a:srgbClr val="000000"/>
              </a:buClr>
              <a:buFont typeface="DejaVu Sans"/>
              <a:buAutoNum type="arabicPlain" startAt="3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Mandated Constraints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9"/>
              </a:spcBef>
              <a:buClr>
                <a:srgbClr val="000000"/>
              </a:buClr>
              <a:buFont typeface="DejaVu Sans"/>
              <a:buAutoNum type="arabicPlain" startAt="3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Naming Conventions and Definitions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9"/>
              </a:spcBef>
              <a:buClr>
                <a:srgbClr val="000000"/>
              </a:buClr>
              <a:buFont typeface="DejaVu Sans"/>
              <a:buAutoNum type="arabicPlain" startAt="3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Relevant Facts and Assumptions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Functional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75"/>
              </a:spcBef>
              <a:buClr>
                <a:srgbClr val="000000"/>
              </a:buClr>
              <a:buFont typeface="DejaVu Sans"/>
              <a:buAutoNum type="arabicPlain" startAt="6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The scope of the Work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9"/>
              </a:spcBef>
              <a:buClr>
                <a:srgbClr val="000000"/>
              </a:buClr>
              <a:buFont typeface="DejaVu Sans"/>
              <a:buAutoNum type="arabicPlain" startAt="6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Business Data Model &amp; Data Dictionary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9"/>
              </a:spcBef>
              <a:buClr>
                <a:srgbClr val="000000"/>
              </a:buClr>
              <a:buFont typeface="DejaVu Sans"/>
              <a:buAutoNum type="arabicPlain" startAt="6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The Scope of the Product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9"/>
              </a:spcBef>
              <a:buClr>
                <a:srgbClr val="000000"/>
              </a:buClr>
              <a:buFont typeface="DejaVu Sans"/>
              <a:buAutoNum type="arabicPlain" startAt="6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Functional Requirements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CustomShape 5"/>
          <p:cNvSpPr/>
          <p:nvPr/>
        </p:nvSpPr>
        <p:spPr>
          <a:xfrm>
            <a:off x="263520" y="6411600"/>
            <a:ext cx="10916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https://www.volere.org/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Stern: 5 Zacken 6"/>
          <p:cNvSpPr/>
          <p:nvPr/>
        </p:nvSpPr>
        <p:spPr>
          <a:xfrm>
            <a:off x="9950040" y="915480"/>
            <a:ext cx="514800" cy="4946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Templates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Volere Template – Structure 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0" name="PlaceHolder 1"/>
          <p:cNvSpPr>
            <a:spLocks noGrp="1"/>
          </p:cNvSpPr>
          <p:nvPr>
            <p:ph/>
          </p:nvPr>
        </p:nvSpPr>
        <p:spPr>
          <a:xfrm>
            <a:off x="603360" y="178164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Non-functional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75"/>
              </a:spcBef>
              <a:buClr>
                <a:srgbClr val="000000"/>
              </a:buClr>
              <a:buFont typeface="DejaVu Sans"/>
              <a:buAutoNum type="arabicPlain" startAt="10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Look and Feel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75"/>
              </a:spcBef>
              <a:buClr>
                <a:srgbClr val="000000"/>
              </a:buClr>
              <a:buFont typeface="DejaVu Sans"/>
              <a:buAutoNum type="arabicPlain" startAt="10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Usability and Humanity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75"/>
              </a:spcBef>
              <a:buClr>
                <a:srgbClr val="000000"/>
              </a:buClr>
              <a:buFont typeface="DejaVu Sans"/>
              <a:buAutoNum type="arabicPlain" startAt="10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Performance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75"/>
              </a:spcBef>
              <a:buClr>
                <a:srgbClr val="000000"/>
              </a:buClr>
              <a:buFont typeface="DejaVu Sans"/>
              <a:buAutoNum type="arabicPlain" startAt="10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Operational and Environmental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75"/>
              </a:spcBef>
              <a:buClr>
                <a:srgbClr val="000000"/>
              </a:buClr>
              <a:buFont typeface="DejaVu Sans"/>
              <a:buAutoNum type="arabicPlain" startAt="10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Maintainability and Support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75"/>
              </a:spcBef>
              <a:buClr>
                <a:srgbClr val="000000"/>
              </a:buClr>
              <a:buFont typeface="DejaVu Sans"/>
              <a:buAutoNum type="arabicPlain" startAt="10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Security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75"/>
              </a:spcBef>
              <a:buClr>
                <a:srgbClr val="000000"/>
              </a:buClr>
              <a:buFont typeface="DejaVu Sans"/>
              <a:buAutoNum type="arabicPlain" startAt="10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Cultural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75"/>
              </a:spcBef>
              <a:buClr>
                <a:srgbClr val="000000"/>
              </a:buClr>
              <a:buFont typeface="DejaVu Sans"/>
              <a:buAutoNum type="arabicPlain" startAt="10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Legal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CustomShape 5"/>
          <p:cNvSpPr/>
          <p:nvPr/>
        </p:nvSpPr>
        <p:spPr>
          <a:xfrm>
            <a:off x="263520" y="6411600"/>
            <a:ext cx="10916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https://www.volere.org/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Stern: 5 Zacken 6"/>
          <p:cNvSpPr/>
          <p:nvPr/>
        </p:nvSpPr>
        <p:spPr>
          <a:xfrm>
            <a:off x="9950040" y="915480"/>
            <a:ext cx="514800" cy="4946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 Templates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echteck 209"/>
          <p:cNvSpPr/>
          <p:nvPr/>
        </p:nvSpPr>
        <p:spPr>
          <a:xfrm>
            <a:off x="542880" y="12672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Volere Template – Structure  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6" name="PlaceHolder 1"/>
          <p:cNvSpPr>
            <a:spLocks noGrp="1"/>
          </p:cNvSpPr>
          <p:nvPr>
            <p:ph/>
          </p:nvPr>
        </p:nvSpPr>
        <p:spPr>
          <a:xfrm>
            <a:off x="603360" y="178164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Project Issues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75"/>
              </a:spcBef>
              <a:buClr>
                <a:srgbClr val="000000"/>
              </a:buClr>
              <a:buFont typeface="DejaVu Sans"/>
              <a:buAutoNum type="arabicPlain" startAt="18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Open Issues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9"/>
              </a:spcBef>
              <a:buClr>
                <a:srgbClr val="000000"/>
              </a:buClr>
              <a:buFont typeface="DejaVu Sans"/>
              <a:buAutoNum type="arabicPlain" startAt="18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Off-the-Shelf Solutions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9"/>
              </a:spcBef>
              <a:buClr>
                <a:srgbClr val="000000"/>
              </a:buClr>
              <a:buFont typeface="DejaVu Sans"/>
              <a:buAutoNum type="arabicPlain" startAt="18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New Problems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9"/>
              </a:spcBef>
              <a:buClr>
                <a:srgbClr val="000000"/>
              </a:buClr>
              <a:buFont typeface="DejaVu Sans"/>
              <a:buAutoNum type="arabicPlain" startAt="18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Tasks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9"/>
              </a:spcBef>
              <a:buClr>
                <a:srgbClr val="000000"/>
              </a:buClr>
              <a:buFont typeface="DejaVu Sans"/>
              <a:buAutoNum type="arabicPlain" startAt="18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Migration to the New Product (Cutover)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9"/>
              </a:spcBef>
              <a:buClr>
                <a:srgbClr val="000000"/>
              </a:buClr>
              <a:buFont typeface="DejaVu Sans"/>
              <a:buAutoNum type="arabicPlain" startAt="18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Risks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9"/>
              </a:spcBef>
              <a:buClr>
                <a:srgbClr val="000000"/>
              </a:buClr>
              <a:buFont typeface="DejaVu Sans"/>
              <a:buAutoNum type="arabicPlain" startAt="18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Costs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9"/>
              </a:spcBef>
              <a:buClr>
                <a:srgbClr val="000000"/>
              </a:buClr>
              <a:buFont typeface="DejaVu Sans"/>
              <a:buAutoNum type="arabicPlain" startAt="18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User Documentation and Testing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9"/>
              </a:spcBef>
              <a:buClr>
                <a:srgbClr val="000000"/>
              </a:buClr>
              <a:buFont typeface="DejaVu Sans"/>
              <a:buAutoNum type="arabicPlain" startAt="18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Waiting Room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89"/>
              </a:spcBef>
              <a:buClr>
                <a:srgbClr val="000000"/>
              </a:buClr>
              <a:buFont typeface="DejaVu Sans"/>
              <a:buAutoNum type="arabicPlain" startAt="18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Ideas for Solutions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CustomShape 5"/>
          <p:cNvSpPr/>
          <p:nvPr/>
        </p:nvSpPr>
        <p:spPr>
          <a:xfrm>
            <a:off x="263520" y="6411600"/>
            <a:ext cx="10916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https://www.volere.org/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Stern: 5 Zacken 6"/>
          <p:cNvSpPr/>
          <p:nvPr/>
        </p:nvSpPr>
        <p:spPr>
          <a:xfrm>
            <a:off x="9950040" y="915480"/>
            <a:ext cx="514800" cy="4946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CustomShape 1"/>
          <p:cNvSpPr/>
          <p:nvPr/>
        </p:nvSpPr>
        <p:spPr>
          <a:xfrm>
            <a:off x="335520" y="4406760"/>
            <a:ext cx="10745640" cy="13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Arial Unicode MS"/>
                <a:ea typeface="DejaVu Sans"/>
              </a:rPr>
              <a:t>Summary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CustomShape 2"/>
          <p:cNvSpPr/>
          <p:nvPr/>
        </p:nvSpPr>
        <p:spPr>
          <a:xfrm>
            <a:off x="335520" y="2906640"/>
            <a:ext cx="10745640" cy="14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Summary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HSN-Hierarchy 6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3" name="PlaceHolder 1"/>
          <p:cNvSpPr>
            <a:spLocks noGrp="1"/>
          </p:cNvSpPr>
          <p:nvPr>
            <p:ph/>
          </p:nvPr>
        </p:nvSpPr>
        <p:spPr>
          <a:xfrm>
            <a:off x="609480" y="1661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Different types of documentation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Natural language, conceptual models, and hybrid approach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Different perspectives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Data, functional, and behavioral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Standardized structures available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Standards provide means to structure requirements documents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Indicate what should be the content of a requirements specification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47"/>
          <p:cNvSpPr/>
          <p:nvPr/>
        </p:nvSpPr>
        <p:spPr>
          <a:xfrm>
            <a:off x="542880" y="721800"/>
            <a:ext cx="10353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Summary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HSN-Hierarchy 10"/>
          <p:cNvSpPr/>
          <p:nvPr/>
        </p:nvSpPr>
        <p:spPr>
          <a:xfrm>
            <a:off x="451800" y="1709280"/>
            <a:ext cx="8221320" cy="43495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6" name="PlaceHolder 1"/>
          <p:cNvSpPr>
            <a:spLocks noGrp="1"/>
          </p:cNvSpPr>
          <p:nvPr>
            <p:ph/>
          </p:nvPr>
        </p:nvSpPr>
        <p:spPr>
          <a:xfrm>
            <a:off x="609480" y="1661400"/>
            <a:ext cx="10584360" cy="4852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Standards do not: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indicate how to specify different parts or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indicate how to guarantee the characteristics of a good document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support to choose notation to specify a certain section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support in how to achieve for example completeness or traceability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Quality of the documentation is important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CustomShape 1"/>
          <p:cNvSpPr/>
          <p:nvPr/>
        </p:nvSpPr>
        <p:spPr>
          <a:xfrm>
            <a:off x="335520" y="1268640"/>
            <a:ext cx="10743480" cy="50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US" sz="4000" spc="-1" strike="noStrike">
                <a:solidFill>
                  <a:srgbClr val="000000"/>
                </a:solidFill>
                <a:latin typeface="DejaVu Sans"/>
                <a:ea typeface="DejaVu Sans"/>
              </a:rPr>
              <a:t>Questions?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CustomShape 3"/>
          <p:cNvSpPr/>
          <p:nvPr/>
        </p:nvSpPr>
        <p:spPr>
          <a:xfrm>
            <a:off x="335520" y="764640"/>
            <a:ext cx="1074348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title"/>
          </p:nvPr>
        </p:nvSpPr>
        <p:spPr>
          <a:xfrm>
            <a:off x="542880" y="685800"/>
            <a:ext cx="10355040" cy="49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marL="216000" indent="-216000" algn="ctr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1" lang="de-DE" sz="1800" spc="-1" strike="noStrike">
                <a:solidFill>
                  <a:srgbClr val="000000"/>
                </a:solidFill>
                <a:latin typeface="Arial"/>
                <a:ea typeface="DejaVu Sans"/>
              </a:rPr>
              <a:t>References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230</TotalTime>
  <Application>LibreOffice/7.4.7.2$Linux_X86_64 LibreOffice_project/40$Build-2</Application>
  <AppVersion>15.0000</AppVersion>
  <Words>3568</Words>
  <Paragraphs>732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/>
  <dcterms:modified xsi:type="dcterms:W3CDTF">2025-11-03T12:23:08Z</dcterms:modified>
  <cp:revision>3353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2</vt:i4>
  </property>
  <property fmtid="{D5CDD505-2E9C-101B-9397-08002B2CF9AE}" pid="3" name="Notes">
    <vt:i4>57</vt:i4>
  </property>
  <property fmtid="{D5CDD505-2E9C-101B-9397-08002B2CF9AE}" pid="4" name="PresentationFormat">
    <vt:lpwstr>Widescreen</vt:lpwstr>
  </property>
  <property fmtid="{D5CDD505-2E9C-101B-9397-08002B2CF9AE}" pid="5" name="Slides">
    <vt:i4>68</vt:i4>
  </property>
</Properties>
</file>