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25.xml" ContentType="application/vnd.openxmlformats-officedocument.presentationml.notesSlide+xml"/>
  <Override PartName="/ppt/notesSlides/_rels/notesSlide32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25.xml.rels" ContentType="application/vnd.openxmlformats-package.relationship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16.xml.rels" ContentType="application/vnd.openxmlformats-package.relationships+xml"/>
  <Override PartName="/ppt/slides/_rels/slide32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36.xml.rels" ContentType="application/vnd.openxmlformats-package.relationships+xml"/>
  <Override PartName="/ppt/slides/_rels/slide21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34.xml.rels" ContentType="application/vnd.openxmlformats-package.relationships+xml"/>
  <Override PartName="/ppt/slides/_rels/slide6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omments/comment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presProps" Target="presProps.xml"/><Relationship Id="rId44" Type="http://schemas.openxmlformats.org/officeDocument/2006/relationships/commentAuthors" Target="commentAuthors.xml"/>
</Relationships>
</file>

<file path=ppt/comments/comment3.xml><?xml version="1.0" encoding="utf-8"?>
<p:cmLst xmlns:p="http://schemas.openxmlformats.org/presentationml/2006/main">
  <p:cm authorId="0" dt="2022-01-31T12:59:36.000000000" idx="1">
    <p:pos x="0" y="0"/>
    <p:text>Add these headings to the lecture slides where they will be placed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E30671C-6D3C-406B-8250-967534E48332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4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04D680-7FAC-489F-BB7A-FEAB73CFDD46}" type="slidenum">
              <a:rPr b="0" lang="de-DE" sz="1200" spc="-1" strike="noStrike">
                <a:solidFill>
                  <a:srgbClr val="000000"/>
                </a:solidFill>
                <a:latin typeface="DejaVu Serif"/>
                <a:ea typeface="+mn-ea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5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6C4536-CA09-413D-9663-3F964071984F}" type="slidenum">
              <a:rPr b="0" lang="de-DE" sz="1200" spc="-1" strike="noStrike">
                <a:solidFill>
                  <a:srgbClr val="000000"/>
                </a:solidFill>
                <a:latin typeface="DejaVu Serif"/>
                <a:ea typeface="+mn-ea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6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F4BAF6-3BFB-4D6E-A027-D85DD0374F53}" type="slidenum">
              <a:rPr b="0" lang="de-DE" sz="1200" spc="-1" strike="noStrike">
                <a:solidFill>
                  <a:srgbClr val="000000"/>
                </a:solidFill>
                <a:latin typeface="DejaVu Serif"/>
                <a:ea typeface="+mn-ea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7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3ADDC8-67F8-487A-9A5F-F2EF7ACCA5F5}" type="slidenum">
              <a:rPr b="0" lang="de-DE" sz="1200" spc="-1" strike="noStrike">
                <a:solidFill>
                  <a:srgbClr val="000000"/>
                </a:solidFill>
                <a:latin typeface="DejaVu Serif"/>
                <a:ea typeface="+mn-ea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3E08CB7-E3B3-4E92-8BA7-D0A282D9C2D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DE1A555-21DF-4BDB-A960-B63412F4BB57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8EDE5478-F770-48D4-A03F-ED15A918A9CC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0CD28BD3-AFAF-40D7-8973-750ECD845D7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2B52B66-7B28-4758-8D68-390961550EA0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4DB3B9F-21AE-4EEB-BF4D-92C220DC90EC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61880" cy="11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61880" cy="23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12: Traceability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4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186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9800" cy="2077200"/>
          </a:xfrm>
          <a:prstGeom prst="rect">
            <a:avLst/>
          </a:prstGeom>
          <a:ln w="0">
            <a:noFill/>
          </a:ln>
        </p:spPr>
      </p:pic>
      <p:sp>
        <p:nvSpPr>
          <p:cNvPr id="195" name="Rahmen 6"/>
          <p:cNvSpPr/>
          <p:nvPr/>
        </p:nvSpPr>
        <p:spPr>
          <a:xfrm>
            <a:off x="8879760" y="2309760"/>
            <a:ext cx="1836360" cy="225612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4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11: 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186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2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Introduction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in a Nutshell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What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happened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when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to a/the requirement(s)?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4"/>
          <p:cNvSpPr/>
          <p:nvPr/>
        </p:nvSpPr>
        <p:spPr>
          <a:xfrm>
            <a:off x="602640" y="317448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Definition – Requirements 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588240" y="1769400"/>
            <a:ext cx="10606320" cy="46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traceability refers to the ability to describe and follow the life of a requirement, in both a forwards and backwards direction (i.e., from its origins, through its development and specification, to its subsequent deployment and use, and through all periods of on-going refinement and iteration in any of these phases).”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4"/>
          <p:cNvSpPr/>
          <p:nvPr/>
        </p:nvSpPr>
        <p:spPr>
          <a:xfrm>
            <a:off x="602640" y="317448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O. C. Z. Gotel and A. C. W. Finkelstein (1994)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An Analysis of the Requirements Traceability Problem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Advantages of Traceable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 → Which other artefacts are affected by a change?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Process improvements → Trace problems in the development process back to their cause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Reuse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development artefacts associated with a requirement → If requirement is reused, the development artefact might also be reused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Accountability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Calculate/estimate the development effort to implement a requirement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Simplified cause-effect analysis, impact analysis, etc.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Advantages of Traceable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Verifiability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Easy to verify whether a requirement has been implemented or not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Identification of gold-plated solutions in the system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Gold-plated = unnecessary attention to details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Reverse function to “verifiability” → Checks for each function whether it implements a requirement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Identification of gold-plated solutions in the requirements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Tracing requirements to their origin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Analysis whether a requirement contributes to a goal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Purpose-driven Tracing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Extensive tracing is expensive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Purpose-driven!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 trace everything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 according to needs → Too much/little information (sufficient level of detail)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State Changes of a Requirement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Chris Rupp et al. (2021)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und Management – Das Handbuch für Anforderungen in jeder Situation (7</a:t>
            </a:r>
            <a:r>
              <a:rPr b="0" lang="en-US" sz="900" spc="-1" strike="noStrike" baseline="30000">
                <a:solidFill>
                  <a:srgbClr val="a6a6a6"/>
                </a:solidFill>
                <a:latin typeface="Roboto"/>
                <a:ea typeface="Roboto"/>
              </a:rPr>
              <a:t>th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 Edition)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Grafik 2" descr=""/>
          <p:cNvPicPr/>
          <p:nvPr/>
        </p:nvPicPr>
        <p:blipFill>
          <a:blip r:embed="rId1"/>
          <a:stretch/>
        </p:blipFill>
        <p:spPr>
          <a:xfrm>
            <a:off x="2892600" y="1768680"/>
            <a:ext cx="5655600" cy="446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Classification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Pre- and Post-Traceability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4" name="Grafik 2" descr=""/>
          <p:cNvPicPr/>
          <p:nvPr/>
        </p:nvPicPr>
        <p:blipFill>
          <a:blip r:embed="rId1"/>
          <a:stretch/>
        </p:blipFill>
        <p:spPr>
          <a:xfrm>
            <a:off x="684720" y="3077280"/>
            <a:ext cx="10071000" cy="1193040"/>
          </a:xfrm>
          <a:prstGeom prst="rect">
            <a:avLst/>
          </a:prstGeom>
          <a:ln w="0">
            <a:noFill/>
          </a:ln>
        </p:spPr>
      </p:pic>
      <p:sp>
        <p:nvSpPr>
          <p:cNvPr id="23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Pre-requirements-specification (pre-RS) traceability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Post-requirements-specification (post-RS) traceability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among requirements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requirement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refines/generalized/replaces requirement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Classes of Traceability Relationships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Condition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Content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Abstraction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Evolution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Miscellaneous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Condition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constraint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defines a constraint on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precondition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 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defines a condition that must be fulfilled before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can be realized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similar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associated artefacts are similar in content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compares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represents the result of a comparison of the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contradicts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artefacts cannot be realized together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conflicts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may hinder (but not necessarily exclude) the realization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Abstraction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classifies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classifies a set of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a goal classifies a set of solution-oriented requirements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aggregates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an aggregation of a set of other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 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generalizes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 generalization of (one or) several other artefacts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an abstract scenario (e.g., a type scenario) is a generalization of a set of more concrete scenarios (e.g., instance scenarios)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Evolution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numCol="2" spcCol="36000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replaces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replaces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based_on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has influenced the definition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formalizes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 formal documentation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relate a solution-oriented requirements model to a set of textual requirements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refines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refines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derived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was derived based on (a set of) other artefact(s)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CustomShape 5"/>
          <p:cNvSpPr/>
          <p:nvPr/>
        </p:nvSpPr>
        <p:spPr>
          <a:xfrm>
            <a:off x="268920" y="649692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Miscellaneous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example_of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contains exemplary aspects of a set of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relates an interaction scenario to a set of solution-oriented requirements to document an exemplary sequence of interactions that a system implementing the solution-oriented requirements will support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verifies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verifies requirement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rationale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justifies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text fragment contains justification for the existence of a scenario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Miscellaneous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responsible_for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(or role)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responsible for the associated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background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 background information to a requirement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standardization document relating to a solution-oriented requirement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comment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Relates any kind of information to a requirements artefact – use sparingly!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DocumentaTION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Textual references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Hyperlinks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models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Matrix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Textual References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R2-17: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selecting the trip destination, the navigation system shall display the last ten trip destinations. [based_on→R1-17] […]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4"/>
          <p:cNvSpPr/>
          <p:nvPr/>
        </p:nvSpPr>
        <p:spPr>
          <a:xfrm>
            <a:off x="602640" y="325764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Hyperlinks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1"/>
          <p:cNvSpPr/>
          <p:nvPr/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R2-17: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For selecting the trip destination, the navigation system shall display the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last ten trip destinations.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R3-11: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The system shall not store any information about the destinations of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previous trips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4"/>
          <p:cNvSpPr/>
          <p:nvPr/>
        </p:nvSpPr>
        <p:spPr>
          <a:xfrm>
            <a:off x="542880" y="2280240"/>
            <a:ext cx="10577880" cy="1106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" name="CustomShape 4"/>
          <p:cNvSpPr/>
          <p:nvPr/>
        </p:nvSpPr>
        <p:spPr>
          <a:xfrm>
            <a:off x="542880" y="4100760"/>
            <a:ext cx="10577880" cy="1106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Textfeld 1"/>
          <p:cNvSpPr/>
          <p:nvPr/>
        </p:nvSpPr>
        <p:spPr>
          <a:xfrm>
            <a:off x="1145160" y="3526200"/>
            <a:ext cx="365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hyperlink (type: conflicts)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Gerade Verbindung mit Pfeil 3"/>
          <p:cNvSpPr/>
          <p:nvPr/>
        </p:nvSpPr>
        <p:spPr>
          <a:xfrm>
            <a:off x="1078560" y="2930400"/>
            <a:ext cx="360" cy="1262520"/>
          </a:xfrm>
          <a:custGeom>
            <a:avLst/>
            <a:gdLst>
              <a:gd name="textAreaLeft" fmla="*/ 0 w 360"/>
              <a:gd name="textAreaRight" fmla="*/ 23040 w 360"/>
              <a:gd name="textAreaTop" fmla="*/ 0 h 1262520"/>
              <a:gd name="textAreaBottom" fmla="*/ 1264680 h 12625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>
            <a:solidFill>
              <a:srgbClr val="00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Textual References &amp; Hyperlinks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Simple and easy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Links are textually part of the requirements themselves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Disadvantages: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 is time-consuming and tedious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Bidirectionality is difficult to achieve/maintain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Grafik 7" descr=""/>
          <p:cNvPicPr/>
          <p:nvPr/>
        </p:nvPicPr>
        <p:blipFill>
          <a:blip r:embed="rId1"/>
          <a:stretch/>
        </p:blipFill>
        <p:spPr>
          <a:xfrm>
            <a:off x="2750760" y="1865880"/>
            <a:ext cx="5923080" cy="4397760"/>
          </a:xfrm>
          <a:prstGeom prst="rect">
            <a:avLst/>
          </a:prstGeom>
          <a:ln w="0">
            <a:noFill/>
          </a:ln>
        </p:spPr>
      </p:pic>
      <p:sp>
        <p:nvSpPr>
          <p:cNvPr id="304" name="Gleichschenkliges Dreieck 12"/>
          <p:cNvSpPr/>
          <p:nvPr/>
        </p:nvSpPr>
        <p:spPr>
          <a:xfrm rot="16200000">
            <a:off x="6162120" y="193464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5" name="Gleichschenkliges Dreieck 13"/>
          <p:cNvSpPr/>
          <p:nvPr/>
        </p:nvSpPr>
        <p:spPr>
          <a:xfrm rot="16200000">
            <a:off x="3831120" y="194004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6" name="Gleichschenkliges Dreieck 3"/>
          <p:cNvSpPr/>
          <p:nvPr/>
        </p:nvSpPr>
        <p:spPr>
          <a:xfrm rot="16200000">
            <a:off x="6027840" y="242856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DejaVu Sans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DejaVu Sans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0" name="Tabelle 2"/>
          <p:cNvGraphicFramePr/>
          <p:nvPr/>
        </p:nvGraphicFramePr>
        <p:xfrm>
          <a:off x="1892880" y="2734200"/>
          <a:ext cx="8960760" cy="2856240"/>
        </p:xfrm>
        <a:graphic>
          <a:graphicData uri="http://schemas.openxmlformats.org/drawingml/2006/table">
            <a:tbl>
              <a:tblPr/>
              <a:tblGrid>
                <a:gridCol w="1493280"/>
                <a:gridCol w="1493280"/>
                <a:gridCol w="1493280"/>
                <a:gridCol w="1493280"/>
                <a:gridCol w="1493280"/>
                <a:gridCol w="1494720"/>
              </a:tblGrid>
              <a:tr h="475920"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Traceability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relationships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6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11" name="Eckige Klammer links 2"/>
          <p:cNvSpPr/>
          <p:nvPr/>
        </p:nvSpPr>
        <p:spPr>
          <a:xfrm>
            <a:off x="1456200" y="2734200"/>
            <a:ext cx="231120" cy="285048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Eckige Klammer links 10"/>
          <p:cNvSpPr/>
          <p:nvPr/>
        </p:nvSpPr>
        <p:spPr>
          <a:xfrm rot="5400000">
            <a:off x="6972840" y="-1235160"/>
            <a:ext cx="231120" cy="741672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Textfeld 4"/>
          <p:cNvSpPr/>
          <p:nvPr/>
        </p:nvSpPr>
        <p:spPr>
          <a:xfrm>
            <a:off x="5811480" y="1957680"/>
            <a:ext cx="2242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Target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feld 12"/>
          <p:cNvSpPr/>
          <p:nvPr/>
        </p:nvSpPr>
        <p:spPr>
          <a:xfrm>
            <a:off x="0" y="3736080"/>
            <a:ext cx="15793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DejaVu Sans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DejaVu Sans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8" name="Tabelle 2"/>
          <p:cNvGraphicFramePr/>
          <p:nvPr/>
        </p:nvGraphicFramePr>
        <p:xfrm>
          <a:off x="1892880" y="2734200"/>
          <a:ext cx="8960760" cy="2856240"/>
        </p:xfrm>
        <a:graphic>
          <a:graphicData uri="http://schemas.openxmlformats.org/drawingml/2006/table">
            <a:tbl>
              <a:tblPr/>
              <a:tblGrid>
                <a:gridCol w="1493280"/>
                <a:gridCol w="1493280"/>
                <a:gridCol w="1493280"/>
                <a:gridCol w="1493280"/>
                <a:gridCol w="1493280"/>
                <a:gridCol w="1494720"/>
              </a:tblGrid>
              <a:tr h="475920"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based_on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conflicts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conflicts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6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based_on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  <a:ea typeface="DejaVu Sans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19" name="Eckige Klammer links 2"/>
          <p:cNvSpPr/>
          <p:nvPr/>
        </p:nvSpPr>
        <p:spPr>
          <a:xfrm>
            <a:off x="1456200" y="2734200"/>
            <a:ext cx="231120" cy="285048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Eckige Klammer links 10"/>
          <p:cNvSpPr/>
          <p:nvPr/>
        </p:nvSpPr>
        <p:spPr>
          <a:xfrm rot="5400000">
            <a:off x="6972840" y="-1235160"/>
            <a:ext cx="231120" cy="741672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Textfeld 4"/>
          <p:cNvSpPr/>
          <p:nvPr/>
        </p:nvSpPr>
        <p:spPr>
          <a:xfrm>
            <a:off x="5811480" y="1957680"/>
            <a:ext cx="2242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Target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feld 12"/>
          <p:cNvSpPr/>
          <p:nvPr/>
        </p:nvSpPr>
        <p:spPr>
          <a:xfrm>
            <a:off x="0" y="3736080"/>
            <a:ext cx="15793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 traceability in a matrix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Rows represent the initial artefact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Columns represent the target artefact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Sources of requirements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artefacts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Advantages: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Good overview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Separation → One matrix per traceability aspect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Disadvantages: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Difficult to maintain (might be very large)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 matrices required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Rechteck 10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Graph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Grafik 2" descr=""/>
          <p:cNvPicPr/>
          <p:nvPr/>
        </p:nvPicPr>
        <p:blipFill>
          <a:blip r:embed="rId1"/>
          <a:stretch/>
        </p:blipFill>
        <p:spPr>
          <a:xfrm>
            <a:off x="4218120" y="871560"/>
            <a:ext cx="6679440" cy="5417280"/>
          </a:xfrm>
          <a:prstGeom prst="rect">
            <a:avLst/>
          </a:prstGeom>
          <a:ln w="0">
            <a:noFill/>
          </a:ln>
        </p:spPr>
      </p:pic>
      <p:sp>
        <p:nvSpPr>
          <p:cNvPr id="33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Graph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Graphical notation for traceability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Nodes represent development artefacts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Edges represent traceability relations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Infeasible to create and maintain manually → Requires tool support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Analysis and understanding of the relations among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sources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artefacts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Supports other activities 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useful for maintenance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analyze impact of (requirement) changes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Good traceability is difficult to maintain 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might help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CustomShape 1"/>
          <p:cNvSpPr/>
          <p:nvPr/>
        </p:nvSpPr>
        <p:spPr>
          <a:xfrm>
            <a:off x="335520" y="1268640"/>
            <a:ext cx="10743120" cy="50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CustomShape 3"/>
          <p:cNvSpPr/>
          <p:nvPr/>
        </p:nvSpPr>
        <p:spPr>
          <a:xfrm>
            <a:off x="335520" y="764640"/>
            <a:ext cx="107431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542880" y="685800"/>
            <a:ext cx="10354680" cy="4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de-DE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  <Words>1334</Words>
  <Paragraphs>246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2025-11-03T12:27:29Z</dcterms:modified>
  <cp:revision>3332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4</vt:i4>
  </property>
  <property fmtid="{D5CDD505-2E9C-101B-9397-08002B2CF9AE}" pid="4" name="PresentationFormat">
    <vt:lpwstr>Breitbild</vt:lpwstr>
  </property>
  <property fmtid="{D5CDD505-2E9C-101B-9397-08002B2CF9AE}" pid="5" name="Slides">
    <vt:i4>36</vt:i4>
  </property>
</Properties>
</file>