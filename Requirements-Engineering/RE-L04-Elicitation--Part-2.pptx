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_rels/notesSlide13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0.xml.rels" ContentType="application/vnd.openxmlformats-package.relationships+xml"/>
  <Override PartName="/ppt/notesSlides/notesSlide3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3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F91294E-B273-4DA0-982C-9B36B382BCB2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067B9A0F-B731-4E3B-829D-481186513BF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B86752EB-707C-4FD5-8C9E-93B092958FC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559DD75-92B0-4AE8-ADC1-1B53EB3D3F9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4555AF4-CECC-43D0-A3DC-69DFC1184AE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AEE24243-D7A1-4F20-9BEF-16AC0F8B200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7415DCD-20CE-4641-8C9A-C86BE818D56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0BFDF5A-7A41-466A-B98E-F030DCD51D7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BFC6841-870F-497B-9FD9-CB41F18A971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A07ED15E-F78D-4144-B98E-7938A0C22234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FEF5F35B-8451-4225-B417-150571AC8340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2320" cy="451944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6C572A17-1265-4B95-8A8C-A5A4CB1DC46D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2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EC8962AB-8C57-48E5-884D-59EAD52ACD2E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2320" cy="451944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5BDAAD32-2F27-4D38-9998-26697AA1B05B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CustomShape 2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FD9CF3F4-1AEA-42F1-90D1-E14F52CCFD97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2320" cy="451944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4268DD59-D403-4952-BF4E-1C9BDD56063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1035360" y="4777200"/>
            <a:ext cx="5692320" cy="4518000"/>
          </a:xfrm>
          <a:prstGeom prst="rect">
            <a:avLst/>
          </a:prstGeom>
          <a:noFill/>
          <a:ln w="0">
            <a:noFill/>
          </a:ln>
        </p:spPr>
        <p:txBody>
          <a:bodyPr lIns="95400" rIns="95400" tIns="47520" bIns="475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38F0FD77-D420-4DCF-9E8A-2117B8885EC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CustomShape 2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F497EC1B-65DE-4716-A597-4E6FE9A7D3ED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2320" cy="451944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1D88943-BB59-4BD1-9383-5F6AF69ABD6E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59B6A283-3289-4FA4-927B-F9C2E4EF24B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7AE115C6-DC9C-4913-A37E-7D282507ECF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0347FE4-E843-47F7-A10D-7D030AF7DAD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253DB3D-680B-4E33-A843-8637B90F1E7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69C78DB7-F8BD-4F86-94CC-58B735F8FE7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DFFCFF7C-055C-419F-8B7A-50CD5B5E7243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CustomShape 2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EC49C60F-471A-4045-B4EF-F2276771DAD8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538200" y="755640"/>
            <a:ext cx="6689160" cy="376200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2320" cy="451944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1D7CFF0-85BB-407F-A138-CE9D4692149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60E894CB-CAF9-4956-A67A-CC313921385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E3DC44CD-AE99-4C50-B2B2-2C175940619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TextShape 1"/>
          <p:cNvSpPr/>
          <p:nvPr/>
        </p:nvSpPr>
        <p:spPr>
          <a:xfrm>
            <a:off x="4403520" y="9555840"/>
            <a:ext cx="3359880" cy="4942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75134EED-C456-4063-AB81-01D69C89B8F7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920" cy="376272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1035360" y="4777200"/>
            <a:ext cx="5692320" cy="4518000"/>
          </a:xfrm>
          <a:prstGeom prst="rect">
            <a:avLst/>
          </a:prstGeom>
          <a:noFill/>
          <a:ln w="0">
            <a:noFill/>
          </a:ln>
        </p:spPr>
        <p:txBody>
          <a:bodyPr lIns="95400" rIns="95400" tIns="47520" bIns="475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Nicht sicher, ob ich die Schrift in der Skizze richtig deuten konnte.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000" cy="451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Shape 3"/>
          <p:cNvSpPr/>
          <p:nvPr/>
        </p:nvSpPr>
        <p:spPr>
          <a:xfrm>
            <a:off x="4399200" y="9555480"/>
            <a:ext cx="3365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621F0DBA-F7F2-4A4D-B3DB-6125E7F1530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351ABA8-02FB-4027-9CA0-55849D729F5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8299454-63A7-4BB8-9BBB-4A32F54B6C1C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6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1E306B9-557D-4F88-9F8F-B2D9E2B6AB24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CustomShape 6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2B9B168-455F-4CC2-B04B-A4D6135F8ADF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4C7D18-797F-496E-8347-672847246D16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59000" cy="11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5900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Elicitation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Part 2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8360" cy="2075760"/>
          </a:xfrm>
          <a:prstGeom prst="rect">
            <a:avLst/>
          </a:prstGeom>
          <a:ln w="0">
            <a:noFill/>
          </a:ln>
        </p:spPr>
      </p:pic>
      <p:sp>
        <p:nvSpPr>
          <p:cNvPr id="195" name="CustomShape 3"/>
          <p:cNvSpPr/>
          <p:nvPr/>
        </p:nvSpPr>
        <p:spPr>
          <a:xfrm>
            <a:off x="474120" y="2297880"/>
            <a:ext cx="1814400" cy="225468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Shape 2"/>
          <p:cNvSpPr/>
          <p:nvPr/>
        </p:nvSpPr>
        <p:spPr>
          <a:xfrm>
            <a:off x="465840" y="1339200"/>
            <a:ext cx="11516400" cy="4854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564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Clr>
                <a:srgbClr val="000000"/>
              </a:buClr>
              <a:buFont typeface="StarSymbol"/>
              <a:buAutoNum type="arabicPlain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Elicitation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Clr>
                <a:srgbClr val="000000"/>
              </a:buClr>
              <a:buFont typeface="StarSymbol"/>
              <a:buAutoNum type="arabicPlain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Assistance/Support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CustomShape 10"/>
          <p:cNvSpPr/>
          <p:nvPr/>
        </p:nvSpPr>
        <p:spPr>
          <a:xfrm>
            <a:off x="0" y="6858000"/>
            <a:ext cx="12183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HSN:/RE as part of Software Engineering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CustomShape 15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Elicitation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20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203" name="Table 4"/>
          <p:cNvGraphicFramePr/>
          <p:nvPr/>
        </p:nvGraphicFramePr>
        <p:xfrm>
          <a:off x="732960" y="1813320"/>
          <a:ext cx="9979920" cy="4519080"/>
        </p:xfrm>
        <a:graphic>
          <a:graphicData uri="http://schemas.openxmlformats.org/drawingml/2006/table">
            <a:tbl>
              <a:tblPr/>
              <a:tblGrid>
                <a:gridCol w="1930320"/>
                <a:gridCol w="1930320"/>
                <a:gridCol w="1930320"/>
                <a:gridCol w="1930320"/>
                <a:gridCol w="2259000"/>
              </a:tblGrid>
              <a:tr h="88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Survey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Creativity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Document-centric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Observation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Support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Interviews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System Archaeology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Field Observation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Mind Mapping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480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Questionnaires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 Paradox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Perspective-based Reading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Apprenticing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Workshops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Change of Perspective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Reuse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CRC Cards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58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Analogy Technique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Audio and Video Recording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Use Case Modeling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5712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Prototypes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Reuse of solutions and experiences made with existing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Used when a legacy system is replaced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 sure that the new system covers all important features of the legacy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combined with other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Validation of the elicited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Discovery of new requirements impossible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Shape 1"/>
          <p:cNvSpPr/>
          <p:nvPr/>
        </p:nvSpPr>
        <p:spPr>
          <a:xfrm>
            <a:off x="465840" y="2057400"/>
            <a:ext cx="10728000" cy="4137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Document analysis is an important part of requirements elicitation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Typical types of documents: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Development documents (of current or earlier systems)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Standards &amp; Norms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Compliance (legal information)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542880" y="7185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System Archaeology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Extracts information from documentation or implementations of existing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Legacy systems or competitor’s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recover lost knowledge about system logic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logic is elicited anew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Yields large amount of detailed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Reuse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Assumption: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Documented requirements are available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requirements have a high quality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Such requirements do not have to be reelicited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Instead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just reuse the existing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Saves costs and time!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Perspective-based Reading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Analyzes documents from a certain perspective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implementer or tester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aspects not related to the perspective are ignored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Allows analysis focused on particular aspects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separate technology-related or implementation- related aspects from operational aspects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Shape 1"/>
          <p:cNvSpPr/>
          <p:nvPr/>
        </p:nvSpPr>
        <p:spPr>
          <a:xfrm>
            <a:off x="465840" y="2057400"/>
            <a:ext cx="10728000" cy="4137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Define goals and expected results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Define perspectives based on the goals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Pick documents based on the defined perspectives and goal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Choose stakeholders matching the perspectives to do the reading</a:t>
            </a:r>
            <a:r>
              <a:rPr b="0" lang="en-US" sz="185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endParaRPr b="0" lang="en-GB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CustomShape 2"/>
          <p:cNvSpPr/>
          <p:nvPr/>
        </p:nvSpPr>
        <p:spPr>
          <a:xfrm>
            <a:off x="542880" y="71784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Prepare Perspective-based Reading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CustomShape 4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Shape 1"/>
          <p:cNvSpPr/>
          <p:nvPr/>
        </p:nvSpPr>
        <p:spPr>
          <a:xfrm>
            <a:off x="465840" y="2057400"/>
            <a:ext cx="10728000" cy="4137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16440" indent="-31608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 two methods to conduct perspective-based reading are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sequenced reading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and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top-down reading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Sequenced reading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whole documents are read with the defined perspectives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99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Top-down reading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documents must have structuring means (table of contents, index, list of figures etc.)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Only relevant text passages found with the structuring means and the perspective are read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CustomShape 2"/>
          <p:cNvSpPr/>
          <p:nvPr/>
        </p:nvSpPr>
        <p:spPr>
          <a:xfrm>
            <a:off x="542880" y="71784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Conduct Perspective-based Reading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4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Documenting the requirements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 the gained requirements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Ensure the traceability between the requirements and the text passages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542880" y="71748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Document-centric Techniques – Post-process Perspective-based Reading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CustomShape 4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239" name="Table 4"/>
          <p:cNvGraphicFramePr/>
          <p:nvPr/>
        </p:nvGraphicFramePr>
        <p:xfrm>
          <a:off x="732960" y="1813320"/>
          <a:ext cx="9979920" cy="4519080"/>
        </p:xfrm>
        <a:graphic>
          <a:graphicData uri="http://schemas.openxmlformats.org/drawingml/2006/table">
            <a:tbl>
              <a:tblPr/>
              <a:tblGrid>
                <a:gridCol w="1930320"/>
                <a:gridCol w="1930320"/>
                <a:gridCol w="1930320"/>
                <a:gridCol w="1930320"/>
                <a:gridCol w="2259000"/>
              </a:tblGrid>
              <a:tr h="88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Survey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Creativity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Document-centric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Observation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Support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Interviews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System Archaeology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Field Observation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Mind Mapping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480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Questionnaires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 Paradox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Perspective-based Reading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Apprenticing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Workshops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Change of Perspective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Reuse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CRC Cards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58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Analogy Technique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Audio and Video Recording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Use Case Modeling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5712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Prototypes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Observation of stakeholders during their work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Instead of a stakeholder or domain expert describing their work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Active demonstration or passive observation both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 documents all steps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Elicits the business process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Observes mistakes, risks, and open questions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 the existing process in order to determine how the process should look like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Avoids documenting an outdated or suboptimal process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to obtain dissatisfiers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well-suited for the development of new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1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Field Observation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2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" name="TextShape 3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 is on location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Observes and documents processes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be supported by video and audio recordings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for requirements and processes that are difficult to describe verbally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Instead, they are simply shown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ustomShape 4"/>
          <p:cNvSpPr/>
          <p:nvPr/>
        </p:nvSpPr>
        <p:spPr>
          <a:xfrm>
            <a:off x="542880" y="72324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Shape 1"/>
          <p:cNvSpPr/>
          <p:nvPr/>
        </p:nvSpPr>
        <p:spPr>
          <a:xfrm>
            <a:off x="465840" y="1339200"/>
            <a:ext cx="10727640" cy="48553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Decide on the purpose of the observation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Decide on the object of the observation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Work results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 the planed work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Field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/ Preparation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CustomShape 3"/>
          <p:cNvSpPr/>
          <p:nvPr/>
        </p:nvSpPr>
        <p:spPr>
          <a:xfrm>
            <a:off x="542880" y="72324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Shape 1"/>
          <p:cNvSpPr/>
          <p:nvPr/>
        </p:nvSpPr>
        <p:spPr>
          <a:xfrm>
            <a:off x="465840" y="1743120"/>
            <a:ext cx="10727640" cy="4451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343080" indent="-34272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Ethnographic observation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observer works together with the stakeholders over a longer time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During this time the observer watches the stakeholders to learn and understand their mode of operation and procedure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possible, the observer does these operations independently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Direct observation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observer watches the stakeholders, analyses their operations and asks comprehension questions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Also systems can be observed through observation of their usage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</a:t>
            </a: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Conduct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 Observation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CustomShape 3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Shape 1"/>
          <p:cNvSpPr/>
          <p:nvPr/>
        </p:nvSpPr>
        <p:spPr>
          <a:xfrm>
            <a:off x="465840" y="1743120"/>
            <a:ext cx="10727640" cy="4451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Guideline for an observation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Gain the trust of the observed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Pay attention to details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Write down your expressions immediately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 the objectivity of your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 the authenticity of the observed activities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Forms of 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Audio recording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Video recording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Field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 Observation / Conducting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3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Shape 1"/>
          <p:cNvSpPr/>
          <p:nvPr/>
        </p:nvSpPr>
        <p:spPr>
          <a:xfrm>
            <a:off x="465840" y="1743120"/>
            <a:ext cx="10727640" cy="4878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24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Observation of stakeholders in their environment: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done by observer, camera or computer monitoring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Objectives are: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fundamental knowledge, that nobody is going to mention (implicit knowledge)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Find hidden requirements / causes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Get a better understanding for the real situation on the side of the requirements engineers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Disadvantages: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Large amounts of irrelevant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Time consuming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Rare events may be eventually disregarded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Field Observation / Conducting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CustomShape 3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Shape 1"/>
          <p:cNvSpPr/>
          <p:nvPr/>
        </p:nvSpPr>
        <p:spPr>
          <a:xfrm>
            <a:off x="465840" y="1743120"/>
            <a:ext cx="10727640" cy="44514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Post process the records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Link the records of your observation with the gained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Adjust  your results together with the participating stakeholders (for example with an interview or a workshop)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Field Observation / Post-processing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3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Observation Techniques – Apprenticing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requirements engineer actively learns and performs the procedures of the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Like an apprentice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Encouraged to question unclear and complex procedures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Allows the elicitation of requirements the stakeholders take for granted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Reverses the balance of power between the requirements engineer and the domain specialist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5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335520" y="4406760"/>
            <a:ext cx="10744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Assistance / Support Techniques</a:t>
            </a: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	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335520" y="2906640"/>
            <a:ext cx="10744920" cy="14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273" name="Table 4"/>
          <p:cNvGraphicFramePr/>
          <p:nvPr/>
        </p:nvGraphicFramePr>
        <p:xfrm>
          <a:off x="732960" y="1813320"/>
          <a:ext cx="9979920" cy="4519080"/>
        </p:xfrm>
        <a:graphic>
          <a:graphicData uri="http://schemas.openxmlformats.org/drawingml/2006/table">
            <a:tbl>
              <a:tblPr/>
              <a:tblGrid>
                <a:gridCol w="1930320"/>
                <a:gridCol w="1930320"/>
                <a:gridCol w="1930320"/>
                <a:gridCol w="1930320"/>
                <a:gridCol w="2259000"/>
              </a:tblGrid>
              <a:tr h="88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Survey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Creativity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Document-centric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Observation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Support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Interviews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System Archaeology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Field Observation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Mind Mapping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480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Questionnaires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 Paradox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Perspective-based Reading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Apprenticing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Workshops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Change of Perspective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Reuse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CRC Cards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58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Analogy Technique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Audio and Video Recording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Use Case Modeling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5712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Prototypes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the previously presented elicitation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techniques not only related to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every support technique is suitable for every elicitation technique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improve the efficiency, balance out weakness, or prevent pitfalls of a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Mind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" name="TextShape 4"/>
          <p:cNvSpPr/>
          <p:nvPr/>
        </p:nvSpPr>
        <p:spPr>
          <a:xfrm>
            <a:off x="609480" y="1769400"/>
            <a:ext cx="10583640" cy="8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Graphical representation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Shows relationships and interdependencies between terms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Grafik 2" descr=""/>
          <p:cNvPicPr/>
          <p:nvPr/>
        </p:nvPicPr>
        <p:blipFill>
          <a:blip r:embed="rId1"/>
          <a:stretch/>
        </p:blipFill>
        <p:spPr>
          <a:xfrm>
            <a:off x="1995480" y="2663640"/>
            <a:ext cx="7447680" cy="3785040"/>
          </a:xfrm>
          <a:prstGeom prst="rect">
            <a:avLst/>
          </a:prstGeom>
          <a:ln w="0">
            <a:noFill/>
          </a:ln>
        </p:spPr>
      </p:pic>
      <p:sp>
        <p:nvSpPr>
          <p:cNvPr id="283" name="CustomShape 5"/>
          <p:cNvSpPr/>
          <p:nvPr/>
        </p:nvSpPr>
        <p:spPr>
          <a:xfrm>
            <a:off x="263520" y="6411600"/>
            <a:ext cx="10915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Joint meeting of requirements engineer and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meeting to elaborate on goals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also go into details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a workshop to design the user interfaces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Shape 1"/>
          <p:cNvSpPr/>
          <p:nvPr/>
        </p:nvSpPr>
        <p:spPr>
          <a:xfrm>
            <a:off x="465840" y="1339200"/>
            <a:ext cx="10732320" cy="5058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Objective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Define the objective of the workshop explicitly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Work results and procedure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Decide the work results explicitly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Define the procedure to gain and develop the work results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Combine them to an agenda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Plan regular breaks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542880" y="7207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3"/>
          <p:cNvSpPr/>
          <p:nvPr/>
        </p:nvSpPr>
        <p:spPr>
          <a:xfrm>
            <a:off x="542880" y="12661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Prepare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CustomShape 1"/>
          <p:cNvSpPr/>
          <p:nvPr/>
        </p:nvSpPr>
        <p:spPr>
          <a:xfrm>
            <a:off x="542880" y="7207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2"/>
          <p:cNvSpPr/>
          <p:nvPr/>
        </p:nvSpPr>
        <p:spPr>
          <a:xfrm>
            <a:off x="542880" y="12661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Prepare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ustomShape 3"/>
          <p:cNvSpPr/>
          <p:nvPr/>
        </p:nvSpPr>
        <p:spPr>
          <a:xfrm>
            <a:off x="457200" y="1980720"/>
            <a:ext cx="10882440" cy="46004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Participants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Choose the participants based on the work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Make sure your selection of participants is representative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Invite the participants early enough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Agree with the participants upon the work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Location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Ensure the location has enough room for the participants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Provide the proper atmosphere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Organize technical equipment (whiteboard, projector etc.)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Moderator and transcript writer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Invite an external moderator and an external transcript writer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2"/>
          <p:cNvSpPr/>
          <p:nvPr/>
        </p:nvSpPr>
        <p:spPr>
          <a:xfrm>
            <a:off x="542880" y="7203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3"/>
          <p:cNvSpPr/>
          <p:nvPr/>
        </p:nvSpPr>
        <p:spPr>
          <a:xfrm>
            <a:off x="542880" y="12657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Prepare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Introduction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Present the workshops object and work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Give the participants the opportunity to discuss them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Explain the procedure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Set the discussion rules explicitly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Let the participants vote on the application of these rules one by one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Working part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Make sure that the participants adhere to the agenda and the discussion rules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Protocol the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 and identify conflicts and try to solve them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 decisions explicitly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CustomShape 2"/>
          <p:cNvSpPr/>
          <p:nvPr/>
        </p:nvSpPr>
        <p:spPr>
          <a:xfrm>
            <a:off x="542880" y="7200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Conduct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Finish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Be sure to gather all remaining topics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Define the further procedure for each remaining topic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Allow your participants to give a feedback about the workshop (participants have the last word)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Thank the participants for their attendance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CustomShape 2"/>
          <p:cNvSpPr/>
          <p:nvPr/>
        </p:nvSpPr>
        <p:spPr>
          <a:xfrm>
            <a:off x="542880" y="71964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Conduct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Consolidate the work results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Ask the participants for their approval of the transcript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Let each participant approve on the consolidated work results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CustomShape 2"/>
          <p:cNvSpPr/>
          <p:nvPr/>
        </p:nvSpPr>
        <p:spPr>
          <a:xfrm>
            <a:off x="542880" y="71928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Post-processing Workshop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Prototypes for Illustrations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to illustrate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Allows clarification of vague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Consequences of new or changed requirements can be identified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Mostly used for user interface prototypes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Shape 1"/>
          <p:cNvSpPr/>
          <p:nvPr/>
        </p:nvSpPr>
        <p:spPr>
          <a:xfrm>
            <a:off x="465840" y="1743120"/>
            <a:ext cx="10727640" cy="4649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2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Prototypes can be very different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Paper prototypes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for graphical user interfaces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Wizard of Oz” Prototype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of a graphical user interface (GUI), but input will be sent directly to an operator, who is simulating the systems behavior and who produces the appropriate output.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prototypes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realized in Visual Basic  (throw-away prototypes)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Prototypes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3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Shape 1"/>
          <p:cNvSpPr/>
          <p:nvPr/>
        </p:nvSpPr>
        <p:spPr>
          <a:xfrm>
            <a:off x="465840" y="1339200"/>
            <a:ext cx="10728000" cy="4855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Special form of workshop (6-10 participants)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Start with problems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e.g. map collection, flipchart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Collect reasons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Then focus on optimal solution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But not only opposites of the problems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Collect reasons, too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Then group the issues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Should be about 40 issues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Then priorities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e.g. distribute 10 points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e.g. in groups according to stakeholder roles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Finish with a review of the results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CustomShape 2"/>
          <p:cNvSpPr/>
          <p:nvPr/>
        </p:nvSpPr>
        <p:spPr>
          <a:xfrm>
            <a:off x="542880" y="7189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CustomShape 3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Focus Group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4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CRC Cards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CRC = Class Responsibility Collaboration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Denote context aspects and their attributes on index cards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Formulate requirements based on the cards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5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Audio and Video Recordings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Recordings as substitute for actual contact with the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the stakeholders are not available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budget is tight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system is highly critical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useful for field observations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might feel supervised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Might refuse to participate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CustomShape 5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Assistance / Support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CustomShape 2"/>
          <p:cNvSpPr/>
          <p:nvPr/>
        </p:nvSpPr>
        <p:spPr>
          <a:xfrm>
            <a:off x="542880" y="12672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Support Techniques – Modeling Action Sequences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3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TextShape 4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 are the external view of how the system will be used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Have a trigger event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Have an expected result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Describe functionality that the system must support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CustomShape 5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CustomShape 1"/>
          <p:cNvSpPr/>
          <p:nvPr/>
        </p:nvSpPr>
        <p:spPr>
          <a:xfrm>
            <a:off x="335520" y="4406760"/>
            <a:ext cx="10744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CustomShape 2"/>
          <p:cNvSpPr/>
          <p:nvPr/>
        </p:nvSpPr>
        <p:spPr>
          <a:xfrm>
            <a:off x="335520" y="2906640"/>
            <a:ext cx="10744920" cy="14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CustomShape 1"/>
          <p:cNvSpPr/>
          <p:nvPr/>
        </p:nvSpPr>
        <p:spPr>
          <a:xfrm>
            <a:off x="1823400" y="2057400"/>
            <a:ext cx="4977000" cy="50724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Prepare about domain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2"/>
          <p:cNvSpPr/>
          <p:nvPr/>
        </p:nvSpPr>
        <p:spPr>
          <a:xfrm>
            <a:off x="1540440" y="2943360"/>
            <a:ext cx="5558040" cy="53568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Identify Information Goals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CustomShape 3"/>
          <p:cNvSpPr/>
          <p:nvPr/>
        </p:nvSpPr>
        <p:spPr>
          <a:xfrm>
            <a:off x="1547280" y="3888000"/>
            <a:ext cx="5551560" cy="69696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Determine appr.techniques / identify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CustomShape 4"/>
          <p:cNvSpPr/>
          <p:nvPr/>
        </p:nvSpPr>
        <p:spPr>
          <a:xfrm>
            <a:off x="2244960" y="4965480"/>
            <a:ext cx="4161960" cy="52344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Conduct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5"/>
          <p:cNvSpPr/>
          <p:nvPr/>
        </p:nvSpPr>
        <p:spPr>
          <a:xfrm flipH="1" rot="16200000">
            <a:off x="4132440" y="2754000"/>
            <a:ext cx="362160" cy="360"/>
          </a:xfrm>
          <a:custGeom>
            <a:avLst/>
            <a:gdLst>
              <a:gd name="textAreaLeft" fmla="*/ -720 w 362160"/>
              <a:gd name="textAreaRight" fmla="*/ 362880 w 36216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2880" bIns="2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9" name="CustomShape 6"/>
          <p:cNvSpPr/>
          <p:nvPr/>
        </p:nvSpPr>
        <p:spPr>
          <a:xfrm flipH="1" rot="16200000">
            <a:off x="4117320" y="3683520"/>
            <a:ext cx="392040" cy="360"/>
          </a:xfrm>
          <a:custGeom>
            <a:avLst/>
            <a:gdLst>
              <a:gd name="textAreaLeft" fmla="*/ 720 w 392040"/>
              <a:gd name="textAreaRight" fmla="*/ 394200 w 39204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2880" bIns="2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0" name="CustomShape 7"/>
          <p:cNvSpPr/>
          <p:nvPr/>
        </p:nvSpPr>
        <p:spPr>
          <a:xfrm flipH="1" rot="16200000">
            <a:off x="4134240" y="4775040"/>
            <a:ext cx="363960" cy="360"/>
          </a:xfrm>
          <a:custGeom>
            <a:avLst/>
            <a:gdLst>
              <a:gd name="textAreaLeft" fmla="*/ 720 w 363960"/>
              <a:gd name="textAreaRight" fmla="*/ 366120 w 36396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2880" bIns="2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1" name="CustomShape 8"/>
          <p:cNvSpPr/>
          <p:nvPr/>
        </p:nvSpPr>
        <p:spPr>
          <a:xfrm flipH="1" rot="16200000">
            <a:off x="4070880" y="5746680"/>
            <a:ext cx="499320" cy="360"/>
          </a:xfrm>
          <a:custGeom>
            <a:avLst/>
            <a:gdLst>
              <a:gd name="textAreaLeft" fmla="*/ 720 w 499320"/>
              <a:gd name="textAreaRight" fmla="*/ 501480 w 49932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2880" bIns="28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CustomShape 9"/>
          <p:cNvSpPr/>
          <p:nvPr/>
        </p:nvSpPr>
        <p:spPr>
          <a:xfrm rot="10800000">
            <a:off x="1548360" y="3223800"/>
            <a:ext cx="696600" cy="2007360"/>
          </a:xfrm>
          <a:prstGeom prst="bentConnector3">
            <a:avLst>
              <a:gd name="adj1" fmla="val 185666"/>
            </a:avLst>
          </a:pr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343" name="Group 10"/>
          <p:cNvGrpSpPr/>
          <p:nvPr/>
        </p:nvGrpSpPr>
        <p:grpSpPr>
          <a:xfrm>
            <a:off x="7539480" y="2774520"/>
            <a:ext cx="3654000" cy="1742760"/>
            <a:chOff x="7539480" y="2774520"/>
            <a:chExt cx="3654000" cy="1742760"/>
          </a:xfrm>
        </p:grpSpPr>
        <p:sp>
          <p:nvSpPr>
            <p:cNvPr id="344" name="CustomShape 11"/>
            <p:cNvSpPr/>
            <p:nvPr/>
          </p:nvSpPr>
          <p:spPr>
            <a:xfrm>
              <a:off x="7539480" y="2774520"/>
              <a:ext cx="3654000" cy="1742760"/>
            </a:xfrm>
            <a:prstGeom prst="cloud">
              <a:avLst/>
            </a:prstGeom>
            <a:solidFill>
              <a:srgbClr val="fbc726"/>
            </a:solidFill>
            <a:ln w="0"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5" name="CustomShape 12"/>
            <p:cNvSpPr/>
            <p:nvPr/>
          </p:nvSpPr>
          <p:spPr>
            <a:xfrm>
              <a:off x="7809840" y="2946960"/>
              <a:ext cx="2981520" cy="130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Not shown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: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  <a:p>
              <a:pPr marL="216000" indent="-215640">
                <a:lnSpc>
                  <a:spcPct val="100000"/>
                </a:lnSpc>
                <a:buClr>
                  <a:srgbClr val="000000"/>
                </a:buClr>
                <a:buFont typeface="Arial"/>
                <a:buChar char="•"/>
              </a:pP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 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Application of analysis techniques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  <a:p>
              <a:pPr marL="216000" indent="-215640">
                <a:lnSpc>
                  <a:spcPct val="100000"/>
                </a:lnSpc>
                <a:buClr>
                  <a:srgbClr val="000000"/>
                </a:buClr>
                <a:buFont typeface="Arial"/>
                <a:buChar char="•"/>
              </a:pP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 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Often overlapping and parallel activities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46" name="CustomShape 13"/>
          <p:cNvSpPr/>
          <p:nvPr/>
        </p:nvSpPr>
        <p:spPr>
          <a:xfrm rot="16200000">
            <a:off x="228240" y="3869280"/>
            <a:ext cx="1371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still deficits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ustomShape 14"/>
          <p:cNvSpPr/>
          <p:nvPr/>
        </p:nvSpPr>
        <p:spPr>
          <a:xfrm>
            <a:off x="4167000" y="5557320"/>
            <a:ext cx="3350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Sufficient knowledge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48" name="Group 15"/>
          <p:cNvGrpSpPr/>
          <p:nvPr/>
        </p:nvGrpSpPr>
        <p:grpSpPr>
          <a:xfrm>
            <a:off x="4073040" y="6004800"/>
            <a:ext cx="514080" cy="383760"/>
            <a:chOff x="4073040" y="6004800"/>
            <a:chExt cx="514080" cy="383760"/>
          </a:xfrm>
        </p:grpSpPr>
        <p:sp>
          <p:nvSpPr>
            <p:cNvPr id="349" name="CustomShape 16"/>
            <p:cNvSpPr/>
            <p:nvPr/>
          </p:nvSpPr>
          <p:spPr>
            <a:xfrm>
              <a:off x="4110480" y="6028920"/>
              <a:ext cx="444960" cy="331920"/>
            </a:xfrm>
            <a:prstGeom prst="ellipse">
              <a:avLst/>
            </a:prstGeom>
            <a:solidFill>
              <a:schemeClr val="tx1"/>
            </a:solidFill>
            <a:ln w="57240">
              <a:solidFill>
                <a:srgbClr val="ffffff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50" name="CustomShape 17"/>
            <p:cNvSpPr/>
            <p:nvPr/>
          </p:nvSpPr>
          <p:spPr>
            <a:xfrm>
              <a:off x="4073040" y="6004800"/>
              <a:ext cx="514080" cy="383760"/>
            </a:xfrm>
            <a:prstGeom prst="ellipse">
              <a:avLst/>
            </a:prstGeom>
            <a:noFill/>
            <a:ln w="284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51" name="CustomShape 18"/>
          <p:cNvSpPr/>
          <p:nvPr/>
        </p:nvSpPr>
        <p:spPr>
          <a:xfrm>
            <a:off x="542880" y="127116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Planning Requirement Elicitation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CustomShape 19"/>
          <p:cNvSpPr/>
          <p:nvPr/>
        </p:nvSpPr>
        <p:spPr>
          <a:xfrm>
            <a:off x="542880" y="72252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CustomShape 1"/>
          <p:cNvSpPr/>
          <p:nvPr/>
        </p:nvSpPr>
        <p:spPr>
          <a:xfrm>
            <a:off x="542880" y="721800"/>
            <a:ext cx="1035324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451800" y="1709280"/>
            <a:ext cx="8220600" cy="43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5" name="TextShape 3"/>
          <p:cNvSpPr/>
          <p:nvPr/>
        </p:nvSpPr>
        <p:spPr>
          <a:xfrm>
            <a:off x="609480" y="1769400"/>
            <a:ext cx="10583640" cy="48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is a core activity of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Without good elicitation, requirements will be wrong or missing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Stakeholders, documents and existing systems as requirements 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Missing a source leads to missing the requirements of the source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Many techniques for requirements elicitation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every technique is good in every scenario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 the techniques depending on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Usually, a combination of multiple techniques yields the best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CustomShape 1"/>
          <p:cNvSpPr/>
          <p:nvPr/>
        </p:nvSpPr>
        <p:spPr>
          <a:xfrm>
            <a:off x="335520" y="1268640"/>
            <a:ext cx="10743120" cy="50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CustomShape 2"/>
          <p:cNvSpPr/>
          <p:nvPr/>
        </p:nvSpPr>
        <p:spPr>
          <a:xfrm>
            <a:off x="335520" y="764640"/>
            <a:ext cx="107431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</TotalTime>
  <Application>LibreOffice/7.4.7.2$Linux_X86_64 LibreOffice_project/40$Build-2</Application>
  <AppVersion>15.0000</AppVersion>
  <Words>4021</Words>
  <Paragraphs>929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2025-11-03T12:21:47Z</dcterms:modified>
  <cp:revision>3214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54</vt:i4>
  </property>
  <property fmtid="{D5CDD505-2E9C-101B-9397-08002B2CF9AE}" pid="3" name="PresentationFormat">
    <vt:lpwstr>Widescreen</vt:lpwstr>
  </property>
  <property fmtid="{D5CDD505-2E9C-101B-9397-08002B2CF9AE}" pid="4" name="Slides">
    <vt:i4>82</vt:i4>
  </property>
</Properties>
</file>