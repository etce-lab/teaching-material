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6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1.xml.rels" ContentType="application/vnd.openxmlformats-package.relationships+xml"/>
  <Override PartName="/ppt/slideMasters/_rels/slideMaster3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notesSlides/notesSlide39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_rels/notesSlide42.xml.rels" ContentType="application/vnd.openxmlformats-package.relationships+xml"/>
  <Override PartName="/ppt/notesSlides/_rels/notesSlide45.xml.rels" ContentType="application/vnd.openxmlformats-package.relationships+xml"/>
  <Override PartName="/ppt/notesSlides/_rels/notesSlide30.xml.rels" ContentType="application/vnd.openxmlformats-package.relationships+xml"/>
  <Override PartName="/ppt/notesSlides/_rels/notesSlide29.xml.rels" ContentType="application/vnd.openxmlformats-package.relationships+xml"/>
  <Override PartName="/ppt/notesSlides/_rels/notesSlide48.xml.rels" ContentType="application/vnd.openxmlformats-package.relationships+xml"/>
  <Override PartName="/ppt/notesSlides/_rels/notesSlide33.xml.rels" ContentType="application/vnd.openxmlformats-package.relationships+xml"/>
  <Override PartName="/ppt/notesSlides/_rels/notesSlide43.xml.rels" ContentType="application/vnd.openxmlformats-package.relationships+xml"/>
  <Override PartName="/ppt/notesSlides/_rels/notesSlide46.xml.rels" ContentType="application/vnd.openxmlformats-package.relationships+xml"/>
  <Override PartName="/ppt/notesSlides/_rels/notesSlide39.xml.rels" ContentType="application/vnd.openxmlformats-package.relationships+xml"/>
  <Override PartName="/ppt/notesSlides/_rels/notesSlide38.xml.rels" ContentType="application/vnd.openxmlformats-package.relationships+xml"/>
  <Override PartName="/ppt/notesSlides/_rels/notesSlide40.xml.rels" ContentType="application/vnd.openxmlformats-package.relationships+xml"/>
  <Override PartName="/ppt/notesSlides/_rels/notesSlide37.xml.rels" ContentType="application/vnd.openxmlformats-package.relationships+xml"/>
  <Override PartName="/ppt/notesSlides/_rels/notesSlide36.xml.rels" ContentType="application/vnd.openxmlformats-package.relationships+xml"/>
  <Override PartName="/ppt/notesSlides/_rels/notesSlide32.xml.rels" ContentType="application/vnd.openxmlformats-package.relationships+xml"/>
  <Override PartName="/ppt/notesSlides/_rels/notesSlide35.xml.rels" ContentType="application/vnd.openxmlformats-package.relationships+xml"/>
  <Override PartName="/ppt/notesSlides/_rels/notesSlide51.xml.rels" ContentType="application/vnd.openxmlformats-package.relationships+xml"/>
  <Override PartName="/ppt/notesSlides/_rels/notesSlide47.xml.rels" ContentType="application/vnd.openxmlformats-package.relationships+xml"/>
  <Override PartName="/ppt/notesSlides/_rels/notesSlide44.xml.rels" ContentType="application/vnd.openxmlformats-package.relationships+xml"/>
  <Override PartName="/ppt/notesSlides/_rels/notesSlide31.xml.rels" ContentType="application/vnd.openxmlformats-package.relationships+xml"/>
  <Override PartName="/ppt/notesSlides/_rels/notesSlide50.xml.rels" ContentType="application/vnd.openxmlformats-package.relationships+xml"/>
  <Override PartName="/ppt/notesSlides/_rels/notesSlide49.xml.rels" ContentType="application/vnd.openxmlformats-package.relationships+xml"/>
  <Override PartName="/ppt/notesSlides/_rels/notesSlide34.xml.rels" ContentType="application/vnd.openxmlformats-package.relationships+xml"/>
  <Override PartName="/ppt/notesSlides/notesSlide34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29.xml" ContentType="application/vnd.openxmlformats-officedocument.presentationml.notesSlide+xml"/>
  <Override PartName="/ppt/_rels/presentation.xml.rels" ContentType="application/vnd.openxmlformats-package.relationships+xml"/>
  <Override PartName="/ppt/media/image1.png" ContentType="image/png"/>
  <Override PartName="/ppt/media/image2.png" ContentType="image/png"/>
  <Override PartName="/ppt/media/image3.png" ContentType="image/png"/>
  <Override PartName="/ppt/media/image4.wmf" ContentType="image/x-wmf"/>
  <Override PartName="/ppt/media/image5.wmf" ContentType="image/x-wmf"/>
  <Override PartName="/ppt/media/image6.png" ContentType="image/png"/>
  <Override PartName="/ppt/media/image10.wmf" ContentType="image/x-wmf"/>
  <Override PartName="/ppt/media/image11.png" ContentType="image/png"/>
  <Override PartName="/ppt/media/image7.png" ContentType="image/png"/>
  <Override PartName="/ppt/media/image8.png" ContentType="image/png"/>
  <Override PartName="/ppt/media/image9.wmf" ContentType="image/x-wmf"/>
  <Override PartName="/ppt/slideLayouts/_rels/slideLayout5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41.xml.rels" ContentType="application/vnd.openxmlformats-package.relationships+xml"/>
  <Override PartName="/ppt/slideLayouts/_rels/slideLayout34.xml.rels" ContentType="application/vnd.openxmlformats-package.relationships+xml"/>
  <Override PartName="/ppt/slideLayouts/_rels/slideLayout49.xml.rels" ContentType="application/vnd.openxmlformats-package.relationships+xml"/>
  <Override PartName="/ppt/slideLayouts/_rels/slideLayout40.xml.rels" ContentType="application/vnd.openxmlformats-package.relationships+xml"/>
  <Override PartName="/ppt/slideLayouts/_rels/slideLayout39.xml.rels" ContentType="application/vnd.openxmlformats-package.relationships+xml"/>
  <Override PartName="/ppt/slideLayouts/_rels/slideLayout33.xml.rels" ContentType="application/vnd.openxmlformats-package.relationships+xml"/>
  <Override PartName="/ppt/slideLayouts/_rels/slideLayout29.xml.rels" ContentType="application/vnd.openxmlformats-package.relationships+xml"/>
  <Override PartName="/ppt/slideLayouts/_rels/slideLayout48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27.xml.rels" ContentType="application/vnd.openxmlformats-package.relationships+xml"/>
  <Override PartName="/ppt/slideLayouts/_rels/slideLayout36.xml.rels" ContentType="application/vnd.openxmlformats-package.relationships+xml"/>
  <Override PartName="/ppt/slideLayouts/_rels/slideLayout43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58.xml.rels" ContentType="application/vnd.openxmlformats-package.relationships+xml"/>
  <Override PartName="/ppt/slideLayouts/_rels/slideLayout65.xml.rels" ContentType="application/vnd.openxmlformats-package.relationships+xml"/>
  <Override PartName="/ppt/slideLayouts/_rels/slideLayout42.xml.rels" ContentType="application/vnd.openxmlformats-package.relationships+xml"/>
  <Override PartName="/ppt/slideLayouts/_rels/slideLayout35.xml.rels" ContentType="application/vnd.openxmlformats-package.relationships+xml"/>
  <Override PartName="/ppt/slideLayouts/_rels/slideLayout51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55.xml.rels" ContentType="application/vnd.openxmlformats-package.relationships+xml"/>
  <Override PartName="/ppt/slideLayouts/_rels/slideLayout54.xml.rels" ContentType="application/vnd.openxmlformats-package.relationships+xml"/>
  <Override PartName="/ppt/slideLayouts/_rels/slideLayout69.xml.rels" ContentType="application/vnd.openxmlformats-package.relationships+xml"/>
  <Override PartName="/ppt/slideLayouts/_rels/slideLayout63.xml.rels" ContentType="application/vnd.openxmlformats-package.relationships+xml"/>
  <Override PartName="/ppt/slideLayouts/_rels/slideLayout47.xml.rels" ContentType="application/vnd.openxmlformats-package.relationships+xml"/>
  <Override PartName="/ppt/slideLayouts/_rels/slideLayout53.xml.rels" ContentType="application/vnd.openxmlformats-package.relationships+xml"/>
  <Override PartName="/ppt/slideLayouts/_rels/slideLayout46.xml.rels" ContentType="application/vnd.openxmlformats-package.relationships+xml"/>
  <Override PartName="/ppt/slideLayouts/_rels/slideLayout62.xml.rels" ContentType="application/vnd.openxmlformats-package.relationships+xml"/>
  <Override PartName="/ppt/slideLayouts/_rels/slideLayout50.xml.rels" ContentType="application/vnd.openxmlformats-package.relationships+xml"/>
  <Override PartName="/ppt/slideLayouts/_rels/slideLayout52.xml.rels" ContentType="application/vnd.openxmlformats-package.relationships+xml"/>
  <Override PartName="/ppt/slideLayouts/_rels/slideLayout57.xml.rels" ContentType="application/vnd.openxmlformats-package.relationships+xml"/>
  <Override PartName="/ppt/slideLayouts/_rels/slideLayout61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38.xml.rels" ContentType="application/vnd.openxmlformats-package.relationships+xml"/>
  <Override PartName="/ppt/slideLayouts/_rels/slideLayout30.xml.rels" ContentType="application/vnd.openxmlformats-package.relationships+xml"/>
  <Override PartName="/ppt/slideLayouts/_rels/slideLayout45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37.xml.rels" ContentType="application/vnd.openxmlformats-package.relationships+xml"/>
  <Override PartName="/ppt/slideLayouts/_rels/slideLayout28.xml.rels" ContentType="application/vnd.openxmlformats-package.relationships+xml"/>
  <Override PartName="/ppt/slideLayouts/_rels/slideLayout44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26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32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31.xml.rels" ContentType="application/vnd.openxmlformats-package.relationships+xml"/>
  <Override PartName="/ppt/slideLayouts/_rels/slideLayout68.xml.rels" ContentType="application/vnd.openxmlformats-package.relationships+xml"/>
  <Override PartName="/ppt/slideLayouts/_rels/slideLayout72.xml.rels" ContentType="application/vnd.openxmlformats-package.relationships+xml"/>
  <Override PartName="/ppt/slideLayouts/_rels/slideLayout67.xml.rels" ContentType="application/vnd.openxmlformats-package.relationships+xml"/>
  <Override PartName="/ppt/slideLayouts/_rels/slideLayout71.xml.rels" ContentType="application/vnd.openxmlformats-package.relationships+xml"/>
  <Override PartName="/ppt/slideLayouts/_rels/slideLayout70.xml.rels" ContentType="application/vnd.openxmlformats-package.relationships+xml"/>
  <Override PartName="/ppt/slideLayouts/_rels/slideLayout66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59.xml.rels" ContentType="application/vnd.openxmlformats-package.relationships+xml"/>
  <Override PartName="/ppt/slideLayouts/_rels/slideLayout56.xml.rels" ContentType="application/vnd.openxmlformats-package.relationships+xml"/>
  <Override PartName="/ppt/slideLayouts/_rels/slideLayout60.xml.rels" ContentType="application/vnd.openxmlformats-package.relationships+xml"/>
  <Override PartName="/ppt/slideLayouts/_rels/slideLayout64.xml.rels" ContentType="application/vnd.openxmlformats-package.relationships+xml"/>
  <Override PartName="/ppt/slideLayouts/slideLayout56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3.xml" ContentType="application/vnd.openxmlformats-officedocument.presentationml.slideLayout+xml"/>
  <Override PartName="/ppt/presProps.xml" ContentType="application/vnd.openxmlformats-officedocument.presentationml.presPro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s/slide29.xml" ContentType="application/vnd.openxmlformats-officedocument.presentationml.slide+xml"/>
  <Override PartName="/ppt/slides/slide28.xml" ContentType="application/vnd.openxmlformats-officedocument.presentationml.slide+xml"/>
  <Override PartName="/ppt/slides/slide27.xml" ContentType="application/vnd.openxmlformats-officedocument.presentationml.slide+xml"/>
  <Override PartName="/ppt/slides/slide26.xml" ContentType="application/vnd.openxmlformats-officedocument.presentationml.slide+xml"/>
  <Override PartName="/ppt/slides/slide25.xml" ContentType="application/vnd.openxmlformats-officedocument.presentationml.slide+xml"/>
  <Override PartName="/ppt/slides/slide24.xml" ContentType="application/vnd.openxmlformats-officedocument.presentationml.slide+xml"/>
  <Override PartName="/ppt/slides/slide23.xml" ContentType="application/vnd.openxmlformats-officedocument.presentationml.slide+xml"/>
  <Override PartName="/ppt/slides/slide22.xml" ContentType="application/vnd.openxmlformats-officedocument.presentationml.slide+xml"/>
  <Override PartName="/ppt/slides/slide21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18.xml" ContentType="application/vnd.openxmlformats-officedocument.presentationml.slide+xml"/>
  <Override PartName="/ppt/slides/slide17.xml" ContentType="application/vnd.openxmlformats-officedocument.presentationml.slide+xml"/>
  <Override PartName="/ppt/slides/slide16.xml" ContentType="application/vnd.openxmlformats-officedocument.presentationml.slide+xml"/>
  <Override PartName="/ppt/slides/slide15.xml" ContentType="application/vnd.openxmlformats-officedocument.presentationml.slide+xml"/>
  <Override PartName="/ppt/slides/slide14.xml" ContentType="application/vnd.openxmlformats-officedocument.presentationml.slid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40.xml" ContentType="application/vnd.openxmlformats-officedocument.presentationml.slide+xml"/>
  <Override PartName="/ppt/slides/slide6.xml" ContentType="application/vnd.openxmlformats-officedocument.presentationml.slide+xml"/>
  <Override PartName="/ppt/slides/slide41.xml" ContentType="application/vnd.openxmlformats-officedocument.presentationml.slide+xml"/>
  <Override PartName="/ppt/slides/slide7.xml" ContentType="application/vnd.openxmlformats-officedocument.presentationml.slide+xml"/>
  <Override PartName="/ppt/slides/slide42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39.xml" ContentType="application/vnd.openxmlformats-officedocument.presentationml.slide+xml"/>
  <Override PartName="/ppt/slides/slide50.xml" ContentType="application/vnd.openxmlformats-officedocument.presentationml.slide+xml"/>
  <Override PartName="/ppt/slides/slide13.xml" ContentType="application/vnd.openxmlformats-officedocument.presentationml.slide+xml"/>
  <Override PartName="/ppt/slides/slide11.xml" ContentType="application/vnd.openxmlformats-officedocument.presentationml.slide+xml"/>
  <Override PartName="/ppt/slides/slide48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34.xml" ContentType="application/vnd.openxmlformats-officedocument.presentationml.slide+xml"/>
  <Override PartName="/ppt/slides/slide33.xml" ContentType="application/vnd.openxmlformats-officedocument.presentationml.slide+xml"/>
  <Override PartName="/ppt/slides/slide32.xml" ContentType="application/vnd.openxmlformats-officedocument.presentationml.slide+xml"/>
  <Override PartName="/ppt/slides/slide31.xml" ContentType="application/vnd.openxmlformats-officedocument.presentationml.slide+xml"/>
  <Override PartName="/ppt/slides/_rels/slide10.xml.rels" ContentType="application/vnd.openxmlformats-package.relationships+xml"/>
  <Override PartName="/ppt/slides/_rels/slide32.xml.rels" ContentType="application/vnd.openxmlformats-package.relationships+xml"/>
  <Override PartName="/ppt/slides/_rels/slide16.xml.rels" ContentType="application/vnd.openxmlformats-package.relationships+xml"/>
  <Override PartName="/ppt/slides/_rels/slide25.xml.rels" ContentType="application/vnd.openxmlformats-package.relationships+xml"/>
  <Override PartName="/ppt/slides/_rels/slide47.xml.rels" ContentType="application/vnd.openxmlformats-package.relationships+xml"/>
  <Override PartName="/ppt/slides/_rels/slide54.xml.rels" ContentType="application/vnd.openxmlformats-package.relationships+xml"/>
  <Override PartName="/ppt/slides/_rels/slide4.xml.rels" ContentType="application/vnd.openxmlformats-package.relationships+xml"/>
  <Override PartName="/ppt/slides/_rels/slide8.xml.rels" ContentType="application/vnd.openxmlformats-package.relationships+xml"/>
  <Override PartName="/ppt/slides/_rels/slide43.xml.rels" ContentType="application/vnd.openxmlformats-package.relationships+xml"/>
  <Override PartName="/ppt/slides/_rels/slide36.xml.rels" ContentType="application/vnd.openxmlformats-package.relationships+xml"/>
  <Override PartName="/ppt/slides/_rels/slide2.xml.rels" ContentType="application/vnd.openxmlformats-package.relationships+xml"/>
  <Override PartName="/ppt/slides/_rels/slide21.xml.rels" ContentType="application/vnd.openxmlformats-package.relationships+xml"/>
  <Override PartName="/ppt/slides/_rels/slide27.xml.rels" ContentType="application/vnd.openxmlformats-package.relationships+xml"/>
  <Override PartName="/ppt/slides/_rels/slide11.xml.rels" ContentType="application/vnd.openxmlformats-package.relationships+xml"/>
  <Override PartName="/ppt/slides/_rels/slide17.xml.rels" ContentType="application/vnd.openxmlformats-package.relationships+xml"/>
  <Override PartName="/ppt/slides/_rels/slide26.xml.rels" ContentType="application/vnd.openxmlformats-package.relationships+xml"/>
  <Override PartName="/ppt/slides/_rels/slide9.xml.rels" ContentType="application/vnd.openxmlformats-package.relationships+xml"/>
  <Override PartName="/ppt/slides/_rels/slide44.xml.rels" ContentType="application/vnd.openxmlformats-package.relationships+xml"/>
  <Override PartName="/ppt/slides/_rels/slide37.xml.rels" ContentType="application/vnd.openxmlformats-package.relationships+xml"/>
  <Override PartName="/ppt/slides/_rels/slide3.xml.rels" ContentType="application/vnd.openxmlformats-package.relationships+xml"/>
  <Override PartName="/ppt/slides/_rels/slide22.xml.rels" ContentType="application/vnd.openxmlformats-package.relationships+xml"/>
  <Override PartName="/ppt/slides/_rels/slide28.xml.rels" ContentType="application/vnd.openxmlformats-package.relationships+xml"/>
  <Override PartName="/ppt/slides/_rels/slide12.xml.rels" ContentType="application/vnd.openxmlformats-package.relationships+xml"/>
  <Override PartName="/ppt/slides/_rels/slide18.xml.rels" ContentType="application/vnd.openxmlformats-package.relationships+xml"/>
  <Override PartName="/ppt/slides/_rels/slide13.xml.rels" ContentType="application/vnd.openxmlformats-package.relationships+xml"/>
  <Override PartName="/ppt/slides/_rels/slide19.xml.rels" ContentType="application/vnd.openxmlformats-package.relationships+xml"/>
  <Override PartName="/ppt/slides/_rels/slide34.xml.rels" ContentType="application/vnd.openxmlformats-package.relationships+xml"/>
  <Override PartName="/ppt/slides/_rels/slide50.xml.rels" ContentType="application/vnd.openxmlformats-package.relationships+xml"/>
  <Override PartName="/ppt/slides/_rels/slide49.xml.rels" ContentType="application/vnd.openxmlformats-package.relationships+xml"/>
  <Override PartName="/ppt/slides/_rels/slide41.xml.rels" ContentType="application/vnd.openxmlformats-package.relationships+xml"/>
  <Override PartName="/ppt/slides/_rels/slide6.xml.rels" ContentType="application/vnd.openxmlformats-package.relationships+xml"/>
  <Override PartName="/ppt/slides/_rels/slide52.xml.rels" ContentType="application/vnd.openxmlformats-package.relationships+xml"/>
  <Override PartName="/ppt/slides/_rels/slide45.xml.rels" ContentType="application/vnd.openxmlformats-package.relationships+xml"/>
  <Override PartName="/ppt/slides/_rels/slide14.xml.rels" ContentType="application/vnd.openxmlformats-package.relationships+xml"/>
  <Override PartName="/ppt/slides/_rels/slide30.xml.rels" ContentType="application/vnd.openxmlformats-package.relationships+xml"/>
  <Override PartName="/ppt/slides/_rels/slide29.xml.rels" ContentType="application/vnd.openxmlformats-package.relationships+xml"/>
  <Override PartName="/ppt/slides/_rels/slide38.xml.rels" ContentType="application/vnd.openxmlformats-package.relationships+xml"/>
  <Override PartName="/ppt/slides/_rels/slide23.xml.rels" ContentType="application/vnd.openxmlformats-package.relationships+xml"/>
  <Override PartName="/ppt/slides/_rels/slide46.xml.rels" ContentType="application/vnd.openxmlformats-package.relationships+xml"/>
  <Override PartName="/ppt/slides/_rels/slide53.xml.rels" ContentType="application/vnd.openxmlformats-package.relationships+xml"/>
  <Override PartName="/ppt/slides/_rels/slide1.xml.rels" ContentType="application/vnd.openxmlformats-package.relationships+xml"/>
  <Override PartName="/ppt/slides/_rels/slide7.xml.rels" ContentType="application/vnd.openxmlformats-package.relationships+xml"/>
  <Override PartName="/ppt/slides/_rels/slide20.xml.rels" ContentType="application/vnd.openxmlformats-package.relationships+xml"/>
  <Override PartName="/ppt/slides/_rels/slide51.xml.rels" ContentType="application/vnd.openxmlformats-package.relationships+xml"/>
  <Override PartName="/ppt/slides/_rels/slide35.xml.rels" ContentType="application/vnd.openxmlformats-package.relationships+xml"/>
  <Override PartName="/ppt/slides/_rels/slide42.xml.rels" ContentType="application/vnd.openxmlformats-package.relationships+xml"/>
  <Override PartName="/ppt/slides/_rels/slide40.xml.rels" ContentType="application/vnd.openxmlformats-package.relationships+xml"/>
  <Override PartName="/ppt/slides/_rels/slide55.xml.rels" ContentType="application/vnd.openxmlformats-package.relationships+xml"/>
  <Override PartName="/ppt/slides/_rels/slide5.xml.rels" ContentType="application/vnd.openxmlformats-package.relationships+xml"/>
  <Override PartName="/ppt/slides/_rels/slide33.xml.rels" ContentType="application/vnd.openxmlformats-package.relationships+xml"/>
  <Override PartName="/ppt/slides/_rels/slide48.xml.rels" ContentType="application/vnd.openxmlformats-package.relationships+xml"/>
  <Override PartName="/ppt/slides/_rels/slide24.xml.rels" ContentType="application/vnd.openxmlformats-package.relationships+xml"/>
  <Override PartName="/ppt/slides/_rels/slide39.xml.rels" ContentType="application/vnd.openxmlformats-package.relationships+xml"/>
  <Override PartName="/ppt/slides/_rels/slide15.xml.rels" ContentType="application/vnd.openxmlformats-package.relationships+xml"/>
  <Override PartName="/ppt/slides/_rels/slide31.xml.rels" ContentType="application/vnd.openxmlformats-package.relationships+xml"/>
  <Override PartName="/ppt/slides/slide30.xml" ContentType="application/vnd.openxmlformats-officedocument.presentationml.slide+xml"/>
  <Override PartName="/ppt/slides/slide49.xml" ContentType="application/vnd.openxmlformats-officedocument.presentationml.slide+xml"/>
  <Override PartName="/ppt/slides/slide12.xml" ContentType="application/vnd.openxmlformats-officedocument.presentationml.slide+xml"/>
  <Override PartName="/ppt/slides/slide10.xml" ContentType="application/vnd.openxmlformats-officedocument.presentationml.slide+xml"/>
  <Override PartName="/ppt/slides/slide47.xml" ContentType="application/vnd.openxmlformats-officedocument.presentationml.slide+xml"/>
  <Override PartName="/ppt/slides/slide9.xml" ContentType="application/vnd.openxmlformats-officedocument.presentationml.slide+xml"/>
  <Override PartName="/ppt/slides/slide44.xml" ContentType="application/vnd.openxmlformats-officedocument.presentationml.slide+xml"/>
  <Override PartName="/ppt/slides/slide8.xml" ContentType="application/vnd.openxmlformats-officedocument.presentationml.slide+xml"/>
  <Override PartName="/ppt/slides/slide43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  <p:sldMasterId id="2147483674" r:id="rId4"/>
    <p:sldMasterId id="2147483687" r:id="rId5"/>
    <p:sldMasterId id="2147483700" r:id="rId6"/>
    <p:sldMasterId id="2147483713" r:id="rId7"/>
  </p:sldMasterIdLst>
  <p:notesMasterIdLst>
    <p:notesMasterId r:id="rId8"/>
  </p:notes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  <p:sldId id="271" r:id="rId24"/>
    <p:sldId id="272" r:id="rId25"/>
    <p:sldId id="273" r:id="rId26"/>
    <p:sldId id="274" r:id="rId27"/>
    <p:sldId id="275" r:id="rId28"/>
    <p:sldId id="276" r:id="rId29"/>
    <p:sldId id="277" r:id="rId30"/>
    <p:sldId id="278" r:id="rId31"/>
    <p:sldId id="279" r:id="rId32"/>
    <p:sldId id="280" r:id="rId33"/>
    <p:sldId id="281" r:id="rId34"/>
    <p:sldId id="282" r:id="rId35"/>
    <p:sldId id="283" r:id="rId36"/>
    <p:sldId id="284" r:id="rId37"/>
    <p:sldId id="285" r:id="rId38"/>
    <p:sldId id="286" r:id="rId39"/>
    <p:sldId id="287" r:id="rId40"/>
    <p:sldId id="288" r:id="rId41"/>
    <p:sldId id="289" r:id="rId42"/>
    <p:sldId id="290" r:id="rId43"/>
    <p:sldId id="291" r:id="rId44"/>
    <p:sldId id="292" r:id="rId45"/>
    <p:sldId id="293" r:id="rId46"/>
    <p:sldId id="294" r:id="rId47"/>
    <p:sldId id="295" r:id="rId48"/>
    <p:sldId id="296" r:id="rId49"/>
    <p:sldId id="297" r:id="rId50"/>
    <p:sldId id="298" r:id="rId51"/>
    <p:sldId id="299" r:id="rId52"/>
    <p:sldId id="300" r:id="rId53"/>
    <p:sldId id="301" r:id="rId54"/>
    <p:sldId id="302" r:id="rId55"/>
    <p:sldId id="303" r:id="rId56"/>
    <p:sldId id="304" r:id="rId57"/>
    <p:sldId id="305" r:id="rId58"/>
    <p:sldId id="306" r:id="rId59"/>
    <p:sldId id="307" r:id="rId60"/>
    <p:sldId id="308" r:id="rId61"/>
    <p:sldId id="309" r:id="rId62"/>
    <p:sldId id="310" r:id="rId63"/>
  </p:sldIdLst>
  <p:sldSz cx="12192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1.xml"/><Relationship Id="rId10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27" Type="http://schemas.openxmlformats.org/officeDocument/2006/relationships/slide" Target="slides/slide19.xml"/><Relationship Id="rId28" Type="http://schemas.openxmlformats.org/officeDocument/2006/relationships/slide" Target="slides/slide20.xml"/><Relationship Id="rId29" Type="http://schemas.openxmlformats.org/officeDocument/2006/relationships/slide" Target="slides/slide21.xml"/><Relationship Id="rId30" Type="http://schemas.openxmlformats.org/officeDocument/2006/relationships/slide" Target="slides/slide22.xml"/><Relationship Id="rId31" Type="http://schemas.openxmlformats.org/officeDocument/2006/relationships/slide" Target="slides/slide23.xml"/><Relationship Id="rId32" Type="http://schemas.openxmlformats.org/officeDocument/2006/relationships/slide" Target="slides/slide24.xml"/><Relationship Id="rId33" Type="http://schemas.openxmlformats.org/officeDocument/2006/relationships/slide" Target="slides/slide25.xml"/><Relationship Id="rId34" Type="http://schemas.openxmlformats.org/officeDocument/2006/relationships/slide" Target="slides/slide26.xml"/><Relationship Id="rId35" Type="http://schemas.openxmlformats.org/officeDocument/2006/relationships/slide" Target="slides/slide27.xml"/><Relationship Id="rId36" Type="http://schemas.openxmlformats.org/officeDocument/2006/relationships/slide" Target="slides/slide28.xml"/><Relationship Id="rId37" Type="http://schemas.openxmlformats.org/officeDocument/2006/relationships/slide" Target="slides/slide29.xml"/><Relationship Id="rId38" Type="http://schemas.openxmlformats.org/officeDocument/2006/relationships/slide" Target="slides/slide30.xml"/><Relationship Id="rId39" Type="http://schemas.openxmlformats.org/officeDocument/2006/relationships/slide" Target="slides/slide31.xml"/><Relationship Id="rId40" Type="http://schemas.openxmlformats.org/officeDocument/2006/relationships/slide" Target="slides/slide32.xml"/><Relationship Id="rId41" Type="http://schemas.openxmlformats.org/officeDocument/2006/relationships/slide" Target="slides/slide33.xml"/><Relationship Id="rId42" Type="http://schemas.openxmlformats.org/officeDocument/2006/relationships/slide" Target="slides/slide34.xml"/><Relationship Id="rId43" Type="http://schemas.openxmlformats.org/officeDocument/2006/relationships/slide" Target="slides/slide35.xml"/><Relationship Id="rId44" Type="http://schemas.openxmlformats.org/officeDocument/2006/relationships/slide" Target="slides/slide36.xml"/><Relationship Id="rId45" Type="http://schemas.openxmlformats.org/officeDocument/2006/relationships/slide" Target="slides/slide37.xml"/><Relationship Id="rId46" Type="http://schemas.openxmlformats.org/officeDocument/2006/relationships/slide" Target="slides/slide38.xml"/><Relationship Id="rId47" Type="http://schemas.openxmlformats.org/officeDocument/2006/relationships/slide" Target="slides/slide39.xml"/><Relationship Id="rId48" Type="http://schemas.openxmlformats.org/officeDocument/2006/relationships/slide" Target="slides/slide40.xml"/><Relationship Id="rId49" Type="http://schemas.openxmlformats.org/officeDocument/2006/relationships/slide" Target="slides/slide41.xml"/><Relationship Id="rId50" Type="http://schemas.openxmlformats.org/officeDocument/2006/relationships/slide" Target="slides/slide42.xml"/><Relationship Id="rId51" Type="http://schemas.openxmlformats.org/officeDocument/2006/relationships/slide" Target="slides/slide43.xml"/><Relationship Id="rId52" Type="http://schemas.openxmlformats.org/officeDocument/2006/relationships/slide" Target="slides/slide44.xml"/><Relationship Id="rId53" Type="http://schemas.openxmlformats.org/officeDocument/2006/relationships/slide" Target="slides/slide45.xml"/><Relationship Id="rId54" Type="http://schemas.openxmlformats.org/officeDocument/2006/relationships/slide" Target="slides/slide46.xml"/><Relationship Id="rId55" Type="http://schemas.openxmlformats.org/officeDocument/2006/relationships/slide" Target="slides/slide47.xml"/><Relationship Id="rId56" Type="http://schemas.openxmlformats.org/officeDocument/2006/relationships/slide" Target="slides/slide48.xml"/><Relationship Id="rId57" Type="http://schemas.openxmlformats.org/officeDocument/2006/relationships/slide" Target="slides/slide49.xml"/><Relationship Id="rId58" Type="http://schemas.openxmlformats.org/officeDocument/2006/relationships/slide" Target="slides/slide50.xml"/><Relationship Id="rId59" Type="http://schemas.openxmlformats.org/officeDocument/2006/relationships/slide" Target="slides/slide51.xml"/><Relationship Id="rId60" Type="http://schemas.openxmlformats.org/officeDocument/2006/relationships/slide" Target="slides/slide52.xml"/><Relationship Id="rId61" Type="http://schemas.openxmlformats.org/officeDocument/2006/relationships/slide" Target="slides/slide53.xml"/><Relationship Id="rId62" Type="http://schemas.openxmlformats.org/officeDocument/2006/relationships/slide" Target="slides/slide54.xml"/><Relationship Id="rId63" Type="http://schemas.openxmlformats.org/officeDocument/2006/relationships/slide" Target="slides/slide55.xml"/><Relationship Id="rId64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7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b="0" lang="en-GB" sz="4400" spc="-1" strike="noStrike">
                <a:solidFill>
                  <a:srgbClr val="000000"/>
                </a:solidFill>
                <a:latin typeface="Arial"/>
              </a:rPr>
              <a:t>Click to move the slide</a:t>
            </a: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7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buNone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Click to edit the notes format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8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GB" sz="1400" spc="-1" strike="noStrike">
                <a:solidFill>
                  <a:srgbClr val="000000"/>
                </a:solidFill>
                <a:latin typeface="Times New Roman"/>
              </a:rPr>
              <a:t>&lt;header&gt;</a:t>
            </a:r>
            <a:endParaRPr b="0" lang="en-GB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9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GB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GB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GB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0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GB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GB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GB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1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GB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C1F94ADE-386B-493E-A742-B9836BACBCEA}" type="slidenum">
              <a:rPr b="0" lang="en-GB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GB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29.xml.rels><?xml version="1.0" encoding="UTF-8"?>
<Relationships xmlns="http://schemas.openxmlformats.org/package/2006/relationships"><Relationship Id="rId1" Type="http://schemas.openxmlformats.org/officeDocument/2006/relationships/slide" Target="../slides/slide29.xml"/><Relationship Id="rId2" Type="http://schemas.openxmlformats.org/officeDocument/2006/relationships/notesMaster" Target="../notesMasters/notesMaster1.xml"/>
</Relationships>
</file>

<file path=ppt/notesSlides/_rels/notesSlide30.xml.rels><?xml version="1.0" encoding="UTF-8"?>
<Relationships xmlns="http://schemas.openxmlformats.org/package/2006/relationships"><Relationship Id="rId1" Type="http://schemas.openxmlformats.org/officeDocument/2006/relationships/slide" Target="../slides/slide30.xml"/><Relationship Id="rId2" Type="http://schemas.openxmlformats.org/officeDocument/2006/relationships/notesMaster" Target="../notesMasters/notesMaster1.xml"/>
</Relationships>
</file>

<file path=ppt/notesSlides/_rels/notesSlide31.xml.rels><?xml version="1.0" encoding="UTF-8"?>
<Relationships xmlns="http://schemas.openxmlformats.org/package/2006/relationships"><Relationship Id="rId1" Type="http://schemas.openxmlformats.org/officeDocument/2006/relationships/slide" Target="../slides/slide31.xml"/><Relationship Id="rId2" Type="http://schemas.openxmlformats.org/officeDocument/2006/relationships/notesMaster" Target="../notesMasters/notesMaster1.xml"/>
</Relationships>
</file>

<file path=ppt/notesSlides/_rels/notesSlide32.xml.rels><?xml version="1.0" encoding="UTF-8"?>
<Relationships xmlns="http://schemas.openxmlformats.org/package/2006/relationships"><Relationship Id="rId1" Type="http://schemas.openxmlformats.org/officeDocument/2006/relationships/slide" Target="../slides/slide32.xml"/><Relationship Id="rId2" Type="http://schemas.openxmlformats.org/officeDocument/2006/relationships/notesMaster" Target="../notesMasters/notesMaster1.xml"/>
</Relationships>
</file>

<file path=ppt/notesSlides/_rels/notesSlide33.xml.rels><?xml version="1.0" encoding="UTF-8"?>
<Relationships xmlns="http://schemas.openxmlformats.org/package/2006/relationships"><Relationship Id="rId1" Type="http://schemas.openxmlformats.org/officeDocument/2006/relationships/slide" Target="../slides/slide33.xml"/><Relationship Id="rId2" Type="http://schemas.openxmlformats.org/officeDocument/2006/relationships/notesMaster" Target="../notesMasters/notesMaster1.xml"/>
</Relationships>
</file>

<file path=ppt/notesSlides/_rels/notesSlide34.xml.rels><?xml version="1.0" encoding="UTF-8"?>
<Relationships xmlns="http://schemas.openxmlformats.org/package/2006/relationships"><Relationship Id="rId1" Type="http://schemas.openxmlformats.org/officeDocument/2006/relationships/slide" Target="../slides/slide34.xml"/><Relationship Id="rId2" Type="http://schemas.openxmlformats.org/officeDocument/2006/relationships/notesMaster" Target="../notesMasters/notesMaster1.xml"/>
</Relationships>
</file>

<file path=ppt/notesSlides/_rels/notesSlide35.xml.rels><?xml version="1.0" encoding="UTF-8"?>
<Relationships xmlns="http://schemas.openxmlformats.org/package/2006/relationships"><Relationship Id="rId1" Type="http://schemas.openxmlformats.org/officeDocument/2006/relationships/slide" Target="../slides/slide35.xml"/><Relationship Id="rId2" Type="http://schemas.openxmlformats.org/officeDocument/2006/relationships/notesMaster" Target="../notesMasters/notesMaster1.xml"/>
</Relationships>
</file>

<file path=ppt/notesSlides/_rels/notesSlide36.xml.rels><?xml version="1.0" encoding="UTF-8"?>
<Relationships xmlns="http://schemas.openxmlformats.org/package/2006/relationships"><Relationship Id="rId1" Type="http://schemas.openxmlformats.org/officeDocument/2006/relationships/slide" Target="../slides/slide36.xml"/><Relationship Id="rId2" Type="http://schemas.openxmlformats.org/officeDocument/2006/relationships/notesMaster" Target="../notesMasters/notesMaster1.xml"/>
</Relationships>
</file>

<file path=ppt/notesSlides/_rels/notesSlide37.xml.rels><?xml version="1.0" encoding="UTF-8"?>
<Relationships xmlns="http://schemas.openxmlformats.org/package/2006/relationships"><Relationship Id="rId1" Type="http://schemas.openxmlformats.org/officeDocument/2006/relationships/slide" Target="../slides/slide37.xml"/><Relationship Id="rId2" Type="http://schemas.openxmlformats.org/officeDocument/2006/relationships/notesMaster" Target="../notesMasters/notesMaster1.xml"/>
</Relationships>
</file>

<file path=ppt/notesSlides/_rels/notesSlide38.xml.rels><?xml version="1.0" encoding="UTF-8"?>
<Relationships xmlns="http://schemas.openxmlformats.org/package/2006/relationships"><Relationship Id="rId1" Type="http://schemas.openxmlformats.org/officeDocument/2006/relationships/slide" Target="../slides/slide38.xml"/><Relationship Id="rId2" Type="http://schemas.openxmlformats.org/officeDocument/2006/relationships/notesMaster" Target="../notesMasters/notesMaster1.xml"/>
</Relationships>
</file>

<file path=ppt/notesSlides/_rels/notesSlide39.xml.rels><?xml version="1.0" encoding="UTF-8"?>
<Relationships xmlns="http://schemas.openxmlformats.org/package/2006/relationships"><Relationship Id="rId1" Type="http://schemas.openxmlformats.org/officeDocument/2006/relationships/slide" Target="../slides/slide39.xml"/><Relationship Id="rId2" Type="http://schemas.openxmlformats.org/officeDocument/2006/relationships/notesMaster" Target="../notesMasters/notesMaster1.xml"/>
</Relationships>
</file>

<file path=ppt/notesSlides/_rels/notesSlide40.xml.rels><?xml version="1.0" encoding="UTF-8"?>
<Relationships xmlns="http://schemas.openxmlformats.org/package/2006/relationships"><Relationship Id="rId1" Type="http://schemas.openxmlformats.org/officeDocument/2006/relationships/slide" Target="../slides/slide40.xml"/><Relationship Id="rId2" Type="http://schemas.openxmlformats.org/officeDocument/2006/relationships/notesMaster" Target="../notesMasters/notesMaster1.xml"/>
</Relationships>
</file>

<file path=ppt/notesSlides/_rels/notesSlide42.xml.rels><?xml version="1.0" encoding="UTF-8"?>
<Relationships xmlns="http://schemas.openxmlformats.org/package/2006/relationships"><Relationship Id="rId1" Type="http://schemas.openxmlformats.org/officeDocument/2006/relationships/slide" Target="../slides/slide42.xml"/><Relationship Id="rId2" Type="http://schemas.openxmlformats.org/officeDocument/2006/relationships/notesMaster" Target="../notesMasters/notesMaster1.xml"/>
</Relationships>
</file>

<file path=ppt/notesSlides/_rels/notesSlide43.xml.rels><?xml version="1.0" encoding="UTF-8"?>
<Relationships xmlns="http://schemas.openxmlformats.org/package/2006/relationships"><Relationship Id="rId1" Type="http://schemas.openxmlformats.org/officeDocument/2006/relationships/slide" Target="../slides/slide43.xml"/><Relationship Id="rId2" Type="http://schemas.openxmlformats.org/officeDocument/2006/relationships/notesMaster" Target="../notesMasters/notesMaster1.xml"/>
</Relationships>
</file>

<file path=ppt/notesSlides/_rels/notesSlide44.xml.rels><?xml version="1.0" encoding="UTF-8"?>
<Relationships xmlns="http://schemas.openxmlformats.org/package/2006/relationships"><Relationship Id="rId1" Type="http://schemas.openxmlformats.org/officeDocument/2006/relationships/slide" Target="../slides/slide44.xml"/><Relationship Id="rId2" Type="http://schemas.openxmlformats.org/officeDocument/2006/relationships/notesMaster" Target="../notesMasters/notesMaster1.xml"/>
</Relationships>
</file>

<file path=ppt/notesSlides/_rels/notesSlide45.xml.rels><?xml version="1.0" encoding="UTF-8"?>
<Relationships xmlns="http://schemas.openxmlformats.org/package/2006/relationships"><Relationship Id="rId1" Type="http://schemas.openxmlformats.org/officeDocument/2006/relationships/slide" Target="../slides/slide45.xml"/><Relationship Id="rId2" Type="http://schemas.openxmlformats.org/officeDocument/2006/relationships/notesMaster" Target="../notesMasters/notesMaster1.xml"/>
</Relationships>
</file>

<file path=ppt/notesSlides/_rels/notesSlide46.xml.rels><?xml version="1.0" encoding="UTF-8"?>
<Relationships xmlns="http://schemas.openxmlformats.org/package/2006/relationships"><Relationship Id="rId1" Type="http://schemas.openxmlformats.org/officeDocument/2006/relationships/slide" Target="../slides/slide46.xml"/><Relationship Id="rId2" Type="http://schemas.openxmlformats.org/officeDocument/2006/relationships/notesMaster" Target="../notesMasters/notesMaster1.xml"/>
</Relationships>
</file>

<file path=ppt/notesSlides/_rels/notesSlide47.xml.rels><?xml version="1.0" encoding="UTF-8"?>
<Relationships xmlns="http://schemas.openxmlformats.org/package/2006/relationships"><Relationship Id="rId1" Type="http://schemas.openxmlformats.org/officeDocument/2006/relationships/slide" Target="../slides/slide47.xml"/><Relationship Id="rId2" Type="http://schemas.openxmlformats.org/officeDocument/2006/relationships/notesMaster" Target="../notesMasters/notesMaster1.xml"/>
</Relationships>
</file>

<file path=ppt/notesSlides/_rels/notesSlide48.xml.rels><?xml version="1.0" encoding="UTF-8"?>
<Relationships xmlns="http://schemas.openxmlformats.org/package/2006/relationships"><Relationship Id="rId1" Type="http://schemas.openxmlformats.org/officeDocument/2006/relationships/slide" Target="../slides/slide48.xml"/><Relationship Id="rId2" Type="http://schemas.openxmlformats.org/officeDocument/2006/relationships/notesMaster" Target="../notesMasters/notesMaster1.xml"/>
</Relationships>
</file>

<file path=ppt/notesSlides/_rels/notesSlide49.xml.rels><?xml version="1.0" encoding="UTF-8"?>
<Relationships xmlns="http://schemas.openxmlformats.org/package/2006/relationships"><Relationship Id="rId1" Type="http://schemas.openxmlformats.org/officeDocument/2006/relationships/slide" Target="../slides/slide49.xml"/><Relationship Id="rId2" Type="http://schemas.openxmlformats.org/officeDocument/2006/relationships/notesMaster" Target="../notesMasters/notesMaster1.xml"/>
</Relationships>
</file>

<file path=ppt/notesSlides/_rels/notesSlide50.xml.rels><?xml version="1.0" encoding="UTF-8"?>
<Relationships xmlns="http://schemas.openxmlformats.org/package/2006/relationships"><Relationship Id="rId1" Type="http://schemas.openxmlformats.org/officeDocument/2006/relationships/slide" Target="../slides/slide50.xml"/><Relationship Id="rId2" Type="http://schemas.openxmlformats.org/officeDocument/2006/relationships/notesMaster" Target="../notesMasters/notesMaster1.xml"/>
</Relationships>
</file>

<file path=ppt/notesSlides/_rels/notesSlide51.xml.rels><?xml version="1.0" encoding="UTF-8"?>
<Relationships xmlns="http://schemas.openxmlformats.org/package/2006/relationships"><Relationship Id="rId1" Type="http://schemas.openxmlformats.org/officeDocument/2006/relationships/slide" Target="../slides/slide51.xml"/><Relationship Id="rId2" Type="http://schemas.openxmlformats.org/officeDocument/2006/relationships/notesMaster" Target="../notesMasters/notesMaster1.xml"/>
</Relationship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3" name="PlaceHolder 1"/>
          <p:cNvSpPr>
            <a:spLocks noGrp="1"/>
          </p:cNvSpPr>
          <p:nvPr>
            <p:ph type="sldNum" idx="4"/>
          </p:nvPr>
        </p:nvSpPr>
        <p:spPr>
          <a:xfrm>
            <a:off x="4403880" y="9556200"/>
            <a:ext cx="3363120" cy="49752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9000" rIns="99000" tIns="49320" bIns="493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400" spc="-1" strike="noStrike">
                <a:solidFill>
                  <a:srgbClr val="000000"/>
                </a:solidFill>
                <a:latin typeface="Times New Roman"/>
                <a:ea typeface="ＭＳ Ｐゴシック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7543DEB-5556-4419-B2D1-BE5A69DFABED}" type="slidenum">
              <a:rPr b="0" lang="de-DE" sz="14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&lt;number&gt;</a:t>
            </a:fld>
            <a:endParaRPr b="0" lang="en-GB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4" name="PlaceHolder 2"/>
          <p:cNvSpPr>
            <a:spLocks noGrp="1"/>
          </p:cNvSpPr>
          <p:nvPr>
            <p:ph type="sldImg"/>
          </p:nvPr>
        </p:nvSpPr>
        <p:spPr>
          <a:xfrm>
            <a:off x="533520" y="755640"/>
            <a:ext cx="6701040" cy="3767400"/>
          </a:xfrm>
          <a:prstGeom prst="rect">
            <a:avLst/>
          </a:prstGeom>
          <a:ln w="0">
            <a:noFill/>
          </a:ln>
        </p:spPr>
      </p:sp>
      <p:sp>
        <p:nvSpPr>
          <p:cNvPr id="645" name="PlaceHolder 3"/>
          <p:cNvSpPr>
            <a:spLocks noGrp="1"/>
          </p:cNvSpPr>
          <p:nvPr>
            <p:ph type="body"/>
          </p:nvPr>
        </p:nvSpPr>
        <p:spPr>
          <a:xfrm>
            <a:off x="1035720" y="4777200"/>
            <a:ext cx="5695560" cy="452124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9000" rIns="99000" tIns="49320" bIns="4932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Times New Roman"/>
              </a:rPr>
              <a:t>Vier Variablen Modell in einem Satz: Grundlagen sind Variablen (Grundlegendes Modell), Erweiterung über Realtionen -&gt; Grundlage für Dokumente: Wie dokumentiere ich sowas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Controlled V-&gt; Ausgabewerte die durch das System beschrieben / verändert werden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Monitored V -&gt; EingabeWerte, die durch das System beschrieben werden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Output V -&gt; represents controlled V.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Input V -&gt; </a:t>
            </a:r>
            <a:r>
              <a:rPr b="0" lang="de-DE" sz="12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represents monitored V.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Eschbach, Elicitation &amp; Modeling: Embedded Systems Industrial Formal Techniques, 2006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6" name="PlaceHolder 1"/>
          <p:cNvSpPr>
            <a:spLocks noGrp="1"/>
          </p:cNvSpPr>
          <p:nvPr>
            <p:ph type="sldNum" idx="5"/>
          </p:nvPr>
        </p:nvSpPr>
        <p:spPr>
          <a:xfrm>
            <a:off x="4403880" y="9556200"/>
            <a:ext cx="3363120" cy="49752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9000" rIns="99000" tIns="49320" bIns="493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400" spc="-1" strike="noStrike">
                <a:solidFill>
                  <a:srgbClr val="000000"/>
                </a:solidFill>
                <a:latin typeface="Times New Roman"/>
                <a:ea typeface="ＭＳ Ｐゴシック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3B11BDE-4142-4E0A-B2CF-67A581793D36}" type="slidenum">
              <a:rPr b="0" lang="de-DE" sz="14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&lt;number&gt;</a:t>
            </a:fld>
            <a:endParaRPr b="0" lang="en-GB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7" name="PlaceHolder 2"/>
          <p:cNvSpPr>
            <a:spLocks noGrp="1"/>
          </p:cNvSpPr>
          <p:nvPr>
            <p:ph type="sldImg"/>
          </p:nvPr>
        </p:nvSpPr>
        <p:spPr>
          <a:xfrm>
            <a:off x="533520" y="755640"/>
            <a:ext cx="6701040" cy="3767400"/>
          </a:xfrm>
          <a:prstGeom prst="rect">
            <a:avLst/>
          </a:prstGeom>
          <a:ln w="0">
            <a:noFill/>
          </a:ln>
        </p:spPr>
      </p:sp>
      <p:sp>
        <p:nvSpPr>
          <p:cNvPr id="648" name="PlaceHolder 3"/>
          <p:cNvSpPr>
            <a:spLocks noGrp="1"/>
          </p:cNvSpPr>
          <p:nvPr>
            <p:ph type="body"/>
          </p:nvPr>
        </p:nvSpPr>
        <p:spPr>
          <a:xfrm>
            <a:off x="1035720" y="4777200"/>
            <a:ext cx="5695560" cy="452124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9000" rIns="99000" tIns="49320" bIns="49320" anchor="t">
            <a:noAutofit/>
          </a:bodyPr>
          <a:p>
            <a:pPr marL="216000" indent="0">
              <a:lnSpc>
                <a:spcPct val="100000"/>
              </a:lnSpc>
              <a:spcBef>
                <a:spcPts val="360"/>
              </a:spcBef>
              <a:buNone/>
              <a:tabLst>
                <a:tab algn="l" pos="0"/>
              </a:tabLst>
            </a:pPr>
            <a:r>
              <a:rPr b="0" lang="de-DE" sz="2000" spc="-1" strike="noStrike">
                <a:solidFill>
                  <a:srgbClr val="000000"/>
                </a:solidFill>
                <a:latin typeface="Arial"/>
              </a:rPr>
              <a:t>beschreibt das System als Black-Box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spcBef>
                <a:spcPts val="360"/>
              </a:spcBef>
              <a:buNone/>
              <a:tabLst>
                <a:tab algn="l" pos="0"/>
              </a:tabLst>
            </a:pPr>
            <a:r>
              <a:rPr b="0" lang="de-DE" sz="2000" spc="-1" strike="noStrike">
                <a:solidFill>
                  <a:srgbClr val="000000"/>
                </a:solidFill>
                <a:latin typeface="Arial"/>
              </a:rPr>
              <a:t>beschreibt die Systemumgebung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spcBef>
                <a:spcPts val="360"/>
              </a:spcBef>
              <a:buNone/>
              <a:tabLst>
                <a:tab algn="l" pos="0"/>
              </a:tabLst>
            </a:pPr>
            <a:r>
              <a:rPr b="0" lang="de-DE" sz="2000" spc="-1" strike="noStrike">
                <a:solidFill>
                  <a:srgbClr val="000000"/>
                </a:solidFill>
                <a:latin typeface="Arial"/>
              </a:rPr>
              <a:t>identifiziert Messgrößen, die mathematisch beschrieben werden können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spcBef>
                <a:spcPts val="360"/>
              </a:spcBef>
              <a:buNone/>
              <a:tabLst>
                <a:tab algn="l" pos="0"/>
              </a:tabLst>
            </a:pPr>
            <a:r>
              <a:rPr b="0" lang="de-DE" sz="2000" spc="-1" strike="noStrike">
                <a:solidFill>
                  <a:srgbClr val="000000"/>
                </a:solidFill>
                <a:latin typeface="Arial"/>
              </a:rPr>
              <a:t>beschreibt physikalische / System Einschränkungen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spcBef>
                <a:spcPts val="360"/>
              </a:spcBef>
              <a:buNone/>
              <a:tabLst>
                <a:tab algn="l" pos="0"/>
              </a:tabLst>
            </a:pP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spcBef>
                <a:spcPts val="360"/>
              </a:spcBef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Grundidee alles mathematisch formal beschreiben – identifizieren von Größen, jede dieser Umgebungseigenschaften wird durch mathematische Variablen beschrieben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spcBef>
                <a:spcPts val="360"/>
              </a:spcBef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Wie schnell ist das auto -&gt; das nenne ich dann v -&gt; monitored variable = wie schnell drehen sich die räder?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spcBef>
                <a:spcPts val="360"/>
              </a:spcBef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Bsp Airbus – ich messe wann das flugzeug am boden ist und nicht umdrehungsgeschw. Der Räder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Times New Roman"/>
              </a:rPr>
              <a:t>Eschbach, Elicitation &amp; Modeling: Embedded Systems Industrial Formal Techniques, 2006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9" name="PlaceHolder 1"/>
          <p:cNvSpPr>
            <a:spLocks noGrp="1"/>
          </p:cNvSpPr>
          <p:nvPr>
            <p:ph type="sldNum" idx="6"/>
          </p:nvPr>
        </p:nvSpPr>
        <p:spPr>
          <a:xfrm>
            <a:off x="4403880" y="9556200"/>
            <a:ext cx="3363120" cy="49752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9000" rIns="99000" tIns="49320" bIns="493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400" spc="-1" strike="noStrike">
                <a:solidFill>
                  <a:srgbClr val="000000"/>
                </a:solidFill>
                <a:latin typeface="Times New Roman"/>
                <a:ea typeface="ＭＳ Ｐゴシック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22E5C8A-AB3C-4D6D-AD70-52846102B63F}" type="slidenum">
              <a:rPr b="0" lang="de-DE" sz="14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&lt;number&gt;</a:t>
            </a:fld>
            <a:endParaRPr b="0" lang="en-GB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0" name="PlaceHolder 2"/>
          <p:cNvSpPr>
            <a:spLocks noGrp="1"/>
          </p:cNvSpPr>
          <p:nvPr>
            <p:ph type="sldImg"/>
          </p:nvPr>
        </p:nvSpPr>
        <p:spPr>
          <a:xfrm>
            <a:off x="533520" y="755640"/>
            <a:ext cx="6701040" cy="3767400"/>
          </a:xfrm>
          <a:prstGeom prst="rect">
            <a:avLst/>
          </a:prstGeom>
          <a:ln w="0">
            <a:noFill/>
          </a:ln>
        </p:spPr>
      </p:sp>
      <p:sp>
        <p:nvSpPr>
          <p:cNvPr id="651" name="PlaceHolder 3"/>
          <p:cNvSpPr>
            <a:spLocks noGrp="1"/>
          </p:cNvSpPr>
          <p:nvPr>
            <p:ph type="body"/>
          </p:nvPr>
        </p:nvSpPr>
        <p:spPr>
          <a:xfrm>
            <a:off x="1035720" y="4777200"/>
            <a:ext cx="5695560" cy="452124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9000" rIns="99000" tIns="49320" bIns="49320" anchor="t">
            <a:noAutofit/>
          </a:bodyPr>
          <a:p>
            <a:pPr marL="216000" indent="0">
              <a:lnSpc>
                <a:spcPct val="100000"/>
              </a:lnSpc>
              <a:spcBef>
                <a:spcPts val="360"/>
              </a:spcBef>
              <a:buNone/>
              <a:tabLst>
                <a:tab algn="l" pos="0"/>
              </a:tabLst>
            </a:pPr>
            <a:r>
              <a:rPr b="0" lang="de-DE" sz="2000" spc="-1" strike="noStrike">
                <a:solidFill>
                  <a:srgbClr val="000000"/>
                </a:solidFill>
                <a:latin typeface="Arial"/>
              </a:rPr>
              <a:t>beschreibt die notwendigen Eigenschaften der anzuschließenden Geräte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spcBef>
                <a:spcPts val="360"/>
              </a:spcBef>
              <a:buNone/>
              <a:tabLst>
                <a:tab algn="l" pos="0"/>
              </a:tabLst>
            </a:pPr>
            <a:r>
              <a:rPr b="0" lang="de-DE" sz="2000" spc="-1" strike="noStrike">
                <a:solidFill>
                  <a:srgbClr val="000000"/>
                </a:solidFill>
                <a:latin typeface="Arial"/>
              </a:rPr>
              <a:t>identifiziert Input- und Output-Register (modelliert als math. Variablen) =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pseudo speicherstellen für tatsächliche größen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spcBef>
                <a:spcPts val="360"/>
              </a:spcBef>
              <a:buNone/>
              <a:tabLst>
                <a:tab algn="l" pos="0"/>
              </a:tabLst>
            </a:pPr>
            <a:r>
              <a:rPr b="0" lang="de-DE" sz="2000" spc="-1" strike="noStrike">
                <a:solidFill>
                  <a:srgbClr val="000000"/>
                </a:solidFill>
                <a:latin typeface="Arial"/>
              </a:rPr>
              <a:t>beschreibt Relation zwischen Input-Registern und Umgebungswerten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spcBef>
                <a:spcPts val="360"/>
              </a:spcBef>
              <a:buNone/>
              <a:tabLst>
                <a:tab algn="l" pos="0"/>
              </a:tabLst>
            </a:pPr>
            <a:r>
              <a:rPr b="0" lang="de-DE" sz="2000" spc="-1" strike="noStrike">
                <a:solidFill>
                  <a:srgbClr val="000000"/>
                </a:solidFill>
                <a:latin typeface="Arial"/>
              </a:rPr>
              <a:t>beschreibt Relation zwischen Output-Registern und Umgebungswerten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Times New Roman"/>
              </a:rPr>
              <a:t>Eschbach, Elicitation &amp; Modeling: Embedded Systems Industrial Formal Techniques, 2006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2" name="PlaceHolder 1"/>
          <p:cNvSpPr>
            <a:spLocks noGrp="1"/>
          </p:cNvSpPr>
          <p:nvPr>
            <p:ph type="sldNum" idx="7"/>
          </p:nvPr>
        </p:nvSpPr>
        <p:spPr>
          <a:xfrm>
            <a:off x="4403880" y="9556200"/>
            <a:ext cx="3363120" cy="49752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9000" rIns="99000" tIns="49320" bIns="493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400" spc="-1" strike="noStrike">
                <a:solidFill>
                  <a:srgbClr val="000000"/>
                </a:solidFill>
                <a:latin typeface="Times New Roman"/>
                <a:ea typeface="ＭＳ Ｐゴシック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61D8F07-0D60-486F-B3DE-68A01F810EBA}" type="slidenum">
              <a:rPr b="0" lang="de-DE" sz="14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&lt;number&gt;</a:t>
            </a:fld>
            <a:endParaRPr b="0" lang="en-GB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3" name="PlaceHolder 2"/>
          <p:cNvSpPr>
            <a:spLocks noGrp="1"/>
          </p:cNvSpPr>
          <p:nvPr>
            <p:ph type="sldImg"/>
          </p:nvPr>
        </p:nvSpPr>
        <p:spPr>
          <a:xfrm>
            <a:off x="533520" y="755640"/>
            <a:ext cx="6701040" cy="3767400"/>
          </a:xfrm>
          <a:prstGeom prst="rect">
            <a:avLst/>
          </a:prstGeom>
          <a:ln w="0">
            <a:noFill/>
          </a:ln>
        </p:spPr>
      </p:sp>
      <p:sp>
        <p:nvSpPr>
          <p:cNvPr id="654" name="PlaceHolder 3"/>
          <p:cNvSpPr>
            <a:spLocks noGrp="1"/>
          </p:cNvSpPr>
          <p:nvPr>
            <p:ph type="body"/>
          </p:nvPr>
        </p:nvSpPr>
        <p:spPr>
          <a:xfrm>
            <a:off x="1035720" y="4777200"/>
            <a:ext cx="5695560" cy="452124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9000" rIns="99000" tIns="49320" bIns="4932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Times New Roman"/>
              </a:rPr>
              <a:t>Warum fasse ich system req &amp; system design doc zusammen? -&gt; Ergeben zusammen die Anforderungen an die Software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Times New Roman"/>
              </a:rPr>
              <a:t>Eschbach, Elicitation &amp; Modeling: Embedded Systems Industrial Formal Techniques, 2006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5" name="PlaceHolder 1"/>
          <p:cNvSpPr>
            <a:spLocks noGrp="1"/>
          </p:cNvSpPr>
          <p:nvPr>
            <p:ph type="sldNum" idx="8"/>
          </p:nvPr>
        </p:nvSpPr>
        <p:spPr>
          <a:xfrm>
            <a:off x="4403880" y="9556200"/>
            <a:ext cx="3363120" cy="49752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9000" rIns="99000" tIns="49320" bIns="493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400" spc="-1" strike="noStrike">
                <a:solidFill>
                  <a:srgbClr val="000000"/>
                </a:solidFill>
                <a:latin typeface="Times New Roman"/>
                <a:ea typeface="ＭＳ Ｐゴシック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8ACD95C-B507-4EE5-A3BB-1E4C41FB7AC1}" type="slidenum">
              <a:rPr b="0" lang="de-DE" sz="14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&lt;number&gt;</a:t>
            </a:fld>
            <a:endParaRPr b="0" lang="en-GB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6" name="PlaceHolder 2"/>
          <p:cNvSpPr>
            <a:spLocks noGrp="1"/>
          </p:cNvSpPr>
          <p:nvPr>
            <p:ph type="sldImg"/>
          </p:nvPr>
        </p:nvSpPr>
        <p:spPr>
          <a:xfrm>
            <a:off x="533520" y="755640"/>
            <a:ext cx="6701040" cy="3767400"/>
          </a:xfrm>
          <a:prstGeom prst="rect">
            <a:avLst/>
          </a:prstGeom>
          <a:ln w="0">
            <a:noFill/>
          </a:ln>
        </p:spPr>
      </p:sp>
      <p:sp>
        <p:nvSpPr>
          <p:cNvPr id="657" name="PlaceHolder 3"/>
          <p:cNvSpPr>
            <a:spLocks noGrp="1"/>
          </p:cNvSpPr>
          <p:nvPr>
            <p:ph type="body"/>
          </p:nvPr>
        </p:nvSpPr>
        <p:spPr>
          <a:xfrm>
            <a:off x="1035720" y="4777200"/>
            <a:ext cx="5695560" cy="452124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9000" rIns="99000" tIns="49320" bIns="4932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Times New Roman"/>
              </a:rPr>
              <a:t>NAT = natürliche Einschränkungen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Times New Roman"/>
              </a:rPr>
              <a:t>REQ = </a:t>
            </a:r>
            <a:r>
              <a:rPr b="0" lang="de-DE" sz="2000" spc="-1" strike="noStrike">
                <a:solidFill>
                  <a:srgbClr val="000000"/>
                </a:solidFill>
                <a:latin typeface="Times New Roman"/>
              </a:rPr>
              <a:t>erwartetes Verhalten des Systems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DE" sz="2000" spc="-1" strike="noStrike">
                <a:solidFill>
                  <a:srgbClr val="000000"/>
                </a:solidFill>
                <a:latin typeface="Times New Roman"/>
              </a:rPr>
              <a:t>IN/OUT = Verhalten der Ein/Ausgabegeräte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Times New Roman"/>
              </a:rPr>
              <a:t>SOF = akt SW-Verhalten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Times New Roman"/>
              </a:rPr>
              <a:t>SOFREQ = </a:t>
            </a:r>
            <a:r>
              <a:rPr b="0" lang="de-DE" sz="2000" spc="-1" strike="noStrike">
                <a:solidFill>
                  <a:srgbClr val="000000"/>
                </a:solidFill>
                <a:latin typeface="Times New Roman"/>
              </a:rPr>
              <a:t>beschreibt das Verhalten der Software, dessen Rahmen akzeptabel wäre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Times New Roman"/>
              </a:rPr>
              <a:t>m(t) = monitored variables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Times New Roman"/>
              </a:rPr>
              <a:t>i(t)= input variables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Times New Roman"/>
              </a:rPr>
              <a:t>o(t)= output variables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Times New Roman"/>
              </a:rPr>
              <a:t>c(t)= controlled variables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Times New Roman"/>
              </a:rPr>
              <a:t>Eschbach, Elicitation &amp; Modeling: Embedded Systems Industrial Formal Techniques, 2006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8" name="PlaceHolder 1"/>
          <p:cNvSpPr>
            <a:spLocks noGrp="1"/>
          </p:cNvSpPr>
          <p:nvPr>
            <p:ph type="sldNum" idx="9"/>
          </p:nvPr>
        </p:nvSpPr>
        <p:spPr>
          <a:xfrm>
            <a:off x="4403880" y="9556200"/>
            <a:ext cx="3363120" cy="49752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9000" rIns="99000" tIns="49320" bIns="493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400" spc="-1" strike="noStrike">
                <a:solidFill>
                  <a:srgbClr val="000000"/>
                </a:solidFill>
                <a:latin typeface="Times New Roman"/>
                <a:ea typeface="ＭＳ Ｐゴシック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778A89F-156F-4EF5-8E08-A30CDC4E1925}" type="slidenum">
              <a:rPr b="0" lang="de-DE" sz="14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&lt;number&gt;</a:t>
            </a:fld>
            <a:endParaRPr b="0" lang="en-GB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9" name="PlaceHolder 2"/>
          <p:cNvSpPr>
            <a:spLocks noGrp="1"/>
          </p:cNvSpPr>
          <p:nvPr>
            <p:ph type="sldImg"/>
          </p:nvPr>
        </p:nvSpPr>
        <p:spPr>
          <a:xfrm>
            <a:off x="533520" y="755640"/>
            <a:ext cx="6701040" cy="3767400"/>
          </a:xfrm>
          <a:prstGeom prst="rect">
            <a:avLst/>
          </a:prstGeom>
          <a:ln w="0">
            <a:noFill/>
          </a:ln>
        </p:spPr>
      </p:sp>
      <p:sp>
        <p:nvSpPr>
          <p:cNvPr id="660" name="PlaceHolder 3"/>
          <p:cNvSpPr>
            <a:spLocks noGrp="1"/>
          </p:cNvSpPr>
          <p:nvPr>
            <p:ph type="body"/>
          </p:nvPr>
        </p:nvSpPr>
        <p:spPr>
          <a:xfrm>
            <a:off x="1035720" y="4777200"/>
            <a:ext cx="5695560" cy="452124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9000" rIns="99000" tIns="49320" bIns="49320" anchor="t">
            <a:noAutofit/>
          </a:bodyPr>
          <a:p>
            <a:pPr marL="216000" indent="0">
              <a:buNone/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1" name="PlaceHolder 1"/>
          <p:cNvSpPr>
            <a:spLocks noGrp="1"/>
          </p:cNvSpPr>
          <p:nvPr>
            <p:ph type="sldNum" idx="10"/>
          </p:nvPr>
        </p:nvSpPr>
        <p:spPr>
          <a:xfrm>
            <a:off x="4403880" y="9556200"/>
            <a:ext cx="3363120" cy="49752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9000" rIns="99000" tIns="49320" bIns="493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400" spc="-1" strike="noStrike">
                <a:solidFill>
                  <a:srgbClr val="000000"/>
                </a:solidFill>
                <a:latin typeface="Times New Roman"/>
                <a:ea typeface="ＭＳ Ｐゴシック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94F10CE-D213-48DD-9D07-2FF714130AAA}" type="slidenum">
              <a:rPr b="0" lang="de-DE" sz="14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&lt;number&gt;</a:t>
            </a:fld>
            <a:endParaRPr b="0" lang="en-GB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2" name="PlaceHolder 2"/>
          <p:cNvSpPr>
            <a:spLocks noGrp="1"/>
          </p:cNvSpPr>
          <p:nvPr>
            <p:ph type="sldImg"/>
          </p:nvPr>
        </p:nvSpPr>
        <p:spPr>
          <a:xfrm>
            <a:off x="533520" y="755640"/>
            <a:ext cx="6701040" cy="3767400"/>
          </a:xfrm>
          <a:prstGeom prst="rect">
            <a:avLst/>
          </a:prstGeom>
          <a:ln w="0">
            <a:noFill/>
          </a:ln>
        </p:spPr>
      </p:sp>
      <p:sp>
        <p:nvSpPr>
          <p:cNvPr id="663" name="PlaceHolder 3"/>
          <p:cNvSpPr>
            <a:spLocks noGrp="1"/>
          </p:cNvSpPr>
          <p:nvPr>
            <p:ph type="body"/>
          </p:nvPr>
        </p:nvSpPr>
        <p:spPr>
          <a:xfrm>
            <a:off x="1035720" y="4777200"/>
            <a:ext cx="5695560" cy="452124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9000" rIns="99000" tIns="49320" bIns="4932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Times New Roman"/>
              </a:rPr>
              <a:t>Eschbach, Elicitation &amp; Modeling: Embedded Systems Industrial Formal Techniques, 2006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4" name="PlaceHolder 1"/>
          <p:cNvSpPr>
            <a:spLocks noGrp="1"/>
          </p:cNvSpPr>
          <p:nvPr>
            <p:ph type="sldNum" idx="11"/>
          </p:nvPr>
        </p:nvSpPr>
        <p:spPr>
          <a:xfrm>
            <a:off x="4403880" y="9556200"/>
            <a:ext cx="3363120" cy="49752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9000" rIns="99000" tIns="49320" bIns="493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400" spc="-1" strike="noStrike">
                <a:solidFill>
                  <a:srgbClr val="000000"/>
                </a:solidFill>
                <a:latin typeface="Times New Roman"/>
                <a:ea typeface="ＭＳ Ｐゴシック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AE7F6D78-F649-4C21-B24F-48924E36D791}" type="slidenum">
              <a:rPr b="0" lang="de-DE" sz="14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&lt;number&gt;</a:t>
            </a:fld>
            <a:endParaRPr b="0" lang="en-GB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5" name="PlaceHolder 2"/>
          <p:cNvSpPr>
            <a:spLocks noGrp="1"/>
          </p:cNvSpPr>
          <p:nvPr>
            <p:ph type="sldImg"/>
          </p:nvPr>
        </p:nvSpPr>
        <p:spPr>
          <a:xfrm>
            <a:off x="533520" y="755640"/>
            <a:ext cx="6701040" cy="3767400"/>
          </a:xfrm>
          <a:prstGeom prst="rect">
            <a:avLst/>
          </a:prstGeom>
          <a:ln w="0">
            <a:noFill/>
          </a:ln>
        </p:spPr>
      </p:sp>
      <p:sp>
        <p:nvSpPr>
          <p:cNvPr id="666" name="PlaceHolder 3"/>
          <p:cNvSpPr>
            <a:spLocks noGrp="1"/>
          </p:cNvSpPr>
          <p:nvPr>
            <p:ph type="body"/>
          </p:nvPr>
        </p:nvSpPr>
        <p:spPr>
          <a:xfrm>
            <a:off x="1035720" y="4777200"/>
            <a:ext cx="5695560" cy="452124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9000" rIns="99000" tIns="49320" bIns="4932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Times New Roman"/>
              </a:rPr>
              <a:t>Domain = Menge von Vektoren mit allen monitored Variablen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Times New Roman"/>
              </a:rPr>
              <a:t>Range = Menge von Vektoren mit allen controlled Variablen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Times New Roman"/>
              </a:rPr>
              <a:t>(m,c) elem REQ gdw zu jeder contrallod auch eine monitored existiert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Times New Roman"/>
              </a:rPr>
              <a:t>Eschbach, Elicitation &amp; Modeling: Embedded Systems Industrial Formal Techniques, 2006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7" name="PlaceHolder 1"/>
          <p:cNvSpPr>
            <a:spLocks noGrp="1"/>
          </p:cNvSpPr>
          <p:nvPr>
            <p:ph type="sldNum" idx="12"/>
          </p:nvPr>
        </p:nvSpPr>
        <p:spPr>
          <a:xfrm>
            <a:off x="4403880" y="9556200"/>
            <a:ext cx="3363120" cy="49752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9000" rIns="99000" tIns="49320" bIns="493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400" spc="-1" strike="noStrike">
                <a:solidFill>
                  <a:srgbClr val="000000"/>
                </a:solidFill>
                <a:latin typeface="Times New Roman"/>
                <a:ea typeface="ＭＳ Ｐゴシック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D60707D-92F5-4BD3-A910-60225DA04345}" type="slidenum">
              <a:rPr b="0" lang="de-DE" sz="14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&lt;number&gt;</a:t>
            </a:fld>
            <a:endParaRPr b="0" lang="en-GB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8" name="PlaceHolder 2"/>
          <p:cNvSpPr>
            <a:spLocks noGrp="1"/>
          </p:cNvSpPr>
          <p:nvPr>
            <p:ph type="sldImg"/>
          </p:nvPr>
        </p:nvSpPr>
        <p:spPr>
          <a:xfrm>
            <a:off x="533520" y="755640"/>
            <a:ext cx="6701040" cy="3767400"/>
          </a:xfrm>
          <a:prstGeom prst="rect">
            <a:avLst/>
          </a:prstGeom>
          <a:ln w="0">
            <a:noFill/>
          </a:ln>
        </p:spPr>
      </p:sp>
      <p:sp>
        <p:nvSpPr>
          <p:cNvPr id="669" name="PlaceHolder 3"/>
          <p:cNvSpPr>
            <a:spLocks noGrp="1"/>
          </p:cNvSpPr>
          <p:nvPr>
            <p:ph type="body"/>
          </p:nvPr>
        </p:nvSpPr>
        <p:spPr>
          <a:xfrm>
            <a:off x="1035720" y="4777200"/>
            <a:ext cx="5695560" cy="452124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9000" rIns="99000" tIns="49320" bIns="4932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Times New Roman"/>
              </a:rPr>
              <a:t>IN = Verhalten der Eingabgeräte, Ungenauigkeiten betrachten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Times New Roman"/>
              </a:rPr>
              <a:t>OUT = Verhalten der Ausgabgeräte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Times New Roman"/>
              </a:rPr>
              <a:t>Eschbach, Elicitation &amp; Modeling: Embedded Systems Industrial Formal Techniques, 2006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0" name="PlaceHolder 1"/>
          <p:cNvSpPr>
            <a:spLocks noGrp="1"/>
          </p:cNvSpPr>
          <p:nvPr>
            <p:ph type="sldNum" idx="13"/>
          </p:nvPr>
        </p:nvSpPr>
        <p:spPr>
          <a:xfrm>
            <a:off x="4403880" y="9556200"/>
            <a:ext cx="3363120" cy="49752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9000" rIns="99000" tIns="49320" bIns="493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400" spc="-1" strike="noStrike">
                <a:solidFill>
                  <a:srgbClr val="000000"/>
                </a:solidFill>
                <a:latin typeface="Times New Roman"/>
                <a:ea typeface="ＭＳ Ｐゴシック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8349676-E9E1-445D-BA1C-7BBEC79EA9A9}" type="slidenum">
              <a:rPr b="0" lang="de-DE" sz="14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&lt;number&gt;</a:t>
            </a:fld>
            <a:endParaRPr b="0" lang="en-GB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1" name="PlaceHolder 2"/>
          <p:cNvSpPr>
            <a:spLocks noGrp="1"/>
          </p:cNvSpPr>
          <p:nvPr>
            <p:ph type="sldImg"/>
          </p:nvPr>
        </p:nvSpPr>
        <p:spPr>
          <a:xfrm>
            <a:off x="533520" y="755640"/>
            <a:ext cx="6701040" cy="3767400"/>
          </a:xfrm>
          <a:prstGeom prst="rect">
            <a:avLst/>
          </a:prstGeom>
          <a:ln w="0">
            <a:noFill/>
          </a:ln>
        </p:spPr>
      </p:sp>
      <p:sp>
        <p:nvSpPr>
          <p:cNvPr id="672" name="PlaceHolder 3"/>
          <p:cNvSpPr>
            <a:spLocks noGrp="1"/>
          </p:cNvSpPr>
          <p:nvPr>
            <p:ph type="body"/>
          </p:nvPr>
        </p:nvSpPr>
        <p:spPr>
          <a:xfrm>
            <a:off x="1035720" y="4777200"/>
            <a:ext cx="5695560" cy="452124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9000" rIns="99000" tIns="49320" bIns="4932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Times New Roman"/>
              </a:rPr>
              <a:t>Domain = Menge von Vektoren mit Eingaben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Times New Roman"/>
              </a:rPr>
              <a:t>Range = Menge von Vektoren mit Ausgaben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Times New Roman"/>
              </a:rPr>
              <a:t>(i,o) elem SOF gdw alle Werte in o produziert werden können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Times New Roman"/>
              </a:rPr>
              <a:t>Verification: 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Times New Roman"/>
              </a:rPr>
              <a:t>REQ = INoSOFREQo OUT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Times New Roman"/>
              </a:rPr>
              <a:t>IN-1o REQ o OUT-1 = SOFREQ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Times New Roman"/>
              </a:rPr>
              <a:t>IN-1o REQ o OUT-1 = SOFREQ superset SOF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Times New Roman"/>
              </a:rPr>
              <a:t>Eschbach, Elicitation &amp; Modeling: Embedded Systems Industrial Formal Techniques, 2006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3" name="PlaceHolder 1"/>
          <p:cNvSpPr>
            <a:spLocks noGrp="1"/>
          </p:cNvSpPr>
          <p:nvPr>
            <p:ph type="sldNum" idx="14"/>
          </p:nvPr>
        </p:nvSpPr>
        <p:spPr>
          <a:xfrm>
            <a:off x="4403880" y="9556200"/>
            <a:ext cx="3363120" cy="49752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9000" rIns="99000" tIns="49320" bIns="493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400" spc="-1" strike="noStrike">
                <a:solidFill>
                  <a:srgbClr val="000000"/>
                </a:solidFill>
                <a:latin typeface="Times New Roman"/>
                <a:ea typeface="ＭＳ Ｐゴシック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229B46D-F2E2-431F-9D67-C9A9FB3AB508}" type="slidenum">
              <a:rPr b="0" lang="de-DE" sz="14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&lt;number&gt;</a:t>
            </a:fld>
            <a:endParaRPr b="0" lang="en-GB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4" name="PlaceHolder 2"/>
          <p:cNvSpPr>
            <a:spLocks noGrp="1"/>
          </p:cNvSpPr>
          <p:nvPr>
            <p:ph type="sldImg"/>
          </p:nvPr>
        </p:nvSpPr>
        <p:spPr>
          <a:xfrm>
            <a:off x="533520" y="755640"/>
            <a:ext cx="6701040" cy="3767400"/>
          </a:xfrm>
          <a:prstGeom prst="rect">
            <a:avLst/>
          </a:prstGeom>
          <a:ln w="0">
            <a:noFill/>
          </a:ln>
        </p:spPr>
      </p:sp>
      <p:sp>
        <p:nvSpPr>
          <p:cNvPr id="675" name="PlaceHolder 3"/>
          <p:cNvSpPr>
            <a:spLocks noGrp="1"/>
          </p:cNvSpPr>
          <p:nvPr>
            <p:ph type="body"/>
          </p:nvPr>
        </p:nvSpPr>
        <p:spPr>
          <a:xfrm>
            <a:off x="1035720" y="4777200"/>
            <a:ext cx="5695560" cy="452124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9000" rIns="99000" tIns="49320" bIns="4932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Times New Roman"/>
              </a:rPr>
              <a:t>SOFREQ = akzeptiertes Verhalten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Times New Roman"/>
              </a:rPr>
              <a:t>Eingaben messen und Ausgaben produzieren und Naturbedingungen ebenfalls gelten, dann können Anforderungen gefolgert werden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Wingdings"/>
              </a:rPr>
              <a:t></a:t>
            </a:r>
            <a:r>
              <a:rPr b="0" lang="en-US" sz="2000" spc="-1" strike="noStrike">
                <a:solidFill>
                  <a:srgbClr val="000000"/>
                </a:solidFill>
                <a:latin typeface="Times New Roman"/>
              </a:rPr>
              <a:t>Erlaubtes Verhalten aufgrund der Naturgegebenheiten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Times New Roman"/>
              </a:rPr>
              <a:t>Eschbach, Elicitation &amp; Modeling: Embedded Systems Industrial Formal Techniques, 2006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6" name="PlaceHolder 1"/>
          <p:cNvSpPr>
            <a:spLocks noGrp="1"/>
          </p:cNvSpPr>
          <p:nvPr>
            <p:ph type="sldNum" idx="15"/>
          </p:nvPr>
        </p:nvSpPr>
        <p:spPr>
          <a:xfrm>
            <a:off x="4403880" y="9556200"/>
            <a:ext cx="3363120" cy="49752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9000" rIns="99000" tIns="49320" bIns="493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400" spc="-1" strike="noStrike">
                <a:solidFill>
                  <a:srgbClr val="000000"/>
                </a:solidFill>
                <a:latin typeface="Times New Roman"/>
                <a:ea typeface="ＭＳ Ｐゴシック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4B0B033-BD49-4A9A-81BA-B30B685787B4}" type="slidenum">
              <a:rPr b="0" lang="de-DE" sz="14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&lt;number&gt;</a:t>
            </a:fld>
            <a:endParaRPr b="0" lang="en-GB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7" name="PlaceHolder 2"/>
          <p:cNvSpPr>
            <a:spLocks noGrp="1"/>
          </p:cNvSpPr>
          <p:nvPr>
            <p:ph type="sldImg"/>
          </p:nvPr>
        </p:nvSpPr>
        <p:spPr>
          <a:xfrm>
            <a:off x="533520" y="755640"/>
            <a:ext cx="6701040" cy="3767400"/>
          </a:xfrm>
          <a:prstGeom prst="rect">
            <a:avLst/>
          </a:prstGeom>
          <a:ln w="0">
            <a:noFill/>
          </a:ln>
        </p:spPr>
      </p:sp>
      <p:sp>
        <p:nvSpPr>
          <p:cNvPr id="678" name="PlaceHolder 3"/>
          <p:cNvSpPr>
            <a:spLocks noGrp="1"/>
          </p:cNvSpPr>
          <p:nvPr>
            <p:ph type="body"/>
          </p:nvPr>
        </p:nvSpPr>
        <p:spPr>
          <a:xfrm>
            <a:off x="1035720" y="4777200"/>
            <a:ext cx="5695560" cy="452124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9000" rIns="99000" tIns="49320" bIns="4932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Times New Roman"/>
              </a:rPr>
              <a:t>Feasability = ich fordere nichts was im Wiederspruch zur Natur ist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Times New Roman"/>
              </a:rPr>
              <a:t>Acceptability = beschreibt das Verhalten der SW, das mindestens erfüllt werden muss, um sie SW zu benutzen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Times New Roman"/>
              </a:rPr>
              <a:t>        </a:t>
            </a:r>
            <a:r>
              <a:rPr b="0" lang="en-US" sz="2000" spc="-1" strike="noStrike">
                <a:solidFill>
                  <a:srgbClr val="000000"/>
                </a:solidFill>
                <a:latin typeface="Times New Roman"/>
              </a:rPr>
              <a:t>SW-Verhalten beschränken auf NAT -&gt; Verhalten entspricht anf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Times New Roman"/>
              </a:rPr>
              <a:t>Ariane 4 – sw funktioniert einwandfrei wenn die beschleunigungskräfte nicht über best. Betrag liegen (nat n sof)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Times New Roman"/>
              </a:rPr>
              <a:t>Ariane 5 – nat hat sich geändert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Times New Roman"/>
              </a:rPr>
              <a:t>Eschbach, Elicitation &amp; Modeling: Embedded Systems Industrial Formal Techniques, 2006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Times New Roman"/>
              </a:rPr>
              <a:t>David Lorge Parnas, Jan Madey. Functional Documents for Computer Science. Science of Computer Programming, Elsevier, 1995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Times New Roman"/>
              </a:rPr>
              <a:t>Dennis K. Peters and David Lorge Parnas. Requirements-based Monitors for Real-Time Systems. IEEE Transactions on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9" name="PlaceHolder 1"/>
          <p:cNvSpPr>
            <a:spLocks noGrp="1"/>
          </p:cNvSpPr>
          <p:nvPr>
            <p:ph type="sldNum" idx="16"/>
          </p:nvPr>
        </p:nvSpPr>
        <p:spPr>
          <a:xfrm>
            <a:off x="4403880" y="9556200"/>
            <a:ext cx="3363120" cy="49752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9000" rIns="99000" tIns="49320" bIns="493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400" spc="-1" strike="noStrike">
                <a:solidFill>
                  <a:srgbClr val="000000"/>
                </a:solidFill>
                <a:latin typeface="Times New Roman"/>
                <a:ea typeface="ＭＳ Ｐゴシック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AE68844-3678-4F0B-9314-BEE3E60D83B4}" type="slidenum">
              <a:rPr b="0" lang="de-DE" sz="14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&lt;number&gt;</a:t>
            </a:fld>
            <a:endParaRPr b="0" lang="en-GB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0" name="PlaceHolder 2"/>
          <p:cNvSpPr>
            <a:spLocks noGrp="1"/>
          </p:cNvSpPr>
          <p:nvPr>
            <p:ph type="sldImg"/>
          </p:nvPr>
        </p:nvSpPr>
        <p:spPr>
          <a:xfrm>
            <a:off x="533520" y="755640"/>
            <a:ext cx="6701040" cy="3767400"/>
          </a:xfrm>
          <a:prstGeom prst="rect">
            <a:avLst/>
          </a:prstGeom>
          <a:ln w="0">
            <a:noFill/>
          </a:ln>
        </p:spPr>
      </p:sp>
      <p:sp>
        <p:nvSpPr>
          <p:cNvPr id="681" name="PlaceHolder 3"/>
          <p:cNvSpPr>
            <a:spLocks noGrp="1"/>
          </p:cNvSpPr>
          <p:nvPr>
            <p:ph type="body"/>
          </p:nvPr>
        </p:nvSpPr>
        <p:spPr>
          <a:xfrm>
            <a:off x="1035720" y="4777200"/>
            <a:ext cx="5695560" cy="452124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9000" rIns="99000" tIns="49320" bIns="4932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Times New Roman"/>
              </a:rPr>
              <a:t>NRL/SCR -&gt; SCR = Name, Erfinder waren zu der Zeit am NRL.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Times New Roman"/>
              </a:rPr>
              <a:t>Eschbach, Elicitation &amp; Modeling: Embedded Systems Industrial Formal Techniques, 2006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PlaceHolder 1"/>
          <p:cNvSpPr>
            <a:spLocks noGrp="1"/>
          </p:cNvSpPr>
          <p:nvPr>
            <p:ph type="sldNum" idx="17"/>
          </p:nvPr>
        </p:nvSpPr>
        <p:spPr>
          <a:xfrm>
            <a:off x="4403880" y="9556200"/>
            <a:ext cx="3363120" cy="49752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9000" rIns="99000" tIns="49320" bIns="493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400" spc="-1" strike="noStrike">
                <a:solidFill>
                  <a:srgbClr val="000000"/>
                </a:solidFill>
                <a:latin typeface="Times New Roman"/>
                <a:ea typeface="ＭＳ Ｐゴシック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B6957C7-6793-44A1-AFBC-B50408F3E132}" type="slidenum">
              <a:rPr b="0" lang="de-DE" sz="14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&lt;number&gt;</a:t>
            </a:fld>
            <a:endParaRPr b="0" lang="en-GB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3" name="PlaceHolder 2"/>
          <p:cNvSpPr>
            <a:spLocks noGrp="1"/>
          </p:cNvSpPr>
          <p:nvPr>
            <p:ph type="sldImg"/>
          </p:nvPr>
        </p:nvSpPr>
        <p:spPr>
          <a:xfrm>
            <a:off x="533520" y="755640"/>
            <a:ext cx="6701040" cy="3767400"/>
          </a:xfrm>
          <a:prstGeom prst="rect">
            <a:avLst/>
          </a:prstGeom>
          <a:ln w="0">
            <a:noFill/>
          </a:ln>
        </p:spPr>
      </p:sp>
      <p:sp>
        <p:nvSpPr>
          <p:cNvPr id="684" name="PlaceHolder 3"/>
          <p:cNvSpPr>
            <a:spLocks noGrp="1"/>
          </p:cNvSpPr>
          <p:nvPr>
            <p:ph type="body"/>
          </p:nvPr>
        </p:nvSpPr>
        <p:spPr>
          <a:xfrm>
            <a:off x="1035720" y="4777200"/>
            <a:ext cx="5695560" cy="452124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9000" rIns="99000" tIns="49320" bIns="4932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Times New Roman"/>
              </a:rPr>
              <a:t>Eschbach, Elicitation &amp; Modeling: Embedded Systems Industrial Formal Techniques, 2006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5" name="PlaceHolder 1"/>
          <p:cNvSpPr>
            <a:spLocks noGrp="1"/>
          </p:cNvSpPr>
          <p:nvPr>
            <p:ph type="sldNum" idx="18"/>
          </p:nvPr>
        </p:nvSpPr>
        <p:spPr>
          <a:xfrm>
            <a:off x="4403880" y="9556200"/>
            <a:ext cx="3363120" cy="49752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9000" rIns="99000" tIns="49320" bIns="493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400" spc="-1" strike="noStrike">
                <a:solidFill>
                  <a:srgbClr val="000000"/>
                </a:solidFill>
                <a:latin typeface="Times New Roman"/>
                <a:ea typeface="ＭＳ Ｐゴシック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96D8D9A-CF05-490B-AF8E-39448B34740E}" type="slidenum">
              <a:rPr b="0" lang="de-DE" sz="14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&lt;number&gt;</a:t>
            </a:fld>
            <a:endParaRPr b="0" lang="en-GB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6" name="PlaceHolder 2"/>
          <p:cNvSpPr>
            <a:spLocks noGrp="1"/>
          </p:cNvSpPr>
          <p:nvPr>
            <p:ph type="sldImg"/>
          </p:nvPr>
        </p:nvSpPr>
        <p:spPr>
          <a:xfrm>
            <a:off x="533520" y="755640"/>
            <a:ext cx="6701040" cy="3767400"/>
          </a:xfrm>
          <a:prstGeom prst="rect">
            <a:avLst/>
          </a:prstGeom>
          <a:ln w="0">
            <a:noFill/>
          </a:ln>
        </p:spPr>
      </p:sp>
      <p:sp>
        <p:nvSpPr>
          <p:cNvPr id="687" name="PlaceHolder 3"/>
          <p:cNvSpPr>
            <a:spLocks noGrp="1"/>
          </p:cNvSpPr>
          <p:nvPr>
            <p:ph type="body"/>
          </p:nvPr>
        </p:nvSpPr>
        <p:spPr>
          <a:xfrm>
            <a:off x="1035720" y="4777200"/>
            <a:ext cx="5695560" cy="452124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9000" rIns="99000" tIns="49320" bIns="4932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Hilfsvar werden eingeführt um REQ einfacher hinzuschreiben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Auxiliary V: = Hilfsvariablen – Modi – repräsentieren System Status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System = unter bestimmten Bedingungen gibt es Zustandsübergang – Zustandsdiagramm UML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Times New Roman"/>
              </a:rPr>
              <a:t>Eschbach, Elicitation &amp; Modeling: Embedded Systems Industrial Formal Techniques, 2006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8" name="PlaceHolder 1"/>
          <p:cNvSpPr>
            <a:spLocks noGrp="1"/>
          </p:cNvSpPr>
          <p:nvPr>
            <p:ph type="sldNum" idx="19"/>
          </p:nvPr>
        </p:nvSpPr>
        <p:spPr>
          <a:xfrm>
            <a:off x="4403880" y="9556200"/>
            <a:ext cx="3363120" cy="49752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9000" rIns="99000" tIns="49320" bIns="493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400" spc="-1" strike="noStrike">
                <a:solidFill>
                  <a:srgbClr val="000000"/>
                </a:solidFill>
                <a:latin typeface="Times New Roman"/>
                <a:ea typeface="ＭＳ Ｐゴシック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D0BCC13-256F-48DA-8097-AAFEBA06EAA9}" type="slidenum">
              <a:rPr b="0" lang="de-DE" sz="14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&lt;number&gt;</a:t>
            </a:fld>
            <a:endParaRPr b="0" lang="en-GB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9" name="PlaceHolder 2"/>
          <p:cNvSpPr>
            <a:spLocks noGrp="1"/>
          </p:cNvSpPr>
          <p:nvPr>
            <p:ph type="sldImg"/>
          </p:nvPr>
        </p:nvSpPr>
        <p:spPr>
          <a:xfrm>
            <a:off x="533520" y="755640"/>
            <a:ext cx="6701040" cy="3767400"/>
          </a:xfrm>
          <a:prstGeom prst="rect">
            <a:avLst/>
          </a:prstGeom>
          <a:ln w="0">
            <a:noFill/>
          </a:ln>
        </p:spPr>
      </p:sp>
      <p:sp>
        <p:nvSpPr>
          <p:cNvPr id="690" name="PlaceHolder 3"/>
          <p:cNvSpPr>
            <a:spLocks noGrp="1"/>
          </p:cNvSpPr>
          <p:nvPr>
            <p:ph type="body"/>
          </p:nvPr>
        </p:nvSpPr>
        <p:spPr>
          <a:xfrm>
            <a:off x="1035720" y="4777200"/>
            <a:ext cx="5695560" cy="452124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9000" rIns="99000" tIns="49320" bIns="4932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Times New Roman"/>
              </a:rPr>
              <a:t>Bedingungen = beziehen sich auf einen Status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Times New Roman"/>
              </a:rPr>
              <a:t>Event = verbindet 2 Systemzustände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Times New Roman"/>
              </a:rPr>
              <a:t>Vorkommen: ein Event tritt auf wenn Bedingung ändert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Times New Roman"/>
              </a:rPr>
              <a:t>@T(c) = der moment in dem c wahr wird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Times New Roman"/>
              </a:rPr>
              <a:t>Conditioned event = Event unter bedingung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Times New Roman"/>
              </a:rPr>
              <a:t>Special form = verschärfte Form von Conditioned Event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Times New Roman"/>
              </a:rPr>
              <a:t>Eschbach, Elicitation &amp; Modeling: Embedded Systems Industrial Formal Techniques, 2006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1" name="PlaceHolder 1"/>
          <p:cNvSpPr>
            <a:spLocks noGrp="1"/>
          </p:cNvSpPr>
          <p:nvPr>
            <p:ph type="sldNum" idx="20"/>
          </p:nvPr>
        </p:nvSpPr>
        <p:spPr>
          <a:xfrm>
            <a:off x="4403880" y="9556200"/>
            <a:ext cx="3363120" cy="49752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9000" rIns="99000" tIns="49320" bIns="493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400" spc="-1" strike="noStrike">
                <a:solidFill>
                  <a:srgbClr val="000000"/>
                </a:solidFill>
                <a:latin typeface="Times New Roman"/>
                <a:ea typeface="ＭＳ Ｐゴシック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38C2542-2280-4D74-B23E-A6372710794B}" type="slidenum">
              <a:rPr b="0" lang="de-DE" sz="14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&lt;number&gt;</a:t>
            </a:fld>
            <a:endParaRPr b="0" lang="en-GB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2" name="PlaceHolder 2"/>
          <p:cNvSpPr>
            <a:spLocks noGrp="1"/>
          </p:cNvSpPr>
          <p:nvPr>
            <p:ph type="sldImg"/>
          </p:nvPr>
        </p:nvSpPr>
        <p:spPr>
          <a:xfrm>
            <a:off x="533520" y="755640"/>
            <a:ext cx="6701040" cy="3767400"/>
          </a:xfrm>
          <a:prstGeom prst="rect">
            <a:avLst/>
          </a:prstGeom>
          <a:ln w="0">
            <a:noFill/>
          </a:ln>
        </p:spPr>
      </p:sp>
      <p:sp>
        <p:nvSpPr>
          <p:cNvPr id="693" name="PlaceHolder 3"/>
          <p:cNvSpPr>
            <a:spLocks noGrp="1"/>
          </p:cNvSpPr>
          <p:nvPr>
            <p:ph type="body"/>
          </p:nvPr>
        </p:nvSpPr>
        <p:spPr>
          <a:xfrm>
            <a:off x="1035720" y="4777200"/>
            <a:ext cx="5695560" cy="452124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9000" rIns="99000" tIns="49320" bIns="49320" anchor="t">
            <a:noAutofit/>
          </a:bodyPr>
          <a:p>
            <a:pPr marL="216000" indent="0">
              <a:lnSpc>
                <a:spcPct val="100000"/>
              </a:lnSpc>
              <a:spcBef>
                <a:spcPts val="360"/>
              </a:spcBef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Times New Roman"/>
              </a:rPr>
              <a:t>Mode transition table = mode + event = neuer mode - </a:t>
            </a:r>
            <a:r>
              <a:rPr b="0" lang="de-DE" sz="12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Verbindet den Ausgangsmodus und ein Event mit einem Zielmodus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Event table = Veränderungen von termen / contr. Variablen in abh. Von inputs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Cond. Table = Wert einer controlled Variable unter jeder möglichen Bedingung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Easterbrook: L17-formalmodelling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4" name="PlaceHolder 1"/>
          <p:cNvSpPr>
            <a:spLocks noGrp="1"/>
          </p:cNvSpPr>
          <p:nvPr>
            <p:ph type="sldNum" idx="21"/>
          </p:nvPr>
        </p:nvSpPr>
        <p:spPr>
          <a:xfrm>
            <a:off x="4403880" y="9556200"/>
            <a:ext cx="3363120" cy="49752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9000" rIns="99000" tIns="49320" bIns="493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400" spc="-1" strike="noStrike">
                <a:solidFill>
                  <a:srgbClr val="000000"/>
                </a:solidFill>
                <a:latin typeface="Times New Roman"/>
                <a:ea typeface="ＭＳ Ｐゴシック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ABD8886-3AA3-4F8B-8EAE-8658A3650B94}" type="slidenum">
              <a:rPr b="0" lang="de-DE" sz="14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&lt;number&gt;</a:t>
            </a:fld>
            <a:endParaRPr b="0" lang="en-GB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5" name="PlaceHolder 2"/>
          <p:cNvSpPr>
            <a:spLocks noGrp="1"/>
          </p:cNvSpPr>
          <p:nvPr>
            <p:ph type="sldImg"/>
          </p:nvPr>
        </p:nvSpPr>
        <p:spPr>
          <a:xfrm>
            <a:off x="533520" y="755640"/>
            <a:ext cx="6701040" cy="3767400"/>
          </a:xfrm>
          <a:prstGeom prst="rect">
            <a:avLst/>
          </a:prstGeom>
          <a:ln w="0">
            <a:noFill/>
          </a:ln>
        </p:spPr>
      </p:sp>
      <p:sp>
        <p:nvSpPr>
          <p:cNvPr id="696" name="PlaceHolder 3"/>
          <p:cNvSpPr>
            <a:spLocks noGrp="1"/>
          </p:cNvSpPr>
          <p:nvPr>
            <p:ph type="body"/>
          </p:nvPr>
        </p:nvSpPr>
        <p:spPr>
          <a:xfrm>
            <a:off x="1035720" y="4777200"/>
            <a:ext cx="5695560" cy="452124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9000" rIns="99000" tIns="49320" bIns="4932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Times New Roman"/>
              </a:rPr>
              <a:t>Easterbrook: L17-formalmodelling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7" name="PlaceHolder 1"/>
          <p:cNvSpPr>
            <a:spLocks noGrp="1"/>
          </p:cNvSpPr>
          <p:nvPr>
            <p:ph type="sldNum" idx="22"/>
          </p:nvPr>
        </p:nvSpPr>
        <p:spPr>
          <a:xfrm>
            <a:off x="4403880" y="9556200"/>
            <a:ext cx="3363120" cy="49752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9000" rIns="99000" tIns="49320" bIns="493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400" spc="-1" strike="noStrike">
                <a:solidFill>
                  <a:srgbClr val="000000"/>
                </a:solidFill>
                <a:latin typeface="Times New Roman"/>
                <a:ea typeface="ＭＳ Ｐゴシック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51D35F2-35B4-44DF-9B44-EDAD4BFB7F5D}" type="slidenum">
              <a:rPr b="0" lang="de-DE" sz="14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&lt;number&gt;</a:t>
            </a:fld>
            <a:endParaRPr b="0" lang="en-GB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8" name="PlaceHolder 2"/>
          <p:cNvSpPr>
            <a:spLocks noGrp="1"/>
          </p:cNvSpPr>
          <p:nvPr>
            <p:ph type="sldImg"/>
          </p:nvPr>
        </p:nvSpPr>
        <p:spPr>
          <a:xfrm>
            <a:off x="533520" y="755640"/>
            <a:ext cx="6701040" cy="3767400"/>
          </a:xfrm>
          <a:prstGeom prst="rect">
            <a:avLst/>
          </a:prstGeom>
          <a:ln w="0">
            <a:noFill/>
          </a:ln>
        </p:spPr>
      </p:sp>
      <p:sp>
        <p:nvSpPr>
          <p:cNvPr id="699" name="PlaceHolder 3"/>
          <p:cNvSpPr>
            <a:spLocks noGrp="1"/>
          </p:cNvSpPr>
          <p:nvPr>
            <p:ph type="body"/>
          </p:nvPr>
        </p:nvSpPr>
        <p:spPr>
          <a:xfrm>
            <a:off x="1035720" y="4777200"/>
            <a:ext cx="5695560" cy="452124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9000" rIns="99000" tIns="49320" bIns="4932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Times New Roman"/>
              </a:rPr>
              <a:t>Easterbrook: L17-formalmodelling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PlaceHolder 1"/>
          <p:cNvSpPr>
            <a:spLocks noGrp="1"/>
          </p:cNvSpPr>
          <p:nvPr>
            <p:ph type="sldNum" idx="23"/>
          </p:nvPr>
        </p:nvSpPr>
        <p:spPr>
          <a:xfrm>
            <a:off x="4403880" y="9556200"/>
            <a:ext cx="3363120" cy="49752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9000" rIns="99000" tIns="49320" bIns="493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400" spc="-1" strike="noStrike">
                <a:solidFill>
                  <a:srgbClr val="000000"/>
                </a:solidFill>
                <a:latin typeface="Times New Roman"/>
                <a:ea typeface="ＭＳ Ｐゴシック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D41E109-FE1D-4704-9275-9B064A3A7CEC}" type="slidenum">
              <a:rPr b="0" lang="de-DE" sz="14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&lt;number&gt;</a:t>
            </a:fld>
            <a:endParaRPr b="0" lang="en-GB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01" name="PlaceHolder 2"/>
          <p:cNvSpPr>
            <a:spLocks noGrp="1"/>
          </p:cNvSpPr>
          <p:nvPr>
            <p:ph type="sldImg"/>
          </p:nvPr>
        </p:nvSpPr>
        <p:spPr>
          <a:xfrm>
            <a:off x="533520" y="755640"/>
            <a:ext cx="6701040" cy="3767400"/>
          </a:xfrm>
          <a:prstGeom prst="rect">
            <a:avLst/>
          </a:prstGeom>
          <a:ln w="0">
            <a:noFill/>
          </a:ln>
        </p:spPr>
      </p:sp>
      <p:sp>
        <p:nvSpPr>
          <p:cNvPr id="702" name="PlaceHolder 3"/>
          <p:cNvSpPr>
            <a:spLocks noGrp="1"/>
          </p:cNvSpPr>
          <p:nvPr>
            <p:ph type="body"/>
          </p:nvPr>
        </p:nvSpPr>
        <p:spPr>
          <a:xfrm>
            <a:off x="1035720" y="4777200"/>
            <a:ext cx="5695560" cy="452124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9000" rIns="99000" tIns="49320" bIns="4932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Times New Roman"/>
              </a:rPr>
              <a:t>Eschbach, Elicitation &amp; Modeling: Embedded Systems Industrial Formal Techniques, 2006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PlaceHolder 1"/>
          <p:cNvSpPr>
            <a:spLocks noGrp="1"/>
          </p:cNvSpPr>
          <p:nvPr>
            <p:ph type="sldNum" idx="24"/>
          </p:nvPr>
        </p:nvSpPr>
        <p:spPr>
          <a:xfrm>
            <a:off x="4403880" y="9556200"/>
            <a:ext cx="3363120" cy="49752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9000" rIns="99000" tIns="49320" bIns="493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400" spc="-1" strike="noStrike">
                <a:solidFill>
                  <a:srgbClr val="000000"/>
                </a:solidFill>
                <a:latin typeface="Times New Roman"/>
                <a:ea typeface="ＭＳ Ｐゴシック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9436EC8-D006-42F5-A4DF-DAB786DB68B1}" type="slidenum">
              <a:rPr b="0" lang="de-DE" sz="14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&lt;number&gt;</a:t>
            </a:fld>
            <a:endParaRPr b="0" lang="en-GB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04" name="PlaceHolder 2"/>
          <p:cNvSpPr>
            <a:spLocks noGrp="1"/>
          </p:cNvSpPr>
          <p:nvPr>
            <p:ph type="sldImg"/>
          </p:nvPr>
        </p:nvSpPr>
        <p:spPr>
          <a:xfrm>
            <a:off x="533520" y="755640"/>
            <a:ext cx="6701040" cy="3767400"/>
          </a:xfrm>
          <a:prstGeom prst="rect">
            <a:avLst/>
          </a:prstGeom>
          <a:ln w="0">
            <a:noFill/>
          </a:ln>
        </p:spPr>
      </p:sp>
      <p:sp>
        <p:nvSpPr>
          <p:cNvPr id="705" name="PlaceHolder 3"/>
          <p:cNvSpPr>
            <a:spLocks noGrp="1"/>
          </p:cNvSpPr>
          <p:nvPr>
            <p:ph type="body"/>
          </p:nvPr>
        </p:nvSpPr>
        <p:spPr>
          <a:xfrm>
            <a:off x="1035720" y="4777200"/>
            <a:ext cx="5695560" cy="452124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9000" rIns="99000" tIns="49320" bIns="4932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Times New Roman"/>
              </a:rPr>
              <a:t>Eschbach, Elicitation &amp; Modeling: Embedded Systems Industrial Formal Techniques, 2006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" name="PlaceHolder 1"/>
          <p:cNvSpPr>
            <a:spLocks noGrp="1"/>
          </p:cNvSpPr>
          <p:nvPr>
            <p:ph type="sldNum" idx="25"/>
          </p:nvPr>
        </p:nvSpPr>
        <p:spPr>
          <a:xfrm>
            <a:off x="4403880" y="9556200"/>
            <a:ext cx="3363120" cy="49752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9000" rIns="99000" tIns="49320" bIns="493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400" spc="-1" strike="noStrike">
                <a:solidFill>
                  <a:srgbClr val="000000"/>
                </a:solidFill>
                <a:latin typeface="Times New Roman"/>
                <a:ea typeface="ＭＳ Ｐゴシック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9018250-DBE6-4FEC-984F-A21AE270D7A6}" type="slidenum">
              <a:rPr b="0" lang="de-DE" sz="1400" spc="-1" strike="noStrike">
                <a:solidFill>
                  <a:srgbClr val="000000"/>
                </a:solidFill>
                <a:latin typeface="Times New Roman"/>
                <a:ea typeface="ＭＳ Ｐゴシック"/>
              </a:rPr>
              <a:t>&lt;number&gt;</a:t>
            </a:fld>
            <a:endParaRPr b="0" lang="en-GB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07" name="PlaceHolder 2"/>
          <p:cNvSpPr>
            <a:spLocks noGrp="1"/>
          </p:cNvSpPr>
          <p:nvPr>
            <p:ph type="sldImg"/>
          </p:nvPr>
        </p:nvSpPr>
        <p:spPr>
          <a:xfrm>
            <a:off x="533520" y="755640"/>
            <a:ext cx="6701040" cy="3767400"/>
          </a:xfrm>
          <a:prstGeom prst="rect">
            <a:avLst/>
          </a:prstGeom>
          <a:ln w="0">
            <a:noFill/>
          </a:ln>
        </p:spPr>
      </p:sp>
      <p:sp>
        <p:nvSpPr>
          <p:cNvPr id="708" name="PlaceHolder 3"/>
          <p:cNvSpPr>
            <a:spLocks noGrp="1"/>
          </p:cNvSpPr>
          <p:nvPr>
            <p:ph type="body"/>
          </p:nvPr>
        </p:nvSpPr>
        <p:spPr>
          <a:xfrm>
            <a:off x="1035720" y="4777200"/>
            <a:ext cx="5695560" cy="452124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9000" rIns="99000" tIns="49320" bIns="4932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Times New Roman"/>
              </a:rPr>
              <a:t>Eschbach, Elicitation &amp; Modeling: Embedded Systems Industrial Formal Techniques, 2006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Times New Roman"/>
              </a:rPr>
              <a:t>Constance Heitmeyer, Myla Archer, Ramesh Bharadwaj and Ralph Jeffords. Tools for constructing requirements specifications: The SCR toolset at the age of ten. International Journal of Computer Systems Science &amp; Engineering, Vol 20, No. 1, p 19-35, January 2005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" name="PlaceHolder 3"/>
          <p:cNvSpPr>
            <a:spLocks noGrp="1"/>
          </p:cNvSpPr>
          <p:nvPr>
            <p:ph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" name="PlaceHolder 4"/>
          <p:cNvSpPr>
            <a:spLocks noGrp="1"/>
          </p:cNvSpPr>
          <p:nvPr>
            <p:ph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" name="PlaceHolder 5"/>
          <p:cNvSpPr>
            <a:spLocks noGrp="1"/>
          </p:cNvSpPr>
          <p:nvPr>
            <p:ph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" name="PlaceHolder 6"/>
          <p:cNvSpPr>
            <a:spLocks noGrp="1"/>
          </p:cNvSpPr>
          <p:nvPr>
            <p:ph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PlaceHolder 7"/>
          <p:cNvSpPr>
            <a:spLocks noGrp="1"/>
          </p:cNvSpPr>
          <p:nvPr>
            <p:ph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" name="PlaceHolder 3"/>
          <p:cNvSpPr>
            <a:spLocks noGrp="1"/>
          </p:cNvSpPr>
          <p:nvPr>
            <p:ph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PlaceHolder 4"/>
          <p:cNvSpPr>
            <a:spLocks noGrp="1"/>
          </p:cNvSpPr>
          <p:nvPr>
            <p:ph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" name="PlaceHolder 5"/>
          <p:cNvSpPr>
            <a:spLocks noGrp="1"/>
          </p:cNvSpPr>
          <p:nvPr>
            <p:ph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PlaceHolder 6"/>
          <p:cNvSpPr>
            <a:spLocks noGrp="1"/>
          </p:cNvSpPr>
          <p:nvPr>
            <p:ph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" name="PlaceHolder 7"/>
          <p:cNvSpPr>
            <a:spLocks noGrp="1"/>
          </p:cNvSpPr>
          <p:nvPr>
            <p:ph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" name="PlaceHolder 3"/>
          <p:cNvSpPr>
            <a:spLocks noGrp="1"/>
          </p:cNvSpPr>
          <p:nvPr>
            <p:ph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" name="PlaceHolder 4"/>
          <p:cNvSpPr>
            <a:spLocks noGrp="1"/>
          </p:cNvSpPr>
          <p:nvPr>
            <p:ph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" name="PlaceHolder 5"/>
          <p:cNvSpPr>
            <a:spLocks noGrp="1"/>
          </p:cNvSpPr>
          <p:nvPr>
            <p:ph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" name="PlaceHolder 6"/>
          <p:cNvSpPr>
            <a:spLocks noGrp="1"/>
          </p:cNvSpPr>
          <p:nvPr>
            <p:ph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PlaceHolder 7"/>
          <p:cNvSpPr>
            <a:spLocks noGrp="1"/>
          </p:cNvSpPr>
          <p:nvPr>
            <p:ph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3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3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3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" name="PlaceHolder 3"/>
          <p:cNvSpPr>
            <a:spLocks noGrp="1"/>
          </p:cNvSpPr>
          <p:nvPr>
            <p:ph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" name="PlaceHolder 4"/>
          <p:cNvSpPr>
            <a:spLocks noGrp="1"/>
          </p:cNvSpPr>
          <p:nvPr>
            <p:ph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" name="PlaceHolder 5"/>
          <p:cNvSpPr>
            <a:spLocks noGrp="1"/>
          </p:cNvSpPr>
          <p:nvPr>
            <p:ph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" name="PlaceHolder 6"/>
          <p:cNvSpPr>
            <a:spLocks noGrp="1"/>
          </p:cNvSpPr>
          <p:nvPr>
            <p:ph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" name="PlaceHolder 7"/>
          <p:cNvSpPr>
            <a:spLocks noGrp="1"/>
          </p:cNvSpPr>
          <p:nvPr>
            <p:ph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5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5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5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5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5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5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5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0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5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4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5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7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5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9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6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4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" name="PlaceHolder 3"/>
          <p:cNvSpPr>
            <a:spLocks noGrp="1"/>
          </p:cNvSpPr>
          <p:nvPr>
            <p:ph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" name="PlaceHolder 4"/>
          <p:cNvSpPr>
            <a:spLocks noGrp="1"/>
          </p:cNvSpPr>
          <p:nvPr>
            <p:ph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7" name="PlaceHolder 5"/>
          <p:cNvSpPr>
            <a:spLocks noGrp="1"/>
          </p:cNvSpPr>
          <p:nvPr>
            <p:ph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" name="PlaceHolder 6"/>
          <p:cNvSpPr>
            <a:spLocks noGrp="1"/>
          </p:cNvSpPr>
          <p:nvPr>
            <p:ph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" name="PlaceHolder 7"/>
          <p:cNvSpPr>
            <a:spLocks noGrp="1"/>
          </p:cNvSpPr>
          <p:nvPr>
            <p:ph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6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6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6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3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6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6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6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6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6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1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2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6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4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5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6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6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8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9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0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7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3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7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6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7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" name="PlaceHolder 3"/>
          <p:cNvSpPr>
            <a:spLocks noGrp="1"/>
          </p:cNvSpPr>
          <p:nvPr>
            <p:ph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2" name="PlaceHolder 4"/>
          <p:cNvSpPr>
            <a:spLocks noGrp="1"/>
          </p:cNvSpPr>
          <p:nvPr>
            <p:ph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3" name="PlaceHolder 5"/>
          <p:cNvSpPr>
            <a:spLocks noGrp="1"/>
          </p:cNvSpPr>
          <p:nvPr>
            <p:ph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" name="PlaceHolder 6"/>
          <p:cNvSpPr>
            <a:spLocks noGrp="1"/>
          </p:cNvSpPr>
          <p:nvPr>
            <p:ph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5" name="PlaceHolder 7"/>
          <p:cNvSpPr>
            <a:spLocks noGrp="1"/>
          </p:cNvSpPr>
          <p:nvPr>
            <p:ph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1.xml"/><Relationship Id="rId5" Type="http://schemas.openxmlformats.org/officeDocument/2006/relationships/slideLayout" Target="../slideLayouts/slideLayout2.xml"/><Relationship Id="rId6" Type="http://schemas.openxmlformats.org/officeDocument/2006/relationships/slideLayout" Target="../slideLayouts/slideLayout3.xml"/><Relationship Id="rId7" Type="http://schemas.openxmlformats.org/officeDocument/2006/relationships/slideLayout" Target="../slideLayouts/slideLayout4.xml"/><Relationship Id="rId8" Type="http://schemas.openxmlformats.org/officeDocument/2006/relationships/slideLayout" Target="../slideLayouts/slideLayout5.xml"/><Relationship Id="rId9" Type="http://schemas.openxmlformats.org/officeDocument/2006/relationships/slideLayout" Target="../slideLayouts/slideLayout6.xml"/><Relationship Id="rId10" Type="http://schemas.openxmlformats.org/officeDocument/2006/relationships/slideLayout" Target="../slideLayouts/slideLayout7.xml"/><Relationship Id="rId11" Type="http://schemas.openxmlformats.org/officeDocument/2006/relationships/slideLayout" Target="../slideLayouts/slideLayout8.xml"/><Relationship Id="rId12" Type="http://schemas.openxmlformats.org/officeDocument/2006/relationships/slideLayout" Target="../slideLayouts/slideLayout9.xml"/><Relationship Id="rId13" Type="http://schemas.openxmlformats.org/officeDocument/2006/relationships/slideLayout" Target="../slideLayouts/slideLayout10.xml"/><Relationship Id="rId14" Type="http://schemas.openxmlformats.org/officeDocument/2006/relationships/slideLayout" Target="../slideLayouts/slideLayout11.xml"/><Relationship Id="rId15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13.xml"/><Relationship Id="rId5" Type="http://schemas.openxmlformats.org/officeDocument/2006/relationships/slideLayout" Target="../slideLayouts/slideLayout14.xml"/><Relationship Id="rId6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6.xml"/><Relationship Id="rId8" Type="http://schemas.openxmlformats.org/officeDocument/2006/relationships/slideLayout" Target="../slideLayouts/slideLayout17.xml"/><Relationship Id="rId9" Type="http://schemas.openxmlformats.org/officeDocument/2006/relationships/slideLayout" Target="../slideLayouts/slideLayout18.xml"/><Relationship Id="rId10" Type="http://schemas.openxmlformats.org/officeDocument/2006/relationships/slideLayout" Target="../slideLayouts/slideLayout19.xml"/><Relationship Id="rId11" Type="http://schemas.openxmlformats.org/officeDocument/2006/relationships/slideLayout" Target="../slideLayouts/slideLayout20.xml"/><Relationship Id="rId12" Type="http://schemas.openxmlformats.org/officeDocument/2006/relationships/slideLayout" Target="../slideLayouts/slideLayout21.xml"/><Relationship Id="rId13" Type="http://schemas.openxmlformats.org/officeDocument/2006/relationships/slideLayout" Target="../slideLayouts/slideLayout22.xml"/><Relationship Id="rId14" Type="http://schemas.openxmlformats.org/officeDocument/2006/relationships/slideLayout" Target="../slideLayouts/slideLayout23.xml"/><Relationship Id="rId15" Type="http://schemas.openxmlformats.org/officeDocument/2006/relationships/slideLayout" Target="../slideLayouts/slideLayout24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25.xml"/><Relationship Id="rId5" Type="http://schemas.openxmlformats.org/officeDocument/2006/relationships/slideLayout" Target="../slideLayouts/slideLayout26.xml"/><Relationship Id="rId6" Type="http://schemas.openxmlformats.org/officeDocument/2006/relationships/slideLayout" Target="../slideLayouts/slideLayout27.xml"/><Relationship Id="rId7" Type="http://schemas.openxmlformats.org/officeDocument/2006/relationships/slideLayout" Target="../slideLayouts/slideLayout28.xml"/><Relationship Id="rId8" Type="http://schemas.openxmlformats.org/officeDocument/2006/relationships/slideLayout" Target="../slideLayouts/slideLayout29.xml"/><Relationship Id="rId9" Type="http://schemas.openxmlformats.org/officeDocument/2006/relationships/slideLayout" Target="../slideLayouts/slideLayout30.xml"/><Relationship Id="rId10" Type="http://schemas.openxmlformats.org/officeDocument/2006/relationships/slideLayout" Target="../slideLayouts/slideLayout31.xml"/><Relationship Id="rId11" Type="http://schemas.openxmlformats.org/officeDocument/2006/relationships/slideLayout" Target="../slideLayouts/slideLayout32.xml"/><Relationship Id="rId12" Type="http://schemas.openxmlformats.org/officeDocument/2006/relationships/slideLayout" Target="../slideLayouts/slideLayout33.xml"/><Relationship Id="rId13" Type="http://schemas.openxmlformats.org/officeDocument/2006/relationships/slideLayout" Target="../slideLayouts/slideLayout34.xml"/><Relationship Id="rId14" Type="http://schemas.openxmlformats.org/officeDocument/2006/relationships/slideLayout" Target="../slideLayouts/slideLayout35.xml"/><Relationship Id="rId15" Type="http://schemas.openxmlformats.org/officeDocument/2006/relationships/slideLayout" Target="../slideLayouts/slideLayout36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37.xml"/><Relationship Id="rId5" Type="http://schemas.openxmlformats.org/officeDocument/2006/relationships/slideLayout" Target="../slideLayouts/slideLayout38.xml"/><Relationship Id="rId6" Type="http://schemas.openxmlformats.org/officeDocument/2006/relationships/slideLayout" Target="../slideLayouts/slideLayout39.xml"/><Relationship Id="rId7" Type="http://schemas.openxmlformats.org/officeDocument/2006/relationships/slideLayout" Target="../slideLayouts/slideLayout40.xml"/><Relationship Id="rId8" Type="http://schemas.openxmlformats.org/officeDocument/2006/relationships/slideLayout" Target="../slideLayouts/slideLayout41.xml"/><Relationship Id="rId9" Type="http://schemas.openxmlformats.org/officeDocument/2006/relationships/slideLayout" Target="../slideLayouts/slideLayout42.xml"/><Relationship Id="rId10" Type="http://schemas.openxmlformats.org/officeDocument/2006/relationships/slideLayout" Target="../slideLayouts/slideLayout43.xml"/><Relationship Id="rId11" Type="http://schemas.openxmlformats.org/officeDocument/2006/relationships/slideLayout" Target="../slideLayouts/slideLayout44.xml"/><Relationship Id="rId12" Type="http://schemas.openxmlformats.org/officeDocument/2006/relationships/slideLayout" Target="../slideLayouts/slideLayout45.xml"/><Relationship Id="rId13" Type="http://schemas.openxmlformats.org/officeDocument/2006/relationships/slideLayout" Target="../slideLayouts/slideLayout46.xml"/><Relationship Id="rId14" Type="http://schemas.openxmlformats.org/officeDocument/2006/relationships/slideLayout" Target="../slideLayouts/slideLayout47.xml"/><Relationship Id="rId15" Type="http://schemas.openxmlformats.org/officeDocument/2006/relationships/slideLayout" Target="../slideLayouts/slideLayout48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49.xml"/><Relationship Id="rId5" Type="http://schemas.openxmlformats.org/officeDocument/2006/relationships/slideLayout" Target="../slideLayouts/slideLayout50.xml"/><Relationship Id="rId6" Type="http://schemas.openxmlformats.org/officeDocument/2006/relationships/slideLayout" Target="../slideLayouts/slideLayout51.xml"/><Relationship Id="rId7" Type="http://schemas.openxmlformats.org/officeDocument/2006/relationships/slideLayout" Target="../slideLayouts/slideLayout52.xml"/><Relationship Id="rId8" Type="http://schemas.openxmlformats.org/officeDocument/2006/relationships/slideLayout" Target="../slideLayouts/slideLayout53.xml"/><Relationship Id="rId9" Type="http://schemas.openxmlformats.org/officeDocument/2006/relationships/slideLayout" Target="../slideLayouts/slideLayout54.xml"/><Relationship Id="rId10" Type="http://schemas.openxmlformats.org/officeDocument/2006/relationships/slideLayout" Target="../slideLayouts/slideLayout55.xml"/><Relationship Id="rId11" Type="http://schemas.openxmlformats.org/officeDocument/2006/relationships/slideLayout" Target="../slideLayouts/slideLayout56.xml"/><Relationship Id="rId12" Type="http://schemas.openxmlformats.org/officeDocument/2006/relationships/slideLayout" Target="../slideLayouts/slideLayout57.xml"/><Relationship Id="rId13" Type="http://schemas.openxmlformats.org/officeDocument/2006/relationships/slideLayout" Target="../slideLayouts/slideLayout58.xml"/><Relationship Id="rId14" Type="http://schemas.openxmlformats.org/officeDocument/2006/relationships/slideLayout" Target="../slideLayouts/slideLayout59.xml"/><Relationship Id="rId15" Type="http://schemas.openxmlformats.org/officeDocument/2006/relationships/slideLayout" Target="../slideLayouts/slideLayout60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61.xml"/><Relationship Id="rId5" Type="http://schemas.openxmlformats.org/officeDocument/2006/relationships/slideLayout" Target="../slideLayouts/slideLayout62.xml"/><Relationship Id="rId6" Type="http://schemas.openxmlformats.org/officeDocument/2006/relationships/slideLayout" Target="../slideLayouts/slideLayout63.xml"/><Relationship Id="rId7" Type="http://schemas.openxmlformats.org/officeDocument/2006/relationships/slideLayout" Target="../slideLayouts/slideLayout64.xml"/><Relationship Id="rId8" Type="http://schemas.openxmlformats.org/officeDocument/2006/relationships/slideLayout" Target="../slideLayouts/slideLayout65.xml"/><Relationship Id="rId9" Type="http://schemas.openxmlformats.org/officeDocument/2006/relationships/slideLayout" Target="../slideLayouts/slideLayout66.xml"/><Relationship Id="rId10" Type="http://schemas.openxmlformats.org/officeDocument/2006/relationships/slideLayout" Target="../slideLayouts/slideLayout67.xml"/><Relationship Id="rId11" Type="http://schemas.openxmlformats.org/officeDocument/2006/relationships/slideLayout" Target="../slideLayouts/slideLayout68.xml"/><Relationship Id="rId12" Type="http://schemas.openxmlformats.org/officeDocument/2006/relationships/slideLayout" Target="../slideLayouts/slideLayout69.xml"/><Relationship Id="rId13" Type="http://schemas.openxmlformats.org/officeDocument/2006/relationships/slideLayout" Target="../slideLayouts/slideLayout70.xml"/><Relationship Id="rId14" Type="http://schemas.openxmlformats.org/officeDocument/2006/relationships/slideLayout" Target="../slideLayouts/slideLayout71.xml"/><Relationship Id="rId15" Type="http://schemas.openxmlformats.org/officeDocument/2006/relationships/slideLayout" Target="../slideLayouts/slideLayout7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CustomShape 1"/>
          <p:cNvSpPr/>
          <p:nvPr/>
        </p:nvSpPr>
        <p:spPr>
          <a:xfrm>
            <a:off x="11444760" y="0"/>
            <a:ext cx="741600" cy="685044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" name="CustomShape 2"/>
          <p:cNvSpPr/>
          <p:nvPr/>
        </p:nvSpPr>
        <p:spPr>
          <a:xfrm>
            <a:off x="11438640" y="6453360"/>
            <a:ext cx="7585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D4514832-BB82-4AA8-BF20-07B52F965155}" type="slidenum">
              <a:rPr b="0" lang="en-US" sz="1800" spc="-1" strike="noStrike">
                <a:solidFill>
                  <a:srgbClr val="808080"/>
                </a:solidFill>
                <a:latin typeface="Arial"/>
                <a:ea typeface="DejaVu Sans"/>
              </a:rPr>
              <a:t>&lt;number&gt;</a:t>
            </a:fld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CustomShape 3"/>
          <p:cNvSpPr/>
          <p:nvPr/>
        </p:nvSpPr>
        <p:spPr>
          <a:xfrm>
            <a:off x="912240" y="1268280"/>
            <a:ext cx="920844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3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52440" cy="562320"/>
          </a:xfrm>
          <a:prstGeom prst="rect">
            <a:avLst/>
          </a:prstGeom>
          <a:ln w="0">
            <a:noFill/>
          </a:ln>
        </p:spPr>
      </p:pic>
      <p:pic>
        <p:nvPicPr>
          <p:cNvPr id="4" name="Grafik 2" descr=""/>
          <p:cNvPicPr/>
          <p:nvPr/>
        </p:nvPicPr>
        <p:blipFill>
          <a:blip r:embed="rId3"/>
          <a:stretch/>
        </p:blipFill>
        <p:spPr>
          <a:xfrm>
            <a:off x="7430400" y="134640"/>
            <a:ext cx="3698280" cy="514440"/>
          </a:xfrm>
          <a:prstGeom prst="rect">
            <a:avLst/>
          </a:prstGeom>
          <a:ln w="0">
            <a:noFill/>
          </a:ln>
        </p:spPr>
      </p:pic>
      <p:sp>
        <p:nvSpPr>
          <p:cNvPr id="5" name="CustomShape 4"/>
          <p:cNvSpPr/>
          <p:nvPr/>
        </p:nvSpPr>
        <p:spPr>
          <a:xfrm>
            <a:off x="912240" y="1268280"/>
            <a:ext cx="920844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6" name="CustomShape 5"/>
          <p:cNvSpPr/>
          <p:nvPr/>
        </p:nvSpPr>
        <p:spPr>
          <a:xfrm>
            <a:off x="11444760" y="0"/>
            <a:ext cx="741600" cy="685044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7" name="CustomShape 7"/>
          <p:cNvSpPr/>
          <p:nvPr/>
        </p:nvSpPr>
        <p:spPr>
          <a:xfrm>
            <a:off x="0" y="6642720"/>
            <a:ext cx="1218456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a6a6a6"/>
                </a:solidFill>
                <a:latin typeface="Roboto"/>
                <a:ea typeface="DejaVu Sans"/>
              </a:rPr>
              <a:t>Requirements Engineering – TU Clausthal</a:t>
            </a:r>
            <a:endParaRPr b="0" lang="en-GB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GB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GB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4"/>
    <p:sldLayoutId id="2147483650" r:id="rId5"/>
    <p:sldLayoutId id="2147483651" r:id="rId6"/>
    <p:sldLayoutId id="2147483652" r:id="rId7"/>
    <p:sldLayoutId id="2147483653" r:id="rId8"/>
    <p:sldLayoutId id="2147483654" r:id="rId9"/>
    <p:sldLayoutId id="2147483655" r:id="rId10"/>
    <p:sldLayoutId id="2147483656" r:id="rId11"/>
    <p:sldLayoutId id="2147483657" r:id="rId12"/>
    <p:sldLayoutId id="2147483658" r:id="rId13"/>
    <p:sldLayoutId id="2147483659" r:id="rId14"/>
    <p:sldLayoutId id="2147483660" r:id="rId15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CustomShape 1"/>
          <p:cNvSpPr/>
          <p:nvPr/>
        </p:nvSpPr>
        <p:spPr>
          <a:xfrm>
            <a:off x="11444760" y="0"/>
            <a:ext cx="741600" cy="685044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47" name="CustomShape 2"/>
          <p:cNvSpPr/>
          <p:nvPr/>
        </p:nvSpPr>
        <p:spPr>
          <a:xfrm>
            <a:off x="11438640" y="6453360"/>
            <a:ext cx="7585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1E6009B7-0DE0-44E0-9FF6-AE240466521A}" type="slidenum">
              <a:rPr b="0" lang="en-US" sz="1800" spc="-1" strike="noStrike">
                <a:solidFill>
                  <a:srgbClr val="808080"/>
                </a:solidFill>
                <a:latin typeface="Arial"/>
                <a:ea typeface="DejaVu Sans"/>
              </a:rPr>
              <a:t>&lt;number&gt;</a:t>
            </a:fld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" name="CustomShape 3"/>
          <p:cNvSpPr/>
          <p:nvPr/>
        </p:nvSpPr>
        <p:spPr>
          <a:xfrm>
            <a:off x="912240" y="1268280"/>
            <a:ext cx="920844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49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52440" cy="562320"/>
          </a:xfrm>
          <a:prstGeom prst="rect">
            <a:avLst/>
          </a:prstGeom>
          <a:ln w="0">
            <a:noFill/>
          </a:ln>
        </p:spPr>
      </p:pic>
      <p:pic>
        <p:nvPicPr>
          <p:cNvPr id="50" name="Grafik 2" descr=""/>
          <p:cNvPicPr/>
          <p:nvPr/>
        </p:nvPicPr>
        <p:blipFill>
          <a:blip r:embed="rId3"/>
          <a:stretch/>
        </p:blipFill>
        <p:spPr>
          <a:xfrm>
            <a:off x="7430400" y="134640"/>
            <a:ext cx="3698280" cy="514440"/>
          </a:xfrm>
          <a:prstGeom prst="rect">
            <a:avLst/>
          </a:prstGeom>
          <a:ln w="0">
            <a:noFill/>
          </a:ln>
        </p:spPr>
      </p:pic>
      <p:sp>
        <p:nvSpPr>
          <p:cNvPr id="51" name="CustomShape 4"/>
          <p:cNvSpPr/>
          <p:nvPr/>
        </p:nvSpPr>
        <p:spPr>
          <a:xfrm>
            <a:off x="912240" y="1268280"/>
            <a:ext cx="920844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52" name="CustomShape 5"/>
          <p:cNvSpPr/>
          <p:nvPr/>
        </p:nvSpPr>
        <p:spPr>
          <a:xfrm>
            <a:off x="11444760" y="0"/>
            <a:ext cx="741600" cy="685044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53" name="CustomShape 7"/>
          <p:cNvSpPr/>
          <p:nvPr/>
        </p:nvSpPr>
        <p:spPr>
          <a:xfrm>
            <a:off x="0" y="6642720"/>
            <a:ext cx="1218456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a6a6a6"/>
                </a:solidFill>
                <a:latin typeface="Roboto"/>
                <a:ea typeface="DejaVu Sans"/>
              </a:rPr>
              <a:t>Requirements Engineering – TU Clausthal</a:t>
            </a:r>
            <a:endParaRPr b="0" lang="en-GB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GB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GB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  <p:sldLayoutId id="2147483670" r:id="rId12"/>
    <p:sldLayoutId id="2147483671" r:id="rId13"/>
    <p:sldLayoutId id="2147483672" r:id="rId14"/>
    <p:sldLayoutId id="2147483673" r:id="rId15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CustomShape 1"/>
          <p:cNvSpPr/>
          <p:nvPr/>
        </p:nvSpPr>
        <p:spPr>
          <a:xfrm>
            <a:off x="11444760" y="0"/>
            <a:ext cx="740880" cy="684972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93" name="CustomShape 2"/>
          <p:cNvSpPr/>
          <p:nvPr/>
        </p:nvSpPr>
        <p:spPr>
          <a:xfrm>
            <a:off x="11438640" y="6453360"/>
            <a:ext cx="7578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943910F1-F7D0-4F8A-900C-FC8B75832ED8}" type="slidenum">
              <a:rPr b="0" lang="en-US" sz="1800" spc="-1" strike="noStrike">
                <a:solidFill>
                  <a:srgbClr val="808080"/>
                </a:solidFill>
                <a:latin typeface="Arial"/>
                <a:ea typeface="DejaVu Sans"/>
              </a:rPr>
              <a:t>&lt;number&gt;</a:t>
            </a:fld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" name="CustomShape 3"/>
          <p:cNvSpPr/>
          <p:nvPr/>
        </p:nvSpPr>
        <p:spPr>
          <a:xfrm>
            <a:off x="912240" y="1268280"/>
            <a:ext cx="9207720" cy="36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95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51720" cy="561600"/>
          </a:xfrm>
          <a:prstGeom prst="rect">
            <a:avLst/>
          </a:prstGeom>
          <a:ln w="0">
            <a:noFill/>
          </a:ln>
        </p:spPr>
      </p:pic>
      <p:pic>
        <p:nvPicPr>
          <p:cNvPr id="96" name="Grafik 2" descr=""/>
          <p:cNvPicPr/>
          <p:nvPr/>
        </p:nvPicPr>
        <p:blipFill>
          <a:blip r:embed="rId3"/>
          <a:stretch/>
        </p:blipFill>
        <p:spPr>
          <a:xfrm>
            <a:off x="7430400" y="134640"/>
            <a:ext cx="3697560" cy="513720"/>
          </a:xfrm>
          <a:prstGeom prst="rect">
            <a:avLst/>
          </a:prstGeom>
          <a:ln w="0">
            <a:noFill/>
          </a:ln>
        </p:spPr>
      </p:pic>
      <p:sp>
        <p:nvSpPr>
          <p:cNvPr id="97" name="CustomShape 4"/>
          <p:cNvSpPr/>
          <p:nvPr/>
        </p:nvSpPr>
        <p:spPr>
          <a:xfrm>
            <a:off x="912240" y="1268280"/>
            <a:ext cx="9207720" cy="36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98" name="CustomShape 5"/>
          <p:cNvSpPr/>
          <p:nvPr/>
        </p:nvSpPr>
        <p:spPr>
          <a:xfrm>
            <a:off x="11444760" y="0"/>
            <a:ext cx="740880" cy="684972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99" name="CustomShape 7"/>
          <p:cNvSpPr/>
          <p:nvPr/>
        </p:nvSpPr>
        <p:spPr>
          <a:xfrm>
            <a:off x="0" y="6642720"/>
            <a:ext cx="1218384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a6a6a6"/>
                </a:solidFill>
                <a:latin typeface="Roboto"/>
                <a:ea typeface="DejaVu Sans"/>
              </a:rPr>
              <a:t>Requirements Engineering – TU Clausthal</a:t>
            </a:r>
            <a:endParaRPr b="0" lang="en-GB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GB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GB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5" r:id="rId4"/>
    <p:sldLayoutId id="2147483676" r:id="rId5"/>
    <p:sldLayoutId id="2147483677" r:id="rId6"/>
    <p:sldLayoutId id="2147483678" r:id="rId7"/>
    <p:sldLayoutId id="2147483679" r:id="rId8"/>
    <p:sldLayoutId id="2147483680" r:id="rId9"/>
    <p:sldLayoutId id="2147483681" r:id="rId10"/>
    <p:sldLayoutId id="2147483682" r:id="rId11"/>
    <p:sldLayoutId id="2147483683" r:id="rId12"/>
    <p:sldLayoutId id="2147483684" r:id="rId13"/>
    <p:sldLayoutId id="2147483685" r:id="rId14"/>
    <p:sldLayoutId id="2147483686" r:id="rId15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CustomShape 1"/>
          <p:cNvSpPr/>
          <p:nvPr/>
        </p:nvSpPr>
        <p:spPr>
          <a:xfrm>
            <a:off x="11444760" y="0"/>
            <a:ext cx="741600" cy="685044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39" name="CustomShape 2"/>
          <p:cNvSpPr/>
          <p:nvPr/>
        </p:nvSpPr>
        <p:spPr>
          <a:xfrm>
            <a:off x="11438640" y="6453360"/>
            <a:ext cx="7585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8F56CDC4-76B5-402A-A717-2D659BE467D0}" type="slidenum">
              <a:rPr b="0" lang="en-US" sz="1800" spc="-1" strike="noStrike">
                <a:solidFill>
                  <a:srgbClr val="808080"/>
                </a:solidFill>
                <a:latin typeface="Arial"/>
                <a:ea typeface="DejaVu Sans"/>
              </a:rPr>
              <a:t>&lt;number&gt;</a:t>
            </a:fld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" name="CustomShape 3"/>
          <p:cNvSpPr/>
          <p:nvPr/>
        </p:nvSpPr>
        <p:spPr>
          <a:xfrm>
            <a:off x="912240" y="1268280"/>
            <a:ext cx="920844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141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52440" cy="562320"/>
          </a:xfrm>
          <a:prstGeom prst="rect">
            <a:avLst/>
          </a:prstGeom>
          <a:ln w="0">
            <a:noFill/>
          </a:ln>
        </p:spPr>
      </p:pic>
      <p:pic>
        <p:nvPicPr>
          <p:cNvPr id="142" name="Grafik 2" descr=""/>
          <p:cNvPicPr/>
          <p:nvPr/>
        </p:nvPicPr>
        <p:blipFill>
          <a:blip r:embed="rId3"/>
          <a:stretch/>
        </p:blipFill>
        <p:spPr>
          <a:xfrm>
            <a:off x="7430400" y="134640"/>
            <a:ext cx="3698280" cy="514440"/>
          </a:xfrm>
          <a:prstGeom prst="rect">
            <a:avLst/>
          </a:prstGeom>
          <a:ln w="0">
            <a:noFill/>
          </a:ln>
        </p:spPr>
      </p:pic>
      <p:sp>
        <p:nvSpPr>
          <p:cNvPr id="143" name="CustomShape 4"/>
          <p:cNvSpPr/>
          <p:nvPr/>
        </p:nvSpPr>
        <p:spPr>
          <a:xfrm>
            <a:off x="912240" y="1268280"/>
            <a:ext cx="920844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44" name="CustomShape 5"/>
          <p:cNvSpPr/>
          <p:nvPr/>
        </p:nvSpPr>
        <p:spPr>
          <a:xfrm>
            <a:off x="11444760" y="0"/>
            <a:ext cx="741600" cy="685044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45" name="CustomShape 7"/>
          <p:cNvSpPr/>
          <p:nvPr/>
        </p:nvSpPr>
        <p:spPr>
          <a:xfrm>
            <a:off x="0" y="6646680"/>
            <a:ext cx="1218456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a6a6a6"/>
                </a:solidFill>
                <a:latin typeface="Roboto"/>
                <a:ea typeface="DejaVu Sans"/>
              </a:rPr>
              <a:t>Requirements Engineering – TU Clausthal</a:t>
            </a:r>
            <a:endParaRPr b="0" lang="en-GB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GB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GB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  <p:sldLayoutId id="2147483696" r:id="rId12"/>
    <p:sldLayoutId id="2147483697" r:id="rId13"/>
    <p:sldLayoutId id="2147483698" r:id="rId14"/>
    <p:sldLayoutId id="2147483699" r:id="rId15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CustomShape 1"/>
          <p:cNvSpPr/>
          <p:nvPr/>
        </p:nvSpPr>
        <p:spPr>
          <a:xfrm>
            <a:off x="11444760" y="0"/>
            <a:ext cx="741600" cy="685044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85" name="CustomShape 2"/>
          <p:cNvSpPr/>
          <p:nvPr/>
        </p:nvSpPr>
        <p:spPr>
          <a:xfrm>
            <a:off x="11438640" y="6453360"/>
            <a:ext cx="7585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54701110-715D-4B5B-A25B-3B09822621A8}" type="slidenum">
              <a:rPr b="0" lang="en-US" sz="1800" spc="-1" strike="noStrike">
                <a:solidFill>
                  <a:srgbClr val="808080"/>
                </a:solidFill>
                <a:latin typeface="Arial"/>
                <a:ea typeface="DejaVu Sans"/>
              </a:rPr>
              <a:t>&lt;number&gt;</a:t>
            </a:fld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" name="CustomShape 3"/>
          <p:cNvSpPr/>
          <p:nvPr/>
        </p:nvSpPr>
        <p:spPr>
          <a:xfrm>
            <a:off x="912240" y="1268280"/>
            <a:ext cx="920844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187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52440" cy="562320"/>
          </a:xfrm>
          <a:prstGeom prst="rect">
            <a:avLst/>
          </a:prstGeom>
          <a:ln w="0">
            <a:noFill/>
          </a:ln>
        </p:spPr>
      </p:pic>
      <p:pic>
        <p:nvPicPr>
          <p:cNvPr id="188" name="Grafik 2" descr=""/>
          <p:cNvPicPr/>
          <p:nvPr/>
        </p:nvPicPr>
        <p:blipFill>
          <a:blip r:embed="rId3"/>
          <a:stretch/>
        </p:blipFill>
        <p:spPr>
          <a:xfrm>
            <a:off x="7430400" y="134640"/>
            <a:ext cx="3698280" cy="514440"/>
          </a:xfrm>
          <a:prstGeom prst="rect">
            <a:avLst/>
          </a:prstGeom>
          <a:ln w="0">
            <a:noFill/>
          </a:ln>
        </p:spPr>
      </p:pic>
      <p:sp>
        <p:nvSpPr>
          <p:cNvPr id="189" name="CustomShape 4"/>
          <p:cNvSpPr/>
          <p:nvPr/>
        </p:nvSpPr>
        <p:spPr>
          <a:xfrm>
            <a:off x="11444760" y="1440"/>
            <a:ext cx="741600" cy="685044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90" name="CustomShape 5"/>
          <p:cNvSpPr/>
          <p:nvPr/>
        </p:nvSpPr>
        <p:spPr>
          <a:xfrm>
            <a:off x="11427480" y="6453360"/>
            <a:ext cx="7585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0FC6DCCE-DD71-40A9-A506-5599019C76B7}" type="slidenum">
              <a:rPr b="0" lang="en-US" sz="1800" spc="-1" strike="noStrike">
                <a:solidFill>
                  <a:srgbClr val="808080"/>
                </a:solidFill>
                <a:latin typeface="Arial"/>
                <a:ea typeface="DejaVu Sans"/>
              </a:rPr>
              <a:t>&lt;number&gt;</a:t>
            </a:fld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" name="CustomShape 7"/>
          <p:cNvSpPr/>
          <p:nvPr/>
        </p:nvSpPr>
        <p:spPr>
          <a:xfrm>
            <a:off x="0" y="6642720"/>
            <a:ext cx="1218456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a6a6a6"/>
                </a:solidFill>
                <a:latin typeface="Roboto"/>
                <a:ea typeface="DejaVu Sans"/>
              </a:rPr>
              <a:t>Requirements Engineering – TU Clausthal</a:t>
            </a:r>
            <a:endParaRPr b="0" lang="en-GB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GB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GB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01" r:id="rId4"/>
    <p:sldLayoutId id="2147483702" r:id="rId5"/>
    <p:sldLayoutId id="2147483703" r:id="rId6"/>
    <p:sldLayoutId id="2147483704" r:id="rId7"/>
    <p:sldLayoutId id="2147483705" r:id="rId8"/>
    <p:sldLayoutId id="2147483706" r:id="rId9"/>
    <p:sldLayoutId id="2147483707" r:id="rId10"/>
    <p:sldLayoutId id="2147483708" r:id="rId11"/>
    <p:sldLayoutId id="2147483709" r:id="rId12"/>
    <p:sldLayoutId id="2147483710" r:id="rId13"/>
    <p:sldLayoutId id="2147483711" r:id="rId14"/>
    <p:sldLayoutId id="2147483712" r:id="rId15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CustomShape 1"/>
          <p:cNvSpPr/>
          <p:nvPr/>
        </p:nvSpPr>
        <p:spPr>
          <a:xfrm>
            <a:off x="11444760" y="0"/>
            <a:ext cx="741600" cy="685044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231" name="CustomShape 2"/>
          <p:cNvSpPr/>
          <p:nvPr/>
        </p:nvSpPr>
        <p:spPr>
          <a:xfrm>
            <a:off x="11438640" y="6453360"/>
            <a:ext cx="7585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5C52F28A-E991-4283-A723-8E27083CF9AC}" type="slidenum">
              <a:rPr b="0" lang="en-US" sz="1800" spc="-1" strike="noStrike">
                <a:solidFill>
                  <a:srgbClr val="808080"/>
                </a:solidFill>
                <a:latin typeface="Arial"/>
                <a:ea typeface="DejaVu Sans"/>
              </a:rPr>
              <a:t>&lt;number&gt;</a:t>
            </a:fld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" name="CustomShape 3"/>
          <p:cNvSpPr/>
          <p:nvPr/>
        </p:nvSpPr>
        <p:spPr>
          <a:xfrm>
            <a:off x="912240" y="1268280"/>
            <a:ext cx="920844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233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52440" cy="562320"/>
          </a:xfrm>
          <a:prstGeom prst="rect">
            <a:avLst/>
          </a:prstGeom>
          <a:ln w="0">
            <a:noFill/>
          </a:ln>
        </p:spPr>
      </p:pic>
      <p:pic>
        <p:nvPicPr>
          <p:cNvPr id="234" name="Grafik 2" descr=""/>
          <p:cNvPicPr/>
          <p:nvPr/>
        </p:nvPicPr>
        <p:blipFill>
          <a:blip r:embed="rId3"/>
          <a:stretch/>
        </p:blipFill>
        <p:spPr>
          <a:xfrm>
            <a:off x="7430400" y="134640"/>
            <a:ext cx="3698280" cy="514440"/>
          </a:xfrm>
          <a:prstGeom prst="rect">
            <a:avLst/>
          </a:prstGeom>
          <a:ln w="0">
            <a:noFill/>
          </a:ln>
        </p:spPr>
      </p:pic>
      <p:sp>
        <p:nvSpPr>
          <p:cNvPr id="235" name="CustomShape 4"/>
          <p:cNvSpPr/>
          <p:nvPr/>
        </p:nvSpPr>
        <p:spPr>
          <a:xfrm>
            <a:off x="11444760" y="1440"/>
            <a:ext cx="741600" cy="685044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236" name="CustomShape 5"/>
          <p:cNvSpPr/>
          <p:nvPr/>
        </p:nvSpPr>
        <p:spPr>
          <a:xfrm>
            <a:off x="11427480" y="6453360"/>
            <a:ext cx="7585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BB8010CA-7A1F-4481-A26D-939CAAE2FCC5}" type="slidenum">
              <a:rPr b="0" lang="en-US" sz="1800" spc="-1" strike="noStrike">
                <a:solidFill>
                  <a:srgbClr val="808080"/>
                </a:solidFill>
                <a:latin typeface="Arial"/>
                <a:ea typeface="DejaVu Sans"/>
              </a:rPr>
              <a:t>&lt;number&gt;</a:t>
            </a:fld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" name="CustomShape 7"/>
          <p:cNvSpPr/>
          <p:nvPr/>
        </p:nvSpPr>
        <p:spPr>
          <a:xfrm>
            <a:off x="0" y="6642720"/>
            <a:ext cx="1218456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a6a6a6"/>
                </a:solidFill>
                <a:latin typeface="Roboto"/>
                <a:ea typeface="DejaVu Sans"/>
              </a:rPr>
              <a:t>Requirements Engineering – TU Clausthal</a:t>
            </a:r>
            <a:endParaRPr b="0" lang="en-GB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GB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9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GB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14" r:id="rId4"/>
    <p:sldLayoutId id="2147483715" r:id="rId5"/>
    <p:sldLayoutId id="2147483716" r:id="rId6"/>
    <p:sldLayoutId id="2147483717" r:id="rId7"/>
    <p:sldLayoutId id="2147483718" r:id="rId8"/>
    <p:sldLayoutId id="2147483719" r:id="rId9"/>
    <p:sldLayoutId id="2147483720" r:id="rId10"/>
    <p:sldLayoutId id="2147483721" r:id="rId11"/>
    <p:sldLayoutId id="2147483722" r:id="rId12"/>
    <p:sldLayoutId id="2147483723" r:id="rId13"/>
    <p:sldLayoutId id="2147483724" r:id="rId14"/>
    <p:sldLayoutId id="2147483725" r:id="rId15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4.wmf"/><Relationship Id="rId2" Type="http://schemas.openxmlformats.org/officeDocument/2006/relationships/image" Target="../media/image4.wmf"/><Relationship Id="rId3" Type="http://schemas.openxmlformats.org/officeDocument/2006/relationships/image" Target="../media/image4.wmf"/><Relationship Id="rId4" Type="http://schemas.openxmlformats.org/officeDocument/2006/relationships/image" Target="../media/image4.wmf"/><Relationship Id="rId5" Type="http://schemas.openxmlformats.org/officeDocument/2006/relationships/image" Target="../media/image4.wmf"/><Relationship Id="rId6" Type="http://schemas.openxmlformats.org/officeDocument/2006/relationships/image" Target="../media/image4.wmf"/><Relationship Id="rId7" Type="http://schemas.openxmlformats.org/officeDocument/2006/relationships/image" Target="../media/image4.wmf"/><Relationship Id="rId8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4.wmf"/><Relationship Id="rId2" Type="http://schemas.openxmlformats.org/officeDocument/2006/relationships/image" Target="../media/image4.wmf"/><Relationship Id="rId3" Type="http://schemas.openxmlformats.org/officeDocument/2006/relationships/image" Target="../media/image4.wmf"/><Relationship Id="rId4" Type="http://schemas.openxmlformats.org/officeDocument/2006/relationships/image" Target="../media/image4.wmf"/><Relationship Id="rId5" Type="http://schemas.openxmlformats.org/officeDocument/2006/relationships/image" Target="../media/image4.wmf"/><Relationship Id="rId6" Type="http://schemas.openxmlformats.org/officeDocument/2006/relationships/image" Target="../media/image4.wmf"/><Relationship Id="rId7" Type="http://schemas.openxmlformats.org/officeDocument/2006/relationships/image" Target="../media/image4.wmf"/><Relationship Id="rId8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4.wmf"/><Relationship Id="rId2" Type="http://schemas.openxmlformats.org/officeDocument/2006/relationships/image" Target="../media/image4.wmf"/><Relationship Id="rId3" Type="http://schemas.openxmlformats.org/officeDocument/2006/relationships/image" Target="../media/image4.wmf"/><Relationship Id="rId4" Type="http://schemas.openxmlformats.org/officeDocument/2006/relationships/image" Target="../media/image4.wmf"/><Relationship Id="rId5" Type="http://schemas.openxmlformats.org/officeDocument/2006/relationships/image" Target="../media/image4.wmf"/><Relationship Id="rId6" Type="http://schemas.openxmlformats.org/officeDocument/2006/relationships/image" Target="../media/image4.wmf"/><Relationship Id="rId7" Type="http://schemas.openxmlformats.org/officeDocument/2006/relationships/image" Target="../media/image4.wmf"/><Relationship Id="rId8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4.wmf"/><Relationship Id="rId2" Type="http://schemas.openxmlformats.org/officeDocument/2006/relationships/image" Target="../media/image4.wmf"/><Relationship Id="rId3" Type="http://schemas.openxmlformats.org/officeDocument/2006/relationships/image" Target="../media/image4.wmf"/><Relationship Id="rId4" Type="http://schemas.openxmlformats.org/officeDocument/2006/relationships/image" Target="../media/image4.wmf"/><Relationship Id="rId5" Type="http://schemas.openxmlformats.org/officeDocument/2006/relationships/image" Target="../media/image4.wmf"/><Relationship Id="rId6" Type="http://schemas.openxmlformats.org/officeDocument/2006/relationships/image" Target="../media/image4.wmf"/><Relationship Id="rId7" Type="http://schemas.openxmlformats.org/officeDocument/2006/relationships/image" Target="../media/image4.wmf"/><Relationship Id="rId8" Type="http://schemas.openxmlformats.org/officeDocument/2006/relationships/slideLayout" Target="../slideLayouts/slideLayout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4.wmf"/><Relationship Id="rId2" Type="http://schemas.openxmlformats.org/officeDocument/2006/relationships/image" Target="../media/image5.wmf"/><Relationship Id="rId3" Type="http://schemas.openxmlformats.org/officeDocument/2006/relationships/image" Target="../media/image4.wmf"/><Relationship Id="rId4" Type="http://schemas.openxmlformats.org/officeDocument/2006/relationships/image" Target="../media/image4.wmf"/><Relationship Id="rId5" Type="http://schemas.openxmlformats.org/officeDocument/2006/relationships/image" Target="../media/image4.wmf"/><Relationship Id="rId6" Type="http://schemas.openxmlformats.org/officeDocument/2006/relationships/image" Target="../media/image4.wmf"/><Relationship Id="rId7" Type="http://schemas.openxmlformats.org/officeDocument/2006/relationships/image" Target="../media/image4.wmf"/><Relationship Id="rId8" Type="http://schemas.openxmlformats.org/officeDocument/2006/relationships/image" Target="../media/image4.wmf"/><Relationship Id="rId9" Type="http://schemas.openxmlformats.org/officeDocument/2006/relationships/slideLayout" Target="../slideLayouts/slideLayout1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hyperlink" Target="http://cpntools.org/" TargetMode="External"/><Relationship Id="rId3" Type="http://schemas.openxmlformats.org/officeDocument/2006/relationships/slideLayout" Target="../slideLayouts/slideLayout1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hyperlink" Target="http://cpntools.org/" TargetMode="External"/><Relationship Id="rId3" Type="http://schemas.openxmlformats.org/officeDocument/2006/relationships/slideLayout" Target="../slideLayouts/slideLayout1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image" Target="../media/image8.png"/><Relationship Id="rId3" Type="http://schemas.openxmlformats.org/officeDocument/2006/relationships/slideLayout" Target="../slideLayouts/slideLayout1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image" Target="../media/image9.wmf"/><Relationship Id="rId2" Type="http://schemas.openxmlformats.org/officeDocument/2006/relationships/slideLayout" Target="../slideLayouts/slideLayout1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image" Target="../media/image10.wmf"/><Relationship Id="rId2" Type="http://schemas.openxmlformats.org/officeDocument/2006/relationships/slideLayout" Target="../slideLayouts/slideLayout1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
</Relationships>
</file>

<file path=ppt/slides/_rels/slide3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
</Relationships>
</file>

<file path=ppt/slides/_rels/slide3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
</Relationships>
</file>

<file path=ppt/slides/_rels/slide3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
</Relationships>
</file>

<file path=ppt/slides/_rels/slide3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
</Relationships>
</file>

<file path=ppt/slides/_rels/slide4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
</Relationships>
</file>

<file path=ppt/slides/_rels/slide4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
</Relationships>
</file>

<file path=ppt/slides/_rels/slide4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
</Relationships>
</file>

<file path=ppt/slides/_rels/slide4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
</Relationships>
</file>

<file path=ppt/slides/_rels/slide4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
</Relationships>
</file>

<file path=ppt/slides/_rels/slide4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
</Relationships>
</file>

<file path=ppt/slides/_rels/slide4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
</Relationships>
</file>

<file path=ppt/slides/_rels/slide4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
</Relationships>
</file>

<file path=ppt/slides/_rels/slide4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
</Relationships>
</file>

<file path=ppt/slides/_rels/slide5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
</Relationships>
</file>

<file path=ppt/slides/_rels/slide5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
</Relationships>
</file>

<file path=ppt/slides/_rels/slide5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5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5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CustomShape 1"/>
          <p:cNvSpPr/>
          <p:nvPr/>
        </p:nvSpPr>
        <p:spPr>
          <a:xfrm>
            <a:off x="527400" y="1412640"/>
            <a:ext cx="10361520" cy="114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 algn="ctr">
              <a:lnSpc>
                <a:spcPct val="100000"/>
              </a:lnSpc>
            </a:pPr>
            <a:r>
              <a:rPr b="1" lang="en-US" sz="3200" spc="-1" strike="noStrike">
                <a:solidFill>
                  <a:srgbClr val="008c4f"/>
                </a:solidFill>
                <a:latin typeface="DejaVu Sans"/>
                <a:ea typeface="DejaVu Sans"/>
              </a:rPr>
              <a:t>Requirement Engineering</a:t>
            </a: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" name="CustomShape 2"/>
          <p:cNvSpPr/>
          <p:nvPr/>
        </p:nvSpPr>
        <p:spPr>
          <a:xfrm>
            <a:off x="527400" y="2852640"/>
            <a:ext cx="10361520" cy="2368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  <a:spcBef>
                <a:spcPts val="479"/>
              </a:spcBef>
              <a:tabLst>
                <a:tab algn="l" pos="0"/>
              </a:tabLst>
            </a:pPr>
            <a:r>
              <a:rPr b="1" lang="en-US" sz="2400" spc="-1" strike="noStrike">
                <a:solidFill>
                  <a:srgbClr val="000000"/>
                </a:solidFill>
                <a:latin typeface="DejaVu Sans"/>
                <a:ea typeface="DejaVu Sans"/>
              </a:rPr>
              <a:t>Lecture 9: Requirements Documentation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479"/>
              </a:spcBef>
              <a:tabLst>
                <a:tab algn="l" pos="0"/>
              </a:tabLst>
            </a:pPr>
            <a:r>
              <a:rPr b="1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Formal Requirements Specification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241"/>
              </a:spcBef>
              <a:tabLst>
                <a:tab algn="l" pos="0"/>
              </a:tabLst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241"/>
              </a:spcBef>
              <a:tabLst>
                <a:tab algn="l" pos="0"/>
              </a:tabLst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320"/>
              </a:spcBef>
              <a:tabLst>
                <a:tab algn="l" pos="0"/>
              </a:tabLst>
            </a:pPr>
            <a:r>
              <a:rPr b="0" lang="en-US" sz="1600" spc="-1" strike="noStrike">
                <a:solidFill>
                  <a:srgbClr val="000000"/>
                </a:solidFill>
                <a:latin typeface="DejaVu Sans"/>
                <a:ea typeface="DejaVu Sans"/>
              </a:rPr>
              <a:t>Prof. Dr. Benjamin Leiding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320"/>
              </a:spcBef>
              <a:tabLst>
                <a:tab algn="l" pos="0"/>
              </a:tabLst>
            </a:pPr>
            <a:r>
              <a:rPr b="0" lang="en-GB" sz="1600" spc="-1" strike="noStrike">
                <a:solidFill>
                  <a:srgbClr val="000000"/>
                </a:solidFill>
                <a:latin typeface="DejaVu Sans"/>
                <a:ea typeface="DejaVu Sans"/>
              </a:rPr>
              <a:t>M.Sc. Anant Sujatanagarjuna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320"/>
              </a:spcBef>
              <a:tabLst>
                <a:tab algn="l" pos="0"/>
              </a:tabLst>
            </a:pPr>
            <a:r>
              <a:rPr b="0" lang="en-GB" sz="1600" spc="-1" strike="noStrike">
                <a:solidFill>
                  <a:srgbClr val="000000"/>
                </a:solidFill>
                <a:latin typeface="DejaVu Sans"/>
                <a:ea typeface="DejaVu Sans"/>
              </a:rPr>
              <a:t>M.Sc. Chintan Patel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PlaceHolder 14"/>
          <p:cNvSpPr/>
          <p:nvPr/>
        </p:nvSpPr>
        <p:spPr>
          <a:xfrm>
            <a:off x="542880" y="721800"/>
            <a:ext cx="10356120" cy="49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General Requirements Engineering Process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5" name="Rechteck 186"/>
          <p:cNvSpPr/>
          <p:nvPr/>
        </p:nvSpPr>
        <p:spPr>
          <a:xfrm>
            <a:off x="542880" y="1267200"/>
            <a:ext cx="10356120" cy="49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de-DE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Overview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86" name="Grafik 5" descr=""/>
          <p:cNvPicPr/>
          <p:nvPr/>
        </p:nvPicPr>
        <p:blipFill>
          <a:blip r:embed="rId1"/>
          <a:stretch/>
        </p:blipFill>
        <p:spPr>
          <a:xfrm>
            <a:off x="542880" y="2387520"/>
            <a:ext cx="10101240" cy="2078640"/>
          </a:xfrm>
          <a:prstGeom prst="rect">
            <a:avLst/>
          </a:prstGeom>
          <a:ln w="0">
            <a:noFill/>
          </a:ln>
        </p:spPr>
      </p:pic>
      <p:sp>
        <p:nvSpPr>
          <p:cNvPr id="287" name="Rahmen 6"/>
          <p:cNvSpPr/>
          <p:nvPr/>
        </p:nvSpPr>
        <p:spPr>
          <a:xfrm>
            <a:off x="3846240" y="2297880"/>
            <a:ext cx="1817280" cy="2257560"/>
          </a:xfrm>
          <a:prstGeom prst="frame">
            <a:avLst>
              <a:gd name="adj1" fmla="val 1311"/>
            </a:avLst>
          </a:prstGeom>
          <a:solidFill>
            <a:srgbClr val="ff0000"/>
          </a:solidFill>
          <a:ln cap="rnd"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PlaceHolder 14"/>
          <p:cNvSpPr/>
          <p:nvPr/>
        </p:nvSpPr>
        <p:spPr>
          <a:xfrm>
            <a:off x="542880" y="721800"/>
            <a:ext cx="10357200" cy="49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GB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Lecture 9: Requirements Documentation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9" name="Rechteck 334"/>
          <p:cNvSpPr/>
          <p:nvPr/>
        </p:nvSpPr>
        <p:spPr>
          <a:xfrm>
            <a:off x="542880" y="1267200"/>
            <a:ext cx="10357200" cy="49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de-DE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Content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0" name="HSN-Hierarchy 26"/>
          <p:cNvSpPr/>
          <p:nvPr/>
        </p:nvSpPr>
        <p:spPr>
          <a:xfrm>
            <a:off x="539640" y="1709280"/>
            <a:ext cx="8224560" cy="435276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0" rIns="0" tIns="45000" bIns="45000" anchor="ctr">
            <a:noAutofit/>
          </a:bodyPr>
          <a:p>
            <a:pPr marL="343080" indent="-343080">
              <a:lnSpc>
                <a:spcPct val="100000"/>
              </a:lnSpc>
              <a:spcAft>
                <a:spcPts val="601"/>
              </a:spcAft>
              <a:buClr>
                <a:srgbClr val="000000"/>
              </a:buClr>
              <a:buFont typeface="StarSymbol"/>
              <a:buAutoNum type="arabicPeriod"/>
              <a:tabLst>
                <a:tab algn="l" pos="0"/>
              </a:tabLst>
            </a:pPr>
            <a:r>
              <a:rPr b="0" lang="en-GB" sz="1800" spc="-1" strike="noStrike">
                <a:solidFill>
                  <a:srgbClr val="000000"/>
                </a:solidFill>
                <a:latin typeface="DejaVu Sans"/>
                <a:ea typeface="Arial"/>
              </a:rPr>
              <a:t>Formal Specification Techniques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CustomShape 1"/>
          <p:cNvSpPr/>
          <p:nvPr/>
        </p:nvSpPr>
        <p:spPr>
          <a:xfrm>
            <a:off x="335520" y="4406760"/>
            <a:ext cx="10747800" cy="13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en-US" sz="3000" spc="-1" strike="noStrike" cap="all">
                <a:solidFill>
                  <a:srgbClr val="008c4f"/>
                </a:solidFill>
                <a:latin typeface="DejaVu Sans"/>
                <a:ea typeface="DejaVu Sans"/>
              </a:rPr>
              <a:t>Formal Requirements Specification</a:t>
            </a:r>
            <a:endParaRPr b="0" lang="en-GB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2" name="CustomShape 2"/>
          <p:cNvSpPr/>
          <p:nvPr/>
        </p:nvSpPr>
        <p:spPr>
          <a:xfrm>
            <a:off x="335520" y="2906640"/>
            <a:ext cx="10747800" cy="149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PlaceHolder 14"/>
          <p:cNvSpPr/>
          <p:nvPr/>
        </p:nvSpPr>
        <p:spPr>
          <a:xfrm>
            <a:off x="542880" y="721800"/>
            <a:ext cx="10357200" cy="49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GB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Lecture 4: Requirements Documentation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4" name="Rechteck 334"/>
          <p:cNvSpPr/>
          <p:nvPr/>
        </p:nvSpPr>
        <p:spPr>
          <a:xfrm>
            <a:off x="542880" y="1267200"/>
            <a:ext cx="10357200" cy="49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de-DE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Content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5" name="HSN-Hierarchy 26"/>
          <p:cNvSpPr/>
          <p:nvPr/>
        </p:nvSpPr>
        <p:spPr>
          <a:xfrm>
            <a:off x="539640" y="1709280"/>
            <a:ext cx="8224560" cy="435276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0" rIns="0" tIns="45000" bIns="45000" anchor="ctr">
            <a:noAutofit/>
          </a:bodyPr>
          <a:p>
            <a:pPr marL="343080" indent="-343080">
              <a:lnSpc>
                <a:spcPct val="100000"/>
              </a:lnSpc>
              <a:spcAft>
                <a:spcPts val="601"/>
              </a:spcAft>
              <a:buClr>
                <a:srgbClr val="000000"/>
              </a:buClr>
              <a:buFont typeface="StarSymbol"/>
              <a:buAutoNum type="arabicPeriod"/>
              <a:tabLst>
                <a:tab algn="l" pos="0"/>
              </a:tabLst>
            </a:pPr>
            <a:r>
              <a:rPr b="0" lang="en-GB" sz="1800" spc="-1" strike="noStrike">
                <a:solidFill>
                  <a:srgbClr val="000000"/>
                </a:solidFill>
                <a:latin typeface="DejaVu Sans"/>
                <a:ea typeface="Arial"/>
              </a:rPr>
              <a:t>Model-based Requirements Documentation</a:t>
            </a:r>
            <a:r>
              <a:rPr b="0" lang="fr-FR" sz="1800" spc="-1" strike="noStrike">
                <a:solidFill>
                  <a:srgbClr val="000000"/>
                </a:solidFill>
                <a:latin typeface="DejaVu Sans"/>
                <a:ea typeface="Arial"/>
              </a:rPr>
              <a:t> Techniques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>
              <a:lnSpc>
                <a:spcPct val="100000"/>
              </a:lnSpc>
              <a:spcAft>
                <a:spcPts val="601"/>
              </a:spcAft>
              <a:buClr>
                <a:srgbClr val="000000"/>
              </a:buClr>
              <a:buFont typeface="StarSymbol"/>
              <a:buAutoNum type="arabicPeriod"/>
              <a:tabLst>
                <a:tab algn="l" pos="0"/>
              </a:tabLst>
            </a:pPr>
            <a:r>
              <a:rPr b="0" lang="en-GB" sz="1800" spc="-1" strike="noStrike">
                <a:solidFill>
                  <a:srgbClr val="000000"/>
                </a:solidFill>
                <a:latin typeface="DejaVu Sans"/>
                <a:ea typeface="Arial"/>
              </a:rPr>
              <a:t>Formal Specification Techniques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>
              <a:lnSpc>
                <a:spcPct val="100000"/>
              </a:lnSpc>
              <a:spcAft>
                <a:spcPts val="601"/>
              </a:spcAft>
              <a:buClr>
                <a:srgbClr val="000000"/>
              </a:buClr>
              <a:buFont typeface="StarSymbol"/>
              <a:buAutoNum type="arabicPeriod"/>
              <a:tabLst>
                <a:tab algn="l" pos="0"/>
              </a:tabLst>
            </a:pPr>
            <a:r>
              <a:rPr b="1" lang="en-GB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Coloured Petri Nets (CPNs)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>
              <a:lnSpc>
                <a:spcPct val="100000"/>
              </a:lnSpc>
              <a:spcAft>
                <a:spcPts val="601"/>
              </a:spcAft>
              <a:buClr>
                <a:srgbClr val="000000"/>
              </a:buClr>
              <a:buFont typeface="StarSymbol"/>
              <a:buAutoNum type="arabicPeriod"/>
              <a:tabLst>
                <a:tab algn="l" pos="0"/>
              </a:tabLst>
            </a:pPr>
            <a:r>
              <a:rPr b="0" lang="en-GB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AOM → CPN Mapping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>
              <a:lnSpc>
                <a:spcPct val="100000"/>
              </a:lnSpc>
              <a:spcAft>
                <a:spcPts val="601"/>
              </a:spcAft>
              <a:buClr>
                <a:srgbClr val="000000"/>
              </a:buClr>
              <a:buFont typeface="StarSymbol"/>
              <a:buAutoNum type="arabicPeriod"/>
              <a:tabLst>
                <a:tab algn="l" pos="0"/>
              </a:tabLst>
            </a:pPr>
            <a:r>
              <a:rPr b="0" lang="en-GB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Four Variable Model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>
              <a:lnSpc>
                <a:spcPct val="100000"/>
              </a:lnSpc>
              <a:spcAft>
                <a:spcPts val="601"/>
              </a:spcAft>
              <a:buClr>
                <a:srgbClr val="000000"/>
              </a:buClr>
              <a:buFont typeface="StarSymbol"/>
              <a:buAutoNum type="arabicPeriod"/>
              <a:tabLst>
                <a:tab algn="l" pos="0"/>
              </a:tabLst>
            </a:pPr>
            <a:r>
              <a:rPr b="0" lang="en-GB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NRL / SCR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PlaceHolder 2"/>
          <p:cNvSpPr/>
          <p:nvPr/>
        </p:nvSpPr>
        <p:spPr>
          <a:xfrm>
            <a:off x="542880" y="721440"/>
            <a:ext cx="103543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GB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Formal Specification Techniques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7" name="Rectangle 281"/>
          <p:cNvSpPr/>
          <p:nvPr/>
        </p:nvSpPr>
        <p:spPr>
          <a:xfrm>
            <a:off x="542880" y="1266840"/>
            <a:ext cx="103543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de-DE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Coloured Petri Nets – Motivation: Why CPNs?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8" name="PlaceHolder 1"/>
          <p:cNvSpPr>
            <a:spLocks noGrp="1"/>
          </p:cNvSpPr>
          <p:nvPr>
            <p:ph/>
          </p:nvPr>
        </p:nvSpPr>
        <p:spPr>
          <a:xfrm>
            <a:off x="465480" y="1856520"/>
            <a:ext cx="10503000" cy="453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They can model concurrency and communication in complex systems very well.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They combine concepts from Petri Nets and programming languages (CPN ML).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They are Formal (syntatically and mathematically defined)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They are </a:t>
            </a:r>
            <a:r>
              <a:rPr b="0" i="1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executable</a:t>
            </a: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.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They can be derived from other models, such as AOM.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1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Allows for easy manual or automatic system verification and evaluation.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PlaceHolder 17"/>
          <p:cNvSpPr/>
          <p:nvPr/>
        </p:nvSpPr>
        <p:spPr>
          <a:xfrm>
            <a:off x="542880" y="722160"/>
            <a:ext cx="103543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GB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Formal Specification Techniques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0" name="Rectangle 6"/>
          <p:cNvSpPr/>
          <p:nvPr/>
        </p:nvSpPr>
        <p:spPr>
          <a:xfrm>
            <a:off x="542880" y="1267560"/>
            <a:ext cx="103543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de-DE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Coloured Petri Nets – Motivation: Why CPNs?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301" name="Table 3"/>
          <p:cNvGraphicFramePr/>
          <p:nvPr/>
        </p:nvGraphicFramePr>
        <p:xfrm>
          <a:off x="558360" y="1961280"/>
          <a:ext cx="10185840" cy="2833200"/>
        </p:xfrm>
        <a:graphic>
          <a:graphicData uri="http://schemas.openxmlformats.org/drawingml/2006/table">
            <a:tbl>
              <a:tblPr/>
              <a:tblGrid>
                <a:gridCol w="2327040"/>
                <a:gridCol w="1612800"/>
                <a:gridCol w="3843000"/>
                <a:gridCol w="2403360"/>
              </a:tblGrid>
              <a:tr h="312840"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US" sz="15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Activity</a:t>
                      </a:r>
                      <a:endParaRPr b="0" lang="en-GB" sz="15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b3b3b3"/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US" sz="15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Trigger(s)</a:t>
                      </a:r>
                      <a:endParaRPr b="0" lang="en-GB" sz="15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b3b3b3"/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US" sz="15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Precondition(s)</a:t>
                      </a:r>
                      <a:endParaRPr b="0" lang="en-GB" sz="15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b3b3b3"/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US" sz="15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Postcondition(s)</a:t>
                      </a:r>
                      <a:endParaRPr b="0" lang="en-GB" sz="15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b3b3b3"/>
                    </a:solidFill>
                  </a:tcPr>
                </a:tc>
              </a:tr>
              <a:tr h="533880"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5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Reserve Charging Port(CP)</a:t>
                      </a:r>
                      <a:endParaRPr b="0" lang="en-GB" sz="15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5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Driver wants to charge EV</a:t>
                      </a:r>
                      <a:endParaRPr b="0" lang="en-GB" sz="15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5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Driver has bought energy, CP is free, EV is ready to charge</a:t>
                      </a:r>
                      <a:endParaRPr b="0" lang="en-GB" sz="15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5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Driver has reserved CP</a:t>
                      </a:r>
                      <a:endParaRPr b="0" lang="en-GB" sz="15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</a:tr>
              <a:tr h="312840"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5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Charge EV</a:t>
                      </a:r>
                      <a:endParaRPr b="0" lang="en-GB" sz="15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spcBef>
                          <a:spcPts val="145"/>
                        </a:spcBef>
                      </a:pPr>
                      <a:r>
                        <a:rPr b="0" lang="zh-CN" sz="15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〃</a:t>
                      </a:r>
                      <a:endParaRPr b="0" lang="en-GB" sz="15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5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Driver has reserved CP</a:t>
                      </a:r>
                      <a:endParaRPr b="0" lang="en-GB" sz="15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5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Driver has charged EV</a:t>
                      </a:r>
                      <a:endParaRPr b="0" lang="en-GB" sz="15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</a:tr>
              <a:tr h="754920"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5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Agree on charging speed</a:t>
                      </a:r>
                      <a:endParaRPr b="0" lang="en-GB" sz="15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spcBef>
                          <a:spcPts val="145"/>
                        </a:spcBef>
                      </a:pPr>
                      <a:r>
                        <a:rPr b="0" lang="zh-CN" sz="15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〃</a:t>
                      </a:r>
                      <a:endParaRPr b="0" lang="en-GB" sz="15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5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Driver has reserved CP,</a:t>
                      </a:r>
                      <a:endParaRPr b="0" lang="en-GB" sz="15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5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Max CP speed ≥ Min EV speed,</a:t>
                      </a:r>
                      <a:endParaRPr b="0" lang="en-GB" sz="15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500" spc="-1" strike="noStrike">
                          <a:solidFill>
                            <a:srgbClr val="000000"/>
                          </a:solidFill>
                          <a:latin typeface="DejaVu Sans"/>
                          <a:ea typeface="Droid Sans Fallback"/>
                        </a:rPr>
                        <a:t>Max EV speed ≥ Min CP speed</a:t>
                      </a:r>
                      <a:endParaRPr b="0" lang="en-GB" sz="15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5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Charging speed is agreed upon</a:t>
                      </a:r>
                      <a:endParaRPr b="0" lang="en-GB" sz="15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</a:tr>
              <a:tr h="312840"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5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Begin Charging</a:t>
                      </a:r>
                      <a:endParaRPr b="0" lang="en-GB" sz="15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spcBef>
                          <a:spcPts val="145"/>
                        </a:spcBef>
                      </a:pPr>
                      <a:r>
                        <a:rPr b="0" lang="zh-CN" sz="15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〃</a:t>
                      </a:r>
                      <a:endParaRPr b="0" lang="en-GB" sz="15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5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Charging speed is agreed upon</a:t>
                      </a:r>
                      <a:endParaRPr b="0" lang="en-GB" sz="15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5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EV has begun charging</a:t>
                      </a:r>
                      <a:endParaRPr b="0" lang="en-GB" sz="15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</a:tr>
              <a:tr h="533880"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5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End Charging</a:t>
                      </a:r>
                      <a:endParaRPr b="0" lang="en-GB" sz="15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spcBef>
                          <a:spcPts val="145"/>
                        </a:spcBef>
                      </a:pPr>
                      <a:r>
                        <a:rPr b="0" lang="en-US" sz="15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None</a:t>
                      </a:r>
                      <a:endParaRPr b="0" lang="en-GB" sz="15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5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EV has competed charging</a:t>
                      </a:r>
                      <a:endParaRPr b="0" lang="en-GB" sz="15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5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Driver has charged EV,</a:t>
                      </a:r>
                      <a:endParaRPr b="0" lang="en-GB" sz="15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5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CP is free</a:t>
                      </a:r>
                      <a:endParaRPr b="0" lang="en-GB" sz="15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02" name="Table 1"/>
          <p:cNvGraphicFramePr/>
          <p:nvPr/>
        </p:nvGraphicFramePr>
        <p:xfrm>
          <a:off x="558000" y="1960920"/>
          <a:ext cx="10185840" cy="2761200"/>
        </p:xfrm>
        <a:graphic>
          <a:graphicData uri="http://schemas.openxmlformats.org/drawingml/2006/table">
            <a:tbl>
              <a:tblPr/>
              <a:tblGrid>
                <a:gridCol w="2327040"/>
                <a:gridCol w="1612800"/>
                <a:gridCol w="3843000"/>
                <a:gridCol w="2403360"/>
              </a:tblGrid>
              <a:tr h="312840"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US" sz="15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Activity</a:t>
                      </a:r>
                      <a:endParaRPr b="0" lang="en-GB" sz="15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b3b3b3"/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US" sz="15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Trigger(s)</a:t>
                      </a:r>
                      <a:endParaRPr b="0" lang="en-GB" sz="15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b3b3b3"/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US" sz="15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Precondition(s)</a:t>
                      </a:r>
                      <a:endParaRPr b="0" lang="en-GB" sz="15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b3b3b3"/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US" sz="15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Postcondition(s)</a:t>
                      </a:r>
                      <a:endParaRPr b="0" lang="en-GB" sz="15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b3b3b3"/>
                    </a:solidFill>
                  </a:tcPr>
                </a:tc>
              </a:tr>
              <a:tr h="533880"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5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Reserve Charging Port(CP)</a:t>
                      </a:r>
                      <a:endParaRPr b="0" lang="en-GB" sz="15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5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Driver wants to charge EV</a:t>
                      </a:r>
                      <a:endParaRPr b="0" lang="en-GB" sz="15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5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Driver has bought energy, CP is free, EV is ready to charge</a:t>
                      </a:r>
                      <a:endParaRPr b="0" lang="en-GB" sz="15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5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Driver has reserved CP</a:t>
                      </a:r>
                      <a:endParaRPr b="0" lang="en-GB" sz="15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</a:tr>
              <a:tr h="312840"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5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Charge EV</a:t>
                      </a:r>
                      <a:endParaRPr b="0" lang="en-GB" sz="15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spcBef>
                          <a:spcPts val="145"/>
                        </a:spcBef>
                      </a:pPr>
                      <a:r>
                        <a:rPr b="0" lang="zh-CN" sz="15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〃</a:t>
                      </a:r>
                      <a:endParaRPr b="0" lang="en-GB" sz="15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5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Driver has reserved CP</a:t>
                      </a:r>
                      <a:endParaRPr b="0" lang="en-GB" sz="15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5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Driver has charged EV</a:t>
                      </a:r>
                      <a:endParaRPr b="0" lang="en-GB" sz="15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</a:tr>
              <a:tr h="754920"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5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Agree on charging speed</a:t>
                      </a:r>
                      <a:endParaRPr b="0" lang="en-GB" sz="15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spcBef>
                          <a:spcPts val="145"/>
                        </a:spcBef>
                      </a:pPr>
                      <a:r>
                        <a:rPr b="0" lang="zh-CN" sz="15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〃</a:t>
                      </a:r>
                      <a:endParaRPr b="0" lang="en-GB" sz="15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5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Driver has reserved CP,</a:t>
                      </a:r>
                      <a:endParaRPr b="0" lang="en-GB" sz="15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5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Max CP speed ≥ Min EV speed,</a:t>
                      </a:r>
                      <a:endParaRPr b="0" lang="en-GB" sz="15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500" spc="-1" strike="noStrike">
                          <a:solidFill>
                            <a:srgbClr val="000000"/>
                          </a:solidFill>
                          <a:latin typeface="DejaVu Sans"/>
                          <a:ea typeface="Droid Sans Fallback"/>
                        </a:rPr>
                        <a:t>Max EV speed ≥ Min CP speed</a:t>
                      </a:r>
                      <a:endParaRPr b="0" lang="en-GB" sz="15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5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Charging speed is agreed upon</a:t>
                      </a:r>
                      <a:endParaRPr b="0" lang="en-GB" sz="15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</a:tr>
              <a:tr h="312840"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5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Begin Charging</a:t>
                      </a:r>
                      <a:endParaRPr b="0" lang="en-GB" sz="15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spcBef>
                          <a:spcPts val="145"/>
                        </a:spcBef>
                      </a:pPr>
                      <a:r>
                        <a:rPr b="0" lang="zh-CN" sz="15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〃</a:t>
                      </a:r>
                      <a:endParaRPr b="0" lang="en-GB" sz="15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5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Charging speed is agreed upon</a:t>
                      </a:r>
                      <a:endParaRPr b="0" lang="en-GB" sz="15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5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EV has begun charging</a:t>
                      </a:r>
                      <a:endParaRPr b="0" lang="en-GB" sz="15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</a:tr>
              <a:tr h="533880"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5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End Charging</a:t>
                      </a:r>
                      <a:endParaRPr b="0" lang="en-GB" sz="15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spcBef>
                          <a:spcPts val="145"/>
                        </a:spcBef>
                      </a:pPr>
                      <a:r>
                        <a:rPr b="0" lang="en-US" sz="15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None</a:t>
                      </a:r>
                      <a:endParaRPr b="0" lang="en-GB" sz="15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5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EV has competed charging</a:t>
                      </a:r>
                      <a:endParaRPr b="0" lang="en-GB" sz="15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5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Driver has charged EV,</a:t>
                      </a:r>
                      <a:endParaRPr b="0" lang="en-GB" sz="15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5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CP is free</a:t>
                      </a:r>
                      <a:endParaRPr b="0" lang="en-GB" sz="15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</a:tr>
            </a:tbl>
          </a:graphicData>
        </a:graphic>
      </p:graphicFrame>
      <p:sp>
        <p:nvSpPr>
          <p:cNvPr id="303" name="PlaceHolder 19"/>
          <p:cNvSpPr/>
          <p:nvPr/>
        </p:nvSpPr>
        <p:spPr>
          <a:xfrm>
            <a:off x="542880" y="722160"/>
            <a:ext cx="103543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GB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Formal Specification Techniques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4" name="Rectangle 8"/>
          <p:cNvSpPr/>
          <p:nvPr/>
        </p:nvSpPr>
        <p:spPr>
          <a:xfrm>
            <a:off x="542880" y="1267560"/>
            <a:ext cx="103543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de-DE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Coloured Petri Nets – Motivation: Why CPNs?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5" name="PlaceHolder 16"/>
          <p:cNvSpPr/>
          <p:nvPr/>
        </p:nvSpPr>
        <p:spPr>
          <a:xfrm>
            <a:off x="539640" y="4800600"/>
            <a:ext cx="9974160" cy="159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marL="228600" indent="-2286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How do we know that these conditions are enough?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Can we model these conditions and simulate, for example; can the system handle 10 EVs and 3 charging stations, or does the system ever get into an infitinte blocking state?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PlaceHolder 3"/>
          <p:cNvSpPr/>
          <p:nvPr/>
        </p:nvSpPr>
        <p:spPr>
          <a:xfrm>
            <a:off x="542880" y="721440"/>
            <a:ext cx="103543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GB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Formal Specification Techniques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7" name="Rectangle 284"/>
          <p:cNvSpPr/>
          <p:nvPr/>
        </p:nvSpPr>
        <p:spPr>
          <a:xfrm>
            <a:off x="542880" y="1266840"/>
            <a:ext cx="103543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de-DE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Coloured Petri Nets – What are CPNs?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8" name="PlaceHolder 1"/>
          <p:cNvSpPr>
            <a:spLocks noGrp="1"/>
          </p:cNvSpPr>
          <p:nvPr>
            <p:ph/>
          </p:nvPr>
        </p:nvSpPr>
        <p:spPr>
          <a:xfrm>
            <a:off x="539640" y="1856520"/>
            <a:ext cx="6843240" cy="453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marL="228600" indent="-2286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Directed </a:t>
            </a:r>
            <a:r>
              <a:rPr b="0" lang="en-US" sz="2000" spc="-1" strike="noStrike">
                <a:solidFill>
                  <a:srgbClr val="00a933"/>
                </a:solidFill>
                <a:latin typeface="DejaVu Sans"/>
                <a:ea typeface="DejaVu Sans"/>
              </a:rPr>
              <a:t>bipartite</a:t>
            </a: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 graphs: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  <a:tabLst>
                <a:tab algn="l" pos="0"/>
              </a:tabLst>
            </a:pPr>
            <a:r>
              <a:rPr b="0" lang="en-US" sz="2000" spc="-1" strike="noStrike" u="sng">
                <a:solidFill>
                  <a:srgbClr val="008c4f"/>
                </a:solidFill>
                <a:uFillTx/>
                <a:latin typeface="DejaVu Sans"/>
                <a:ea typeface="DejaVu Sans"/>
              </a:rPr>
              <a:t>Bipartite graphs</a:t>
            </a: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 divide the vertices of the graph into: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  <a:tabLst>
                <a:tab algn="l" pos="0"/>
              </a:tabLst>
            </a:pPr>
            <a:r>
              <a:rPr b="0" lang="en-US" sz="2000" spc="-1" strike="noStrike" u="sng">
                <a:solidFill>
                  <a:srgbClr val="008c4f"/>
                </a:solidFill>
                <a:uFillTx/>
                <a:latin typeface="DejaVu Sans"/>
                <a:ea typeface="DejaVu Sans"/>
              </a:rPr>
              <a:t>two disjoint and independent sets</a:t>
            </a: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.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Edges in the graph ONLY connect vertices from one set to the other.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9" name="Oval 286"/>
          <p:cNvSpPr/>
          <p:nvPr/>
        </p:nvSpPr>
        <p:spPr>
          <a:xfrm>
            <a:off x="8001000" y="2514600"/>
            <a:ext cx="1136520" cy="2279520"/>
          </a:xfrm>
          <a:prstGeom prst="ellipse">
            <a:avLst/>
          </a:prstGeom>
          <a:solidFill>
            <a:srgbClr val="fffff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10" name="Oval 287"/>
          <p:cNvSpPr/>
          <p:nvPr/>
        </p:nvSpPr>
        <p:spPr>
          <a:xfrm>
            <a:off x="9621000" y="2514960"/>
            <a:ext cx="1136520" cy="2279520"/>
          </a:xfrm>
          <a:prstGeom prst="ellipse">
            <a:avLst/>
          </a:prstGeom>
          <a:solidFill>
            <a:srgbClr val="ffffff"/>
          </a:solidFill>
          <a:ln w="0">
            <a:solidFill>
              <a:srgbClr val="e16173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11" name="Oval 288"/>
          <p:cNvSpPr/>
          <p:nvPr/>
        </p:nvSpPr>
        <p:spPr>
          <a:xfrm>
            <a:off x="8515800" y="2898000"/>
            <a:ext cx="75960" cy="7596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26640" bIns="2664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12" name="Oval 289"/>
          <p:cNvSpPr/>
          <p:nvPr/>
        </p:nvSpPr>
        <p:spPr>
          <a:xfrm>
            <a:off x="8515800" y="3222000"/>
            <a:ext cx="75960" cy="7596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26640" bIns="2664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13" name="Oval 290"/>
          <p:cNvSpPr/>
          <p:nvPr/>
        </p:nvSpPr>
        <p:spPr>
          <a:xfrm>
            <a:off x="8515800" y="3510000"/>
            <a:ext cx="75960" cy="7596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26640" bIns="2664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14" name="Oval 291"/>
          <p:cNvSpPr/>
          <p:nvPr/>
        </p:nvSpPr>
        <p:spPr>
          <a:xfrm>
            <a:off x="8515800" y="3726000"/>
            <a:ext cx="75960" cy="7596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26640" bIns="2664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15" name="Oval 292"/>
          <p:cNvSpPr/>
          <p:nvPr/>
        </p:nvSpPr>
        <p:spPr>
          <a:xfrm>
            <a:off x="8515800" y="3978000"/>
            <a:ext cx="75960" cy="7596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26640" bIns="2664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16" name="Oval 293"/>
          <p:cNvSpPr/>
          <p:nvPr/>
        </p:nvSpPr>
        <p:spPr>
          <a:xfrm>
            <a:off x="8515800" y="4302000"/>
            <a:ext cx="75960" cy="7596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26640" bIns="2664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17" name="Oval 294"/>
          <p:cNvSpPr/>
          <p:nvPr/>
        </p:nvSpPr>
        <p:spPr>
          <a:xfrm>
            <a:off x="10135800" y="3150000"/>
            <a:ext cx="75960" cy="75960"/>
          </a:xfrm>
          <a:prstGeom prst="ellipse">
            <a:avLst/>
          </a:prstGeom>
          <a:solidFill>
            <a:srgbClr val="e16173"/>
          </a:solidFill>
          <a:ln w="0">
            <a:solidFill>
              <a:srgbClr val="e16173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26640" bIns="2664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18" name="Oval 295"/>
          <p:cNvSpPr/>
          <p:nvPr/>
        </p:nvSpPr>
        <p:spPr>
          <a:xfrm>
            <a:off x="10135800" y="3474000"/>
            <a:ext cx="75960" cy="75960"/>
          </a:xfrm>
          <a:prstGeom prst="ellipse">
            <a:avLst/>
          </a:prstGeom>
          <a:solidFill>
            <a:srgbClr val="e16173"/>
          </a:solidFill>
          <a:ln w="0">
            <a:solidFill>
              <a:srgbClr val="e16173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26640" bIns="2664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19" name="Oval 296"/>
          <p:cNvSpPr/>
          <p:nvPr/>
        </p:nvSpPr>
        <p:spPr>
          <a:xfrm>
            <a:off x="10135800" y="3762000"/>
            <a:ext cx="75960" cy="75960"/>
          </a:xfrm>
          <a:prstGeom prst="ellipse">
            <a:avLst/>
          </a:prstGeom>
          <a:solidFill>
            <a:srgbClr val="e16173"/>
          </a:solidFill>
          <a:ln w="0">
            <a:solidFill>
              <a:srgbClr val="e16173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26640" bIns="2664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20" name="Oval 297"/>
          <p:cNvSpPr/>
          <p:nvPr/>
        </p:nvSpPr>
        <p:spPr>
          <a:xfrm>
            <a:off x="10135800" y="3978000"/>
            <a:ext cx="75960" cy="75960"/>
          </a:xfrm>
          <a:prstGeom prst="ellipse">
            <a:avLst/>
          </a:prstGeom>
          <a:solidFill>
            <a:srgbClr val="e16173"/>
          </a:solidFill>
          <a:ln w="0">
            <a:solidFill>
              <a:srgbClr val="e16173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26640" bIns="2664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21" name="Freeform: Shape 298"/>
          <p:cNvSpPr/>
          <p:nvPr/>
        </p:nvSpPr>
        <p:spPr>
          <a:xfrm>
            <a:off x="8598240" y="2939400"/>
            <a:ext cx="1531440" cy="245880"/>
          </a:xfrm>
          <a:custGeom>
            <a:avLst/>
            <a:gdLst>
              <a:gd name="textAreaLeft" fmla="*/ 0 w 1531440"/>
              <a:gd name="textAreaRight" fmla="*/ 1534320 w 1531440"/>
              <a:gd name="textAreaTop" fmla="*/ 0 h 245880"/>
              <a:gd name="textAreaBottom" fmla="*/ 248760 h 24588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0">
            <a:solidFill>
              <a:srgbClr val="000000"/>
            </a:solidFill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22" name="Freeform: Shape 299"/>
          <p:cNvSpPr/>
          <p:nvPr/>
        </p:nvSpPr>
        <p:spPr>
          <a:xfrm>
            <a:off x="8598240" y="2957400"/>
            <a:ext cx="1531440" cy="551880"/>
          </a:xfrm>
          <a:custGeom>
            <a:avLst/>
            <a:gdLst>
              <a:gd name="textAreaLeft" fmla="*/ 0 w 1531440"/>
              <a:gd name="textAreaRight" fmla="*/ 1534320 w 1531440"/>
              <a:gd name="textAreaTop" fmla="*/ 0 h 551880"/>
              <a:gd name="textAreaBottom" fmla="*/ 554760 h 55188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0">
            <a:solidFill>
              <a:srgbClr val="000000"/>
            </a:solidFill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23" name="Freeform: Shape 300"/>
          <p:cNvSpPr/>
          <p:nvPr/>
        </p:nvSpPr>
        <p:spPr>
          <a:xfrm flipH="1">
            <a:off x="8591760" y="3191400"/>
            <a:ext cx="1531440" cy="65880"/>
          </a:xfrm>
          <a:custGeom>
            <a:avLst/>
            <a:gdLst>
              <a:gd name="textAreaLeft" fmla="*/ -1440 w 1531440"/>
              <a:gd name="textAreaRight" fmla="*/ 1532880 w 1531440"/>
              <a:gd name="textAreaTop" fmla="*/ 0 h 65880"/>
              <a:gd name="textAreaBottom" fmla="*/ 68760 h 6588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0">
            <a:solidFill>
              <a:srgbClr val="000000"/>
            </a:solidFill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34200" bIns="342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24" name="Freeform: Shape 301"/>
          <p:cNvSpPr/>
          <p:nvPr/>
        </p:nvSpPr>
        <p:spPr>
          <a:xfrm flipH="1" flipV="1">
            <a:off x="8579880" y="3574080"/>
            <a:ext cx="1543320" cy="216720"/>
          </a:xfrm>
          <a:custGeom>
            <a:avLst/>
            <a:gdLst>
              <a:gd name="textAreaLeft" fmla="*/ 1440 w 1543320"/>
              <a:gd name="textAreaRight" fmla="*/ 1547640 w 1543320"/>
              <a:gd name="textAreaTop" fmla="*/ -1440 h 216720"/>
              <a:gd name="textAreaBottom" fmla="*/ 218160 h 21672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0">
            <a:solidFill>
              <a:srgbClr val="000000"/>
            </a:solidFill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25" name="Freeform: Shape 302"/>
          <p:cNvSpPr/>
          <p:nvPr/>
        </p:nvSpPr>
        <p:spPr>
          <a:xfrm>
            <a:off x="8598240" y="3767400"/>
            <a:ext cx="1531440" cy="29880"/>
          </a:xfrm>
          <a:custGeom>
            <a:avLst/>
            <a:gdLst>
              <a:gd name="textAreaLeft" fmla="*/ 0 w 1531440"/>
              <a:gd name="textAreaRight" fmla="*/ 1534320 w 1531440"/>
              <a:gd name="textAreaTop" fmla="*/ 0 h 29880"/>
              <a:gd name="textAreaBottom" fmla="*/ 32760 h 2988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0">
            <a:solidFill>
              <a:srgbClr val="000000"/>
            </a:solidFill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16200" bIns="162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26" name="Freeform: Shape 303"/>
          <p:cNvSpPr/>
          <p:nvPr/>
        </p:nvSpPr>
        <p:spPr>
          <a:xfrm>
            <a:off x="8598240" y="4019400"/>
            <a:ext cx="1531440" cy="360"/>
          </a:xfrm>
          <a:custGeom>
            <a:avLst/>
            <a:gdLst>
              <a:gd name="textAreaLeft" fmla="*/ 0 w 1531440"/>
              <a:gd name="textAreaRight" fmla="*/ 1534320 w 1531440"/>
              <a:gd name="textAreaTop" fmla="*/ 0 h 360"/>
              <a:gd name="textAreaBottom" fmla="*/ 92160 h 36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0">
            <a:solidFill>
              <a:srgbClr val="000000"/>
            </a:solidFill>
            <a:headEnd len="med" type="triangle" w="med"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23040" bIns="2304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27" name="Freeform: Shape 304"/>
          <p:cNvSpPr/>
          <p:nvPr/>
        </p:nvSpPr>
        <p:spPr>
          <a:xfrm flipV="1">
            <a:off x="8598240" y="3537000"/>
            <a:ext cx="1543320" cy="792720"/>
          </a:xfrm>
          <a:custGeom>
            <a:avLst/>
            <a:gdLst>
              <a:gd name="textAreaLeft" fmla="*/ 0 w 1543320"/>
              <a:gd name="textAreaRight" fmla="*/ 1546200 w 1543320"/>
              <a:gd name="textAreaTop" fmla="*/ -1440 h 792720"/>
              <a:gd name="textAreaBottom" fmla="*/ 794160 h 79272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0">
            <a:solidFill>
              <a:srgbClr val="000000"/>
            </a:solidFill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28" name="Freeform: Shape 305"/>
          <p:cNvSpPr/>
          <p:nvPr/>
        </p:nvSpPr>
        <p:spPr>
          <a:xfrm flipH="1">
            <a:off x="8591760" y="3515400"/>
            <a:ext cx="1531440" cy="245880"/>
          </a:xfrm>
          <a:custGeom>
            <a:avLst/>
            <a:gdLst>
              <a:gd name="textAreaLeft" fmla="*/ -1440 w 1531440"/>
              <a:gd name="textAreaRight" fmla="*/ 1532880 w 1531440"/>
              <a:gd name="textAreaTop" fmla="*/ 0 h 245880"/>
              <a:gd name="textAreaBottom" fmla="*/ 248760 h 24588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0">
            <a:solidFill>
              <a:srgbClr val="000000"/>
            </a:solidFill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PlaceHolder 5"/>
          <p:cNvSpPr/>
          <p:nvPr/>
        </p:nvSpPr>
        <p:spPr>
          <a:xfrm>
            <a:off x="542880" y="721440"/>
            <a:ext cx="103543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GB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Formal Specification Techniques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0" name="Rectangle 307"/>
          <p:cNvSpPr/>
          <p:nvPr/>
        </p:nvSpPr>
        <p:spPr>
          <a:xfrm>
            <a:off x="542880" y="1266840"/>
            <a:ext cx="103543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de-DE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Coloured Petri Nets – What are CPNs?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1" name="Oval 308"/>
          <p:cNvSpPr/>
          <p:nvPr/>
        </p:nvSpPr>
        <p:spPr>
          <a:xfrm>
            <a:off x="8000640" y="2514960"/>
            <a:ext cx="1136520" cy="2279520"/>
          </a:xfrm>
          <a:prstGeom prst="ellipse">
            <a:avLst/>
          </a:prstGeom>
          <a:solidFill>
            <a:srgbClr val="fffff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32" name="Oval 309"/>
          <p:cNvSpPr/>
          <p:nvPr/>
        </p:nvSpPr>
        <p:spPr>
          <a:xfrm>
            <a:off x="9620640" y="2515320"/>
            <a:ext cx="1136520" cy="2279520"/>
          </a:xfrm>
          <a:prstGeom prst="ellipse">
            <a:avLst/>
          </a:prstGeom>
          <a:solidFill>
            <a:srgbClr val="ffffff"/>
          </a:solidFill>
          <a:ln w="0">
            <a:solidFill>
              <a:srgbClr val="e16173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33" name="Oval 310"/>
          <p:cNvSpPr/>
          <p:nvPr/>
        </p:nvSpPr>
        <p:spPr>
          <a:xfrm>
            <a:off x="8515440" y="2898360"/>
            <a:ext cx="75960" cy="7596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26640" bIns="2664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34" name="Oval 311"/>
          <p:cNvSpPr/>
          <p:nvPr/>
        </p:nvSpPr>
        <p:spPr>
          <a:xfrm>
            <a:off x="8515440" y="3222360"/>
            <a:ext cx="75960" cy="7596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26640" bIns="2664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35" name="Oval 312"/>
          <p:cNvSpPr/>
          <p:nvPr/>
        </p:nvSpPr>
        <p:spPr>
          <a:xfrm>
            <a:off x="8515440" y="3510360"/>
            <a:ext cx="75960" cy="7596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26640" bIns="2664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36" name="Oval 313"/>
          <p:cNvSpPr/>
          <p:nvPr/>
        </p:nvSpPr>
        <p:spPr>
          <a:xfrm>
            <a:off x="8515440" y="3726360"/>
            <a:ext cx="75960" cy="7596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26640" bIns="2664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37" name="Oval 314"/>
          <p:cNvSpPr/>
          <p:nvPr/>
        </p:nvSpPr>
        <p:spPr>
          <a:xfrm>
            <a:off x="8515440" y="3978360"/>
            <a:ext cx="75960" cy="7596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26640" bIns="2664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38" name="Oval 315"/>
          <p:cNvSpPr/>
          <p:nvPr/>
        </p:nvSpPr>
        <p:spPr>
          <a:xfrm>
            <a:off x="8515440" y="4302360"/>
            <a:ext cx="75960" cy="7596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26640" bIns="2664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39" name="Oval 316"/>
          <p:cNvSpPr/>
          <p:nvPr/>
        </p:nvSpPr>
        <p:spPr>
          <a:xfrm>
            <a:off x="10135440" y="3150360"/>
            <a:ext cx="75960" cy="75960"/>
          </a:xfrm>
          <a:prstGeom prst="ellipse">
            <a:avLst/>
          </a:prstGeom>
          <a:solidFill>
            <a:srgbClr val="e16173"/>
          </a:solidFill>
          <a:ln w="0">
            <a:solidFill>
              <a:srgbClr val="e16173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26640" bIns="2664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40" name="Oval 317"/>
          <p:cNvSpPr/>
          <p:nvPr/>
        </p:nvSpPr>
        <p:spPr>
          <a:xfrm>
            <a:off x="10135440" y="3474360"/>
            <a:ext cx="75960" cy="75960"/>
          </a:xfrm>
          <a:prstGeom prst="ellipse">
            <a:avLst/>
          </a:prstGeom>
          <a:solidFill>
            <a:srgbClr val="e16173"/>
          </a:solidFill>
          <a:ln w="0">
            <a:solidFill>
              <a:srgbClr val="e16173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26640" bIns="2664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41" name="Oval 318"/>
          <p:cNvSpPr/>
          <p:nvPr/>
        </p:nvSpPr>
        <p:spPr>
          <a:xfrm>
            <a:off x="10135440" y="3762360"/>
            <a:ext cx="75960" cy="75960"/>
          </a:xfrm>
          <a:prstGeom prst="ellipse">
            <a:avLst/>
          </a:prstGeom>
          <a:solidFill>
            <a:srgbClr val="e16173"/>
          </a:solidFill>
          <a:ln w="0">
            <a:solidFill>
              <a:srgbClr val="e16173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26640" bIns="2664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42" name="Oval 319"/>
          <p:cNvSpPr/>
          <p:nvPr/>
        </p:nvSpPr>
        <p:spPr>
          <a:xfrm>
            <a:off x="10135440" y="3978360"/>
            <a:ext cx="75960" cy="75960"/>
          </a:xfrm>
          <a:prstGeom prst="ellipse">
            <a:avLst/>
          </a:prstGeom>
          <a:solidFill>
            <a:srgbClr val="e16173"/>
          </a:solidFill>
          <a:ln w="0">
            <a:solidFill>
              <a:srgbClr val="e16173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26640" bIns="2664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43" name="Freeform: Shape 320"/>
          <p:cNvSpPr/>
          <p:nvPr/>
        </p:nvSpPr>
        <p:spPr>
          <a:xfrm>
            <a:off x="8597880" y="2939760"/>
            <a:ext cx="1531440" cy="245880"/>
          </a:xfrm>
          <a:custGeom>
            <a:avLst/>
            <a:gdLst>
              <a:gd name="textAreaLeft" fmla="*/ 0 w 1531440"/>
              <a:gd name="textAreaRight" fmla="*/ 1534320 w 1531440"/>
              <a:gd name="textAreaTop" fmla="*/ 0 h 245880"/>
              <a:gd name="textAreaBottom" fmla="*/ 248760 h 24588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0">
            <a:solidFill>
              <a:srgbClr val="000000"/>
            </a:solidFill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44" name="Freeform: Shape 321"/>
          <p:cNvSpPr/>
          <p:nvPr/>
        </p:nvSpPr>
        <p:spPr>
          <a:xfrm>
            <a:off x="8597880" y="2957760"/>
            <a:ext cx="1531440" cy="551880"/>
          </a:xfrm>
          <a:custGeom>
            <a:avLst/>
            <a:gdLst>
              <a:gd name="textAreaLeft" fmla="*/ 0 w 1531440"/>
              <a:gd name="textAreaRight" fmla="*/ 1534320 w 1531440"/>
              <a:gd name="textAreaTop" fmla="*/ 0 h 551880"/>
              <a:gd name="textAreaBottom" fmla="*/ 554760 h 55188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0">
            <a:solidFill>
              <a:srgbClr val="000000"/>
            </a:solidFill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45" name="Freeform: Shape 322"/>
          <p:cNvSpPr/>
          <p:nvPr/>
        </p:nvSpPr>
        <p:spPr>
          <a:xfrm flipH="1">
            <a:off x="8591400" y="3191760"/>
            <a:ext cx="1531440" cy="65880"/>
          </a:xfrm>
          <a:custGeom>
            <a:avLst/>
            <a:gdLst>
              <a:gd name="textAreaLeft" fmla="*/ -1440 w 1531440"/>
              <a:gd name="textAreaRight" fmla="*/ 1532880 w 1531440"/>
              <a:gd name="textAreaTop" fmla="*/ 0 h 65880"/>
              <a:gd name="textAreaBottom" fmla="*/ 68760 h 6588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0">
            <a:solidFill>
              <a:srgbClr val="000000"/>
            </a:solidFill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34200" bIns="342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46" name="Freeform: Shape 323"/>
          <p:cNvSpPr/>
          <p:nvPr/>
        </p:nvSpPr>
        <p:spPr>
          <a:xfrm flipH="1" flipV="1">
            <a:off x="8579520" y="3574440"/>
            <a:ext cx="1543320" cy="216720"/>
          </a:xfrm>
          <a:custGeom>
            <a:avLst/>
            <a:gdLst>
              <a:gd name="textAreaLeft" fmla="*/ 1440 w 1543320"/>
              <a:gd name="textAreaRight" fmla="*/ 1547640 w 1543320"/>
              <a:gd name="textAreaTop" fmla="*/ -1440 h 216720"/>
              <a:gd name="textAreaBottom" fmla="*/ 218160 h 21672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0">
            <a:solidFill>
              <a:srgbClr val="000000"/>
            </a:solidFill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47" name="Freeform: Shape 324"/>
          <p:cNvSpPr/>
          <p:nvPr/>
        </p:nvSpPr>
        <p:spPr>
          <a:xfrm>
            <a:off x="8597880" y="3767760"/>
            <a:ext cx="1531440" cy="29880"/>
          </a:xfrm>
          <a:custGeom>
            <a:avLst/>
            <a:gdLst>
              <a:gd name="textAreaLeft" fmla="*/ 0 w 1531440"/>
              <a:gd name="textAreaRight" fmla="*/ 1534320 w 1531440"/>
              <a:gd name="textAreaTop" fmla="*/ 0 h 29880"/>
              <a:gd name="textAreaBottom" fmla="*/ 32760 h 2988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0">
            <a:solidFill>
              <a:srgbClr val="000000"/>
            </a:solidFill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16200" bIns="162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48" name="Freeform: Shape 325"/>
          <p:cNvSpPr/>
          <p:nvPr/>
        </p:nvSpPr>
        <p:spPr>
          <a:xfrm>
            <a:off x="8597880" y="4019760"/>
            <a:ext cx="1531440" cy="360"/>
          </a:xfrm>
          <a:custGeom>
            <a:avLst/>
            <a:gdLst>
              <a:gd name="textAreaLeft" fmla="*/ 0 w 1531440"/>
              <a:gd name="textAreaRight" fmla="*/ 1534320 w 1531440"/>
              <a:gd name="textAreaTop" fmla="*/ 0 h 360"/>
              <a:gd name="textAreaBottom" fmla="*/ 92160 h 36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0">
            <a:solidFill>
              <a:srgbClr val="000000"/>
            </a:solidFill>
            <a:headEnd len="med" type="triangle" w="med"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23040" bIns="2304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49" name="Freeform: Shape 326"/>
          <p:cNvSpPr/>
          <p:nvPr/>
        </p:nvSpPr>
        <p:spPr>
          <a:xfrm flipV="1">
            <a:off x="8597880" y="3537360"/>
            <a:ext cx="1543320" cy="792720"/>
          </a:xfrm>
          <a:custGeom>
            <a:avLst/>
            <a:gdLst>
              <a:gd name="textAreaLeft" fmla="*/ 0 w 1543320"/>
              <a:gd name="textAreaRight" fmla="*/ 1546200 w 1543320"/>
              <a:gd name="textAreaTop" fmla="*/ -1440 h 792720"/>
              <a:gd name="textAreaBottom" fmla="*/ 794160 h 79272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0">
            <a:solidFill>
              <a:srgbClr val="000000"/>
            </a:solidFill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50" name="Freeform: Shape 327"/>
          <p:cNvSpPr/>
          <p:nvPr/>
        </p:nvSpPr>
        <p:spPr>
          <a:xfrm flipH="1">
            <a:off x="8591400" y="3515760"/>
            <a:ext cx="1531440" cy="245880"/>
          </a:xfrm>
          <a:custGeom>
            <a:avLst/>
            <a:gdLst>
              <a:gd name="textAreaLeft" fmla="*/ -1440 w 1531440"/>
              <a:gd name="textAreaRight" fmla="*/ 1532880 w 1531440"/>
              <a:gd name="textAreaTop" fmla="*/ 0 h 245880"/>
              <a:gd name="textAreaBottom" fmla="*/ 248760 h 24588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0">
            <a:solidFill>
              <a:srgbClr val="000000"/>
            </a:solidFill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51" name="Rectangle 328"/>
          <p:cNvSpPr/>
          <p:nvPr/>
        </p:nvSpPr>
        <p:spPr>
          <a:xfrm>
            <a:off x="8072640" y="5029200"/>
            <a:ext cx="1136520" cy="349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2a6099"/>
                </a:solidFill>
                <a:latin typeface="DejaVu Sans"/>
                <a:ea typeface="DejaVu Sans"/>
              </a:rPr>
              <a:t>Places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2" name="Rectangle 329"/>
          <p:cNvSpPr/>
          <p:nvPr/>
        </p:nvSpPr>
        <p:spPr>
          <a:xfrm>
            <a:off x="9456840" y="5029200"/>
            <a:ext cx="1593720" cy="349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e16173"/>
                </a:solidFill>
                <a:latin typeface="DejaVu Sans"/>
                <a:ea typeface="DejaVu Sans"/>
              </a:rPr>
              <a:t>Transitions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3" name="Rectangle 330"/>
          <p:cNvSpPr/>
          <p:nvPr/>
        </p:nvSpPr>
        <p:spPr>
          <a:xfrm>
            <a:off x="539640" y="1856880"/>
            <a:ext cx="6843240" cy="453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>
              <a:lnSpc>
                <a:spcPct val="100000"/>
              </a:lnSpc>
              <a:spcBef>
                <a:spcPts val="1417"/>
              </a:spcBef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Directed </a:t>
            </a:r>
            <a:r>
              <a:rPr b="0" lang="en-US" sz="2000" spc="-1" strike="noStrike">
                <a:solidFill>
                  <a:srgbClr val="00a933"/>
                </a:solidFill>
                <a:latin typeface="DejaVu Sans"/>
                <a:ea typeface="DejaVu Sans"/>
              </a:rPr>
              <a:t>bipartite</a:t>
            </a: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 graphs: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CPNs divide the vertices of the graph into: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1417"/>
              </a:spcBef>
            </a:pP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1417"/>
              </a:spcBef>
            </a:pP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i="1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Arcs </a:t>
            </a: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in the graph </a:t>
            </a:r>
            <a:r>
              <a:rPr b="1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ONLY</a:t>
            </a: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 connect </a:t>
            </a:r>
            <a:r>
              <a:rPr b="0" lang="en-US" sz="2000" spc="-1" strike="noStrike" u="sng">
                <a:solidFill>
                  <a:srgbClr val="2a6099"/>
                </a:solidFill>
                <a:uFillTx/>
                <a:latin typeface="DejaVu Sans"/>
                <a:ea typeface="DejaVu Sans"/>
              </a:rPr>
              <a:t>Places</a:t>
            </a: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 with </a:t>
            </a:r>
            <a:r>
              <a:rPr b="0" lang="en-US" sz="2000" spc="-1" strike="noStrike" u="sng">
                <a:solidFill>
                  <a:srgbClr val="e16173"/>
                </a:solidFill>
                <a:uFillTx/>
                <a:latin typeface="DejaVu Sans"/>
                <a:ea typeface="DejaVu Sans"/>
              </a:rPr>
              <a:t>Transitions</a:t>
            </a: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.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4" name="Oval 331"/>
          <p:cNvSpPr/>
          <p:nvPr/>
        </p:nvSpPr>
        <p:spPr>
          <a:xfrm>
            <a:off x="1352520" y="3922200"/>
            <a:ext cx="1365120" cy="615240"/>
          </a:xfrm>
          <a:prstGeom prst="ellipse">
            <a:avLst/>
          </a:prstGeom>
          <a:noFill/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pc="-1" strike="noStrike" u="sng">
                <a:solidFill>
                  <a:srgbClr val="2a6099"/>
                </a:solidFill>
                <a:uFillTx/>
                <a:latin typeface="DejaVu Sans"/>
                <a:ea typeface="DejaVu Sans"/>
              </a:rPr>
              <a:t>Places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5" name="Rectangle 332"/>
          <p:cNvSpPr/>
          <p:nvPr/>
        </p:nvSpPr>
        <p:spPr>
          <a:xfrm>
            <a:off x="3492360" y="3995280"/>
            <a:ext cx="2050920" cy="450720"/>
          </a:xfrm>
          <a:prstGeom prst="rect">
            <a:avLst/>
          </a:prstGeom>
          <a:noFill/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pc="-1" strike="noStrike" u="sng">
                <a:solidFill>
                  <a:srgbClr val="e16173"/>
                </a:solidFill>
                <a:uFillTx/>
                <a:latin typeface="DejaVu Sans"/>
                <a:ea typeface="DejaVu Sans"/>
              </a:rPr>
              <a:t>Transitions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PlaceHolder 4"/>
          <p:cNvSpPr/>
          <p:nvPr/>
        </p:nvSpPr>
        <p:spPr>
          <a:xfrm>
            <a:off x="542880" y="721440"/>
            <a:ext cx="103543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GB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Formal Specification Techniques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7" name="Rectangle 334"/>
          <p:cNvSpPr/>
          <p:nvPr/>
        </p:nvSpPr>
        <p:spPr>
          <a:xfrm>
            <a:off x="542880" y="1266840"/>
            <a:ext cx="103543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de-DE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Coloured Petri Nets – What are CPNs?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8" name="PlaceHolder 1"/>
          <p:cNvSpPr>
            <a:spLocks noGrp="1"/>
          </p:cNvSpPr>
          <p:nvPr>
            <p:ph/>
          </p:nvPr>
        </p:nvSpPr>
        <p:spPr>
          <a:xfrm>
            <a:off x="539640" y="2286000"/>
            <a:ext cx="7071840" cy="410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CPNs simulate the </a:t>
            </a:r>
            <a:r>
              <a:rPr b="0" i="1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change of state</a:t>
            </a: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 in the system with the exchange of </a:t>
            </a:r>
            <a:r>
              <a:rPr b="0" lang="en-US" sz="2000" spc="-1" strike="noStrike" u="sng">
                <a:solidFill>
                  <a:srgbClr val="008c4f"/>
                </a:solidFill>
                <a:uFillTx/>
                <a:latin typeface="DejaVu Sans"/>
                <a:ea typeface="DejaVu Sans"/>
              </a:rPr>
              <a:t>Tokens</a:t>
            </a: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.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 u="sng">
                <a:solidFill>
                  <a:srgbClr val="008c4f"/>
                </a:solidFill>
                <a:uFillTx/>
                <a:latin typeface="DejaVu Sans"/>
                <a:ea typeface="DejaVu Sans"/>
              </a:rPr>
              <a:t>Tokens</a:t>
            </a: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 reside in, and flow between </a:t>
            </a:r>
            <a:r>
              <a:rPr b="0" lang="en-US" sz="2000" spc="-1" strike="noStrike" u="sng">
                <a:solidFill>
                  <a:srgbClr val="2a6099"/>
                </a:solidFill>
                <a:uFillTx/>
                <a:latin typeface="DejaVu Sans"/>
                <a:ea typeface="DejaVu Sans"/>
              </a:rPr>
              <a:t>Places</a:t>
            </a: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 though transitions.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 u="sng">
                <a:solidFill>
                  <a:srgbClr val="008c4f"/>
                </a:solidFill>
                <a:uFillTx/>
                <a:latin typeface="DejaVu Sans"/>
                <a:ea typeface="DejaVu Sans"/>
              </a:rPr>
              <a:t>Tokens</a:t>
            </a: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 never </a:t>
            </a:r>
            <a:r>
              <a:rPr b="0" i="1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stay</a:t>
            </a: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 in </a:t>
            </a:r>
            <a:r>
              <a:rPr b="0" lang="en-US" sz="2000" spc="-1" strike="noStrike" u="sng">
                <a:solidFill>
                  <a:srgbClr val="e16173"/>
                </a:solidFill>
                <a:uFillTx/>
                <a:latin typeface="DejaVu Sans"/>
                <a:ea typeface="DejaVu Sans"/>
              </a:rPr>
              <a:t>Transitions</a:t>
            </a: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.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9" name="Oval 1"/>
          <p:cNvSpPr/>
          <p:nvPr/>
        </p:nvSpPr>
        <p:spPr>
          <a:xfrm>
            <a:off x="8000280" y="2514960"/>
            <a:ext cx="1136520" cy="2279520"/>
          </a:xfrm>
          <a:prstGeom prst="ellipse">
            <a:avLst/>
          </a:prstGeom>
          <a:solidFill>
            <a:srgbClr val="fffff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60" name="Oval 2"/>
          <p:cNvSpPr/>
          <p:nvPr/>
        </p:nvSpPr>
        <p:spPr>
          <a:xfrm>
            <a:off x="9620280" y="2515320"/>
            <a:ext cx="1136520" cy="2279520"/>
          </a:xfrm>
          <a:prstGeom prst="ellipse">
            <a:avLst/>
          </a:prstGeom>
          <a:solidFill>
            <a:srgbClr val="ffffff"/>
          </a:solidFill>
          <a:ln w="0">
            <a:solidFill>
              <a:srgbClr val="e16173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61" name="Oval 3"/>
          <p:cNvSpPr/>
          <p:nvPr/>
        </p:nvSpPr>
        <p:spPr>
          <a:xfrm>
            <a:off x="8515080" y="2898360"/>
            <a:ext cx="75960" cy="7596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26640" bIns="2664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62" name="Oval 4"/>
          <p:cNvSpPr/>
          <p:nvPr/>
        </p:nvSpPr>
        <p:spPr>
          <a:xfrm>
            <a:off x="8515080" y="3222360"/>
            <a:ext cx="75960" cy="7596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26640" bIns="2664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63" name="Oval 5"/>
          <p:cNvSpPr/>
          <p:nvPr/>
        </p:nvSpPr>
        <p:spPr>
          <a:xfrm>
            <a:off x="8515080" y="3510360"/>
            <a:ext cx="75960" cy="7596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26640" bIns="2664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64" name="Oval 6"/>
          <p:cNvSpPr/>
          <p:nvPr/>
        </p:nvSpPr>
        <p:spPr>
          <a:xfrm>
            <a:off x="8515080" y="3726360"/>
            <a:ext cx="75960" cy="7596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26640" bIns="2664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65" name="Oval 7"/>
          <p:cNvSpPr/>
          <p:nvPr/>
        </p:nvSpPr>
        <p:spPr>
          <a:xfrm>
            <a:off x="8515080" y="3978360"/>
            <a:ext cx="75960" cy="7596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26640" bIns="2664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66" name="Oval 8"/>
          <p:cNvSpPr/>
          <p:nvPr/>
        </p:nvSpPr>
        <p:spPr>
          <a:xfrm>
            <a:off x="8515080" y="4302360"/>
            <a:ext cx="75960" cy="7596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26640" bIns="2664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67" name="Oval 9"/>
          <p:cNvSpPr/>
          <p:nvPr/>
        </p:nvSpPr>
        <p:spPr>
          <a:xfrm>
            <a:off x="10135080" y="3150360"/>
            <a:ext cx="75960" cy="75960"/>
          </a:xfrm>
          <a:prstGeom prst="ellipse">
            <a:avLst/>
          </a:prstGeom>
          <a:solidFill>
            <a:srgbClr val="e16173"/>
          </a:solidFill>
          <a:ln w="0">
            <a:solidFill>
              <a:srgbClr val="e16173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26640" bIns="2664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68" name="Oval 10"/>
          <p:cNvSpPr/>
          <p:nvPr/>
        </p:nvSpPr>
        <p:spPr>
          <a:xfrm>
            <a:off x="10135080" y="3474360"/>
            <a:ext cx="75960" cy="75960"/>
          </a:xfrm>
          <a:prstGeom prst="ellipse">
            <a:avLst/>
          </a:prstGeom>
          <a:solidFill>
            <a:srgbClr val="e16173"/>
          </a:solidFill>
          <a:ln w="0">
            <a:solidFill>
              <a:srgbClr val="e16173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26640" bIns="2664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69" name="Oval 11"/>
          <p:cNvSpPr/>
          <p:nvPr/>
        </p:nvSpPr>
        <p:spPr>
          <a:xfrm>
            <a:off x="10135080" y="3762360"/>
            <a:ext cx="75960" cy="75960"/>
          </a:xfrm>
          <a:prstGeom prst="ellipse">
            <a:avLst/>
          </a:prstGeom>
          <a:solidFill>
            <a:srgbClr val="e16173"/>
          </a:solidFill>
          <a:ln w="0">
            <a:solidFill>
              <a:srgbClr val="e16173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26640" bIns="2664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70" name="Oval 12"/>
          <p:cNvSpPr/>
          <p:nvPr/>
        </p:nvSpPr>
        <p:spPr>
          <a:xfrm>
            <a:off x="10135080" y="3978360"/>
            <a:ext cx="75960" cy="75960"/>
          </a:xfrm>
          <a:prstGeom prst="ellipse">
            <a:avLst/>
          </a:prstGeom>
          <a:solidFill>
            <a:srgbClr val="e16173"/>
          </a:solidFill>
          <a:ln w="0">
            <a:solidFill>
              <a:srgbClr val="e16173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26640" bIns="2664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71" name="Freeform: Shape 1"/>
          <p:cNvSpPr/>
          <p:nvPr/>
        </p:nvSpPr>
        <p:spPr>
          <a:xfrm>
            <a:off x="8597520" y="2939760"/>
            <a:ext cx="1531440" cy="245880"/>
          </a:xfrm>
          <a:custGeom>
            <a:avLst/>
            <a:gdLst>
              <a:gd name="textAreaLeft" fmla="*/ 0 w 1531440"/>
              <a:gd name="textAreaRight" fmla="*/ 1534320 w 1531440"/>
              <a:gd name="textAreaTop" fmla="*/ 0 h 245880"/>
              <a:gd name="textAreaBottom" fmla="*/ 248760 h 24588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0">
            <a:solidFill>
              <a:srgbClr val="000000"/>
            </a:solidFill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72" name="Freeform: Shape 2"/>
          <p:cNvSpPr/>
          <p:nvPr/>
        </p:nvSpPr>
        <p:spPr>
          <a:xfrm>
            <a:off x="8597520" y="2957760"/>
            <a:ext cx="1531440" cy="551880"/>
          </a:xfrm>
          <a:custGeom>
            <a:avLst/>
            <a:gdLst>
              <a:gd name="textAreaLeft" fmla="*/ 0 w 1531440"/>
              <a:gd name="textAreaRight" fmla="*/ 1534320 w 1531440"/>
              <a:gd name="textAreaTop" fmla="*/ 0 h 551880"/>
              <a:gd name="textAreaBottom" fmla="*/ 554760 h 55188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0">
            <a:solidFill>
              <a:srgbClr val="000000"/>
            </a:solidFill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73" name="Freeform: Shape 3"/>
          <p:cNvSpPr/>
          <p:nvPr/>
        </p:nvSpPr>
        <p:spPr>
          <a:xfrm flipH="1">
            <a:off x="8591040" y="3191760"/>
            <a:ext cx="1531440" cy="65880"/>
          </a:xfrm>
          <a:custGeom>
            <a:avLst/>
            <a:gdLst>
              <a:gd name="textAreaLeft" fmla="*/ -1440 w 1531440"/>
              <a:gd name="textAreaRight" fmla="*/ 1532880 w 1531440"/>
              <a:gd name="textAreaTop" fmla="*/ 0 h 65880"/>
              <a:gd name="textAreaBottom" fmla="*/ 68760 h 6588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0">
            <a:solidFill>
              <a:srgbClr val="000000"/>
            </a:solidFill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34200" bIns="342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74" name="Freeform: Shape 4"/>
          <p:cNvSpPr/>
          <p:nvPr/>
        </p:nvSpPr>
        <p:spPr>
          <a:xfrm flipH="1" flipV="1">
            <a:off x="8579160" y="3574440"/>
            <a:ext cx="1543320" cy="216720"/>
          </a:xfrm>
          <a:custGeom>
            <a:avLst/>
            <a:gdLst>
              <a:gd name="textAreaLeft" fmla="*/ 1440 w 1543320"/>
              <a:gd name="textAreaRight" fmla="*/ 1547640 w 1543320"/>
              <a:gd name="textAreaTop" fmla="*/ -1440 h 216720"/>
              <a:gd name="textAreaBottom" fmla="*/ 218160 h 21672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0">
            <a:solidFill>
              <a:srgbClr val="000000"/>
            </a:solidFill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75" name="Freeform: Shape 5"/>
          <p:cNvSpPr/>
          <p:nvPr/>
        </p:nvSpPr>
        <p:spPr>
          <a:xfrm>
            <a:off x="8597520" y="3767760"/>
            <a:ext cx="1531440" cy="29880"/>
          </a:xfrm>
          <a:custGeom>
            <a:avLst/>
            <a:gdLst>
              <a:gd name="textAreaLeft" fmla="*/ 0 w 1531440"/>
              <a:gd name="textAreaRight" fmla="*/ 1534320 w 1531440"/>
              <a:gd name="textAreaTop" fmla="*/ 0 h 29880"/>
              <a:gd name="textAreaBottom" fmla="*/ 32760 h 2988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0">
            <a:solidFill>
              <a:srgbClr val="000000"/>
            </a:solidFill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16200" bIns="162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76" name="Freeform: Shape 6"/>
          <p:cNvSpPr/>
          <p:nvPr/>
        </p:nvSpPr>
        <p:spPr>
          <a:xfrm>
            <a:off x="8597520" y="4019760"/>
            <a:ext cx="1531440" cy="360"/>
          </a:xfrm>
          <a:custGeom>
            <a:avLst/>
            <a:gdLst>
              <a:gd name="textAreaLeft" fmla="*/ 0 w 1531440"/>
              <a:gd name="textAreaRight" fmla="*/ 1534320 w 1531440"/>
              <a:gd name="textAreaTop" fmla="*/ 0 h 360"/>
              <a:gd name="textAreaBottom" fmla="*/ 92160 h 36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0">
            <a:solidFill>
              <a:srgbClr val="000000"/>
            </a:solidFill>
            <a:headEnd len="med" type="triangle" w="med"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23040" bIns="2304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77" name="Freeform: Shape 7"/>
          <p:cNvSpPr/>
          <p:nvPr/>
        </p:nvSpPr>
        <p:spPr>
          <a:xfrm flipV="1">
            <a:off x="8597520" y="3537360"/>
            <a:ext cx="1543320" cy="792720"/>
          </a:xfrm>
          <a:custGeom>
            <a:avLst/>
            <a:gdLst>
              <a:gd name="textAreaLeft" fmla="*/ 0 w 1543320"/>
              <a:gd name="textAreaRight" fmla="*/ 1546200 w 1543320"/>
              <a:gd name="textAreaTop" fmla="*/ -1440 h 792720"/>
              <a:gd name="textAreaBottom" fmla="*/ 794160 h 79272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0">
            <a:solidFill>
              <a:srgbClr val="000000"/>
            </a:solidFill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78" name="Freeform: Shape 8"/>
          <p:cNvSpPr/>
          <p:nvPr/>
        </p:nvSpPr>
        <p:spPr>
          <a:xfrm flipH="1">
            <a:off x="8591040" y="3515760"/>
            <a:ext cx="1531440" cy="245880"/>
          </a:xfrm>
          <a:custGeom>
            <a:avLst/>
            <a:gdLst>
              <a:gd name="textAreaLeft" fmla="*/ -1440 w 1531440"/>
              <a:gd name="textAreaRight" fmla="*/ 1532880 w 1531440"/>
              <a:gd name="textAreaTop" fmla="*/ 0 h 245880"/>
              <a:gd name="textAreaBottom" fmla="*/ 248760 h 24588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0">
            <a:solidFill>
              <a:srgbClr val="000000"/>
            </a:solidFill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79" name="Rectangle 1"/>
          <p:cNvSpPr/>
          <p:nvPr/>
        </p:nvSpPr>
        <p:spPr>
          <a:xfrm>
            <a:off x="8072280" y="5029200"/>
            <a:ext cx="1136520" cy="349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2a6099"/>
                </a:solidFill>
                <a:latin typeface="DejaVu Sans"/>
                <a:ea typeface="DejaVu Sans"/>
              </a:rPr>
              <a:t>Places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0" name="Rectangle 2"/>
          <p:cNvSpPr/>
          <p:nvPr/>
        </p:nvSpPr>
        <p:spPr>
          <a:xfrm>
            <a:off x="9456480" y="5029200"/>
            <a:ext cx="1593720" cy="349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e16173"/>
                </a:solidFill>
                <a:latin typeface="DejaVu Sans"/>
                <a:ea typeface="DejaVu Sans"/>
              </a:rPr>
              <a:t>Transitions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PlaceHolder 6"/>
          <p:cNvSpPr/>
          <p:nvPr/>
        </p:nvSpPr>
        <p:spPr>
          <a:xfrm>
            <a:off x="542880" y="721440"/>
            <a:ext cx="103543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GB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Formal Specification Techniques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2" name="Rectangle 359"/>
          <p:cNvSpPr/>
          <p:nvPr/>
        </p:nvSpPr>
        <p:spPr>
          <a:xfrm>
            <a:off x="542880" y="1266840"/>
            <a:ext cx="103543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de-DE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Coloured Petri Nets – Core Concepts : ColorSets, Tokens and Variables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83" name="Picture 360" descr=""/>
          <p:cNvPicPr/>
          <p:nvPr/>
        </p:nvPicPr>
        <p:blipFill>
          <a:blip r:embed="rId1"/>
          <a:srcRect l="0" t="0" r="793382" b="0"/>
          <a:stretch/>
        </p:blipFill>
        <p:spPr>
          <a:xfrm>
            <a:off x="5715000" y="2057400"/>
            <a:ext cx="5479560" cy="2829960"/>
          </a:xfrm>
          <a:prstGeom prst="rect">
            <a:avLst/>
          </a:prstGeom>
          <a:ln w="0">
            <a:noFill/>
          </a:ln>
        </p:spPr>
      </p:pic>
      <p:sp>
        <p:nvSpPr>
          <p:cNvPr id="384" name="Rectangle 361"/>
          <p:cNvSpPr/>
          <p:nvPr/>
        </p:nvSpPr>
        <p:spPr>
          <a:xfrm>
            <a:off x="7543800" y="5257800"/>
            <a:ext cx="1822320" cy="67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DejaVu Sans Mono"/>
                <a:ea typeface="DejaVu Sans"/>
              </a:rPr>
              <a:t>var a: INT;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DejaVu Sans Mono"/>
                <a:ea typeface="DejaVu Sans"/>
              </a:rPr>
              <a:t>var a2: INT;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5" name="Rectangle 362"/>
          <p:cNvSpPr/>
          <p:nvPr/>
        </p:nvSpPr>
        <p:spPr>
          <a:xfrm>
            <a:off x="465480" y="2286000"/>
            <a:ext cx="5471640" cy="410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marL="565200" indent="-4572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b="0" lang="en-US" sz="2000" spc="-1" strike="noStrike" u="sng">
                <a:solidFill>
                  <a:srgbClr val="2a6099"/>
                </a:solidFill>
                <a:uFillTx/>
                <a:latin typeface="DejaVu Sans"/>
                <a:ea typeface="DejaVu Sans"/>
              </a:rPr>
              <a:t>Places</a:t>
            </a: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 can hold </a:t>
            </a:r>
            <a:r>
              <a:rPr b="0" lang="en-US" sz="2000" spc="-1" strike="noStrike" u="sng">
                <a:solidFill>
                  <a:srgbClr val="008c4f"/>
                </a:solidFill>
                <a:uFillTx/>
                <a:latin typeface="DejaVu Sans"/>
                <a:ea typeface="DejaVu Sans"/>
              </a:rPr>
              <a:t>tokens</a:t>
            </a:r>
            <a:r>
              <a:rPr b="0" i="1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of only one </a:t>
            </a:r>
            <a:r>
              <a:rPr b="0" i="1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type</a:t>
            </a: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(= </a:t>
            </a:r>
            <a:r>
              <a:rPr b="0" lang="en-US" sz="2000" spc="-1" strike="noStrike" u="sng">
                <a:solidFill>
                  <a:srgbClr val="008c4f"/>
                </a:solidFill>
                <a:uFillTx/>
                <a:latin typeface="DejaVu Sans"/>
                <a:ea typeface="DejaVu Sans"/>
              </a:rPr>
              <a:t>ColorSet</a:t>
            </a: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 ).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565200" indent="-4572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b="0" lang="en-US" sz="2000" spc="-1" strike="noStrike" u="sng">
                <a:solidFill>
                  <a:srgbClr val="008c4f"/>
                </a:solidFill>
                <a:uFillTx/>
                <a:latin typeface="DejaVu Sans"/>
                <a:ea typeface="DejaVu Sans"/>
              </a:rPr>
              <a:t>Tokens</a:t>
            </a: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 are </a:t>
            </a:r>
            <a:r>
              <a:rPr b="0" i="1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instances</a:t>
            </a: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 of </a:t>
            </a:r>
            <a:r>
              <a:rPr b="0" lang="en-US" sz="2000" spc="-1" strike="noStrike" u="sng">
                <a:solidFill>
                  <a:srgbClr val="008c4f"/>
                </a:solidFill>
                <a:uFillTx/>
                <a:latin typeface="DejaVu Sans"/>
                <a:ea typeface="DejaVu Sans"/>
              </a:rPr>
              <a:t>ColorSets</a:t>
            </a: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.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565200" indent="-4572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b="0" lang="en-US" sz="2000" spc="-1" strike="noStrike" u="sng">
                <a:solidFill>
                  <a:srgbClr val="008c4f"/>
                </a:solidFill>
                <a:uFillTx/>
                <a:latin typeface="DejaVu Sans"/>
                <a:ea typeface="DejaVu Sans"/>
              </a:rPr>
              <a:t>Variables</a:t>
            </a: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 are used to distinguish </a:t>
            </a:r>
            <a:r>
              <a:rPr b="0" lang="en-US" sz="2000" spc="-1" strike="noStrike" u="sng">
                <a:solidFill>
                  <a:srgbClr val="008c4f"/>
                </a:solidFill>
                <a:uFillTx/>
                <a:latin typeface="DejaVu Sans"/>
                <a:ea typeface="DejaVu Sans"/>
              </a:rPr>
              <a:t>tokens</a:t>
            </a: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 while in transit.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86" name="Picture 363" descr=""/>
          <p:cNvPicPr/>
          <p:nvPr/>
        </p:nvPicPr>
        <p:blipFill>
          <a:blip r:embed="rId2"/>
          <a:srcRect l="0" t="0" r="720228" b="0"/>
          <a:stretch/>
        </p:blipFill>
        <p:spPr>
          <a:xfrm>
            <a:off x="6084000" y="2116800"/>
            <a:ext cx="5340240" cy="2686320"/>
          </a:xfrm>
          <a:prstGeom prst="rect">
            <a:avLst/>
          </a:prstGeom>
          <a:ln w="0">
            <a:noFill/>
          </a:ln>
        </p:spPr>
      </p:pic>
      <p:pic>
        <p:nvPicPr>
          <p:cNvPr id="387" name="Picture 510" descr=""/>
          <p:cNvPicPr/>
          <p:nvPr/>
        </p:nvPicPr>
        <p:blipFill>
          <a:blip r:embed="rId3"/>
          <a:srcRect l="0" t="0" r="794138" b="0"/>
          <a:stretch/>
        </p:blipFill>
        <p:spPr>
          <a:xfrm>
            <a:off x="6084000" y="2199600"/>
            <a:ext cx="5200920" cy="2687760"/>
          </a:xfrm>
          <a:prstGeom prst="rect">
            <a:avLst/>
          </a:prstGeom>
          <a:ln w="0">
            <a:noFill/>
          </a:ln>
        </p:spPr>
      </p:pic>
      <p:pic>
        <p:nvPicPr>
          <p:cNvPr id="388" name="" descr=""/>
          <p:cNvPicPr/>
          <p:nvPr/>
        </p:nvPicPr>
        <p:blipFill>
          <a:blip r:embed="rId4"/>
          <a:srcRect l="0" t="0" r="643479" b="0"/>
          <a:stretch/>
        </p:blipFill>
        <p:spPr>
          <a:xfrm>
            <a:off x="5937840" y="2198520"/>
            <a:ext cx="5488920" cy="2688840"/>
          </a:xfrm>
          <a:prstGeom prst="rect">
            <a:avLst/>
          </a:prstGeom>
          <a:ln w="0">
            <a:noFill/>
          </a:ln>
        </p:spPr>
      </p:pic>
      <p:pic>
        <p:nvPicPr>
          <p:cNvPr id="389" name="" descr=""/>
          <p:cNvPicPr/>
          <p:nvPr/>
        </p:nvPicPr>
        <p:blipFill>
          <a:blip r:embed="rId5"/>
          <a:srcRect l="0" t="0" r="703403" b="0"/>
          <a:stretch/>
        </p:blipFill>
        <p:spPr>
          <a:xfrm>
            <a:off x="5839200" y="2260800"/>
            <a:ext cx="5376240" cy="2690280"/>
          </a:xfrm>
          <a:prstGeom prst="rect">
            <a:avLst/>
          </a:prstGeom>
          <a:ln w="0">
            <a:noFill/>
          </a:ln>
        </p:spPr>
      </p:pic>
      <p:pic>
        <p:nvPicPr>
          <p:cNvPr id="390" name="" descr=""/>
          <p:cNvPicPr/>
          <p:nvPr/>
        </p:nvPicPr>
        <p:blipFill>
          <a:blip r:embed="rId6"/>
          <a:srcRect l="0" t="0" r="703403" b="0"/>
          <a:stretch/>
        </p:blipFill>
        <p:spPr>
          <a:xfrm>
            <a:off x="6050160" y="2337120"/>
            <a:ext cx="5376600" cy="2690640"/>
          </a:xfrm>
          <a:prstGeom prst="rect">
            <a:avLst/>
          </a:prstGeom>
          <a:ln w="0">
            <a:noFill/>
          </a:ln>
        </p:spPr>
      </p:pic>
      <p:pic>
        <p:nvPicPr>
          <p:cNvPr id="391" name="" descr=""/>
          <p:cNvPicPr/>
          <p:nvPr/>
        </p:nvPicPr>
        <p:blipFill>
          <a:blip r:embed="rId7"/>
          <a:srcRect l="0" t="0" r="726085" b="0"/>
          <a:stretch/>
        </p:blipFill>
        <p:spPr>
          <a:xfrm>
            <a:off x="5989680" y="2414520"/>
            <a:ext cx="5333760" cy="26910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PlaceHolder 7"/>
          <p:cNvSpPr/>
          <p:nvPr/>
        </p:nvSpPr>
        <p:spPr>
          <a:xfrm>
            <a:off x="542880" y="721440"/>
            <a:ext cx="103543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GB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Formal Specification Techniques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3" name="Rectangle 365"/>
          <p:cNvSpPr/>
          <p:nvPr/>
        </p:nvSpPr>
        <p:spPr>
          <a:xfrm>
            <a:off x="542880" y="1266840"/>
            <a:ext cx="103543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de-DE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Coloured Petri Nets – Core Concepts : Markings, Arc Inscriptions and Guards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94" name="Picture 366" descr=""/>
          <p:cNvPicPr/>
          <p:nvPr/>
        </p:nvPicPr>
        <p:blipFill>
          <a:blip r:embed="rId1"/>
          <a:srcRect l="0" t="0" r="793382" b="0"/>
          <a:stretch/>
        </p:blipFill>
        <p:spPr>
          <a:xfrm>
            <a:off x="5715000" y="2057400"/>
            <a:ext cx="5479560" cy="2829960"/>
          </a:xfrm>
          <a:prstGeom prst="rect">
            <a:avLst/>
          </a:prstGeom>
          <a:ln w="0">
            <a:noFill/>
          </a:ln>
        </p:spPr>
      </p:pic>
      <p:sp>
        <p:nvSpPr>
          <p:cNvPr id="395" name="Rectangle 367"/>
          <p:cNvSpPr/>
          <p:nvPr/>
        </p:nvSpPr>
        <p:spPr>
          <a:xfrm>
            <a:off x="7543800" y="5257800"/>
            <a:ext cx="1822320" cy="67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DejaVu Sans Mono"/>
                <a:ea typeface="DejaVu Sans"/>
              </a:rPr>
              <a:t>var a: INT;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DejaVu Sans Mono"/>
                <a:ea typeface="DejaVu Sans"/>
              </a:rPr>
              <a:t>var a2: INT;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6" name="Rectangle 368"/>
          <p:cNvSpPr/>
          <p:nvPr/>
        </p:nvSpPr>
        <p:spPr>
          <a:xfrm>
            <a:off x="465480" y="2286000"/>
            <a:ext cx="5243040" cy="410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marL="565200" indent="-4572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b="0" lang="en-US" sz="2000" spc="-1" strike="noStrike" u="sng">
                <a:solidFill>
                  <a:srgbClr val="008c4f"/>
                </a:solidFill>
                <a:uFillTx/>
                <a:latin typeface="DejaVu Sans"/>
                <a:ea typeface="DejaVu Sans"/>
              </a:rPr>
              <a:t>Markings</a:t>
            </a: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 specify the tokens held by a </a:t>
            </a:r>
            <a:r>
              <a:rPr b="0" lang="en-US" sz="2000" spc="-1" strike="noStrike" u="sng">
                <a:solidFill>
                  <a:srgbClr val="2a6099"/>
                </a:solidFill>
                <a:uFillTx/>
                <a:latin typeface="DejaVu Sans"/>
                <a:ea typeface="DejaVu Sans"/>
              </a:rPr>
              <a:t>Place</a:t>
            </a: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.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565200" indent="-4572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b="0" lang="en-US" sz="2000" spc="-1" strike="noStrike" u="sng">
                <a:solidFill>
                  <a:srgbClr val="008c4f"/>
                </a:solidFill>
                <a:uFillTx/>
                <a:latin typeface="DejaVu Sans"/>
                <a:ea typeface="DejaVu Sans"/>
              </a:rPr>
              <a:t>Arc Inscriptions</a:t>
            </a: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 are expressions that can </a:t>
            </a:r>
            <a:r>
              <a:rPr b="0" i="1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modify</a:t>
            </a: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 the tokens when  the t</a:t>
            </a:r>
            <a:r>
              <a:rPr b="0" lang="en-US" sz="2000" spc="-1" strike="noStrike" u="sng">
                <a:solidFill>
                  <a:srgbClr val="000000"/>
                </a:solidFill>
                <a:uFillTx/>
                <a:latin typeface="DejaVu Sans"/>
                <a:ea typeface="DejaVu Sans"/>
              </a:rPr>
              <a:t>ransition</a:t>
            </a: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 occurs.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565200" indent="-4572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b="0" lang="en-US" sz="2000" spc="-1" strike="noStrike" u="sng">
                <a:solidFill>
                  <a:srgbClr val="008c4f"/>
                </a:solidFill>
                <a:uFillTx/>
                <a:latin typeface="DejaVu Sans"/>
                <a:ea typeface="DejaVu Sans"/>
              </a:rPr>
              <a:t>Guards</a:t>
            </a: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 are a comma-separated list of conditions that must be satisfied for a </a:t>
            </a:r>
            <a:r>
              <a:rPr b="0" lang="en-US" sz="2000" spc="-1" strike="noStrike" u="sng">
                <a:solidFill>
                  <a:srgbClr val="e16173"/>
                </a:solidFill>
                <a:uFillTx/>
                <a:latin typeface="DejaVu Sans"/>
                <a:ea typeface="DejaVu Sans"/>
              </a:rPr>
              <a:t>Transition</a:t>
            </a: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.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97" name="Picture 369" descr=""/>
          <p:cNvPicPr/>
          <p:nvPr/>
        </p:nvPicPr>
        <p:blipFill>
          <a:blip r:embed="rId2"/>
          <a:srcRect l="0" t="0" r="720228" b="0"/>
          <a:stretch/>
        </p:blipFill>
        <p:spPr>
          <a:xfrm>
            <a:off x="6084000" y="2116800"/>
            <a:ext cx="5340240" cy="2686320"/>
          </a:xfrm>
          <a:prstGeom prst="rect">
            <a:avLst/>
          </a:prstGeom>
          <a:ln w="0">
            <a:noFill/>
          </a:ln>
        </p:spPr>
      </p:pic>
      <p:pic>
        <p:nvPicPr>
          <p:cNvPr id="398" name="Picture 517" descr=""/>
          <p:cNvPicPr/>
          <p:nvPr/>
        </p:nvPicPr>
        <p:blipFill>
          <a:blip r:embed="rId3"/>
          <a:srcRect l="0" t="0" r="794138" b="0"/>
          <a:stretch/>
        </p:blipFill>
        <p:spPr>
          <a:xfrm>
            <a:off x="6084360" y="2199600"/>
            <a:ext cx="5200920" cy="2687760"/>
          </a:xfrm>
          <a:prstGeom prst="rect">
            <a:avLst/>
          </a:prstGeom>
          <a:ln w="0">
            <a:noFill/>
          </a:ln>
        </p:spPr>
      </p:pic>
      <p:pic>
        <p:nvPicPr>
          <p:cNvPr id="399" name="" descr=""/>
          <p:cNvPicPr/>
          <p:nvPr/>
        </p:nvPicPr>
        <p:blipFill>
          <a:blip r:embed="rId4"/>
          <a:srcRect l="0" t="0" r="643479" b="0"/>
          <a:stretch/>
        </p:blipFill>
        <p:spPr>
          <a:xfrm>
            <a:off x="5937840" y="2198520"/>
            <a:ext cx="5488920" cy="2688840"/>
          </a:xfrm>
          <a:prstGeom prst="rect">
            <a:avLst/>
          </a:prstGeom>
          <a:ln w="0">
            <a:noFill/>
          </a:ln>
        </p:spPr>
      </p:pic>
      <p:pic>
        <p:nvPicPr>
          <p:cNvPr id="400" name="" descr=""/>
          <p:cNvPicPr/>
          <p:nvPr/>
        </p:nvPicPr>
        <p:blipFill>
          <a:blip r:embed="rId5"/>
          <a:srcRect l="0" t="0" r="703403" b="0"/>
          <a:stretch/>
        </p:blipFill>
        <p:spPr>
          <a:xfrm>
            <a:off x="5839560" y="2260800"/>
            <a:ext cx="5376240" cy="2690280"/>
          </a:xfrm>
          <a:prstGeom prst="rect">
            <a:avLst/>
          </a:prstGeom>
          <a:ln w="0">
            <a:noFill/>
          </a:ln>
        </p:spPr>
      </p:pic>
      <p:pic>
        <p:nvPicPr>
          <p:cNvPr id="401" name="" descr=""/>
          <p:cNvPicPr/>
          <p:nvPr/>
        </p:nvPicPr>
        <p:blipFill>
          <a:blip r:embed="rId6"/>
          <a:srcRect l="0" t="0" r="703403" b="0"/>
          <a:stretch/>
        </p:blipFill>
        <p:spPr>
          <a:xfrm>
            <a:off x="6050520" y="2337120"/>
            <a:ext cx="5376600" cy="2690640"/>
          </a:xfrm>
          <a:prstGeom prst="rect">
            <a:avLst/>
          </a:prstGeom>
          <a:ln w="0">
            <a:noFill/>
          </a:ln>
        </p:spPr>
      </p:pic>
      <p:pic>
        <p:nvPicPr>
          <p:cNvPr id="402" name="" descr=""/>
          <p:cNvPicPr/>
          <p:nvPr/>
        </p:nvPicPr>
        <p:blipFill>
          <a:blip r:embed="rId7"/>
          <a:srcRect l="0" t="0" r="726085" b="0"/>
          <a:stretch/>
        </p:blipFill>
        <p:spPr>
          <a:xfrm>
            <a:off x="5990040" y="2414520"/>
            <a:ext cx="5333760" cy="26910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PlaceHolder 8"/>
          <p:cNvSpPr/>
          <p:nvPr/>
        </p:nvSpPr>
        <p:spPr>
          <a:xfrm>
            <a:off x="542880" y="721440"/>
            <a:ext cx="103543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GB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Formal Specification Techniques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4" name="Rectangle 371"/>
          <p:cNvSpPr/>
          <p:nvPr/>
        </p:nvSpPr>
        <p:spPr>
          <a:xfrm>
            <a:off x="542880" y="1266840"/>
            <a:ext cx="103543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de-DE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Coloured Petri Nets – Core Concepts : Flow of Tokens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05" name="Picture 372" descr=""/>
          <p:cNvPicPr/>
          <p:nvPr/>
        </p:nvPicPr>
        <p:blipFill>
          <a:blip r:embed="rId1"/>
          <a:srcRect l="0" t="0" r="793382" b="0"/>
          <a:stretch/>
        </p:blipFill>
        <p:spPr>
          <a:xfrm>
            <a:off x="5715000" y="2057400"/>
            <a:ext cx="5479560" cy="2829960"/>
          </a:xfrm>
          <a:prstGeom prst="rect">
            <a:avLst/>
          </a:prstGeom>
          <a:ln w="0">
            <a:noFill/>
          </a:ln>
        </p:spPr>
      </p:pic>
      <p:sp>
        <p:nvSpPr>
          <p:cNvPr id="406" name="Rectangle 373"/>
          <p:cNvSpPr/>
          <p:nvPr/>
        </p:nvSpPr>
        <p:spPr>
          <a:xfrm>
            <a:off x="7543800" y="5257800"/>
            <a:ext cx="1822320" cy="67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DejaVu Sans Mono"/>
                <a:ea typeface="DejaVu Sans"/>
              </a:rPr>
              <a:t>var a: INT;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DejaVu Sans Mono"/>
                <a:ea typeface="DejaVu Sans"/>
              </a:rPr>
              <a:t>var a2: INT;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7" name="Rectangle 374"/>
          <p:cNvSpPr/>
          <p:nvPr/>
        </p:nvSpPr>
        <p:spPr>
          <a:xfrm>
            <a:off x="539640" y="2286000"/>
            <a:ext cx="5243040" cy="410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A </a:t>
            </a:r>
            <a:r>
              <a:rPr b="0" lang="en-US" sz="2000" spc="-1" strike="noStrike" u="sng">
                <a:solidFill>
                  <a:srgbClr val="e16173"/>
                </a:solidFill>
                <a:uFillTx/>
                <a:latin typeface="DejaVu Sans"/>
                <a:ea typeface="DejaVu Sans"/>
              </a:rPr>
              <a:t>Transition</a:t>
            </a: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 is enabled if and only if: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134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All it’s incoming arcs have at least one </a:t>
            </a:r>
            <a:r>
              <a:rPr b="0" lang="en-US" sz="1800" spc="-1" strike="noStrike" u="sng">
                <a:solidFill>
                  <a:srgbClr val="008c4f"/>
                </a:solidFill>
                <a:uFillTx/>
                <a:latin typeface="DejaVu Sans"/>
                <a:ea typeface="DejaVu Sans"/>
              </a:rPr>
              <a:t>token</a:t>
            </a: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.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134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All </a:t>
            </a:r>
            <a:r>
              <a:rPr b="0" lang="en-US" sz="1800" spc="-1" strike="noStrike" u="sng">
                <a:solidFill>
                  <a:srgbClr val="008c4f"/>
                </a:solidFill>
                <a:uFillTx/>
                <a:latin typeface="DejaVu Sans"/>
                <a:ea typeface="DejaVu Sans"/>
              </a:rPr>
              <a:t>guard</a:t>
            </a: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 conditions are satisfied.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134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No </a:t>
            </a:r>
            <a:r>
              <a:rPr b="0" lang="en-US" sz="1800" spc="-1" strike="noStrike" u="sng">
                <a:solidFill>
                  <a:srgbClr val="2a6099"/>
                </a:solidFill>
                <a:uFillTx/>
                <a:latin typeface="DejaVu Sans"/>
                <a:ea typeface="DejaVu Sans"/>
              </a:rPr>
              <a:t>place</a:t>
            </a: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 that is connected with an </a:t>
            </a:r>
            <a:r>
              <a:rPr b="0" lang="en-US" sz="1800" spc="-1" strike="noStrike" u="sng">
                <a:solidFill>
                  <a:srgbClr val="008c4f"/>
                </a:solidFill>
                <a:uFillTx/>
                <a:latin typeface="DejaVu Sans"/>
                <a:ea typeface="DejaVu Sans"/>
              </a:rPr>
              <a:t>inhibhitor arc</a:t>
            </a: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 has any tokens.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08" name="Picture 375" descr=""/>
          <p:cNvPicPr/>
          <p:nvPr/>
        </p:nvPicPr>
        <p:blipFill>
          <a:blip r:embed="rId2"/>
          <a:srcRect l="0" t="0" r="720228" b="0"/>
          <a:stretch/>
        </p:blipFill>
        <p:spPr>
          <a:xfrm>
            <a:off x="6084000" y="2116800"/>
            <a:ext cx="5340240" cy="2686320"/>
          </a:xfrm>
          <a:prstGeom prst="rect">
            <a:avLst/>
          </a:prstGeom>
          <a:ln w="0">
            <a:noFill/>
          </a:ln>
        </p:spPr>
      </p:pic>
      <p:pic>
        <p:nvPicPr>
          <p:cNvPr id="409" name="Picture 524" descr=""/>
          <p:cNvPicPr/>
          <p:nvPr/>
        </p:nvPicPr>
        <p:blipFill>
          <a:blip r:embed="rId3"/>
          <a:srcRect l="0" t="0" r="794138" b="0"/>
          <a:stretch/>
        </p:blipFill>
        <p:spPr>
          <a:xfrm>
            <a:off x="6084360" y="2199600"/>
            <a:ext cx="5200920" cy="2687760"/>
          </a:xfrm>
          <a:prstGeom prst="rect">
            <a:avLst/>
          </a:prstGeom>
          <a:ln w="0">
            <a:noFill/>
          </a:ln>
        </p:spPr>
      </p:pic>
      <p:pic>
        <p:nvPicPr>
          <p:cNvPr id="410" name="" descr=""/>
          <p:cNvPicPr/>
          <p:nvPr/>
        </p:nvPicPr>
        <p:blipFill>
          <a:blip r:embed="rId4"/>
          <a:srcRect l="0" t="0" r="643479" b="0"/>
          <a:stretch/>
        </p:blipFill>
        <p:spPr>
          <a:xfrm>
            <a:off x="5937840" y="2198520"/>
            <a:ext cx="5488920" cy="2688840"/>
          </a:xfrm>
          <a:prstGeom prst="rect">
            <a:avLst/>
          </a:prstGeom>
          <a:ln w="0">
            <a:noFill/>
          </a:ln>
        </p:spPr>
      </p:pic>
      <p:pic>
        <p:nvPicPr>
          <p:cNvPr id="411" name="" descr=""/>
          <p:cNvPicPr/>
          <p:nvPr/>
        </p:nvPicPr>
        <p:blipFill>
          <a:blip r:embed="rId5"/>
          <a:srcRect l="0" t="0" r="703403" b="0"/>
          <a:stretch/>
        </p:blipFill>
        <p:spPr>
          <a:xfrm>
            <a:off x="5839560" y="2260800"/>
            <a:ext cx="5376240" cy="2690280"/>
          </a:xfrm>
          <a:prstGeom prst="rect">
            <a:avLst/>
          </a:prstGeom>
          <a:ln w="0">
            <a:noFill/>
          </a:ln>
        </p:spPr>
      </p:pic>
      <p:pic>
        <p:nvPicPr>
          <p:cNvPr id="412" name="" descr=""/>
          <p:cNvPicPr/>
          <p:nvPr/>
        </p:nvPicPr>
        <p:blipFill>
          <a:blip r:embed="rId6"/>
          <a:srcRect l="0" t="0" r="703403" b="0"/>
          <a:stretch/>
        </p:blipFill>
        <p:spPr>
          <a:xfrm>
            <a:off x="6050520" y="2337120"/>
            <a:ext cx="5376600" cy="2690640"/>
          </a:xfrm>
          <a:prstGeom prst="rect">
            <a:avLst/>
          </a:prstGeom>
          <a:ln w="0">
            <a:noFill/>
          </a:ln>
        </p:spPr>
      </p:pic>
      <p:pic>
        <p:nvPicPr>
          <p:cNvPr id="413" name="" descr=""/>
          <p:cNvPicPr/>
          <p:nvPr/>
        </p:nvPicPr>
        <p:blipFill>
          <a:blip r:embed="rId7"/>
          <a:srcRect l="0" t="0" r="726085" b="0"/>
          <a:stretch/>
        </p:blipFill>
        <p:spPr>
          <a:xfrm>
            <a:off x="5990040" y="2414520"/>
            <a:ext cx="5333760" cy="26910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PlaceHolder 9"/>
          <p:cNvSpPr/>
          <p:nvPr/>
        </p:nvSpPr>
        <p:spPr>
          <a:xfrm>
            <a:off x="542880" y="721440"/>
            <a:ext cx="103543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GB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Formal Specification Techniques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5" name="Rectangle 377"/>
          <p:cNvSpPr/>
          <p:nvPr/>
        </p:nvSpPr>
        <p:spPr>
          <a:xfrm>
            <a:off x="542880" y="1266840"/>
            <a:ext cx="103543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de-DE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Coloured Petri Nets – Core Concepts : Flow of Tokens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16" name="Picture 378" descr=""/>
          <p:cNvPicPr/>
          <p:nvPr/>
        </p:nvPicPr>
        <p:blipFill>
          <a:blip r:embed="rId1"/>
          <a:srcRect l="0" t="0" r="793382" b="0"/>
          <a:stretch/>
        </p:blipFill>
        <p:spPr>
          <a:xfrm>
            <a:off x="5715000" y="2057400"/>
            <a:ext cx="5479560" cy="2829960"/>
          </a:xfrm>
          <a:prstGeom prst="rect">
            <a:avLst/>
          </a:prstGeom>
          <a:ln w="0">
            <a:noFill/>
          </a:ln>
        </p:spPr>
      </p:pic>
      <p:sp>
        <p:nvSpPr>
          <p:cNvPr id="417" name="Rectangle 379"/>
          <p:cNvSpPr/>
          <p:nvPr/>
        </p:nvSpPr>
        <p:spPr>
          <a:xfrm>
            <a:off x="7543800" y="5257800"/>
            <a:ext cx="1822320" cy="67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DejaVu Sans Mono"/>
                <a:ea typeface="DejaVu Sans"/>
              </a:rPr>
              <a:t>var a: INT;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DejaVu Sans Mono"/>
                <a:ea typeface="DejaVu Sans"/>
              </a:rPr>
              <a:t>var a2: INT;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8" name="Rectangle 380"/>
          <p:cNvSpPr/>
          <p:nvPr/>
        </p:nvSpPr>
        <p:spPr>
          <a:xfrm>
            <a:off x="539640" y="2286000"/>
            <a:ext cx="5243040" cy="410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When a </a:t>
            </a:r>
            <a:r>
              <a:rPr b="0" lang="en-US" sz="2000" spc="-1" strike="noStrike" u="sng">
                <a:solidFill>
                  <a:srgbClr val="e16173"/>
                </a:solidFill>
                <a:uFillTx/>
                <a:latin typeface="DejaVu Sans"/>
                <a:ea typeface="DejaVu Sans"/>
              </a:rPr>
              <a:t>Transition</a:t>
            </a: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 is fired: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134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Any one suitable </a:t>
            </a:r>
            <a:r>
              <a:rPr b="0" lang="en-US" sz="1800" spc="-1" strike="noStrike" u="sng">
                <a:solidFill>
                  <a:srgbClr val="008c4f"/>
                </a:solidFill>
                <a:uFillTx/>
                <a:latin typeface="DejaVu Sans"/>
                <a:ea typeface="DejaVu Sans"/>
              </a:rPr>
              <a:t>token</a:t>
            </a: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 is consumed from each input </a:t>
            </a:r>
            <a:r>
              <a:rPr b="0" lang="en-US" sz="1800" spc="-1" strike="noStrike" u="sng">
                <a:solidFill>
                  <a:srgbClr val="2a6099"/>
                </a:solidFill>
                <a:uFillTx/>
                <a:latin typeface="DejaVu Sans"/>
                <a:ea typeface="DejaVu Sans"/>
              </a:rPr>
              <a:t>place</a:t>
            </a: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, according to outgoing arc inscriptions.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134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The </a:t>
            </a:r>
            <a:r>
              <a:rPr b="0" lang="en-US" sz="1800" spc="-1" strike="noStrike" u="sng">
                <a:solidFill>
                  <a:srgbClr val="008c4f"/>
                </a:solidFill>
                <a:uFillTx/>
                <a:latin typeface="DejaVu Sans"/>
                <a:ea typeface="DejaVu Sans"/>
              </a:rPr>
              <a:t>tokens</a:t>
            </a: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 are transferred to the output </a:t>
            </a:r>
            <a:r>
              <a:rPr b="0" lang="en-US" sz="1800" spc="-1" strike="noStrike" u="sng">
                <a:solidFill>
                  <a:srgbClr val="2a6099"/>
                </a:solidFill>
                <a:uFillTx/>
                <a:latin typeface="DejaVu Sans"/>
                <a:ea typeface="DejaVu Sans"/>
              </a:rPr>
              <a:t>places</a:t>
            </a: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 according to outgoing arc inscriptions.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1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IMP:</a:t>
            </a: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 Only one transition can be fired at a time.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19" name="Picture 381" descr=""/>
          <p:cNvPicPr/>
          <p:nvPr/>
        </p:nvPicPr>
        <p:blipFill>
          <a:blip r:embed="rId2"/>
          <a:srcRect l="0" t="0" r="720228" b="0"/>
          <a:stretch/>
        </p:blipFill>
        <p:spPr>
          <a:xfrm>
            <a:off x="6084000" y="2116800"/>
            <a:ext cx="5340240" cy="2686320"/>
          </a:xfrm>
          <a:prstGeom prst="rect">
            <a:avLst/>
          </a:prstGeom>
          <a:ln w="0">
            <a:noFill/>
          </a:ln>
        </p:spPr>
      </p:pic>
      <p:pic>
        <p:nvPicPr>
          <p:cNvPr id="420" name="Picture 531" descr=""/>
          <p:cNvPicPr/>
          <p:nvPr/>
        </p:nvPicPr>
        <p:blipFill>
          <a:blip r:embed="rId3"/>
          <a:srcRect l="0" t="0" r="794138" b="0"/>
          <a:stretch/>
        </p:blipFill>
        <p:spPr>
          <a:xfrm>
            <a:off x="6084360" y="2199600"/>
            <a:ext cx="5200920" cy="2687760"/>
          </a:xfrm>
          <a:prstGeom prst="rect">
            <a:avLst/>
          </a:prstGeom>
          <a:ln w="0">
            <a:noFill/>
          </a:ln>
        </p:spPr>
      </p:pic>
      <p:pic>
        <p:nvPicPr>
          <p:cNvPr id="421" name="" descr=""/>
          <p:cNvPicPr/>
          <p:nvPr/>
        </p:nvPicPr>
        <p:blipFill>
          <a:blip r:embed="rId4"/>
          <a:srcRect l="0" t="0" r="643479" b="0"/>
          <a:stretch/>
        </p:blipFill>
        <p:spPr>
          <a:xfrm>
            <a:off x="5937840" y="2198520"/>
            <a:ext cx="5488920" cy="2688840"/>
          </a:xfrm>
          <a:prstGeom prst="rect">
            <a:avLst/>
          </a:prstGeom>
          <a:ln w="0">
            <a:noFill/>
          </a:ln>
        </p:spPr>
      </p:pic>
      <p:pic>
        <p:nvPicPr>
          <p:cNvPr id="422" name="" descr=""/>
          <p:cNvPicPr/>
          <p:nvPr/>
        </p:nvPicPr>
        <p:blipFill>
          <a:blip r:embed="rId5"/>
          <a:srcRect l="0" t="0" r="703403" b="0"/>
          <a:stretch/>
        </p:blipFill>
        <p:spPr>
          <a:xfrm>
            <a:off x="5839560" y="2260800"/>
            <a:ext cx="5376240" cy="2690280"/>
          </a:xfrm>
          <a:prstGeom prst="rect">
            <a:avLst/>
          </a:prstGeom>
          <a:ln w="0">
            <a:noFill/>
          </a:ln>
        </p:spPr>
      </p:pic>
      <p:pic>
        <p:nvPicPr>
          <p:cNvPr id="423" name="" descr=""/>
          <p:cNvPicPr/>
          <p:nvPr/>
        </p:nvPicPr>
        <p:blipFill>
          <a:blip r:embed="rId6"/>
          <a:srcRect l="0" t="0" r="703403" b="0"/>
          <a:stretch/>
        </p:blipFill>
        <p:spPr>
          <a:xfrm>
            <a:off x="6050520" y="2337120"/>
            <a:ext cx="5376600" cy="2690640"/>
          </a:xfrm>
          <a:prstGeom prst="rect">
            <a:avLst/>
          </a:prstGeom>
          <a:ln w="0">
            <a:noFill/>
          </a:ln>
        </p:spPr>
      </p:pic>
      <p:pic>
        <p:nvPicPr>
          <p:cNvPr id="424" name="" descr=""/>
          <p:cNvPicPr/>
          <p:nvPr/>
        </p:nvPicPr>
        <p:blipFill>
          <a:blip r:embed="rId7"/>
          <a:srcRect l="0" t="0" r="726085" b="0"/>
          <a:stretch/>
        </p:blipFill>
        <p:spPr>
          <a:xfrm>
            <a:off x="5990040" y="2414520"/>
            <a:ext cx="5333760" cy="26910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5" name="PlaceHolder 10"/>
          <p:cNvSpPr/>
          <p:nvPr/>
        </p:nvSpPr>
        <p:spPr>
          <a:xfrm>
            <a:off x="542880" y="721440"/>
            <a:ext cx="103543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GB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Formal Specification Techniques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6" name="Rectangle 383"/>
          <p:cNvSpPr/>
          <p:nvPr/>
        </p:nvSpPr>
        <p:spPr>
          <a:xfrm>
            <a:off x="542880" y="1266840"/>
            <a:ext cx="103543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de-DE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Coloured Petri Nets – Core Concepts : Hierarchical CPNs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27" name="Picture 384" descr=""/>
          <p:cNvPicPr/>
          <p:nvPr/>
        </p:nvPicPr>
        <p:blipFill>
          <a:blip r:embed="rId1"/>
          <a:srcRect l="0" t="0" r="793382" b="0"/>
          <a:stretch/>
        </p:blipFill>
        <p:spPr>
          <a:xfrm>
            <a:off x="5715000" y="2057400"/>
            <a:ext cx="5479560" cy="2829960"/>
          </a:xfrm>
          <a:prstGeom prst="rect">
            <a:avLst/>
          </a:prstGeom>
          <a:ln w="0">
            <a:noFill/>
          </a:ln>
        </p:spPr>
      </p:pic>
      <p:sp>
        <p:nvSpPr>
          <p:cNvPr id="428" name="Rectangle 385"/>
          <p:cNvSpPr/>
          <p:nvPr/>
        </p:nvSpPr>
        <p:spPr>
          <a:xfrm>
            <a:off x="7543800" y="5257800"/>
            <a:ext cx="1822320" cy="67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DejaVu Sans Mono"/>
                <a:ea typeface="DejaVu Sans"/>
              </a:rPr>
              <a:t>var a: INT;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DejaVu Sans Mono"/>
                <a:ea typeface="DejaVu Sans"/>
              </a:rPr>
              <a:t>var a2: INT;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29" name="Picture 386" descr=""/>
          <p:cNvPicPr/>
          <p:nvPr/>
        </p:nvPicPr>
        <p:blipFill>
          <a:blip r:embed="rId2"/>
          <a:stretch/>
        </p:blipFill>
        <p:spPr>
          <a:xfrm>
            <a:off x="685800" y="2819880"/>
            <a:ext cx="4539600" cy="1288440"/>
          </a:xfrm>
          <a:prstGeom prst="rect">
            <a:avLst/>
          </a:prstGeom>
          <a:ln w="0">
            <a:noFill/>
          </a:ln>
        </p:spPr>
      </p:pic>
      <p:pic>
        <p:nvPicPr>
          <p:cNvPr id="430" name="Picture 387" descr=""/>
          <p:cNvPicPr/>
          <p:nvPr/>
        </p:nvPicPr>
        <p:blipFill>
          <a:blip r:embed="rId3"/>
          <a:srcRect l="0" t="0" r="720228" b="0"/>
          <a:stretch/>
        </p:blipFill>
        <p:spPr>
          <a:xfrm>
            <a:off x="6084000" y="2116800"/>
            <a:ext cx="5340240" cy="2686320"/>
          </a:xfrm>
          <a:prstGeom prst="rect">
            <a:avLst/>
          </a:prstGeom>
          <a:ln w="0">
            <a:noFill/>
          </a:ln>
        </p:spPr>
      </p:pic>
      <p:pic>
        <p:nvPicPr>
          <p:cNvPr id="431" name="Picture 538" descr=""/>
          <p:cNvPicPr/>
          <p:nvPr/>
        </p:nvPicPr>
        <p:blipFill>
          <a:blip r:embed="rId4"/>
          <a:srcRect l="0" t="0" r="794138" b="0"/>
          <a:stretch/>
        </p:blipFill>
        <p:spPr>
          <a:xfrm>
            <a:off x="6084360" y="2199600"/>
            <a:ext cx="5200920" cy="2687760"/>
          </a:xfrm>
          <a:prstGeom prst="rect">
            <a:avLst/>
          </a:prstGeom>
          <a:ln w="0">
            <a:noFill/>
          </a:ln>
        </p:spPr>
      </p:pic>
      <p:pic>
        <p:nvPicPr>
          <p:cNvPr id="432" name="" descr=""/>
          <p:cNvPicPr/>
          <p:nvPr/>
        </p:nvPicPr>
        <p:blipFill>
          <a:blip r:embed="rId5"/>
          <a:srcRect l="0" t="0" r="643479" b="0"/>
          <a:stretch/>
        </p:blipFill>
        <p:spPr>
          <a:xfrm>
            <a:off x="5937840" y="2198520"/>
            <a:ext cx="5488920" cy="2688840"/>
          </a:xfrm>
          <a:prstGeom prst="rect">
            <a:avLst/>
          </a:prstGeom>
          <a:ln w="0">
            <a:noFill/>
          </a:ln>
        </p:spPr>
      </p:pic>
      <p:pic>
        <p:nvPicPr>
          <p:cNvPr id="433" name="" descr=""/>
          <p:cNvPicPr/>
          <p:nvPr/>
        </p:nvPicPr>
        <p:blipFill>
          <a:blip r:embed="rId6"/>
          <a:srcRect l="0" t="0" r="703403" b="0"/>
          <a:stretch/>
        </p:blipFill>
        <p:spPr>
          <a:xfrm>
            <a:off x="5839560" y="2260800"/>
            <a:ext cx="5376240" cy="2690280"/>
          </a:xfrm>
          <a:prstGeom prst="rect">
            <a:avLst/>
          </a:prstGeom>
          <a:ln w="0">
            <a:noFill/>
          </a:ln>
        </p:spPr>
      </p:pic>
      <p:pic>
        <p:nvPicPr>
          <p:cNvPr id="434" name="" descr=""/>
          <p:cNvPicPr/>
          <p:nvPr/>
        </p:nvPicPr>
        <p:blipFill>
          <a:blip r:embed="rId7"/>
          <a:srcRect l="0" t="0" r="703403" b="0"/>
          <a:stretch/>
        </p:blipFill>
        <p:spPr>
          <a:xfrm>
            <a:off x="6050520" y="2337120"/>
            <a:ext cx="5376600" cy="2690640"/>
          </a:xfrm>
          <a:prstGeom prst="rect">
            <a:avLst/>
          </a:prstGeom>
          <a:ln w="0">
            <a:noFill/>
          </a:ln>
        </p:spPr>
      </p:pic>
      <p:pic>
        <p:nvPicPr>
          <p:cNvPr id="435" name="" descr=""/>
          <p:cNvPicPr/>
          <p:nvPr/>
        </p:nvPicPr>
        <p:blipFill>
          <a:blip r:embed="rId8"/>
          <a:srcRect l="0" t="0" r="726085" b="0"/>
          <a:stretch/>
        </p:blipFill>
        <p:spPr>
          <a:xfrm>
            <a:off x="5990040" y="2414520"/>
            <a:ext cx="5333760" cy="26910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PlaceHolder 12"/>
          <p:cNvSpPr/>
          <p:nvPr/>
        </p:nvSpPr>
        <p:spPr>
          <a:xfrm>
            <a:off x="542880" y="721800"/>
            <a:ext cx="10354680" cy="49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GB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Formal Specification Techniques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7" name="Rectangle 389"/>
          <p:cNvSpPr/>
          <p:nvPr/>
        </p:nvSpPr>
        <p:spPr>
          <a:xfrm>
            <a:off x="542880" y="1267200"/>
            <a:ext cx="10354680" cy="49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de-DE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Coloured Petri Nets – Evaluation using state-space simulations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8" name="HSN-Hierarchy 5"/>
          <p:cNvSpPr/>
          <p:nvPr/>
        </p:nvSpPr>
        <p:spPr>
          <a:xfrm>
            <a:off x="451800" y="1709280"/>
            <a:ext cx="8222040" cy="435024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39" name="HSN-Hierarchy 6"/>
          <p:cNvSpPr/>
          <p:nvPr/>
        </p:nvSpPr>
        <p:spPr>
          <a:xfrm>
            <a:off x="451800" y="1709280"/>
            <a:ext cx="8222040" cy="435024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40" name="HSN-Hierarchy 7"/>
          <p:cNvSpPr/>
          <p:nvPr/>
        </p:nvSpPr>
        <p:spPr>
          <a:xfrm>
            <a:off x="451800" y="1709280"/>
            <a:ext cx="8222040" cy="435024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41" name="HSN-Hierarchy 8"/>
          <p:cNvSpPr/>
          <p:nvPr/>
        </p:nvSpPr>
        <p:spPr>
          <a:xfrm>
            <a:off x="576000" y="1709280"/>
            <a:ext cx="10510560" cy="468648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0" rIns="0" tIns="45000" bIns="45000" anchor="ctr">
            <a:noAutofit/>
          </a:bodyPr>
          <a:p>
            <a:pPr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b="0" lang="de-DE" sz="1800" spc="-1" strike="noStrike" u="sng">
                <a:solidFill>
                  <a:srgbClr val="008c4f"/>
                </a:solidFill>
                <a:uFillTx/>
                <a:latin typeface="DejaVu Sans"/>
                <a:ea typeface="Arial"/>
              </a:rPr>
              <a:t>Basic Idea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Aft>
                <a:spcPts val="601"/>
              </a:spcAft>
              <a:buClr>
                <a:srgbClr val="008c4f"/>
              </a:buClr>
              <a:buSzPct val="80000"/>
              <a:buFont typeface="Wingdings 2" charset="2"/>
              <a:buChar char=""/>
              <a:tabLst>
                <a:tab algn="l" pos="0"/>
              </a:tabLst>
            </a:pPr>
            <a:r>
              <a:rPr b="0" lang="de-DE" sz="1800" spc="-1" strike="noStrike">
                <a:solidFill>
                  <a:srgbClr val="000000"/>
                </a:solidFill>
                <a:latin typeface="DejaVu Sans"/>
                <a:ea typeface="Arial"/>
              </a:rPr>
              <a:t>Compute all the reachable states and the state changes of the CPN model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Aft>
                <a:spcPts val="601"/>
              </a:spcAft>
              <a:buClr>
                <a:srgbClr val="008c4f"/>
              </a:buClr>
              <a:buSzPct val="80000"/>
              <a:buFont typeface="Wingdings 2" charset="2"/>
              <a:buChar char=""/>
              <a:tabLst>
                <a:tab algn="l" pos="0"/>
              </a:tabLst>
            </a:pPr>
            <a:r>
              <a:rPr b="0" lang="de-DE" sz="1800" spc="-1" strike="noStrike">
                <a:solidFill>
                  <a:srgbClr val="000000"/>
                </a:solidFill>
                <a:latin typeface="DejaVu Sans"/>
                <a:ea typeface="Arial"/>
              </a:rPr>
              <a:t>Represent these as a directed graph where nodes represent states and arcs represent occurring events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Aft>
                <a:spcPts val="601"/>
              </a:spcAft>
              <a:buClr>
                <a:srgbClr val="008c4f"/>
              </a:buClr>
              <a:buSzPct val="80000"/>
              <a:buFont typeface="Wingdings 2" charset="2"/>
              <a:buChar char=""/>
              <a:tabLst>
                <a:tab algn="l" pos="0"/>
              </a:tabLst>
            </a:pPr>
            <a:r>
              <a:rPr b="0" lang="de-DE" sz="1800" spc="-1" strike="noStrike" u="sng">
                <a:solidFill>
                  <a:srgbClr val="008c4f"/>
                </a:solidFill>
                <a:uFillTx/>
                <a:latin typeface="DejaVu Sans"/>
                <a:ea typeface="Arial"/>
              </a:rPr>
              <a:t>Pros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Aft>
                <a:spcPts val="601"/>
              </a:spcAft>
              <a:buClr>
                <a:srgbClr val="008c4f"/>
              </a:buClr>
              <a:buSzPct val="80000"/>
              <a:buFont typeface="Wingdings 2" charset="2"/>
              <a:buChar char=""/>
              <a:tabLst>
                <a:tab algn="l" pos="0"/>
              </a:tabLst>
            </a:pPr>
            <a:r>
              <a:rPr b="0" lang="de-DE" sz="1800" spc="-1" strike="noStrike">
                <a:solidFill>
                  <a:srgbClr val="000000"/>
                </a:solidFill>
                <a:latin typeface="DejaVu Sans"/>
                <a:ea typeface="Arial"/>
              </a:rPr>
              <a:t>From a constructed state–space, it is possible to verify various aspects of the behaviour of the system: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Aft>
                <a:spcPts val="601"/>
              </a:spcAft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de-DE" sz="1800" spc="-1" strike="noStrike">
                <a:solidFill>
                  <a:srgbClr val="000000"/>
                </a:solidFill>
                <a:latin typeface="DejaVu Sans"/>
                <a:ea typeface="Arial"/>
              </a:rPr>
              <a:t>Absence of deadlocks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Aft>
                <a:spcPts val="601"/>
              </a:spcAft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de-DE" sz="1800" spc="-1" strike="noStrike">
                <a:solidFill>
                  <a:srgbClr val="000000"/>
                </a:solidFill>
                <a:latin typeface="DejaVu Sans"/>
                <a:ea typeface="Arial"/>
              </a:rPr>
              <a:t>Possibility of always being able to reach a given state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Aft>
                <a:spcPts val="601"/>
              </a:spcAft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de-DE" sz="1800" spc="-1" strike="noStrike">
                <a:solidFill>
                  <a:srgbClr val="000000"/>
                </a:solidFill>
                <a:latin typeface="DejaVu Sans"/>
                <a:ea typeface="Arial"/>
              </a:rPr>
              <a:t>Guaranteed delivery of a given service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Aft>
                <a:spcPts val="601"/>
              </a:spcAft>
              <a:buClr>
                <a:srgbClr val="008c4f"/>
              </a:buClr>
              <a:buSzPct val="80000"/>
              <a:buFont typeface="Wingdings 2" charset="2"/>
              <a:buChar char=""/>
              <a:tabLst>
                <a:tab algn="l" pos="0"/>
              </a:tabLst>
            </a:pPr>
            <a:r>
              <a:rPr b="0" lang="de-DE" sz="1800" spc="-1" strike="noStrike" u="sng">
                <a:solidFill>
                  <a:srgbClr val="008c4f"/>
                </a:solidFill>
                <a:uFillTx/>
                <a:latin typeface="DejaVu Sans"/>
                <a:ea typeface="Arial"/>
              </a:rPr>
              <a:t>Cons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Aft>
                <a:spcPts val="601"/>
              </a:spcAft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de-DE" sz="1800" spc="-1" strike="noStrike">
                <a:solidFill>
                  <a:srgbClr val="000000"/>
                </a:solidFill>
                <a:latin typeface="DejaVu Sans"/>
                <a:ea typeface="Arial"/>
              </a:rPr>
              <a:t>State-space graph size (and computation time) increases exponentially! → requires independent computation in some cases.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2" name="CustomShape 5"/>
          <p:cNvSpPr/>
          <p:nvPr/>
        </p:nvSpPr>
        <p:spPr>
          <a:xfrm>
            <a:off x="263520" y="6411600"/>
            <a:ext cx="1091808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a6a6a6"/>
                </a:solidFill>
                <a:latin typeface="Roboto"/>
                <a:ea typeface="Roboto"/>
              </a:rPr>
              <a:t>K. Jensen et al. (2007) – </a:t>
            </a:r>
            <a:r>
              <a:rPr b="0" lang="en-US" sz="900" spc="-1" strike="noStrike">
                <a:solidFill>
                  <a:srgbClr val="a6a6a6"/>
                </a:solidFill>
                <a:latin typeface="Roboto"/>
                <a:ea typeface="Roboto"/>
              </a:rPr>
              <a:t>Coloured Petri Nets and CPN Tools for modelling and validation of concurrent systems. International Journal on Software Tools for Technology Transfer (9): 213-254. DOI:10.1007/s10009-007-0038-x</a:t>
            </a:r>
            <a:endParaRPr b="0" lang="en-GB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GB" sz="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3" name="PlaceHolder 11"/>
          <p:cNvSpPr/>
          <p:nvPr/>
        </p:nvSpPr>
        <p:spPr>
          <a:xfrm>
            <a:off x="542880" y="721440"/>
            <a:ext cx="103543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GB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Formal Specification Techniques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4" name="Rectangle 395"/>
          <p:cNvSpPr/>
          <p:nvPr/>
        </p:nvSpPr>
        <p:spPr>
          <a:xfrm>
            <a:off x="542880" y="1266840"/>
            <a:ext cx="103543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de-DE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Coloured Petri Nets – CPN Tools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45" name="Picture 396" descr=""/>
          <p:cNvPicPr/>
          <p:nvPr/>
        </p:nvPicPr>
        <p:blipFill>
          <a:blip r:embed="rId1"/>
          <a:stretch/>
        </p:blipFill>
        <p:spPr>
          <a:xfrm>
            <a:off x="7620480" y="2514600"/>
            <a:ext cx="2431440" cy="2431440"/>
          </a:xfrm>
          <a:prstGeom prst="rect">
            <a:avLst/>
          </a:prstGeom>
          <a:ln w="0">
            <a:noFill/>
          </a:ln>
        </p:spPr>
      </p:pic>
      <p:sp>
        <p:nvSpPr>
          <p:cNvPr id="446" name="Rectangle 397"/>
          <p:cNvSpPr/>
          <p:nvPr/>
        </p:nvSpPr>
        <p:spPr>
          <a:xfrm>
            <a:off x="539640" y="2286000"/>
            <a:ext cx="6614640" cy="410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>
              <a:lnSpc>
                <a:spcPct val="100000"/>
              </a:lnSpc>
              <a:spcBef>
                <a:spcPts val="1417"/>
              </a:spcBef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“</a:t>
            </a: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A tool for editing, simulating, and analysing Coloured Petri Nets”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7" name="Rectangle 398"/>
          <p:cNvSpPr/>
          <p:nvPr/>
        </p:nvSpPr>
        <p:spPr>
          <a:xfrm>
            <a:off x="7975800" y="5486400"/>
            <a:ext cx="2508120" cy="349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 u="sng">
                <a:solidFill>
                  <a:srgbClr val="0000ff"/>
                </a:solidFill>
                <a:uFillTx/>
                <a:latin typeface="DejaVu Sans"/>
                <a:ea typeface="DejaVu Sans"/>
                <a:hlinkClick r:id="rId2"/>
              </a:rPr>
              <a:t>cpntools.org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8" name="PlaceHolder 13"/>
          <p:cNvSpPr/>
          <p:nvPr/>
        </p:nvSpPr>
        <p:spPr>
          <a:xfrm>
            <a:off x="542880" y="721440"/>
            <a:ext cx="103543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GB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Formal Specification Techniques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9" name="Rectangle 4"/>
          <p:cNvSpPr/>
          <p:nvPr/>
        </p:nvSpPr>
        <p:spPr>
          <a:xfrm>
            <a:off x="542880" y="1266840"/>
            <a:ext cx="103543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de-DE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Coloured Petri Nets – Live Example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50" name="Picture 1" descr=""/>
          <p:cNvPicPr/>
          <p:nvPr/>
        </p:nvPicPr>
        <p:blipFill>
          <a:blip r:embed="rId1"/>
          <a:stretch/>
        </p:blipFill>
        <p:spPr>
          <a:xfrm>
            <a:off x="7620480" y="2514600"/>
            <a:ext cx="2431440" cy="2431440"/>
          </a:xfrm>
          <a:prstGeom prst="rect">
            <a:avLst/>
          </a:prstGeom>
          <a:ln w="0">
            <a:noFill/>
          </a:ln>
        </p:spPr>
      </p:pic>
      <p:sp>
        <p:nvSpPr>
          <p:cNvPr id="451" name="Rectangle 5"/>
          <p:cNvSpPr/>
          <p:nvPr/>
        </p:nvSpPr>
        <p:spPr>
          <a:xfrm>
            <a:off x="539640" y="2286000"/>
            <a:ext cx="6614640" cy="410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>
              <a:lnSpc>
                <a:spcPct val="100000"/>
              </a:lnSpc>
              <a:spcBef>
                <a:spcPts val="1417"/>
              </a:spcBef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“</a:t>
            </a: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Simulate a program reading a file and then writing to it.”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2" name="Rectangle 7"/>
          <p:cNvSpPr/>
          <p:nvPr/>
        </p:nvSpPr>
        <p:spPr>
          <a:xfrm>
            <a:off x="7975800" y="5486400"/>
            <a:ext cx="2508120" cy="349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 u="sng">
                <a:solidFill>
                  <a:srgbClr val="0000ff"/>
                </a:solidFill>
                <a:uFillTx/>
                <a:latin typeface="DejaVu Sans"/>
                <a:ea typeface="DejaVu Sans"/>
                <a:hlinkClick r:id="rId2"/>
              </a:rPr>
              <a:t>cpntools.org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3" name="PlaceHolder 14"/>
          <p:cNvSpPr/>
          <p:nvPr/>
        </p:nvSpPr>
        <p:spPr>
          <a:xfrm>
            <a:off x="542880" y="721800"/>
            <a:ext cx="10357200" cy="49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GB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Lecture 4: Requirements Documentation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4" name="Rechteck 334"/>
          <p:cNvSpPr/>
          <p:nvPr/>
        </p:nvSpPr>
        <p:spPr>
          <a:xfrm>
            <a:off x="542880" y="1267200"/>
            <a:ext cx="10357200" cy="49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de-DE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Content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5" name="HSN-Hierarchy 26"/>
          <p:cNvSpPr/>
          <p:nvPr/>
        </p:nvSpPr>
        <p:spPr>
          <a:xfrm>
            <a:off x="539640" y="1709280"/>
            <a:ext cx="8224560" cy="435276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0" rIns="0" tIns="45000" bIns="45000" anchor="ctr">
            <a:noAutofit/>
          </a:bodyPr>
          <a:p>
            <a:pPr marL="343080" indent="-343080">
              <a:lnSpc>
                <a:spcPct val="100000"/>
              </a:lnSpc>
              <a:spcAft>
                <a:spcPts val="601"/>
              </a:spcAft>
              <a:buClr>
                <a:srgbClr val="000000"/>
              </a:buClr>
              <a:buFont typeface="StarSymbol"/>
              <a:buAutoNum type="arabicPeriod"/>
              <a:tabLst>
                <a:tab algn="l" pos="0"/>
              </a:tabLst>
            </a:pPr>
            <a:r>
              <a:rPr b="0" lang="en-GB" sz="1800" spc="-1" strike="noStrike">
                <a:solidFill>
                  <a:srgbClr val="000000"/>
                </a:solidFill>
                <a:latin typeface="DejaVu Sans"/>
                <a:ea typeface="Arial"/>
              </a:rPr>
              <a:t>Model-based Requirements Documentation</a:t>
            </a:r>
            <a:r>
              <a:rPr b="0" lang="fr-FR" sz="1800" spc="-1" strike="noStrike">
                <a:solidFill>
                  <a:srgbClr val="000000"/>
                </a:solidFill>
                <a:latin typeface="DejaVu Sans"/>
                <a:ea typeface="Arial"/>
              </a:rPr>
              <a:t> Techniques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>
              <a:lnSpc>
                <a:spcPct val="100000"/>
              </a:lnSpc>
              <a:spcAft>
                <a:spcPts val="601"/>
              </a:spcAft>
              <a:buClr>
                <a:srgbClr val="000000"/>
              </a:buClr>
              <a:buFont typeface="StarSymbol"/>
              <a:buAutoNum type="arabicPeriod"/>
              <a:tabLst>
                <a:tab algn="l" pos="0"/>
              </a:tabLst>
            </a:pPr>
            <a:r>
              <a:rPr b="0" lang="en-GB" sz="1800" spc="-1" strike="noStrike">
                <a:solidFill>
                  <a:srgbClr val="000000"/>
                </a:solidFill>
                <a:latin typeface="DejaVu Sans"/>
                <a:ea typeface="Arial"/>
              </a:rPr>
              <a:t>Formal Specification Techniques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>
              <a:lnSpc>
                <a:spcPct val="100000"/>
              </a:lnSpc>
              <a:spcAft>
                <a:spcPts val="601"/>
              </a:spcAft>
              <a:buClr>
                <a:srgbClr val="000000"/>
              </a:buClr>
              <a:buFont typeface="StarSymbol"/>
              <a:buAutoNum type="arabicPeriod"/>
              <a:tabLst>
                <a:tab algn="l" pos="0"/>
              </a:tabLst>
            </a:pPr>
            <a:r>
              <a:rPr b="0" lang="en-GB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Coloured Petri Nets (CPNs)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>
              <a:lnSpc>
                <a:spcPct val="100000"/>
              </a:lnSpc>
              <a:spcAft>
                <a:spcPts val="601"/>
              </a:spcAft>
              <a:buClr>
                <a:srgbClr val="000000"/>
              </a:buClr>
              <a:buFont typeface="StarSymbol"/>
              <a:buAutoNum type="arabicPeriod"/>
              <a:tabLst>
                <a:tab algn="l" pos="0"/>
              </a:tabLst>
            </a:pPr>
            <a:r>
              <a:rPr b="1" lang="en-GB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AOM → CPN Mapping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>
              <a:lnSpc>
                <a:spcPct val="100000"/>
              </a:lnSpc>
              <a:spcAft>
                <a:spcPts val="601"/>
              </a:spcAft>
              <a:buClr>
                <a:srgbClr val="000000"/>
              </a:buClr>
              <a:buFont typeface="StarSymbol"/>
              <a:buAutoNum type="arabicPeriod"/>
              <a:tabLst>
                <a:tab algn="l" pos="0"/>
              </a:tabLst>
            </a:pPr>
            <a:r>
              <a:rPr b="0" lang="en-GB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Four Variable Model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>
              <a:lnSpc>
                <a:spcPct val="100000"/>
              </a:lnSpc>
              <a:spcAft>
                <a:spcPts val="601"/>
              </a:spcAft>
              <a:buClr>
                <a:srgbClr val="000000"/>
              </a:buClr>
              <a:buFont typeface="StarSymbol"/>
              <a:buAutoNum type="arabicPeriod"/>
              <a:tabLst>
                <a:tab algn="l" pos="0"/>
              </a:tabLst>
            </a:pPr>
            <a:r>
              <a:rPr b="0" lang="en-GB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NRL / SCR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PlaceHolder 2"/>
          <p:cNvSpPr/>
          <p:nvPr/>
        </p:nvSpPr>
        <p:spPr>
          <a:xfrm>
            <a:off x="542880" y="721800"/>
            <a:ext cx="10355040" cy="49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de-DE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AOM → CPN Mapping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7" name="Rectangle 189"/>
          <p:cNvSpPr/>
          <p:nvPr/>
        </p:nvSpPr>
        <p:spPr>
          <a:xfrm>
            <a:off x="542880" y="1267200"/>
            <a:ext cx="10355040" cy="49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de-DE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Motivation and Methodology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8" name="HSN-Hierarchy 2"/>
          <p:cNvSpPr/>
          <p:nvPr/>
        </p:nvSpPr>
        <p:spPr>
          <a:xfrm>
            <a:off x="451800" y="1709280"/>
            <a:ext cx="8222400" cy="435060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59" name="HSN-Hierarchy 1"/>
          <p:cNvSpPr/>
          <p:nvPr/>
        </p:nvSpPr>
        <p:spPr>
          <a:xfrm>
            <a:off x="451800" y="1709280"/>
            <a:ext cx="8222400" cy="435060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60" name="HSN-Hierarchy 4"/>
          <p:cNvSpPr/>
          <p:nvPr/>
        </p:nvSpPr>
        <p:spPr>
          <a:xfrm>
            <a:off x="595800" y="1709280"/>
            <a:ext cx="5342760" cy="435060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0" rIns="0" tIns="45000" bIns="45000" anchor="ctr">
            <a:noAutofit/>
          </a:bodyPr>
          <a:p>
            <a:pPr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Aft>
                <a:spcPts val="601"/>
              </a:spcAft>
              <a:buClr>
                <a:srgbClr val="008c4f"/>
              </a:buClr>
              <a:buSzPct val="80000"/>
              <a:buFont typeface="Wingdings 2" charset="2"/>
              <a:buChar char=""/>
              <a:tabLst>
                <a:tab algn="l" pos="0"/>
              </a:tabLst>
            </a:pPr>
            <a:r>
              <a:rPr b="0" lang="de-DE" sz="2000" spc="-1" strike="noStrike">
                <a:solidFill>
                  <a:srgbClr val="000000"/>
                </a:solidFill>
                <a:latin typeface="DejaVu Sans"/>
                <a:ea typeface="Arial"/>
              </a:rPr>
              <a:t>CPN models are powerful, </a:t>
            </a:r>
            <a:r>
              <a:rPr b="0" i="1" lang="de-DE" sz="2000" spc="-1" strike="noStrike">
                <a:solidFill>
                  <a:srgbClr val="000000"/>
                </a:solidFill>
                <a:latin typeface="DejaVu Sans"/>
                <a:ea typeface="Arial"/>
              </a:rPr>
              <a:t>BUT</a:t>
            </a:r>
            <a:r>
              <a:rPr b="0" lang="de-DE" sz="2000" spc="-1" strike="noStrike">
                <a:solidFill>
                  <a:srgbClr val="000000"/>
                </a:solidFill>
                <a:latin typeface="DejaVu Sans"/>
                <a:ea typeface="Arial"/>
              </a:rPr>
              <a:t> can be arbitrarily complex. Where to start?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Aft>
                <a:spcPts val="601"/>
              </a:spcAft>
              <a:buClr>
                <a:srgbClr val="008c4f"/>
              </a:buClr>
              <a:buSzPct val="80000"/>
              <a:buFont typeface="Wingdings 2" charset="2"/>
              <a:buChar char=""/>
              <a:tabLst>
                <a:tab algn="l" pos="0"/>
              </a:tabLst>
            </a:pPr>
            <a:r>
              <a:rPr b="0" lang="de-DE" sz="2000" spc="-1" strike="noStrike">
                <a:solidFill>
                  <a:srgbClr val="000000"/>
                </a:solidFill>
                <a:latin typeface="DejaVu Sans"/>
                <a:ea typeface="Arial"/>
              </a:rPr>
              <a:t>It is important to ensure inter-model consistancy.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Aft>
                <a:spcPts val="601"/>
              </a:spcAft>
              <a:buClr>
                <a:srgbClr val="008c4f"/>
              </a:buClr>
              <a:buSzPct val="80000"/>
              <a:buFont typeface="Wingdings 2" charset="2"/>
              <a:buChar char=""/>
              <a:tabLst>
                <a:tab algn="l" pos="0"/>
              </a:tabLst>
            </a:pPr>
            <a:r>
              <a:rPr b="0" lang="de-DE" sz="2000" spc="-1" strike="noStrike">
                <a:solidFill>
                  <a:srgbClr val="000000"/>
                </a:solidFill>
                <a:latin typeface="DejaVu Sans"/>
                <a:ea typeface="Arial"/>
              </a:rPr>
              <a:t>Mapping AOM → CPN models leverages the advantages of both, and also creates a feedback loop using the simulation and evaluation capabilities of CPNs.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1" name="HSN-Hierarchy 3"/>
          <p:cNvSpPr/>
          <p:nvPr/>
        </p:nvSpPr>
        <p:spPr>
          <a:xfrm>
            <a:off x="5959800" y="1709280"/>
            <a:ext cx="5342760" cy="435060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0" rIns="0" tIns="45000" bIns="45000" anchor="ctr">
            <a:noAutofit/>
          </a:bodyPr>
          <a:p>
            <a:pPr marL="216000" indent="-216000">
              <a:lnSpc>
                <a:spcPct val="100000"/>
              </a:lnSpc>
              <a:spcAft>
                <a:spcPts val="601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i="1" lang="de-DE" sz="1800" spc="-1" strike="noStrike">
                <a:solidFill>
                  <a:srgbClr val="000000"/>
                </a:solidFill>
                <a:latin typeface="DejaVu Sans"/>
                <a:ea typeface="Arial"/>
              </a:rPr>
              <a:t>Heuristics for Designing and Evaluating Socio-Technical Agent-Oriented Behaviour Models with Coloured Petri Nets (2014). </a:t>
            </a:r>
            <a:r>
              <a:rPr b="0" lang="de-DE" sz="1800" spc="-1" strike="noStrike">
                <a:solidFill>
                  <a:srgbClr val="000000"/>
                </a:solidFill>
                <a:latin typeface="DejaVu Sans"/>
                <a:ea typeface="Arial"/>
              </a:rPr>
              <a:t>Msury Mahunnah, Alex Norta, Lixin Ma, Kuldar Taveter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2" name="Freeform: Shape 194"/>
          <p:cNvSpPr/>
          <p:nvPr/>
        </p:nvSpPr>
        <p:spPr>
          <a:xfrm>
            <a:off x="5594400" y="3537000"/>
            <a:ext cx="452160" cy="223560"/>
          </a:xfrm>
          <a:custGeom>
            <a:avLst/>
            <a:gdLst>
              <a:gd name="textAreaLeft" fmla="*/ 0 w 452160"/>
              <a:gd name="textAreaRight" fmla="*/ 455040 w 452160"/>
              <a:gd name="textAreaTop" fmla="*/ 0 h 223560"/>
              <a:gd name="textAreaBottom" fmla="*/ 226440 h 223560"/>
            </a:gdLst>
            <a:ahLst/>
            <a:rect l="textAreaLeft" t="textAreaTop" r="textAreaRight" b="textAreaBottom"/>
            <a:pathLst>
              <a:path w="1272" h="637">
                <a:moveTo>
                  <a:pt x="0" y="159"/>
                </a:moveTo>
                <a:lnTo>
                  <a:pt x="953" y="159"/>
                </a:lnTo>
                <a:lnTo>
                  <a:pt x="953" y="0"/>
                </a:lnTo>
                <a:lnTo>
                  <a:pt x="1271" y="318"/>
                </a:lnTo>
                <a:lnTo>
                  <a:pt x="953" y="636"/>
                </a:lnTo>
                <a:lnTo>
                  <a:pt x="953" y="477"/>
                </a:lnTo>
                <a:lnTo>
                  <a:pt x="0" y="477"/>
                </a:lnTo>
                <a:lnTo>
                  <a:pt x="0" y="159"/>
                </a:lnTo>
              </a:path>
            </a:pathLst>
          </a:custGeom>
          <a:solidFill>
            <a:srgbClr val="00a933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63" name="CustomShape 5"/>
          <p:cNvSpPr/>
          <p:nvPr/>
        </p:nvSpPr>
        <p:spPr>
          <a:xfrm>
            <a:off x="263520" y="6411600"/>
            <a:ext cx="1091808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a6a6a6"/>
                </a:solidFill>
                <a:latin typeface="Roboto"/>
                <a:ea typeface="Roboto"/>
              </a:rPr>
              <a:t>M. Mahunnah et al. (2014) – </a:t>
            </a:r>
            <a:r>
              <a:rPr b="0" lang="en-US" sz="900" spc="-1" strike="noStrike">
                <a:solidFill>
                  <a:srgbClr val="a6a6a6"/>
                </a:solidFill>
                <a:latin typeface="Roboto"/>
                <a:ea typeface="Roboto"/>
              </a:rPr>
              <a:t>Heuristics for Designing and Evaluating Socio-technical Agent-Oriented Behaviour Models with Coloured Petri Nets. IEEE 38th International Computer Software and Applications Conference Workshops (2014): 438-443. https://doi.org/10.1109/COMPSACW.2014.74 </a:t>
            </a:r>
            <a:endParaRPr b="0" lang="en-GB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GB" sz="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4" name="PlaceHolder 3"/>
          <p:cNvSpPr/>
          <p:nvPr/>
        </p:nvSpPr>
        <p:spPr>
          <a:xfrm>
            <a:off x="542880" y="721800"/>
            <a:ext cx="10355040" cy="49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de-DE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AOM → CPN Mapping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5" name="Rectangle 196"/>
          <p:cNvSpPr/>
          <p:nvPr/>
        </p:nvSpPr>
        <p:spPr>
          <a:xfrm>
            <a:off x="542880" y="1267200"/>
            <a:ext cx="10355040" cy="49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de-DE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Mapping Methodology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6" name="HSN-Hierarchy 5"/>
          <p:cNvSpPr/>
          <p:nvPr/>
        </p:nvSpPr>
        <p:spPr>
          <a:xfrm>
            <a:off x="451800" y="1709280"/>
            <a:ext cx="8222400" cy="435060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67" name="HSN-Hierarchy 6"/>
          <p:cNvSpPr/>
          <p:nvPr/>
        </p:nvSpPr>
        <p:spPr>
          <a:xfrm>
            <a:off x="451800" y="1709280"/>
            <a:ext cx="8222400" cy="435060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68" name="HSN-Hierarchy 7"/>
          <p:cNvSpPr/>
          <p:nvPr/>
        </p:nvSpPr>
        <p:spPr>
          <a:xfrm>
            <a:off x="451800" y="1709280"/>
            <a:ext cx="8222400" cy="435060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graphicFrame>
        <p:nvGraphicFramePr>
          <p:cNvPr id="469" name="Table 200"/>
          <p:cNvGraphicFramePr/>
          <p:nvPr/>
        </p:nvGraphicFramePr>
        <p:xfrm>
          <a:off x="579600" y="1841400"/>
          <a:ext cx="5075280" cy="4082760"/>
        </p:xfrm>
        <a:graphic>
          <a:graphicData uri="http://schemas.openxmlformats.org/drawingml/2006/table">
            <a:tbl>
              <a:tblPr/>
              <a:tblGrid>
                <a:gridCol w="2537640"/>
                <a:gridCol w="2538000"/>
              </a:tblGrid>
              <a:tr h="328680"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US" sz="16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Notation</a:t>
                      </a:r>
                      <a:endParaRPr b="0" lang="en-GB" sz="1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b3b3b3"/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US" sz="16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Name</a:t>
                      </a:r>
                      <a:endParaRPr b="0" lang="en-GB" sz="1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b3b3b3"/>
                    </a:solidFill>
                  </a:tcPr>
                </a:tc>
              </a:tr>
              <a:tr h="551160"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6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Connecting arc</a:t>
                      </a:r>
                      <a:endParaRPr b="0" lang="en-GB" sz="1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</a:tr>
              <a:tr h="638640"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6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Sub-goal or activity</a:t>
                      </a:r>
                      <a:endParaRPr b="0" lang="en-GB" sz="1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</a:tr>
              <a:tr h="719640"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6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Trigger/ precondition</a:t>
                      </a:r>
                      <a:endParaRPr b="0" lang="en-GB" sz="1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</a:tr>
              <a:tr h="719640"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6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Postcondition</a:t>
                      </a:r>
                      <a:endParaRPr b="0" lang="en-GB" sz="1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</a:tr>
              <a:tr h="719640"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6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Goal</a:t>
                      </a:r>
                      <a:endParaRPr b="0" lang="en-GB" sz="1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</a:tr>
              <a:tr h="405360"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600" spc="-1" strike="noStrike">
                          <a:solidFill>
                            <a:srgbClr val="000000"/>
                          </a:solidFill>
                          <a:latin typeface="DejaVu Sans Mono"/>
                          <a:ea typeface="DejaVu Sans"/>
                        </a:rPr>
                        <a:t>[&lt;condition(s)&gt;]</a:t>
                      </a:r>
                      <a:endParaRPr b="0" lang="en-GB" sz="1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6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Precondition(s)</a:t>
                      </a:r>
                      <a:endParaRPr b="0" lang="en-GB" sz="1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</a:tr>
            </a:tbl>
          </a:graphicData>
        </a:graphic>
      </p:graphicFrame>
      <p:sp>
        <p:nvSpPr>
          <p:cNvPr id="470" name="Straight Connector 201"/>
          <p:cNvSpPr/>
          <p:nvPr/>
        </p:nvSpPr>
        <p:spPr>
          <a:xfrm>
            <a:off x="1130400" y="2514600"/>
            <a:ext cx="1600200" cy="360"/>
          </a:xfrm>
          <a:prstGeom prst="line">
            <a:avLst/>
          </a:prstGeom>
          <a:ln w="0">
            <a:solidFill>
              <a:srgbClr val="000000"/>
            </a:solidFill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0" bIns="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71" name="Rectangle 202"/>
          <p:cNvSpPr/>
          <p:nvPr/>
        </p:nvSpPr>
        <p:spPr>
          <a:xfrm>
            <a:off x="1130400" y="2827800"/>
            <a:ext cx="1594800" cy="451800"/>
          </a:xfrm>
          <a:prstGeom prst="rect">
            <a:avLst/>
          </a:prstGeom>
          <a:solidFill>
            <a:srgbClr val="ffffff"/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72" name="Oval 203"/>
          <p:cNvSpPr/>
          <p:nvPr/>
        </p:nvSpPr>
        <p:spPr>
          <a:xfrm>
            <a:off x="1107000" y="3477600"/>
            <a:ext cx="909000" cy="451800"/>
          </a:xfrm>
          <a:prstGeom prst="ellipse">
            <a:avLst/>
          </a:prstGeom>
          <a:solidFill>
            <a:srgbClr val="ffffff"/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73" name="Straight Connector 204"/>
          <p:cNvSpPr/>
          <p:nvPr/>
        </p:nvSpPr>
        <p:spPr>
          <a:xfrm>
            <a:off x="2021400" y="3706200"/>
            <a:ext cx="757800" cy="360"/>
          </a:xfrm>
          <a:prstGeom prst="line">
            <a:avLst/>
          </a:prstGeom>
          <a:ln w="0">
            <a:solidFill>
              <a:srgbClr val="000000"/>
            </a:solidFill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0" bIns="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74" name="Oval 205"/>
          <p:cNvSpPr/>
          <p:nvPr/>
        </p:nvSpPr>
        <p:spPr>
          <a:xfrm>
            <a:off x="1863000" y="4197960"/>
            <a:ext cx="909000" cy="451800"/>
          </a:xfrm>
          <a:prstGeom prst="ellipse">
            <a:avLst/>
          </a:prstGeom>
          <a:solidFill>
            <a:srgbClr val="ffffff"/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75" name="Straight Connector 206"/>
          <p:cNvSpPr/>
          <p:nvPr/>
        </p:nvSpPr>
        <p:spPr>
          <a:xfrm>
            <a:off x="1121400" y="4426560"/>
            <a:ext cx="757800" cy="360"/>
          </a:xfrm>
          <a:prstGeom prst="line">
            <a:avLst/>
          </a:prstGeom>
          <a:ln w="0">
            <a:solidFill>
              <a:srgbClr val="000000"/>
            </a:solidFill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0" bIns="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grpSp>
        <p:nvGrpSpPr>
          <p:cNvPr id="476" name="Group 207"/>
          <p:cNvGrpSpPr/>
          <p:nvPr/>
        </p:nvGrpSpPr>
        <p:grpSpPr>
          <a:xfrm>
            <a:off x="1058400" y="4915800"/>
            <a:ext cx="1679400" cy="505800"/>
            <a:chOff x="1058400" y="4915800"/>
            <a:chExt cx="1679400" cy="505800"/>
          </a:xfrm>
        </p:grpSpPr>
        <p:sp>
          <p:nvSpPr>
            <p:cNvPr id="477" name="Rectangle 208"/>
            <p:cNvSpPr/>
            <p:nvPr/>
          </p:nvSpPr>
          <p:spPr>
            <a:xfrm>
              <a:off x="1058400" y="4915800"/>
              <a:ext cx="1679400" cy="505800"/>
            </a:xfrm>
            <a:prstGeom prst="rect">
              <a:avLst/>
            </a:prstGeom>
            <a:solidFill>
              <a:srgbClr val="ffffff"/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  <a:ea typeface="DejaVu Sans"/>
              </a:endParaRPr>
            </a:p>
          </p:txBody>
        </p:sp>
        <p:sp>
          <p:nvSpPr>
            <p:cNvPr id="478" name="Rectangle 209"/>
            <p:cNvSpPr/>
            <p:nvPr/>
          </p:nvSpPr>
          <p:spPr>
            <a:xfrm>
              <a:off x="1094400" y="4951800"/>
              <a:ext cx="1594800" cy="433440"/>
            </a:xfrm>
            <a:prstGeom prst="rect">
              <a:avLst/>
            </a:prstGeom>
            <a:solidFill>
              <a:srgbClr val="ffffff"/>
            </a:solidFill>
            <a:ln w="0">
              <a:solidFill>
                <a:srgbClr val="000000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  <a:ea typeface="DejaVu Sans"/>
              </a:endParaRPr>
            </a:p>
          </p:txBody>
        </p:sp>
      </p:grpSp>
      <p:sp>
        <p:nvSpPr>
          <p:cNvPr id="479" name="Oval 210"/>
          <p:cNvSpPr/>
          <p:nvPr/>
        </p:nvSpPr>
        <p:spPr>
          <a:xfrm>
            <a:off x="8458200" y="2273400"/>
            <a:ext cx="1823400" cy="680400"/>
          </a:xfrm>
          <a:prstGeom prst="ellipse">
            <a:avLst/>
          </a:prstGeom>
          <a:solidFill>
            <a:srgbClr val="ffffff"/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Trigger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0" name="Oval 211"/>
          <p:cNvSpPr/>
          <p:nvPr/>
        </p:nvSpPr>
        <p:spPr>
          <a:xfrm>
            <a:off x="6298560" y="3353400"/>
            <a:ext cx="1823400" cy="680400"/>
          </a:xfrm>
          <a:prstGeom prst="ellipse">
            <a:avLst/>
          </a:prstGeom>
          <a:solidFill>
            <a:srgbClr val="ffffff"/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000000"/>
                </a:solidFill>
                <a:latin typeface="DejaVu Sans"/>
                <a:ea typeface="DejaVu Sans"/>
              </a:rPr>
              <a:t>Precondition</a:t>
            </a:r>
            <a:endParaRPr b="0" lang="en-GB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1" name="Oval 212"/>
          <p:cNvSpPr/>
          <p:nvPr/>
        </p:nvSpPr>
        <p:spPr>
          <a:xfrm>
            <a:off x="8458920" y="4433400"/>
            <a:ext cx="1823400" cy="680400"/>
          </a:xfrm>
          <a:prstGeom prst="ellipse">
            <a:avLst/>
          </a:prstGeom>
          <a:solidFill>
            <a:srgbClr val="ffffff"/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000000"/>
                </a:solidFill>
                <a:latin typeface="DejaVu Sans"/>
                <a:ea typeface="DejaVu Sans"/>
              </a:rPr>
              <a:t>Postcondition</a:t>
            </a:r>
            <a:endParaRPr b="0" lang="en-GB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2" name="Rectangle 213"/>
          <p:cNvSpPr/>
          <p:nvPr/>
        </p:nvSpPr>
        <p:spPr>
          <a:xfrm>
            <a:off x="8582400" y="3439800"/>
            <a:ext cx="1807200" cy="451800"/>
          </a:xfrm>
          <a:prstGeom prst="rect">
            <a:avLst/>
          </a:prstGeom>
          <a:solidFill>
            <a:srgbClr val="ffffff"/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Activity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3" name="Straight Connector 214"/>
          <p:cNvSpPr/>
          <p:nvPr/>
        </p:nvSpPr>
        <p:spPr>
          <a:xfrm>
            <a:off x="9372600" y="2959200"/>
            <a:ext cx="360" cy="457200"/>
          </a:xfrm>
          <a:prstGeom prst="line">
            <a:avLst/>
          </a:prstGeom>
          <a:ln w="0">
            <a:solidFill>
              <a:srgbClr val="000000"/>
            </a:solidFill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228600" bIns="2286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84" name="Straight Connector 215"/>
          <p:cNvSpPr/>
          <p:nvPr/>
        </p:nvSpPr>
        <p:spPr>
          <a:xfrm>
            <a:off x="8127360" y="3681000"/>
            <a:ext cx="455040" cy="360"/>
          </a:xfrm>
          <a:prstGeom prst="line">
            <a:avLst/>
          </a:prstGeom>
          <a:ln w="0">
            <a:solidFill>
              <a:srgbClr val="000000"/>
            </a:solidFill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0" bIns="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85" name="Straight Connector 216"/>
          <p:cNvSpPr/>
          <p:nvPr/>
        </p:nvSpPr>
        <p:spPr>
          <a:xfrm>
            <a:off x="9372600" y="3897000"/>
            <a:ext cx="360" cy="536400"/>
          </a:xfrm>
          <a:prstGeom prst="line">
            <a:avLst/>
          </a:prstGeom>
          <a:ln w="0">
            <a:solidFill>
              <a:srgbClr val="000000"/>
            </a:solidFill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268200" bIns="2682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86" name="CustomShape 5"/>
          <p:cNvSpPr/>
          <p:nvPr/>
        </p:nvSpPr>
        <p:spPr>
          <a:xfrm>
            <a:off x="263520" y="6411600"/>
            <a:ext cx="1091808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a6a6a6"/>
                </a:solidFill>
                <a:latin typeface="Roboto"/>
                <a:ea typeface="Roboto"/>
              </a:rPr>
              <a:t>Adapted from M. Mahunnah et al. (2014) – </a:t>
            </a:r>
            <a:r>
              <a:rPr b="0" lang="en-US" sz="900" spc="-1" strike="noStrike">
                <a:solidFill>
                  <a:srgbClr val="a6a6a6"/>
                </a:solidFill>
                <a:latin typeface="Roboto"/>
                <a:ea typeface="Roboto"/>
              </a:rPr>
              <a:t>Heuristics for Designing and Evaluating Socio-technical Agent-Oriented Behaviour Models with Coloured Petri Nets. IEEE 38th International Computer Software and Applications Conference Workshops (2014): 438-443. https://doi.org/10.1109/COMPSACW.2014.74 </a:t>
            </a:r>
            <a:endParaRPr b="0" lang="en-GB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GB" sz="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7" name="PlaceHolder 4"/>
          <p:cNvSpPr/>
          <p:nvPr/>
        </p:nvSpPr>
        <p:spPr>
          <a:xfrm>
            <a:off x="542880" y="721800"/>
            <a:ext cx="10355040" cy="49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de-DE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AOM → CPN Mapping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8" name="Rectangle 219"/>
          <p:cNvSpPr/>
          <p:nvPr/>
        </p:nvSpPr>
        <p:spPr>
          <a:xfrm>
            <a:off x="542880" y="1267200"/>
            <a:ext cx="10355040" cy="49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de-DE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Example: Automated EV Charging Station (Manage Charging)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9" name="HSN-Hierarchy 8"/>
          <p:cNvSpPr/>
          <p:nvPr/>
        </p:nvSpPr>
        <p:spPr>
          <a:xfrm>
            <a:off x="451800" y="1709280"/>
            <a:ext cx="8222400" cy="435060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90" name="HSN-Hierarchy 9"/>
          <p:cNvSpPr/>
          <p:nvPr/>
        </p:nvSpPr>
        <p:spPr>
          <a:xfrm>
            <a:off x="451800" y="1709280"/>
            <a:ext cx="8222400" cy="435060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91" name="HSN-Hierarchy 10"/>
          <p:cNvSpPr/>
          <p:nvPr/>
        </p:nvSpPr>
        <p:spPr>
          <a:xfrm>
            <a:off x="451800" y="1709280"/>
            <a:ext cx="8222400" cy="435060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492" name="Picture 223" descr=""/>
          <p:cNvPicPr/>
          <p:nvPr/>
        </p:nvPicPr>
        <p:blipFill>
          <a:blip r:embed="rId1"/>
          <a:stretch/>
        </p:blipFill>
        <p:spPr>
          <a:xfrm>
            <a:off x="6154560" y="3464640"/>
            <a:ext cx="0" cy="0"/>
          </a:xfrm>
          <a:prstGeom prst="rect">
            <a:avLst/>
          </a:prstGeom>
          <a:ln w="0">
            <a:noFill/>
          </a:ln>
        </p:spPr>
      </p:pic>
      <p:pic>
        <p:nvPicPr>
          <p:cNvPr id="493" name="Picture 224" descr=""/>
          <p:cNvPicPr/>
          <p:nvPr/>
        </p:nvPicPr>
        <p:blipFill>
          <a:blip r:embed="rId2"/>
          <a:stretch/>
        </p:blipFill>
        <p:spPr>
          <a:xfrm>
            <a:off x="1792800" y="2299680"/>
            <a:ext cx="7062120" cy="34045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4" name="PlaceHolder 5"/>
          <p:cNvSpPr/>
          <p:nvPr/>
        </p:nvSpPr>
        <p:spPr>
          <a:xfrm>
            <a:off x="542880" y="721800"/>
            <a:ext cx="10355040" cy="49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de-DE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AOM → CPN Mapping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5" name="Rectangle 226"/>
          <p:cNvSpPr/>
          <p:nvPr/>
        </p:nvSpPr>
        <p:spPr>
          <a:xfrm>
            <a:off x="542880" y="1267200"/>
            <a:ext cx="10355040" cy="49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de-DE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Example: Automated EV Charging Station (Manage Charging)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6" name="HSN-Hierarchy 11"/>
          <p:cNvSpPr/>
          <p:nvPr/>
        </p:nvSpPr>
        <p:spPr>
          <a:xfrm>
            <a:off x="451800" y="1709280"/>
            <a:ext cx="8222400" cy="435060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97" name="HSN-Hierarchy 12"/>
          <p:cNvSpPr/>
          <p:nvPr/>
        </p:nvSpPr>
        <p:spPr>
          <a:xfrm>
            <a:off x="451800" y="1709280"/>
            <a:ext cx="8222400" cy="435060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98" name="HSN-Hierarchy 13"/>
          <p:cNvSpPr/>
          <p:nvPr/>
        </p:nvSpPr>
        <p:spPr>
          <a:xfrm>
            <a:off x="451800" y="1709280"/>
            <a:ext cx="8222400" cy="435060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graphicFrame>
        <p:nvGraphicFramePr>
          <p:cNvPr id="499" name="Table 230"/>
          <p:cNvGraphicFramePr/>
          <p:nvPr/>
        </p:nvGraphicFramePr>
        <p:xfrm>
          <a:off x="459720" y="1887120"/>
          <a:ext cx="10643040" cy="4305240"/>
        </p:xfrm>
        <a:graphic>
          <a:graphicData uri="http://schemas.openxmlformats.org/drawingml/2006/table">
            <a:tbl>
              <a:tblPr/>
              <a:tblGrid>
                <a:gridCol w="2431440"/>
                <a:gridCol w="1685160"/>
                <a:gridCol w="4015440"/>
                <a:gridCol w="2511360"/>
              </a:tblGrid>
              <a:tr h="487440"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US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Activity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b3b3b3"/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US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Trigger(s)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b3b3b3"/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US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Precondition(s)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b3b3b3"/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US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Postcondition(s)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b3b3b3"/>
                    </a:solidFill>
                  </a:tcPr>
                </a:tc>
              </a:tr>
              <a:tr h="797400"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Reserve Charging Port(CP)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Driver wants to charge EV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Driver has bought energy, CP is free, EV is ready to charge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Driver has reserved CP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</a:tr>
              <a:tr h="533160"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Charge EV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spcBef>
                          <a:spcPts val="145"/>
                        </a:spcBef>
                      </a:pPr>
                      <a:r>
                        <a:rPr b="0" lang="zh-CN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〃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Driver has reserved CP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Driver has charged EV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</a:tr>
              <a:tr h="797400"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Agree on charging speed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spcBef>
                          <a:spcPts val="145"/>
                        </a:spcBef>
                      </a:pPr>
                      <a:r>
                        <a:rPr b="0" lang="zh-CN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〃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Driver has reserved CP,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Max CP speed ≥ Min EV speed,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DejaVu Sans"/>
                          <a:ea typeface="Droid Sans Fallback"/>
                        </a:rPr>
                        <a:t>Max EV speed ≥ Min CP speed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Charging speed is agreed upon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</a:tr>
              <a:tr h="216000"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Begin Charging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spcBef>
                          <a:spcPts val="145"/>
                        </a:spcBef>
                      </a:pPr>
                      <a:r>
                        <a:rPr b="0" lang="zh-CN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〃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Charging speed is agreed upon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EV has begun charging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</a:tr>
              <a:tr h="216000"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End Charging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spcBef>
                          <a:spcPts val="145"/>
                        </a:spcBef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None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EV has competed charging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Driver has charged EV,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CP is free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0" name="PlaceHolder 6"/>
          <p:cNvSpPr/>
          <p:nvPr/>
        </p:nvSpPr>
        <p:spPr>
          <a:xfrm>
            <a:off x="542880" y="721800"/>
            <a:ext cx="10355040" cy="49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de-DE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AOM → CPN Mapping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1" name="Rectangle 232"/>
          <p:cNvSpPr/>
          <p:nvPr/>
        </p:nvSpPr>
        <p:spPr>
          <a:xfrm>
            <a:off x="542880" y="1267200"/>
            <a:ext cx="10355040" cy="49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de-DE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Example: Automated EV Charging Station (Manage Charging)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2" name="HSN-Hierarchy 14"/>
          <p:cNvSpPr/>
          <p:nvPr/>
        </p:nvSpPr>
        <p:spPr>
          <a:xfrm>
            <a:off x="451800" y="1709280"/>
            <a:ext cx="8222400" cy="435060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503" name="HSN-Hierarchy 15"/>
          <p:cNvSpPr/>
          <p:nvPr/>
        </p:nvSpPr>
        <p:spPr>
          <a:xfrm>
            <a:off x="451800" y="1709280"/>
            <a:ext cx="8222400" cy="435060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504" name="HSN-Hierarchy 16"/>
          <p:cNvSpPr/>
          <p:nvPr/>
        </p:nvSpPr>
        <p:spPr>
          <a:xfrm>
            <a:off x="451800" y="1709280"/>
            <a:ext cx="8222400" cy="435060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505" name="Picture 236" descr=""/>
          <p:cNvPicPr/>
          <p:nvPr/>
        </p:nvPicPr>
        <p:blipFill>
          <a:blip r:embed="rId1"/>
          <a:stretch/>
        </p:blipFill>
        <p:spPr>
          <a:xfrm>
            <a:off x="531000" y="1808640"/>
            <a:ext cx="10208160" cy="47318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6" name="PlaceHolder 7"/>
          <p:cNvSpPr/>
          <p:nvPr/>
        </p:nvSpPr>
        <p:spPr>
          <a:xfrm>
            <a:off x="542880" y="721800"/>
            <a:ext cx="10355040" cy="49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de-DE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AOM → CPN Mapping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7" name="Rectangle 238"/>
          <p:cNvSpPr/>
          <p:nvPr/>
        </p:nvSpPr>
        <p:spPr>
          <a:xfrm>
            <a:off x="542880" y="1267200"/>
            <a:ext cx="10355040" cy="49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de-DE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Example: Automated EV Charging Station (Charge EV)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8" name="HSN-Hierarchy 17"/>
          <p:cNvSpPr/>
          <p:nvPr/>
        </p:nvSpPr>
        <p:spPr>
          <a:xfrm>
            <a:off x="451800" y="1709280"/>
            <a:ext cx="8222400" cy="435060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509" name="HSN-Hierarchy 18"/>
          <p:cNvSpPr/>
          <p:nvPr/>
        </p:nvSpPr>
        <p:spPr>
          <a:xfrm>
            <a:off x="451800" y="1709280"/>
            <a:ext cx="8222400" cy="435060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510" name="HSN-Hierarchy 19"/>
          <p:cNvSpPr/>
          <p:nvPr/>
        </p:nvSpPr>
        <p:spPr>
          <a:xfrm>
            <a:off x="451800" y="1709280"/>
            <a:ext cx="8222400" cy="435060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511" name="Picture 242" descr=""/>
          <p:cNvPicPr/>
          <p:nvPr/>
        </p:nvPicPr>
        <p:blipFill>
          <a:blip r:embed="rId1"/>
          <a:stretch/>
        </p:blipFill>
        <p:spPr>
          <a:xfrm>
            <a:off x="490680" y="2017440"/>
            <a:ext cx="10909080" cy="35179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" name="PlaceHolder 22"/>
          <p:cNvSpPr/>
          <p:nvPr/>
        </p:nvSpPr>
        <p:spPr>
          <a:xfrm>
            <a:off x="542880" y="721800"/>
            <a:ext cx="10354680" cy="49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de-DE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AOM → CPN Mapping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3" name="Rectangle 3"/>
          <p:cNvSpPr/>
          <p:nvPr/>
        </p:nvSpPr>
        <p:spPr>
          <a:xfrm>
            <a:off x="542880" y="1267200"/>
            <a:ext cx="10354680" cy="49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de-DE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State-space Simulations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4" name="HSN-Hierarchy 20"/>
          <p:cNvSpPr/>
          <p:nvPr/>
        </p:nvSpPr>
        <p:spPr>
          <a:xfrm>
            <a:off x="451800" y="1709280"/>
            <a:ext cx="8222040" cy="435024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515" name="HSN-Hierarchy 25"/>
          <p:cNvSpPr/>
          <p:nvPr/>
        </p:nvSpPr>
        <p:spPr>
          <a:xfrm>
            <a:off x="451800" y="1709280"/>
            <a:ext cx="8222040" cy="435024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516" name="HSN-Hierarchy 27"/>
          <p:cNvSpPr/>
          <p:nvPr/>
        </p:nvSpPr>
        <p:spPr>
          <a:xfrm>
            <a:off x="451800" y="1709280"/>
            <a:ext cx="8222040" cy="435024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517" name="HSN-Hierarchy 28"/>
          <p:cNvSpPr/>
          <p:nvPr/>
        </p:nvSpPr>
        <p:spPr>
          <a:xfrm>
            <a:off x="576000" y="1709280"/>
            <a:ext cx="10510560" cy="468648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0" rIns="0" tIns="45000" bIns="45000" anchor="ctr">
            <a:noAutofit/>
          </a:bodyPr>
          <a:p>
            <a:pPr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b="0" lang="de-DE" sz="1800" spc="-1" strike="noStrike" u="sng">
                <a:solidFill>
                  <a:srgbClr val="008c4f"/>
                </a:solidFill>
                <a:uFillTx/>
                <a:latin typeface="DejaVu Sans"/>
                <a:ea typeface="Arial"/>
              </a:rPr>
              <a:t>Basic Idea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Aft>
                <a:spcPts val="601"/>
              </a:spcAft>
              <a:buClr>
                <a:srgbClr val="008c4f"/>
              </a:buClr>
              <a:buSzPct val="80000"/>
              <a:buFont typeface="Wingdings 2" charset="2"/>
              <a:buChar char=""/>
              <a:tabLst>
                <a:tab algn="l" pos="0"/>
              </a:tabLst>
            </a:pPr>
            <a:r>
              <a:rPr b="0" lang="de-DE" sz="1800" spc="-1" strike="noStrike">
                <a:solidFill>
                  <a:srgbClr val="000000"/>
                </a:solidFill>
                <a:latin typeface="DejaVu Sans"/>
                <a:ea typeface="Arial"/>
              </a:rPr>
              <a:t>Compute all the reachable states and the state changes of the CPN model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Aft>
                <a:spcPts val="601"/>
              </a:spcAft>
              <a:buClr>
                <a:srgbClr val="008c4f"/>
              </a:buClr>
              <a:buSzPct val="80000"/>
              <a:buFont typeface="Wingdings 2" charset="2"/>
              <a:buChar char=""/>
              <a:tabLst>
                <a:tab algn="l" pos="0"/>
              </a:tabLst>
            </a:pPr>
            <a:r>
              <a:rPr b="0" lang="de-DE" sz="1800" spc="-1" strike="noStrike">
                <a:solidFill>
                  <a:srgbClr val="000000"/>
                </a:solidFill>
                <a:latin typeface="DejaVu Sans"/>
                <a:ea typeface="Arial"/>
              </a:rPr>
              <a:t>Represent these as a directed graph where nodes represent states and arcs represent occurring events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b="0" lang="de-DE" sz="1800" spc="-1" strike="noStrike" u="sng">
                <a:solidFill>
                  <a:srgbClr val="008c4f"/>
                </a:solidFill>
                <a:uFillTx/>
                <a:latin typeface="DejaVu Sans"/>
                <a:ea typeface="Arial"/>
              </a:rPr>
              <a:t>Pros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Aft>
                <a:spcPts val="601"/>
              </a:spcAft>
              <a:buClr>
                <a:srgbClr val="008c4f"/>
              </a:buClr>
              <a:buSzPct val="80000"/>
              <a:buFont typeface="Wingdings 2" charset="2"/>
              <a:buChar char=""/>
              <a:tabLst>
                <a:tab algn="l" pos="0"/>
              </a:tabLst>
            </a:pPr>
            <a:r>
              <a:rPr b="0" lang="de-DE" sz="1800" spc="-1" strike="noStrike">
                <a:solidFill>
                  <a:srgbClr val="000000"/>
                </a:solidFill>
                <a:latin typeface="DejaVu Sans"/>
                <a:ea typeface="Arial"/>
              </a:rPr>
              <a:t>From a constructed state–space, it is possible to verify various aspects of the behaviour of the system: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Aft>
                <a:spcPts val="601"/>
              </a:spcAft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de-DE" sz="1800" spc="-1" strike="noStrike">
                <a:solidFill>
                  <a:srgbClr val="000000"/>
                </a:solidFill>
                <a:latin typeface="DejaVu Sans"/>
                <a:ea typeface="Arial"/>
              </a:rPr>
              <a:t>Absence of deadlocks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Aft>
                <a:spcPts val="601"/>
              </a:spcAft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de-DE" sz="1800" spc="-1" strike="noStrike">
                <a:solidFill>
                  <a:srgbClr val="000000"/>
                </a:solidFill>
                <a:latin typeface="DejaVu Sans"/>
                <a:ea typeface="Arial"/>
              </a:rPr>
              <a:t>Possibility of always being able to reach a given state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Aft>
                <a:spcPts val="601"/>
              </a:spcAft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de-DE" sz="1800" spc="-1" strike="noStrike">
                <a:solidFill>
                  <a:srgbClr val="000000"/>
                </a:solidFill>
                <a:latin typeface="DejaVu Sans"/>
                <a:ea typeface="Arial"/>
              </a:rPr>
              <a:t>Guaranteed delivery of a given service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b="0" lang="de-DE" sz="1800" spc="-1" strike="noStrike" u="sng">
                <a:solidFill>
                  <a:srgbClr val="008c4f"/>
                </a:solidFill>
                <a:uFillTx/>
                <a:latin typeface="DejaVu Sans"/>
                <a:ea typeface="Arial"/>
              </a:rPr>
              <a:t>Cons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Aft>
                <a:spcPts val="601"/>
              </a:spcAft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de-DE" sz="1800" spc="-1" strike="noStrike">
                <a:solidFill>
                  <a:srgbClr val="000000"/>
                </a:solidFill>
                <a:latin typeface="DejaVu Sans"/>
                <a:ea typeface="Arial"/>
              </a:rPr>
              <a:t>State-space graph size (and computation time) increases exponentially! → requires independent computation in some cases.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8" name="CustomShape 4"/>
          <p:cNvSpPr/>
          <p:nvPr/>
        </p:nvSpPr>
        <p:spPr>
          <a:xfrm>
            <a:off x="263520" y="6411600"/>
            <a:ext cx="1091808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a6a6a6"/>
                </a:solidFill>
                <a:latin typeface="Roboto"/>
                <a:ea typeface="Roboto"/>
              </a:rPr>
              <a:t>K. Jensen et al. (2007) – </a:t>
            </a:r>
            <a:r>
              <a:rPr b="0" lang="en-US" sz="900" spc="-1" strike="noStrike">
                <a:solidFill>
                  <a:srgbClr val="a6a6a6"/>
                </a:solidFill>
                <a:latin typeface="Roboto"/>
                <a:ea typeface="Roboto"/>
              </a:rPr>
              <a:t>Coloured Petri Nets and CPN Tools for modelling and validation of concurrent systems. International Journal on Software Tools for Technology Transfer (9): 213-254. DOI:10.1007/s10009-007-0038-x</a:t>
            </a:r>
            <a:endParaRPr b="0" lang="en-GB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GB" sz="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9" name="PlaceHolder 14"/>
          <p:cNvSpPr/>
          <p:nvPr/>
        </p:nvSpPr>
        <p:spPr>
          <a:xfrm>
            <a:off x="542880" y="721800"/>
            <a:ext cx="10357200" cy="49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GB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Lecture 4: Requirements Documentation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0" name="Rechteck 334"/>
          <p:cNvSpPr/>
          <p:nvPr/>
        </p:nvSpPr>
        <p:spPr>
          <a:xfrm>
            <a:off x="542880" y="1267200"/>
            <a:ext cx="10357200" cy="49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de-DE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Content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1" name="HSN-Hierarchy 26"/>
          <p:cNvSpPr/>
          <p:nvPr/>
        </p:nvSpPr>
        <p:spPr>
          <a:xfrm>
            <a:off x="539640" y="1709280"/>
            <a:ext cx="8224560" cy="435276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0" rIns="0" tIns="45000" bIns="45000" anchor="ctr">
            <a:noAutofit/>
          </a:bodyPr>
          <a:p>
            <a:pPr marL="343080" indent="-343080">
              <a:lnSpc>
                <a:spcPct val="100000"/>
              </a:lnSpc>
              <a:spcAft>
                <a:spcPts val="601"/>
              </a:spcAft>
              <a:buClr>
                <a:srgbClr val="000000"/>
              </a:buClr>
              <a:buFont typeface="StarSymbol"/>
              <a:buAutoNum type="arabicPeriod"/>
              <a:tabLst>
                <a:tab algn="l" pos="0"/>
              </a:tabLst>
            </a:pPr>
            <a:r>
              <a:rPr b="0" lang="en-GB" sz="1800" spc="-1" strike="noStrike">
                <a:solidFill>
                  <a:srgbClr val="000000"/>
                </a:solidFill>
                <a:latin typeface="DejaVu Sans"/>
                <a:ea typeface="Arial"/>
              </a:rPr>
              <a:t>Model-based Requirements Documentation</a:t>
            </a:r>
            <a:r>
              <a:rPr b="0" lang="fr-FR" sz="1800" spc="-1" strike="noStrike">
                <a:solidFill>
                  <a:srgbClr val="000000"/>
                </a:solidFill>
                <a:latin typeface="DejaVu Sans"/>
                <a:ea typeface="Arial"/>
              </a:rPr>
              <a:t> Techniques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>
              <a:lnSpc>
                <a:spcPct val="100000"/>
              </a:lnSpc>
              <a:spcAft>
                <a:spcPts val="601"/>
              </a:spcAft>
              <a:buClr>
                <a:srgbClr val="000000"/>
              </a:buClr>
              <a:buFont typeface="StarSymbol"/>
              <a:buAutoNum type="arabicPeriod"/>
              <a:tabLst>
                <a:tab algn="l" pos="0"/>
              </a:tabLst>
            </a:pPr>
            <a:r>
              <a:rPr b="0" lang="en-GB" sz="1800" spc="-1" strike="noStrike">
                <a:solidFill>
                  <a:srgbClr val="000000"/>
                </a:solidFill>
                <a:latin typeface="DejaVu Sans"/>
                <a:ea typeface="Arial"/>
              </a:rPr>
              <a:t>Formal Specification Techniques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>
              <a:lnSpc>
                <a:spcPct val="100000"/>
              </a:lnSpc>
              <a:spcAft>
                <a:spcPts val="601"/>
              </a:spcAft>
              <a:buClr>
                <a:srgbClr val="000000"/>
              </a:buClr>
              <a:buFont typeface="StarSymbol"/>
              <a:buAutoNum type="arabicPeriod"/>
              <a:tabLst>
                <a:tab algn="l" pos="0"/>
              </a:tabLst>
            </a:pPr>
            <a:r>
              <a:rPr b="0" lang="en-GB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Coloured Petri Nets (CPNs)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>
              <a:lnSpc>
                <a:spcPct val="100000"/>
              </a:lnSpc>
              <a:spcAft>
                <a:spcPts val="601"/>
              </a:spcAft>
              <a:buClr>
                <a:srgbClr val="000000"/>
              </a:buClr>
              <a:buFont typeface="StarSymbol"/>
              <a:buAutoNum type="arabicPeriod"/>
              <a:tabLst>
                <a:tab algn="l" pos="0"/>
              </a:tabLst>
            </a:pPr>
            <a:r>
              <a:rPr b="0" lang="en-GB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AOM → CPN Mapping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>
              <a:lnSpc>
                <a:spcPct val="100000"/>
              </a:lnSpc>
              <a:spcAft>
                <a:spcPts val="601"/>
              </a:spcAft>
              <a:buClr>
                <a:srgbClr val="000000"/>
              </a:buClr>
              <a:buFont typeface="StarSymbol"/>
              <a:buAutoNum type="arabicPeriod"/>
              <a:tabLst>
                <a:tab algn="l" pos="0"/>
              </a:tabLst>
            </a:pPr>
            <a:r>
              <a:rPr b="1" lang="en-GB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Four Variable Model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>
              <a:lnSpc>
                <a:spcPct val="100000"/>
              </a:lnSpc>
              <a:spcAft>
                <a:spcPts val="601"/>
              </a:spcAft>
              <a:buClr>
                <a:srgbClr val="000000"/>
              </a:buClr>
              <a:buFont typeface="StarSymbol"/>
              <a:buAutoNum type="arabicPeriod"/>
              <a:tabLst>
                <a:tab algn="l" pos="0"/>
              </a:tabLst>
            </a:pPr>
            <a:r>
              <a:rPr b="0" lang="en-GB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NRL / SCR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" name="PlaceHolder 1"/>
          <p:cNvSpPr>
            <a:spLocks noGrp="1"/>
          </p:cNvSpPr>
          <p:nvPr>
            <p:ph/>
          </p:nvPr>
        </p:nvSpPr>
        <p:spPr>
          <a:xfrm>
            <a:off x="539640" y="1339200"/>
            <a:ext cx="11520360" cy="485856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0" rIns="0" tIns="0" bIns="0" anchor="ctr">
            <a:noAutofit/>
          </a:bodyPr>
          <a:p>
            <a:pPr marL="216000" indent="-216000">
              <a:lnSpc>
                <a:spcPct val="100000"/>
              </a:lnSpc>
              <a:spcBef>
                <a:spcPts val="1001"/>
              </a:spcBef>
              <a:buClr>
                <a:srgbClr val="008c4f"/>
              </a:buClr>
              <a:buSzPct val="80000"/>
              <a:buFont typeface="Wingdings 2" charset="2"/>
              <a:buChar char=""/>
              <a:tabLst>
                <a:tab algn="l" pos="0"/>
              </a:tabLst>
            </a:pPr>
            <a:r>
              <a:rPr b="0" lang="en-US" sz="2000" spc="-1" strike="noStrike" u="sng">
                <a:solidFill>
                  <a:srgbClr val="008c4f"/>
                </a:solidFill>
                <a:uFillTx/>
                <a:latin typeface="DejaVu Sans"/>
                <a:ea typeface="Arial"/>
              </a:rPr>
              <a:t>Four Variables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Input variables → Physical variables measured by input devices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Output variables →  Physical variables controlled by output devices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Monitored environmental variables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Controlled environmental variables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28600" indent="0">
              <a:lnSpc>
                <a:spcPct val="9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001"/>
              </a:spcBef>
              <a:buClr>
                <a:srgbClr val="008c4f"/>
              </a:buClr>
              <a:buSzPct val="80000"/>
              <a:buFont typeface="Wingdings 2" charset="2"/>
              <a:buChar char=""/>
              <a:tabLst>
                <a:tab algn="l" pos="0"/>
              </a:tabLst>
            </a:pPr>
            <a:r>
              <a:rPr b="0" lang="en-US" sz="2000" spc="-1" strike="noStrike" u="sng">
                <a:solidFill>
                  <a:srgbClr val="008c4f"/>
                </a:solidFill>
                <a:uFillTx/>
                <a:latin typeface="DejaVu Sans"/>
                <a:ea typeface="Arial"/>
              </a:rPr>
              <a:t>Relations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NAT, REQ, IN/OUT, SOF, SOFREQ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001"/>
              </a:spcBef>
              <a:buClr>
                <a:srgbClr val="008c4f"/>
              </a:buClr>
              <a:buSzPct val="80000"/>
              <a:buFont typeface="Wingdings 2" charset="2"/>
              <a:buChar char="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Arial"/>
              </a:rPr>
              <a:t>Are used as basis for requirements documentation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3" name="PlaceHolder 158"/>
          <p:cNvSpPr/>
          <p:nvPr/>
        </p:nvSpPr>
        <p:spPr>
          <a:xfrm>
            <a:off x="542880" y="722160"/>
            <a:ext cx="10357200" cy="49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GB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Formal Specification Techniques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4" name="Rechteck 2178"/>
          <p:cNvSpPr/>
          <p:nvPr/>
        </p:nvSpPr>
        <p:spPr>
          <a:xfrm>
            <a:off x="542880" y="1267560"/>
            <a:ext cx="10357200" cy="49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de-DE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Four Variable Model – Basic Elements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5" name="Stern: 5 Zacken 1"/>
          <p:cNvSpPr/>
          <p:nvPr/>
        </p:nvSpPr>
        <p:spPr>
          <a:xfrm>
            <a:off x="9950040" y="915480"/>
            <a:ext cx="516960" cy="496800"/>
          </a:xfrm>
          <a:prstGeom prst="star5">
            <a:avLst>
              <a:gd name="adj" fmla="val 19098"/>
              <a:gd name="hf" fmla="val 105146"/>
              <a:gd name="vf" fmla="val 110557"/>
            </a:avLst>
          </a:prstGeom>
          <a:solidFill>
            <a:srgbClr val="92d050"/>
          </a:solidFill>
          <a:ln>
            <a:solidFill>
              <a:srgbClr val="0d0d0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6" name="PlaceHolder 1"/>
          <p:cNvSpPr>
            <a:spLocks noGrp="1"/>
          </p:cNvSpPr>
          <p:nvPr>
            <p:ph/>
          </p:nvPr>
        </p:nvSpPr>
        <p:spPr>
          <a:xfrm>
            <a:off x="539640" y="1339200"/>
            <a:ext cx="10731240" cy="485856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0" rIns="0" tIns="0" bIns="0" anchor="ctr">
            <a:noAutofit/>
          </a:bodyPr>
          <a:p>
            <a:pPr marL="216000" indent="-216000">
              <a:lnSpc>
                <a:spcPct val="100000"/>
              </a:lnSpc>
              <a:spcBef>
                <a:spcPts val="1001"/>
              </a:spcBef>
              <a:buClr>
                <a:srgbClr val="008c4f"/>
              </a:buClr>
              <a:buSzPct val="80000"/>
              <a:buFont typeface="Wingdings 2" charset="2"/>
              <a:buChar char=""/>
              <a:tabLst>
                <a:tab algn="l" pos="0"/>
              </a:tabLst>
            </a:pPr>
            <a:r>
              <a:rPr b="0" lang="en-US" sz="2000" spc="-1" strike="noStrike" u="sng">
                <a:solidFill>
                  <a:srgbClr val="008c4f"/>
                </a:solidFill>
                <a:uFillTx/>
                <a:latin typeface="DejaVu Sans"/>
                <a:ea typeface="Arial"/>
              </a:rPr>
              <a:t>System Requirements Document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Models the complete system as a black-box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Includes a description of the environment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Identifies a set of quantities and associates each one with a mathematical variable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Describes constraints of the environment like physical laws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Describes constraints related to the new system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7" name="PlaceHolder 159"/>
          <p:cNvSpPr/>
          <p:nvPr/>
        </p:nvSpPr>
        <p:spPr>
          <a:xfrm>
            <a:off x="542880" y="722520"/>
            <a:ext cx="10357200" cy="49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Formal Specification Techniques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8" name="Rechteck 2181"/>
          <p:cNvSpPr/>
          <p:nvPr/>
        </p:nvSpPr>
        <p:spPr>
          <a:xfrm>
            <a:off x="542880" y="1267920"/>
            <a:ext cx="10357200" cy="49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GB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Four Variable Model – Documents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9" name="Stern: 5 Zacken 1"/>
          <p:cNvSpPr/>
          <p:nvPr/>
        </p:nvSpPr>
        <p:spPr>
          <a:xfrm>
            <a:off x="9950040" y="941400"/>
            <a:ext cx="516960" cy="496800"/>
          </a:xfrm>
          <a:prstGeom prst="star5">
            <a:avLst>
              <a:gd name="adj" fmla="val 19098"/>
              <a:gd name="hf" fmla="val 105146"/>
              <a:gd name="vf" fmla="val 110557"/>
            </a:avLst>
          </a:prstGeom>
          <a:solidFill>
            <a:srgbClr val="92d050"/>
          </a:solidFill>
          <a:ln>
            <a:solidFill>
              <a:srgbClr val="0d0d0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" name="PlaceHolder 1"/>
          <p:cNvSpPr>
            <a:spLocks noGrp="1"/>
          </p:cNvSpPr>
          <p:nvPr>
            <p:ph/>
          </p:nvPr>
        </p:nvSpPr>
        <p:spPr>
          <a:xfrm>
            <a:off x="539640" y="1339200"/>
            <a:ext cx="10731240" cy="485856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0" rIns="0" tIns="0" bIns="0" anchor="ctr">
            <a:noAutofit/>
          </a:bodyPr>
          <a:p>
            <a:pPr marL="216000" indent="-216000">
              <a:lnSpc>
                <a:spcPct val="100000"/>
              </a:lnSpc>
              <a:spcBef>
                <a:spcPts val="1001"/>
              </a:spcBef>
              <a:buClr>
                <a:srgbClr val="008c4f"/>
              </a:buClr>
              <a:buSzPct val="80000"/>
              <a:buFont typeface="Wingdings 2" charset="2"/>
              <a:buChar char=""/>
              <a:tabLst>
                <a:tab algn="l" pos="0"/>
              </a:tabLst>
            </a:pPr>
            <a:r>
              <a:rPr b="0" lang="en-US" sz="2000" spc="-1" strike="noStrike" u="sng">
                <a:solidFill>
                  <a:srgbClr val="008c4f"/>
                </a:solidFill>
                <a:uFillTx/>
                <a:latin typeface="DejaVu Sans"/>
                <a:ea typeface="Arial"/>
              </a:rPr>
              <a:t>System Design Document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Describes relevant properties of peripheral devices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Identifies input- and output registers, modeled as mathematical variables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Describes relation between input registers and associated environmental quantities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Describes relation between output registers and associated environmental quantities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1" name="PlaceHolder 160"/>
          <p:cNvSpPr/>
          <p:nvPr/>
        </p:nvSpPr>
        <p:spPr>
          <a:xfrm>
            <a:off x="542880" y="722880"/>
            <a:ext cx="10357200" cy="49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Formal Specification Techniques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2" name="Rechteck 2184"/>
          <p:cNvSpPr/>
          <p:nvPr/>
        </p:nvSpPr>
        <p:spPr>
          <a:xfrm>
            <a:off x="542880" y="1268280"/>
            <a:ext cx="10357200" cy="49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GB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Four Variable Model – Documents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3" name="Stern: 5 Zacken 1"/>
          <p:cNvSpPr/>
          <p:nvPr/>
        </p:nvSpPr>
        <p:spPr>
          <a:xfrm>
            <a:off x="9950040" y="915480"/>
            <a:ext cx="516960" cy="496800"/>
          </a:xfrm>
          <a:prstGeom prst="star5">
            <a:avLst>
              <a:gd name="adj" fmla="val 19098"/>
              <a:gd name="hf" fmla="val 105146"/>
              <a:gd name="vf" fmla="val 110557"/>
            </a:avLst>
          </a:prstGeom>
          <a:solidFill>
            <a:srgbClr val="92d050"/>
          </a:solidFill>
          <a:ln>
            <a:solidFill>
              <a:srgbClr val="0d0d0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4" name="PlaceHolder 1"/>
          <p:cNvSpPr>
            <a:spLocks noGrp="1"/>
          </p:cNvSpPr>
          <p:nvPr>
            <p:ph/>
          </p:nvPr>
        </p:nvSpPr>
        <p:spPr>
          <a:xfrm>
            <a:off x="539640" y="1339200"/>
            <a:ext cx="11520360" cy="485856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0" rIns="0" tIns="0" bIns="0" anchor="ctr">
            <a:noAutofit/>
          </a:bodyPr>
          <a:p>
            <a:pPr marL="216000" indent="-216000">
              <a:lnSpc>
                <a:spcPct val="100000"/>
              </a:lnSpc>
              <a:spcBef>
                <a:spcPts val="1001"/>
              </a:spcBef>
              <a:buClr>
                <a:srgbClr val="008c4f"/>
              </a:buClr>
              <a:buSzPct val="80000"/>
              <a:buFont typeface="Wingdings 2" charset="2"/>
              <a:buChar char=""/>
              <a:tabLst>
                <a:tab algn="l" pos="0"/>
              </a:tabLst>
            </a:pPr>
            <a:r>
              <a:rPr b="0" lang="en-US" sz="2000" spc="-1" strike="noStrike" u="sng">
                <a:solidFill>
                  <a:srgbClr val="008c4f"/>
                </a:solidFill>
                <a:uFillTx/>
                <a:latin typeface="DejaVu Sans"/>
                <a:ea typeface="Arial"/>
              </a:rPr>
              <a:t>Software Requirements Document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Combination of system requirements document and system design document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28600" indent="0">
              <a:lnSpc>
                <a:spcPct val="9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001"/>
              </a:spcBef>
              <a:buClr>
                <a:srgbClr val="008c4f"/>
              </a:buClr>
              <a:buSzPct val="80000"/>
              <a:buFont typeface="Wingdings 2" charset="2"/>
              <a:buChar char=""/>
              <a:tabLst>
                <a:tab algn="l" pos="0"/>
              </a:tabLst>
            </a:pPr>
            <a:r>
              <a:rPr b="0" lang="en-US" sz="2000" spc="-1" strike="noStrike" u="sng">
                <a:solidFill>
                  <a:srgbClr val="008c4f"/>
                </a:solidFill>
                <a:uFillTx/>
                <a:latin typeface="DejaVu Sans"/>
                <a:ea typeface="Arial"/>
              </a:rPr>
              <a:t>Software Behavior Specification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Records additional design decisions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Provides a description of the actual software behavior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5" name="PlaceHolder 161"/>
          <p:cNvSpPr/>
          <p:nvPr/>
        </p:nvSpPr>
        <p:spPr>
          <a:xfrm>
            <a:off x="542880" y="722880"/>
            <a:ext cx="10357200" cy="49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Formal Specification Techniques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6" name="Rechteck 2187"/>
          <p:cNvSpPr/>
          <p:nvPr/>
        </p:nvSpPr>
        <p:spPr>
          <a:xfrm>
            <a:off x="542880" y="1268280"/>
            <a:ext cx="10357200" cy="49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GB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Four Variable Model – Documents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7" name="Stern: 5 Zacken 1"/>
          <p:cNvSpPr/>
          <p:nvPr/>
        </p:nvSpPr>
        <p:spPr>
          <a:xfrm>
            <a:off x="9950040" y="915480"/>
            <a:ext cx="516960" cy="496800"/>
          </a:xfrm>
          <a:prstGeom prst="star5">
            <a:avLst>
              <a:gd name="adj" fmla="val 19098"/>
              <a:gd name="hf" fmla="val 105146"/>
              <a:gd name="vf" fmla="val 110557"/>
            </a:avLst>
          </a:prstGeom>
          <a:solidFill>
            <a:srgbClr val="92d050"/>
          </a:solidFill>
          <a:ln>
            <a:solidFill>
              <a:srgbClr val="0d0d0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PlaceHolder 1"/>
          <p:cNvSpPr>
            <a:spLocks noGrp="1"/>
          </p:cNvSpPr>
          <p:nvPr>
            <p:ph/>
          </p:nvPr>
        </p:nvSpPr>
        <p:spPr>
          <a:xfrm>
            <a:off x="539640" y="1101240"/>
            <a:ext cx="10502280" cy="345672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0" rIns="0" tIns="0" bIns="0" anchor="ctr">
            <a:noAutofit/>
          </a:bodyPr>
          <a:p>
            <a:pPr marL="216000" indent="-216000">
              <a:lnSpc>
                <a:spcPct val="100000"/>
              </a:lnSpc>
              <a:spcBef>
                <a:spcPts val="1001"/>
              </a:spcBef>
              <a:buClr>
                <a:srgbClr val="008c4f"/>
              </a:buClr>
              <a:buSzPct val="80000"/>
              <a:buFont typeface="Wingdings 2" charset="2"/>
              <a:buChar char=""/>
              <a:tabLst>
                <a:tab algn="l" pos="0"/>
              </a:tabLst>
            </a:pPr>
            <a:r>
              <a:rPr b="0" i="1" lang="en-US" sz="2000" spc="-1" strike="noStrike">
                <a:solidFill>
                  <a:srgbClr val="000000"/>
                </a:solidFill>
                <a:latin typeface="DejaVu Sans"/>
                <a:ea typeface="Arial"/>
              </a:rPr>
              <a:t>NAT</a:t>
            </a: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Arial"/>
              </a:rPr>
              <a:t>: expresses constraints due to restrictions imposed by nature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001"/>
              </a:spcBef>
              <a:buClr>
                <a:srgbClr val="008c4f"/>
              </a:buClr>
              <a:buSzPct val="80000"/>
              <a:buFont typeface="Wingdings 2" charset="2"/>
              <a:buChar char=""/>
              <a:tabLst>
                <a:tab algn="l" pos="0"/>
              </a:tabLst>
            </a:pPr>
            <a:r>
              <a:rPr b="0" i="1" lang="en-US" sz="2000" spc="-1" strike="noStrike">
                <a:solidFill>
                  <a:srgbClr val="000000"/>
                </a:solidFill>
                <a:latin typeface="DejaVu Sans"/>
                <a:ea typeface="Arial"/>
              </a:rPr>
              <a:t>REQ</a:t>
            </a: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Arial"/>
              </a:rPr>
              <a:t>: expresses the requirements of the system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001"/>
              </a:spcBef>
              <a:buClr>
                <a:srgbClr val="008c4f"/>
              </a:buClr>
              <a:buSzPct val="80000"/>
              <a:buFont typeface="Wingdings 2" charset="2"/>
              <a:buChar char=""/>
              <a:tabLst>
                <a:tab algn="l" pos="0"/>
              </a:tabLst>
            </a:pPr>
            <a:r>
              <a:rPr b="0" i="1" lang="en-US" sz="2000" spc="-1" strike="noStrike">
                <a:solidFill>
                  <a:srgbClr val="000000"/>
                </a:solidFill>
                <a:latin typeface="DejaVu Sans"/>
                <a:ea typeface="Arial"/>
              </a:rPr>
              <a:t>IN, OUT</a:t>
            </a: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Arial"/>
              </a:rPr>
              <a:t>: input and output relations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001"/>
              </a:spcBef>
              <a:buClr>
                <a:srgbClr val="008c4f"/>
              </a:buClr>
              <a:buSzPct val="80000"/>
              <a:buFont typeface="Wingdings 2" charset="2"/>
              <a:buChar char=""/>
              <a:tabLst>
                <a:tab algn="l" pos="0"/>
              </a:tabLst>
            </a:pPr>
            <a:r>
              <a:rPr b="0" i="1" lang="en-US" sz="2000" spc="-1" strike="noStrike">
                <a:solidFill>
                  <a:srgbClr val="000000"/>
                </a:solidFill>
                <a:latin typeface="DejaVu Sans"/>
                <a:ea typeface="Arial"/>
              </a:rPr>
              <a:t>SOF</a:t>
            </a: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Arial"/>
              </a:rPr>
              <a:t>: behavior of a particular software implementation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001"/>
              </a:spcBef>
              <a:buClr>
                <a:srgbClr val="008c4f"/>
              </a:buClr>
              <a:buSzPct val="80000"/>
              <a:buFont typeface="Wingdings 2" charset="2"/>
              <a:buChar char=""/>
              <a:tabLst>
                <a:tab algn="l" pos="0"/>
              </a:tabLst>
            </a:pPr>
            <a:r>
              <a:rPr b="0" i="1" lang="en-US" sz="2000" spc="-1" strike="noStrike">
                <a:solidFill>
                  <a:srgbClr val="000000"/>
                </a:solidFill>
                <a:latin typeface="DejaVu Sans"/>
                <a:ea typeface="Arial"/>
              </a:rPr>
              <a:t>SOFREQ</a:t>
            </a: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Arial"/>
              </a:rPr>
              <a:t>: software requirements relation, all acceptable software behavior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9" name="PlaceHolder 162"/>
          <p:cNvSpPr/>
          <p:nvPr/>
        </p:nvSpPr>
        <p:spPr>
          <a:xfrm>
            <a:off x="542880" y="722880"/>
            <a:ext cx="10357200" cy="49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Formal Specification Techniques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0" name="Rechteck 2191"/>
          <p:cNvSpPr/>
          <p:nvPr/>
        </p:nvSpPr>
        <p:spPr>
          <a:xfrm>
            <a:off x="542880" y="1268280"/>
            <a:ext cx="10357200" cy="49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GB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Four Variable Model – </a:t>
            </a:r>
            <a:r>
              <a:rPr b="1" lang="de-DE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Relations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1" name="Stern: 5 Zacken 1"/>
          <p:cNvSpPr/>
          <p:nvPr/>
        </p:nvSpPr>
        <p:spPr>
          <a:xfrm>
            <a:off x="9950040" y="915480"/>
            <a:ext cx="516960" cy="496800"/>
          </a:xfrm>
          <a:prstGeom prst="star5">
            <a:avLst>
              <a:gd name="adj" fmla="val 19098"/>
              <a:gd name="hf" fmla="val 105146"/>
              <a:gd name="vf" fmla="val 110557"/>
            </a:avLst>
          </a:prstGeom>
          <a:solidFill>
            <a:srgbClr val="92d050"/>
          </a:solidFill>
          <a:ln>
            <a:solidFill>
              <a:srgbClr val="0d0d0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542" name="Picture 2" descr=""/>
          <p:cNvPicPr/>
          <p:nvPr/>
        </p:nvPicPr>
        <p:blipFill>
          <a:blip r:embed="rId1"/>
          <a:stretch/>
        </p:blipFill>
        <p:spPr>
          <a:xfrm>
            <a:off x="3161520" y="3945240"/>
            <a:ext cx="5864400" cy="2516040"/>
          </a:xfrm>
          <a:prstGeom prst="rect">
            <a:avLst/>
          </a:prstGeom>
          <a:ln w="0">
            <a:noFill/>
          </a:ln>
        </p:spPr>
      </p:pic>
      <p:sp>
        <p:nvSpPr>
          <p:cNvPr id="543" name="CustomShape 5"/>
          <p:cNvSpPr/>
          <p:nvPr/>
        </p:nvSpPr>
        <p:spPr>
          <a:xfrm>
            <a:off x="263520" y="6411600"/>
            <a:ext cx="1091808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a6a6a6"/>
                </a:solidFill>
                <a:latin typeface="Roboto"/>
                <a:ea typeface="Roboto"/>
              </a:rPr>
              <a:t>Based on C.L. Heitmeyer, R.D. Jeffords, B.G. Labaw (2013) – </a:t>
            </a:r>
            <a:r>
              <a:rPr b="0" lang="en-US" sz="900" spc="-1" strike="noStrike">
                <a:solidFill>
                  <a:srgbClr val="a6a6a6"/>
                </a:solidFill>
                <a:latin typeface="Roboto"/>
                <a:ea typeface="Roboto"/>
              </a:rPr>
              <a:t>Automated Consistency Checking Requirements Specifications</a:t>
            </a:r>
            <a:endParaRPr b="0" lang="en-GB" sz="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4" name="PlaceHolder 1"/>
          <p:cNvSpPr>
            <a:spLocks noGrp="1"/>
          </p:cNvSpPr>
          <p:nvPr>
            <p:ph/>
          </p:nvPr>
        </p:nvSpPr>
        <p:spPr>
          <a:xfrm>
            <a:off x="539640" y="1339200"/>
            <a:ext cx="11520360" cy="485856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0" rIns="0" tIns="0" bIns="0" anchor="ctr">
            <a:noAutofit/>
          </a:bodyPr>
          <a:p>
            <a:pPr marL="316440" indent="-316440">
              <a:lnSpc>
                <a:spcPct val="100000"/>
              </a:lnSpc>
              <a:spcBef>
                <a:spcPts val="1001"/>
              </a:spcBef>
              <a:buClr>
                <a:srgbClr val="008c4f"/>
              </a:buClr>
              <a:buSzPct val="80000"/>
              <a:buFont typeface="Wingdings 2" charset="2"/>
              <a:buChar char=""/>
              <a:tabLst>
                <a:tab algn="l" pos="0"/>
              </a:tabLst>
            </a:pPr>
            <a:r>
              <a:rPr b="0" lang="en-US" sz="2000" spc="-1" strike="noStrike" u="sng">
                <a:solidFill>
                  <a:srgbClr val="008c4f"/>
                </a:solidFill>
                <a:uFillTx/>
                <a:latin typeface="DejaVu Sans"/>
                <a:ea typeface="Arial"/>
              </a:rPr>
              <a:t>Basic Relations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001"/>
              </a:spcBef>
              <a:buClr>
                <a:srgbClr val="008c4f"/>
              </a:buClr>
              <a:buSzPct val="80000"/>
              <a:buFont typeface="Wingdings 2" charset="2"/>
              <a:buChar char="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Arial"/>
              </a:rPr>
              <a:t>SOFREQ ⊆ SOF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28600" indent="0">
              <a:lnSpc>
                <a:spcPct val="10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80000"/>
              </a:lnSpc>
              <a:spcBef>
                <a:spcPts val="1001"/>
              </a:spcBef>
              <a:buClr>
                <a:srgbClr val="008c4f"/>
              </a:buClr>
              <a:buSzPct val="80000"/>
              <a:buFont typeface="Wingdings 2" charset="2"/>
              <a:buChar char="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Arial"/>
              </a:rPr>
              <a:t>IN, OUT, REQ                         SOFREQ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28600" indent="0">
              <a:lnSpc>
                <a:spcPct val="8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80000"/>
              </a:lnSpc>
              <a:spcBef>
                <a:spcPts val="1001"/>
              </a:spcBef>
              <a:buClr>
                <a:srgbClr val="008c4f"/>
              </a:buClr>
              <a:buSzPct val="80000"/>
              <a:buFont typeface="Wingdings 2" charset="2"/>
              <a:buChar char="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Arial"/>
              </a:rPr>
              <a:t>OUT ○ SOFREQ ○ IN = REQ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5" name="Text Box 333"/>
          <p:cNvSpPr/>
          <p:nvPr/>
        </p:nvSpPr>
        <p:spPr>
          <a:xfrm>
            <a:off x="3100320" y="3986280"/>
            <a:ext cx="1011600" cy="30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spAutoFit/>
          </a:bodyPr>
          <a:p>
            <a:pPr algn="ctr">
              <a:lnSpc>
                <a:spcPct val="100000"/>
              </a:lnSpc>
              <a:spcBef>
                <a:spcPts val="281"/>
              </a:spcBef>
            </a:pPr>
            <a:r>
              <a:rPr b="0" lang="en-US" sz="1400" spc="-1" strike="noStrike">
                <a:solidFill>
                  <a:srgbClr val="000000"/>
                </a:solidFill>
                <a:latin typeface="DejaVu Sans"/>
                <a:ea typeface="ＭＳ Ｐゴシック"/>
              </a:rPr>
              <a:t>w.r.t. NAT</a:t>
            </a:r>
            <a:endParaRPr b="0" lang="en-GB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6" name="Line 568"/>
          <p:cNvSpPr/>
          <p:nvPr/>
        </p:nvSpPr>
        <p:spPr>
          <a:xfrm>
            <a:off x="2945520" y="3986280"/>
            <a:ext cx="1320840" cy="360"/>
          </a:xfrm>
          <a:prstGeom prst="line">
            <a:avLst/>
          </a:prstGeom>
          <a:ln w="19050">
            <a:solidFill>
              <a:srgbClr val="000000"/>
            </a:solidFill>
            <a:round/>
            <a:tailEnd len="med" type="arrow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0" bIns="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547" name="Oval 62"/>
          <p:cNvSpPr/>
          <p:nvPr/>
        </p:nvSpPr>
        <p:spPr>
          <a:xfrm>
            <a:off x="6279480" y="2985840"/>
            <a:ext cx="215280" cy="172800"/>
          </a:xfrm>
          <a:prstGeom prst="ellipse">
            <a:avLst/>
          </a:prstGeom>
          <a:solidFill>
            <a:srgbClr val="cc0000"/>
          </a:solidFill>
          <a:ln w="1905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61200" bIns="612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548" name="Oval 63"/>
          <p:cNvSpPr/>
          <p:nvPr/>
        </p:nvSpPr>
        <p:spPr>
          <a:xfrm>
            <a:off x="9378360" y="2985840"/>
            <a:ext cx="215280" cy="172800"/>
          </a:xfrm>
          <a:prstGeom prst="ellipse">
            <a:avLst/>
          </a:prstGeom>
          <a:solidFill>
            <a:srgbClr val="cc0000"/>
          </a:solidFill>
          <a:ln w="1905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61200" bIns="612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549" name="Text Box 334"/>
          <p:cNvSpPr/>
          <p:nvPr/>
        </p:nvSpPr>
        <p:spPr>
          <a:xfrm>
            <a:off x="6188760" y="4749840"/>
            <a:ext cx="417240" cy="36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spAutoFit/>
          </a:bodyPr>
          <a:p>
            <a:pPr algn="ctr">
              <a:lnSpc>
                <a:spcPct val="100000"/>
              </a:lnSpc>
              <a:spcBef>
                <a:spcPts val="360"/>
              </a:spcBef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ＭＳ Ｐゴシック"/>
              </a:rPr>
              <a:t>IN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0" name="Text Box 335"/>
          <p:cNvSpPr/>
          <p:nvPr/>
        </p:nvSpPr>
        <p:spPr>
          <a:xfrm>
            <a:off x="9162360" y="4724280"/>
            <a:ext cx="667440" cy="36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spAutoFit/>
          </a:bodyPr>
          <a:p>
            <a:pPr algn="ctr">
              <a:lnSpc>
                <a:spcPct val="100000"/>
              </a:lnSpc>
              <a:spcBef>
                <a:spcPts val="360"/>
              </a:spcBef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ＭＳ Ｐゴシック"/>
              </a:rPr>
              <a:t>OUT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1" name="Text Box 336"/>
          <p:cNvSpPr/>
          <p:nvPr/>
        </p:nvSpPr>
        <p:spPr>
          <a:xfrm>
            <a:off x="7360920" y="4368600"/>
            <a:ext cx="1118520" cy="36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spAutoFit/>
          </a:bodyPr>
          <a:p>
            <a:pPr algn="ctr">
              <a:lnSpc>
                <a:spcPct val="100000"/>
              </a:lnSpc>
              <a:spcBef>
                <a:spcPts val="360"/>
              </a:spcBef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ＭＳ Ｐゴシック"/>
              </a:rPr>
              <a:t>SOFREQ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2" name="Text Box 337"/>
          <p:cNvSpPr/>
          <p:nvPr/>
        </p:nvSpPr>
        <p:spPr>
          <a:xfrm>
            <a:off x="7588800" y="2743200"/>
            <a:ext cx="662760" cy="36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spAutoFit/>
          </a:bodyPr>
          <a:p>
            <a:pPr algn="ctr">
              <a:lnSpc>
                <a:spcPct val="100000"/>
              </a:lnSpc>
              <a:spcBef>
                <a:spcPts val="360"/>
              </a:spcBef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ＭＳ Ｐゴシック"/>
              </a:rPr>
              <a:t>REQ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3" name="Line 569"/>
          <p:cNvSpPr/>
          <p:nvPr/>
        </p:nvSpPr>
        <p:spPr>
          <a:xfrm>
            <a:off x="6685560" y="3074760"/>
            <a:ext cx="2489400" cy="360"/>
          </a:xfrm>
          <a:prstGeom prst="line">
            <a:avLst/>
          </a:prstGeom>
          <a:ln w="28575">
            <a:solidFill>
              <a:srgbClr val="000000"/>
            </a:solidFill>
            <a:round/>
            <a:headEnd len="med" type="arrow" w="med"/>
            <a:tailEnd len="med" type="arrow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0" bIns="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554" name="Line 570"/>
          <p:cNvSpPr/>
          <p:nvPr/>
        </p:nvSpPr>
        <p:spPr>
          <a:xfrm>
            <a:off x="6702120" y="4700160"/>
            <a:ext cx="2489400" cy="360"/>
          </a:xfrm>
          <a:prstGeom prst="line">
            <a:avLst/>
          </a:prstGeom>
          <a:ln w="28575">
            <a:solidFill>
              <a:srgbClr val="000000"/>
            </a:solidFill>
            <a:round/>
            <a:tailEnd len="med" type="arrow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0" bIns="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555" name="Oval 68"/>
          <p:cNvSpPr/>
          <p:nvPr/>
        </p:nvSpPr>
        <p:spPr>
          <a:xfrm>
            <a:off x="6279480" y="4611600"/>
            <a:ext cx="215280" cy="172800"/>
          </a:xfrm>
          <a:prstGeom prst="ellipse">
            <a:avLst/>
          </a:prstGeom>
          <a:solidFill>
            <a:srgbClr val="cc0000"/>
          </a:solidFill>
          <a:ln w="1905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61200" bIns="612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556" name="Oval 69"/>
          <p:cNvSpPr/>
          <p:nvPr/>
        </p:nvSpPr>
        <p:spPr>
          <a:xfrm>
            <a:off x="9378360" y="4599000"/>
            <a:ext cx="215280" cy="172800"/>
          </a:xfrm>
          <a:prstGeom prst="ellipse">
            <a:avLst/>
          </a:prstGeom>
          <a:solidFill>
            <a:srgbClr val="cc0000"/>
          </a:solidFill>
          <a:ln w="1905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61200" bIns="612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557" name="Line 571"/>
          <p:cNvSpPr/>
          <p:nvPr/>
        </p:nvSpPr>
        <p:spPr>
          <a:xfrm flipH="1" flipV="1">
            <a:off x="9479520" y="3227040"/>
            <a:ext cx="16920" cy="1270080"/>
          </a:xfrm>
          <a:prstGeom prst="line">
            <a:avLst/>
          </a:prstGeom>
          <a:ln w="28575">
            <a:solidFill>
              <a:srgbClr val="000000"/>
            </a:solidFill>
            <a:round/>
            <a:headEnd len="med" type="arrow" w="med"/>
            <a:tailEnd len="med" type="arrow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635040" bIns="6350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558" name="Line 572"/>
          <p:cNvSpPr/>
          <p:nvPr/>
        </p:nvSpPr>
        <p:spPr>
          <a:xfrm flipH="1" flipV="1">
            <a:off x="6380640" y="3240000"/>
            <a:ext cx="16920" cy="1269720"/>
          </a:xfrm>
          <a:prstGeom prst="line">
            <a:avLst/>
          </a:prstGeom>
          <a:ln w="28575">
            <a:solidFill>
              <a:srgbClr val="000000"/>
            </a:solidFill>
            <a:round/>
            <a:headEnd len="med" type="arrow" w="med"/>
            <a:tailEnd len="med" type="arrow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634680" bIns="63468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559" name="PlaceHolder 163"/>
          <p:cNvSpPr/>
          <p:nvPr/>
        </p:nvSpPr>
        <p:spPr>
          <a:xfrm>
            <a:off x="542880" y="722880"/>
            <a:ext cx="10357200" cy="49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Formal Specification Techniques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0" name="Rechteck 2208"/>
          <p:cNvSpPr/>
          <p:nvPr/>
        </p:nvSpPr>
        <p:spPr>
          <a:xfrm>
            <a:off x="542880" y="1268280"/>
            <a:ext cx="10357200" cy="49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GB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Four Variable Model – </a:t>
            </a:r>
            <a:r>
              <a:rPr b="1" lang="de-DE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Basic Relations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1" name="Stern: 5 Zacken 1"/>
          <p:cNvSpPr/>
          <p:nvPr/>
        </p:nvSpPr>
        <p:spPr>
          <a:xfrm>
            <a:off x="9950040" y="915480"/>
            <a:ext cx="516960" cy="496800"/>
          </a:xfrm>
          <a:prstGeom prst="star5">
            <a:avLst>
              <a:gd name="adj" fmla="val 19098"/>
              <a:gd name="hf" fmla="val 105146"/>
              <a:gd name="vf" fmla="val 110557"/>
            </a:avLst>
          </a:prstGeom>
          <a:solidFill>
            <a:srgbClr val="92d050"/>
          </a:solidFill>
          <a:ln>
            <a:solidFill>
              <a:srgbClr val="0d0d0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2" name="PlaceHolder 1"/>
          <p:cNvSpPr>
            <a:spLocks noGrp="1"/>
          </p:cNvSpPr>
          <p:nvPr>
            <p:ph/>
          </p:nvPr>
        </p:nvSpPr>
        <p:spPr>
          <a:xfrm>
            <a:off x="539640" y="1339200"/>
            <a:ext cx="11520360" cy="485856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0" rIns="0" tIns="0" bIns="0" anchor="ctr">
            <a:noAutofit/>
          </a:bodyPr>
          <a:p>
            <a:pPr marL="216000" indent="-216000">
              <a:lnSpc>
                <a:spcPct val="100000"/>
              </a:lnSpc>
              <a:spcBef>
                <a:spcPts val="1001"/>
              </a:spcBef>
              <a:buClr>
                <a:srgbClr val="008c4f"/>
              </a:buClr>
              <a:buSzPct val="80000"/>
              <a:buFont typeface="Wingdings 2" charset="2"/>
              <a:buChar char=""/>
              <a:tabLst>
                <a:tab algn="l" pos="0"/>
              </a:tabLst>
            </a:pPr>
            <a:r>
              <a:rPr b="0" lang="en-US" sz="2000" spc="-1" strike="noStrike" u="sng">
                <a:solidFill>
                  <a:srgbClr val="008c4f"/>
                </a:solidFill>
                <a:uFillTx/>
                <a:latin typeface="DejaVu Sans"/>
                <a:ea typeface="Arial"/>
              </a:rPr>
              <a:t>Monitored variables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Mathematical function whose domain consists of real numbers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Environmental function </a:t>
            </a:r>
            <a:r>
              <a:rPr b="0" i="1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m</a:t>
            </a:r>
            <a:r>
              <a:rPr b="0" i="1" lang="en-US" sz="1800" spc="-1" strike="noStrike" baseline="30000">
                <a:solidFill>
                  <a:srgbClr val="000000"/>
                </a:solidFill>
                <a:latin typeface="DejaVu Sans"/>
                <a:ea typeface="Arial"/>
              </a:rPr>
              <a:t>t</a:t>
            </a: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 : ℝ→</a:t>
            </a:r>
            <a:r>
              <a:rPr b="0" i="1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Value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Value at time </a:t>
            </a:r>
            <a:r>
              <a:rPr b="0" i="1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s: m</a:t>
            </a:r>
            <a:r>
              <a:rPr b="0" i="1" lang="en-US" sz="1800" spc="-1" strike="noStrike" baseline="30000">
                <a:solidFill>
                  <a:srgbClr val="000000"/>
                </a:solidFill>
                <a:latin typeface="DejaVu Sans"/>
                <a:ea typeface="Arial"/>
              </a:rPr>
              <a:t>t</a:t>
            </a:r>
            <a:r>
              <a:rPr b="0" i="1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(s)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Vector of monitored variables: </a:t>
            </a:r>
            <a:r>
              <a:rPr b="0" i="1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m</a:t>
            </a:r>
            <a:r>
              <a:rPr b="0" i="1" lang="en-US" sz="1800" spc="-1" strike="noStrike" baseline="30000">
                <a:solidFill>
                  <a:srgbClr val="000000"/>
                </a:solidFill>
                <a:latin typeface="DejaVu Sans"/>
                <a:ea typeface="Arial"/>
              </a:rPr>
              <a:t>t</a:t>
            </a:r>
            <a:r>
              <a:rPr b="0" i="1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 = (m</a:t>
            </a:r>
            <a:r>
              <a:rPr b="0" i="1" lang="en-US" sz="1800" spc="-1" strike="noStrike" baseline="30000">
                <a:solidFill>
                  <a:srgbClr val="000000"/>
                </a:solidFill>
                <a:latin typeface="DejaVu Sans"/>
                <a:ea typeface="Arial"/>
              </a:rPr>
              <a:t>t</a:t>
            </a:r>
            <a:r>
              <a:rPr b="0" i="1" lang="en-US" sz="1800" spc="-1" strike="noStrike" baseline="-25000">
                <a:solidFill>
                  <a:srgbClr val="000000"/>
                </a:solidFill>
                <a:latin typeface="DejaVu Sans"/>
                <a:ea typeface="Arial"/>
              </a:rPr>
              <a:t>1</a:t>
            </a:r>
            <a:r>
              <a:rPr b="0" i="1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,m</a:t>
            </a:r>
            <a:r>
              <a:rPr b="0" i="1" lang="en-US" sz="1800" spc="-1" strike="noStrike" baseline="30000">
                <a:solidFill>
                  <a:srgbClr val="000000"/>
                </a:solidFill>
                <a:latin typeface="DejaVu Sans"/>
                <a:ea typeface="Arial"/>
              </a:rPr>
              <a:t>t</a:t>
            </a:r>
            <a:r>
              <a:rPr b="0" i="1" lang="en-US" sz="1800" spc="-1" strike="noStrike" baseline="-25000">
                <a:solidFill>
                  <a:srgbClr val="000000"/>
                </a:solidFill>
                <a:latin typeface="DejaVu Sans"/>
                <a:ea typeface="Arial"/>
              </a:rPr>
              <a:t>2</a:t>
            </a:r>
            <a:r>
              <a:rPr b="0" i="1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, . . . ,m</a:t>
            </a:r>
            <a:r>
              <a:rPr b="0" i="1" lang="en-US" sz="1800" spc="-1" strike="noStrike" baseline="30000">
                <a:solidFill>
                  <a:srgbClr val="000000"/>
                </a:solidFill>
                <a:latin typeface="DejaVu Sans"/>
                <a:ea typeface="Arial"/>
              </a:rPr>
              <a:t>t</a:t>
            </a:r>
            <a:r>
              <a:rPr b="0" i="1" lang="en-US" sz="1800" spc="-1" strike="noStrike" baseline="-25000">
                <a:solidFill>
                  <a:srgbClr val="000000"/>
                </a:solidFill>
                <a:latin typeface="DejaVu Sans"/>
                <a:ea typeface="Arial"/>
              </a:rPr>
              <a:t>p</a:t>
            </a:r>
            <a:r>
              <a:rPr b="0" i="1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)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28600" indent="0">
              <a:lnSpc>
                <a:spcPct val="9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001"/>
              </a:spcBef>
              <a:buClr>
                <a:srgbClr val="008c4f"/>
              </a:buClr>
              <a:buSzPct val="80000"/>
              <a:buFont typeface="Wingdings 2" charset="2"/>
              <a:buChar char=""/>
              <a:tabLst>
                <a:tab algn="l" pos="0"/>
              </a:tabLst>
            </a:pPr>
            <a:r>
              <a:rPr b="0" lang="en-US" sz="2000" spc="-1" strike="noStrike" u="sng">
                <a:solidFill>
                  <a:srgbClr val="008c4f"/>
                </a:solidFill>
                <a:uFillTx/>
                <a:latin typeface="DejaVu Sans"/>
                <a:ea typeface="Arial"/>
              </a:rPr>
              <a:t>Controlled variables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Mathematical function whose domain consists of real numbers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Environmental function c</a:t>
            </a:r>
            <a:r>
              <a:rPr b="0" i="1" lang="en-US" sz="1800" spc="-1" strike="noStrike" baseline="30000">
                <a:solidFill>
                  <a:srgbClr val="000000"/>
                </a:solidFill>
                <a:latin typeface="DejaVu Sans"/>
                <a:ea typeface="Arial"/>
              </a:rPr>
              <a:t>t</a:t>
            </a: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 : ℝ→</a:t>
            </a:r>
            <a:r>
              <a:rPr b="0" i="1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Value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Vector of monitored variables: </a:t>
            </a:r>
            <a:r>
              <a:rPr b="0" i="1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c</a:t>
            </a:r>
            <a:r>
              <a:rPr b="0" i="1" lang="en-US" sz="1800" spc="-1" strike="noStrike" baseline="30000">
                <a:solidFill>
                  <a:srgbClr val="000000"/>
                </a:solidFill>
                <a:latin typeface="DejaVu Sans"/>
                <a:ea typeface="Arial"/>
              </a:rPr>
              <a:t>t</a:t>
            </a:r>
            <a:r>
              <a:rPr b="0" i="1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 = (c</a:t>
            </a:r>
            <a:r>
              <a:rPr b="0" i="1" lang="en-US" sz="1800" spc="-1" strike="noStrike" baseline="30000">
                <a:solidFill>
                  <a:srgbClr val="000000"/>
                </a:solidFill>
                <a:latin typeface="DejaVu Sans"/>
                <a:ea typeface="Arial"/>
              </a:rPr>
              <a:t>t</a:t>
            </a:r>
            <a:r>
              <a:rPr b="0" i="1" lang="en-US" sz="1800" spc="-1" strike="noStrike" baseline="-25000">
                <a:solidFill>
                  <a:srgbClr val="000000"/>
                </a:solidFill>
                <a:latin typeface="DejaVu Sans"/>
                <a:ea typeface="Arial"/>
              </a:rPr>
              <a:t>1</a:t>
            </a:r>
            <a:r>
              <a:rPr b="0" i="1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,c</a:t>
            </a:r>
            <a:r>
              <a:rPr b="0" i="1" lang="en-US" sz="1800" spc="-1" strike="noStrike" baseline="30000">
                <a:solidFill>
                  <a:srgbClr val="000000"/>
                </a:solidFill>
                <a:latin typeface="DejaVu Sans"/>
                <a:ea typeface="Arial"/>
              </a:rPr>
              <a:t>t</a:t>
            </a:r>
            <a:r>
              <a:rPr b="0" i="1" lang="en-US" sz="1800" spc="-1" strike="noStrike" baseline="-25000">
                <a:solidFill>
                  <a:srgbClr val="000000"/>
                </a:solidFill>
                <a:latin typeface="DejaVu Sans"/>
                <a:ea typeface="Arial"/>
              </a:rPr>
              <a:t>2</a:t>
            </a:r>
            <a:r>
              <a:rPr b="0" i="1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, . . . ,c</a:t>
            </a:r>
            <a:r>
              <a:rPr b="0" i="1" lang="en-US" sz="1800" spc="-1" strike="noStrike" baseline="30000">
                <a:solidFill>
                  <a:srgbClr val="000000"/>
                </a:solidFill>
                <a:latin typeface="DejaVu Sans"/>
                <a:ea typeface="Arial"/>
              </a:rPr>
              <a:t>t</a:t>
            </a:r>
            <a:r>
              <a:rPr b="0" i="1" lang="en-US" sz="1800" spc="-1" strike="noStrike" baseline="-25000">
                <a:solidFill>
                  <a:srgbClr val="000000"/>
                </a:solidFill>
                <a:latin typeface="DejaVu Sans"/>
                <a:ea typeface="Arial"/>
              </a:rPr>
              <a:t>q</a:t>
            </a:r>
            <a:r>
              <a:rPr b="0" i="1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)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3" name="Text Box 338"/>
          <p:cNvSpPr/>
          <p:nvPr/>
        </p:nvSpPr>
        <p:spPr>
          <a:xfrm>
            <a:off x="5835600" y="3213000"/>
            <a:ext cx="283320" cy="30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>
              <a:lnSpc>
                <a:spcPct val="100000"/>
              </a:lnSpc>
              <a:spcBef>
                <a:spcPts val="281"/>
              </a:spcBef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~</a:t>
            </a:r>
            <a:endParaRPr b="0" lang="en-GB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4" name="Text Box 352"/>
          <p:cNvSpPr/>
          <p:nvPr/>
        </p:nvSpPr>
        <p:spPr>
          <a:xfrm>
            <a:off x="5787000" y="4522680"/>
            <a:ext cx="283320" cy="30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>
              <a:lnSpc>
                <a:spcPct val="100000"/>
              </a:lnSpc>
              <a:spcBef>
                <a:spcPts val="281"/>
              </a:spcBef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~</a:t>
            </a:r>
            <a:endParaRPr b="0" lang="en-GB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5" name="PlaceHolder 164"/>
          <p:cNvSpPr/>
          <p:nvPr/>
        </p:nvSpPr>
        <p:spPr>
          <a:xfrm>
            <a:off x="542880" y="722880"/>
            <a:ext cx="10357200" cy="49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Formal Specification Techniques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6" name="Rechteck 2213"/>
          <p:cNvSpPr/>
          <p:nvPr/>
        </p:nvSpPr>
        <p:spPr>
          <a:xfrm>
            <a:off x="542880" y="1268280"/>
            <a:ext cx="10357200" cy="49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GB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Four Variable Model – </a:t>
            </a:r>
            <a:r>
              <a:rPr b="1" lang="de-DE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Variables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7" name="Stern: 5 Zacken 1"/>
          <p:cNvSpPr/>
          <p:nvPr/>
        </p:nvSpPr>
        <p:spPr>
          <a:xfrm>
            <a:off x="9950040" y="915480"/>
            <a:ext cx="516960" cy="496800"/>
          </a:xfrm>
          <a:prstGeom prst="star5">
            <a:avLst>
              <a:gd name="adj" fmla="val 19098"/>
              <a:gd name="hf" fmla="val 105146"/>
              <a:gd name="vf" fmla="val 110557"/>
            </a:avLst>
          </a:prstGeom>
          <a:solidFill>
            <a:srgbClr val="92d050"/>
          </a:solidFill>
          <a:ln>
            <a:solidFill>
              <a:srgbClr val="0d0d0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8" name="PlaceHolder 1"/>
          <p:cNvSpPr>
            <a:spLocks noGrp="1"/>
          </p:cNvSpPr>
          <p:nvPr>
            <p:ph/>
          </p:nvPr>
        </p:nvSpPr>
        <p:spPr>
          <a:xfrm>
            <a:off x="539640" y="1339200"/>
            <a:ext cx="10730880" cy="485856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0" rIns="0" tIns="0" bIns="0" anchor="ctr">
            <a:noAutofit/>
          </a:bodyPr>
          <a:p>
            <a:pPr marL="216000" indent="-216000">
              <a:lnSpc>
                <a:spcPct val="100000"/>
              </a:lnSpc>
              <a:spcBef>
                <a:spcPts val="1001"/>
              </a:spcBef>
              <a:buClr>
                <a:srgbClr val="008c4f"/>
              </a:buClr>
              <a:buSzPct val="80000"/>
              <a:buFont typeface="Wingdings 2" charset="2"/>
              <a:buChar char="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Arial"/>
              </a:rPr>
              <a:t>REQ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Expresses the requirements of the system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i="1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domain(REQ)</a:t>
            </a: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: set of vectors containing exactly the instances of </a:t>
            </a:r>
            <a:r>
              <a:rPr b="0" i="1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m</a:t>
            </a:r>
            <a:r>
              <a:rPr b="0" i="1" lang="en-US" sz="1800" spc="-1" strike="noStrike" baseline="30000">
                <a:solidFill>
                  <a:srgbClr val="000000"/>
                </a:solidFill>
                <a:latin typeface="DejaVu Sans"/>
                <a:ea typeface="Arial"/>
              </a:rPr>
              <a:t>t</a:t>
            </a:r>
            <a:r>
              <a:rPr b="0" i="1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 </a:t>
            </a: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allowed by the environmental constraints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i="1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range(REQ)</a:t>
            </a: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: set of vectors containing only those instances of </a:t>
            </a:r>
            <a:r>
              <a:rPr b="0" i="1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c</a:t>
            </a:r>
            <a:r>
              <a:rPr b="0" i="1" lang="en-US" sz="1800" spc="-1" strike="noStrike" baseline="30000">
                <a:solidFill>
                  <a:srgbClr val="000000"/>
                </a:solidFill>
                <a:latin typeface="DejaVu Sans"/>
                <a:ea typeface="Arial"/>
              </a:rPr>
              <a:t>t</a:t>
            </a:r>
            <a:r>
              <a:rPr b="0" i="1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 </a:t>
            </a: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considered permissible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i="1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(m</a:t>
            </a:r>
            <a:r>
              <a:rPr b="0" i="1" lang="en-US" sz="1800" spc="-1" strike="noStrike" baseline="30000">
                <a:solidFill>
                  <a:srgbClr val="000000"/>
                </a:solidFill>
                <a:latin typeface="DejaVu Sans"/>
                <a:ea typeface="Arial"/>
              </a:rPr>
              <a:t>t</a:t>
            </a:r>
            <a:r>
              <a:rPr b="0" i="1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, c</a:t>
            </a:r>
            <a:r>
              <a:rPr b="0" i="1" lang="en-US" sz="1800" spc="-1" strike="noStrike" baseline="30000">
                <a:solidFill>
                  <a:srgbClr val="000000"/>
                </a:solidFill>
                <a:latin typeface="DejaVu Sans"/>
                <a:ea typeface="Arial"/>
              </a:rPr>
              <a:t>t</a:t>
            </a:r>
            <a:r>
              <a:rPr b="0" i="1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)</a:t>
            </a: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 ∈ </a:t>
            </a:r>
            <a:r>
              <a:rPr b="0" i="1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REQ</a:t>
            </a: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 if environmental constraints allow the controlled variables to take the values given by </a:t>
            </a:r>
            <a:r>
              <a:rPr b="0" i="1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c</a:t>
            </a:r>
            <a:r>
              <a:rPr b="0" i="1" lang="en-US" sz="1800" spc="-1" strike="noStrike" baseline="30000">
                <a:solidFill>
                  <a:srgbClr val="000000"/>
                </a:solidFill>
                <a:latin typeface="DejaVu Sans"/>
                <a:ea typeface="Arial"/>
              </a:rPr>
              <a:t>t</a:t>
            </a: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, if the values of the monitored variables are given by </a:t>
            </a:r>
            <a:r>
              <a:rPr b="0" i="1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m</a:t>
            </a:r>
            <a:r>
              <a:rPr b="0" i="1" lang="en-US" sz="1800" spc="-1" strike="noStrike" baseline="30000">
                <a:solidFill>
                  <a:srgbClr val="000000"/>
                </a:solidFill>
                <a:latin typeface="DejaVu Sans"/>
                <a:ea typeface="Arial"/>
              </a:rPr>
              <a:t>t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i="1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REQ</a:t>
            </a: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 may </a:t>
            </a:r>
            <a:r>
              <a:rPr b="1" lang="en-US" sz="1800" spc="-1" strike="noStrike">
                <a:solidFill>
                  <a:srgbClr val="c0504d"/>
                </a:solidFill>
                <a:latin typeface="DejaVu Sans"/>
                <a:ea typeface="Arial"/>
              </a:rPr>
              <a:t>tolerate ’small’ errors</a:t>
            </a: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 in the values of controlled variables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9" name="Text Box 363"/>
          <p:cNvSpPr/>
          <p:nvPr/>
        </p:nvSpPr>
        <p:spPr>
          <a:xfrm>
            <a:off x="4749840" y="4305240"/>
            <a:ext cx="283320" cy="30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>
              <a:lnSpc>
                <a:spcPct val="100000"/>
              </a:lnSpc>
              <a:spcBef>
                <a:spcPts val="281"/>
              </a:spcBef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ＭＳ Ｐゴシック"/>
              </a:rPr>
              <a:t>~</a:t>
            </a:r>
            <a:endParaRPr b="0" lang="en-GB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0" name="PlaceHolder 165"/>
          <p:cNvSpPr/>
          <p:nvPr/>
        </p:nvSpPr>
        <p:spPr>
          <a:xfrm>
            <a:off x="542880" y="722880"/>
            <a:ext cx="10357200" cy="49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Formal Specification Techniques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1" name="Rechteck 2217"/>
          <p:cNvSpPr/>
          <p:nvPr/>
        </p:nvSpPr>
        <p:spPr>
          <a:xfrm>
            <a:off x="542880" y="1268280"/>
            <a:ext cx="10357200" cy="49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GB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Four Variable Model – </a:t>
            </a:r>
            <a:r>
              <a:rPr b="1" lang="de-DE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Relations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2" name="Stern: 5 Zacken 1"/>
          <p:cNvSpPr/>
          <p:nvPr/>
        </p:nvSpPr>
        <p:spPr>
          <a:xfrm>
            <a:off x="9950040" y="915480"/>
            <a:ext cx="516960" cy="496800"/>
          </a:xfrm>
          <a:prstGeom prst="star5">
            <a:avLst>
              <a:gd name="adj" fmla="val 19098"/>
              <a:gd name="hf" fmla="val 105146"/>
              <a:gd name="vf" fmla="val 110557"/>
            </a:avLst>
          </a:prstGeom>
          <a:solidFill>
            <a:srgbClr val="92d050"/>
          </a:solidFill>
          <a:ln>
            <a:solidFill>
              <a:srgbClr val="0d0d0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" name="PlaceHolder 1"/>
          <p:cNvSpPr>
            <a:spLocks noGrp="1"/>
          </p:cNvSpPr>
          <p:nvPr>
            <p:ph/>
          </p:nvPr>
        </p:nvSpPr>
        <p:spPr>
          <a:xfrm>
            <a:off x="539640" y="1339200"/>
            <a:ext cx="11520360" cy="485856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0" rIns="0" tIns="0" bIns="0" anchor="ctr">
            <a:noAutofit/>
          </a:bodyPr>
          <a:p>
            <a:pPr marL="216000" indent="-216000">
              <a:lnSpc>
                <a:spcPct val="100000"/>
              </a:lnSpc>
              <a:spcBef>
                <a:spcPts val="1001"/>
              </a:spcBef>
              <a:buClr>
                <a:srgbClr val="008c4f"/>
              </a:buClr>
              <a:buSzPct val="80000"/>
              <a:buFont typeface="Wingdings 2" charset="2"/>
              <a:buChar char="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Arial"/>
              </a:rPr>
              <a:t>IN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Describes the behavior of the input devices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Is a relation due to imprecision in the measurement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28600" indent="0">
              <a:lnSpc>
                <a:spcPct val="9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001"/>
              </a:spcBef>
              <a:buClr>
                <a:srgbClr val="008c4f"/>
              </a:buClr>
              <a:buSzPct val="80000"/>
              <a:buFont typeface="Wingdings 2" charset="2"/>
              <a:buChar char="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Arial"/>
              </a:rPr>
              <a:t>OUT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Describes the behavior of output devices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Is a relation due to device imperfections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4" name="PlaceHolder 166"/>
          <p:cNvSpPr/>
          <p:nvPr/>
        </p:nvSpPr>
        <p:spPr>
          <a:xfrm>
            <a:off x="542880" y="722880"/>
            <a:ext cx="10357200" cy="49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Formal Specification Techniques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5" name="Rechteck 2220"/>
          <p:cNvSpPr/>
          <p:nvPr/>
        </p:nvSpPr>
        <p:spPr>
          <a:xfrm>
            <a:off x="542880" y="1268280"/>
            <a:ext cx="10357200" cy="49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GB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Four Variable Model – </a:t>
            </a:r>
            <a:r>
              <a:rPr b="1" lang="de-DE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Relations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6" name="Stern: 5 Zacken 1"/>
          <p:cNvSpPr/>
          <p:nvPr/>
        </p:nvSpPr>
        <p:spPr>
          <a:xfrm>
            <a:off x="9950040" y="915480"/>
            <a:ext cx="516960" cy="496800"/>
          </a:xfrm>
          <a:prstGeom prst="star5">
            <a:avLst>
              <a:gd name="adj" fmla="val 19098"/>
              <a:gd name="hf" fmla="val 105146"/>
              <a:gd name="vf" fmla="val 110557"/>
            </a:avLst>
          </a:prstGeom>
          <a:solidFill>
            <a:srgbClr val="92d050"/>
          </a:solidFill>
          <a:ln>
            <a:solidFill>
              <a:srgbClr val="0d0d0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7" name="PlaceHolder 1"/>
          <p:cNvSpPr>
            <a:spLocks noGrp="1"/>
          </p:cNvSpPr>
          <p:nvPr>
            <p:ph/>
          </p:nvPr>
        </p:nvSpPr>
        <p:spPr>
          <a:xfrm>
            <a:off x="539640" y="1339200"/>
            <a:ext cx="11520360" cy="485856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0" rIns="0" tIns="0" bIns="0" anchor="ctr">
            <a:noAutofit/>
          </a:bodyPr>
          <a:p>
            <a:pPr marL="216000" indent="-216000">
              <a:lnSpc>
                <a:spcPct val="100000"/>
              </a:lnSpc>
              <a:spcBef>
                <a:spcPts val="1001"/>
              </a:spcBef>
              <a:buClr>
                <a:srgbClr val="008c4f"/>
              </a:buClr>
              <a:buSzPct val="80000"/>
              <a:buFont typeface="Wingdings 2" charset="2"/>
              <a:buChar char="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Arial"/>
              </a:rPr>
              <a:t>SOF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en-US" sz="1600" spc="-1" strike="noStrike">
                <a:solidFill>
                  <a:srgbClr val="000000"/>
                </a:solidFill>
                <a:latin typeface="DejaVu Sans"/>
                <a:ea typeface="Arial"/>
              </a:rPr>
              <a:t>Describes behavior of a particular software implementation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i="1" lang="en-US" sz="1600" spc="-1" strike="noStrike">
                <a:solidFill>
                  <a:srgbClr val="000000"/>
                </a:solidFill>
                <a:latin typeface="DejaVu Sans"/>
                <a:ea typeface="Arial"/>
              </a:rPr>
              <a:t>domain(SOF)</a:t>
            </a:r>
            <a:r>
              <a:rPr b="0" lang="en-US" sz="1600" spc="-1" strike="noStrike">
                <a:solidFill>
                  <a:srgbClr val="000000"/>
                </a:solidFill>
                <a:latin typeface="DejaVu Sans"/>
                <a:ea typeface="Arial"/>
              </a:rPr>
              <a:t>: set of vectors containing all possible instances of </a:t>
            </a:r>
            <a:r>
              <a:rPr b="0" i="1" lang="en-US" sz="1600" spc="-1" strike="noStrike">
                <a:solidFill>
                  <a:srgbClr val="000000"/>
                </a:solidFill>
                <a:latin typeface="DejaVu Sans"/>
                <a:ea typeface="Arial"/>
              </a:rPr>
              <a:t>i</a:t>
            </a:r>
            <a:r>
              <a:rPr b="0" i="1" lang="en-US" sz="1600" spc="-1" strike="noStrike" baseline="30000">
                <a:solidFill>
                  <a:srgbClr val="000000"/>
                </a:solidFill>
                <a:latin typeface="DejaVu Sans"/>
                <a:ea typeface="Arial"/>
              </a:rPr>
              <a:t>t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i="1" lang="en-US" sz="1600" spc="-1" strike="noStrike">
                <a:solidFill>
                  <a:srgbClr val="000000"/>
                </a:solidFill>
                <a:latin typeface="DejaVu Sans"/>
                <a:ea typeface="Arial"/>
              </a:rPr>
              <a:t>range(SOF)</a:t>
            </a:r>
            <a:r>
              <a:rPr b="0" lang="en-US" sz="1600" spc="-1" strike="noStrike">
                <a:solidFill>
                  <a:srgbClr val="000000"/>
                </a:solidFill>
                <a:latin typeface="DejaVu Sans"/>
                <a:ea typeface="Arial"/>
              </a:rPr>
              <a:t>: set of vectors containing all possible instances of </a:t>
            </a:r>
            <a:r>
              <a:rPr b="0" i="1" lang="en-US" sz="1600" spc="-1" strike="noStrike">
                <a:solidFill>
                  <a:srgbClr val="000000"/>
                </a:solidFill>
                <a:latin typeface="DejaVu Sans"/>
                <a:ea typeface="Arial"/>
              </a:rPr>
              <a:t>o</a:t>
            </a:r>
            <a:r>
              <a:rPr b="0" i="1" lang="en-US" sz="1600" spc="-1" strike="noStrike" baseline="30000">
                <a:solidFill>
                  <a:srgbClr val="000000"/>
                </a:solidFill>
                <a:latin typeface="DejaVu Sans"/>
                <a:ea typeface="Arial"/>
              </a:rPr>
              <a:t>t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i="1" lang="en-US" sz="1600" spc="-1" strike="noStrike">
                <a:solidFill>
                  <a:srgbClr val="000000"/>
                </a:solidFill>
                <a:latin typeface="DejaVu Sans"/>
                <a:ea typeface="Arial"/>
              </a:rPr>
              <a:t>(i</a:t>
            </a:r>
            <a:r>
              <a:rPr b="0" i="1" lang="en-US" sz="1600" spc="-1" strike="noStrike" baseline="30000">
                <a:solidFill>
                  <a:srgbClr val="000000"/>
                </a:solidFill>
                <a:latin typeface="DejaVu Sans"/>
                <a:ea typeface="Arial"/>
              </a:rPr>
              <a:t>t</a:t>
            </a:r>
            <a:r>
              <a:rPr b="0" i="1" lang="en-US" sz="1600" spc="-1" strike="noStrike">
                <a:solidFill>
                  <a:srgbClr val="000000"/>
                </a:solidFill>
                <a:latin typeface="DejaVu Sans"/>
                <a:ea typeface="Arial"/>
              </a:rPr>
              <a:t>, o</a:t>
            </a:r>
            <a:r>
              <a:rPr b="0" i="1" lang="en-US" sz="1600" spc="-1" strike="noStrike" baseline="30000">
                <a:solidFill>
                  <a:srgbClr val="000000"/>
                </a:solidFill>
                <a:latin typeface="DejaVu Sans"/>
                <a:ea typeface="Arial"/>
              </a:rPr>
              <a:t>t</a:t>
            </a:r>
            <a:r>
              <a:rPr b="0" i="1" lang="en-US" sz="1600" spc="-1" strike="noStrike">
                <a:solidFill>
                  <a:srgbClr val="000000"/>
                </a:solidFill>
                <a:latin typeface="DejaVu Sans"/>
                <a:ea typeface="Arial"/>
              </a:rPr>
              <a:t>) </a:t>
            </a:r>
            <a:r>
              <a:rPr b="0" lang="en-US" sz="1600" spc="-1" strike="noStrike">
                <a:solidFill>
                  <a:srgbClr val="000000"/>
                </a:solidFill>
                <a:latin typeface="DejaVu Sans"/>
                <a:ea typeface="Arial"/>
              </a:rPr>
              <a:t>∈ </a:t>
            </a:r>
            <a:r>
              <a:rPr b="0" i="1" lang="en-US" sz="1600" spc="-1" strike="noStrike">
                <a:solidFill>
                  <a:srgbClr val="000000"/>
                </a:solidFill>
                <a:latin typeface="DejaVu Sans"/>
                <a:ea typeface="Arial"/>
              </a:rPr>
              <a:t>SOF</a:t>
            </a:r>
            <a:r>
              <a:rPr b="0" lang="en-US" sz="1600" spc="-1" strike="noStrike">
                <a:solidFill>
                  <a:srgbClr val="000000"/>
                </a:solidFill>
                <a:latin typeface="DejaVu Sans"/>
                <a:ea typeface="Arial"/>
              </a:rPr>
              <a:t> iff the software could produce values described by </a:t>
            </a:r>
            <a:r>
              <a:rPr b="0" i="1" lang="en-US" sz="1600" spc="-1" strike="noStrike">
                <a:solidFill>
                  <a:srgbClr val="000000"/>
                </a:solidFill>
                <a:latin typeface="DejaVu Sans"/>
                <a:ea typeface="Arial"/>
              </a:rPr>
              <a:t>o</a:t>
            </a:r>
            <a:r>
              <a:rPr b="0" i="1" lang="en-US" sz="1600" spc="-1" strike="noStrike" baseline="30000">
                <a:solidFill>
                  <a:srgbClr val="000000"/>
                </a:solidFill>
                <a:latin typeface="DejaVu Sans"/>
                <a:ea typeface="Arial"/>
              </a:rPr>
              <a:t>t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1" lang="en-US" sz="1600" spc="-1" strike="noStrike">
                <a:solidFill>
                  <a:srgbClr val="000000"/>
                </a:solidFill>
                <a:latin typeface="DejaVu Sans"/>
                <a:ea typeface="Arial"/>
              </a:rPr>
              <a:t>Verification condition:</a:t>
            </a:r>
            <a:r>
              <a:rPr b="0" lang="en-US" sz="1600" spc="-1" strike="noStrike">
                <a:solidFill>
                  <a:srgbClr val="000000"/>
                </a:solidFill>
                <a:latin typeface="DejaVu Sans"/>
                <a:ea typeface="Arial"/>
              </a:rPr>
              <a:t> </a:t>
            </a:r>
            <a:r>
              <a:rPr b="0" i="1" lang="en-US" sz="1600" spc="-1" strike="noStrike">
                <a:solidFill>
                  <a:srgbClr val="000000"/>
                </a:solidFill>
                <a:latin typeface="DejaVu Sans"/>
                <a:ea typeface="Arial"/>
              </a:rPr>
              <a:t>SOF</a:t>
            </a:r>
            <a:r>
              <a:rPr b="0" lang="en-US" sz="1600" spc="-1" strike="noStrike">
                <a:solidFill>
                  <a:srgbClr val="000000"/>
                </a:solidFill>
                <a:latin typeface="DejaVu Sans"/>
                <a:ea typeface="Arial"/>
              </a:rPr>
              <a:t> implements a subset of </a:t>
            </a:r>
            <a:r>
              <a:rPr b="0" i="1" lang="en-US" sz="1600" spc="-1" strike="noStrike">
                <a:solidFill>
                  <a:srgbClr val="000000"/>
                </a:solidFill>
                <a:latin typeface="DejaVu Sans"/>
                <a:ea typeface="Arial"/>
              </a:rPr>
              <a:t>REQ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  <a:p>
            <a:pPr marL="1143000" indent="-263880" algn="ctr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80000"/>
              <a:buFont typeface="Wingdings 2" charset="2"/>
              <a:buChar char=""/>
              <a:tabLst>
                <a:tab algn="l" pos="0"/>
              </a:tabLst>
            </a:pPr>
            <a:r>
              <a:rPr b="0" lang="en-US" sz="1600" spc="-1" strike="noStrike">
                <a:solidFill>
                  <a:srgbClr val="000000"/>
                </a:solidFill>
                <a:latin typeface="DejaVu Sans"/>
                <a:ea typeface="Arial"/>
              </a:rPr>
              <a:t>	</a:t>
            </a:r>
            <a:r>
              <a:rPr b="0" i="1" lang="en-US" sz="1600" spc="-1" strike="noStrike">
                <a:solidFill>
                  <a:srgbClr val="000000"/>
                </a:solidFill>
                <a:latin typeface="DejaVu Sans"/>
                <a:ea typeface="Arial"/>
              </a:rPr>
              <a:t>SOF </a:t>
            </a:r>
            <a:r>
              <a:rPr b="0" lang="en-US" sz="1600" spc="-1" strike="noStrike">
                <a:solidFill>
                  <a:srgbClr val="000000"/>
                </a:solidFill>
                <a:latin typeface="DejaVu Sans"/>
                <a:ea typeface="Arial"/>
              </a:rPr>
              <a:t>⊆ </a:t>
            </a:r>
            <a:r>
              <a:rPr b="0" i="1" lang="en-US" sz="1600" spc="-1" strike="noStrike">
                <a:solidFill>
                  <a:srgbClr val="000000"/>
                </a:solidFill>
                <a:latin typeface="DejaVu Sans"/>
                <a:ea typeface="Arial"/>
              </a:rPr>
              <a:t>IN</a:t>
            </a:r>
            <a:r>
              <a:rPr b="0" i="1" lang="en-US" sz="1600" spc="-1" strike="noStrike" baseline="30000">
                <a:solidFill>
                  <a:srgbClr val="000000"/>
                </a:solidFill>
                <a:latin typeface="DejaVu Sans"/>
                <a:ea typeface="Arial"/>
              </a:rPr>
              <a:t>−1</a:t>
            </a:r>
            <a:r>
              <a:rPr b="0" i="1" lang="en-US" sz="1600" spc="-1" strike="noStrike">
                <a:solidFill>
                  <a:srgbClr val="000000"/>
                </a:solidFill>
                <a:latin typeface="DejaVu Sans"/>
                <a:ea typeface="Arial"/>
              </a:rPr>
              <a:t> ○ REQ ○ OUT</a:t>
            </a:r>
            <a:r>
              <a:rPr b="0" i="1" lang="en-US" sz="1600" spc="-1" strike="noStrike" baseline="30000">
                <a:solidFill>
                  <a:srgbClr val="000000"/>
                </a:solidFill>
                <a:latin typeface="DejaVu Sans"/>
                <a:ea typeface="Arial"/>
              </a:rPr>
              <a:t>−1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  <a:p>
            <a:pPr marL="1143000" indent="-26388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80000"/>
              <a:buFont typeface="Wingdings 2" charset="2"/>
              <a:buChar char=""/>
              <a:tabLst>
                <a:tab algn="l" pos="0"/>
              </a:tabLst>
            </a:pPr>
            <a:r>
              <a:rPr b="0" lang="en-US" sz="1600" spc="-1" strike="noStrike">
                <a:solidFill>
                  <a:srgbClr val="000000"/>
                </a:solidFill>
                <a:latin typeface="DejaVu Sans"/>
                <a:ea typeface="Arial"/>
              </a:rPr>
              <a:t>	</a:t>
            </a:r>
            <a:r>
              <a:rPr b="0" lang="en-US" sz="1600" spc="-1" strike="noStrike">
                <a:solidFill>
                  <a:srgbClr val="000000"/>
                </a:solidFill>
                <a:latin typeface="DejaVu Sans"/>
                <a:ea typeface="Arial"/>
              </a:rPr>
              <a:t>(where ○ denotes the composition of binary relations)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  <a:p>
            <a:pPr marL="1143000" indent="-26388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80000"/>
              <a:buFont typeface="Wingdings 2" charset="2"/>
              <a:buChar char=""/>
              <a:tabLst>
                <a:tab algn="l" pos="0"/>
              </a:tabLst>
            </a:pPr>
            <a:r>
              <a:rPr b="0" lang="en-US" sz="1600" spc="-1" strike="noStrike">
                <a:solidFill>
                  <a:srgbClr val="000000"/>
                </a:solidFill>
                <a:latin typeface="DejaVu Sans"/>
                <a:ea typeface="Arial"/>
              </a:rPr>
              <a:t>	</a:t>
            </a:r>
            <a:r>
              <a:rPr b="0" lang="en-US" sz="1600" spc="-1" strike="noStrike">
                <a:solidFill>
                  <a:srgbClr val="000000"/>
                </a:solidFill>
                <a:latin typeface="DejaVu Sans"/>
                <a:ea typeface="Arial"/>
              </a:rPr>
              <a:t>Often: </a:t>
            </a:r>
            <a:r>
              <a:rPr b="0" i="1" lang="en-US" sz="1600" spc="-1" strike="noStrike">
                <a:solidFill>
                  <a:srgbClr val="000000"/>
                </a:solidFill>
                <a:latin typeface="DejaVu Sans"/>
                <a:ea typeface="Arial"/>
              </a:rPr>
              <a:t>SOF = IN</a:t>
            </a:r>
            <a:r>
              <a:rPr b="0" i="1" lang="en-US" sz="1600" spc="-1" strike="noStrike" baseline="30000">
                <a:solidFill>
                  <a:srgbClr val="000000"/>
                </a:solidFill>
                <a:latin typeface="DejaVu Sans"/>
                <a:ea typeface="Arial"/>
              </a:rPr>
              <a:t>−1</a:t>
            </a:r>
            <a:r>
              <a:rPr b="0" i="1" lang="en-US" sz="1600" spc="-1" strike="noStrike">
                <a:solidFill>
                  <a:srgbClr val="000000"/>
                </a:solidFill>
                <a:latin typeface="DejaVu Sans"/>
                <a:ea typeface="Arial"/>
              </a:rPr>
              <a:t> ○ REQ ○ OUT</a:t>
            </a:r>
            <a:r>
              <a:rPr b="0" i="1" lang="en-US" sz="1600" spc="-1" strike="noStrike" baseline="30000">
                <a:solidFill>
                  <a:srgbClr val="000000"/>
                </a:solidFill>
                <a:latin typeface="DejaVu Sans"/>
                <a:ea typeface="Arial"/>
              </a:rPr>
              <a:t>−1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8" name="PlaceHolder 167"/>
          <p:cNvSpPr/>
          <p:nvPr/>
        </p:nvSpPr>
        <p:spPr>
          <a:xfrm>
            <a:off x="542880" y="723240"/>
            <a:ext cx="10357200" cy="49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Formal Specification Techniques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9" name="Rechteck 2223"/>
          <p:cNvSpPr/>
          <p:nvPr/>
        </p:nvSpPr>
        <p:spPr>
          <a:xfrm>
            <a:off x="542880" y="1268640"/>
            <a:ext cx="10357200" cy="49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GB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Four Variable Model – </a:t>
            </a:r>
            <a:r>
              <a:rPr b="1" lang="de-DE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Relations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0" name="Stern: 5 Zacken 1"/>
          <p:cNvSpPr/>
          <p:nvPr/>
        </p:nvSpPr>
        <p:spPr>
          <a:xfrm>
            <a:off x="9950040" y="932760"/>
            <a:ext cx="516960" cy="496800"/>
          </a:xfrm>
          <a:prstGeom prst="star5">
            <a:avLst>
              <a:gd name="adj" fmla="val 19098"/>
              <a:gd name="hf" fmla="val 105146"/>
              <a:gd name="vf" fmla="val 110557"/>
            </a:avLst>
          </a:prstGeom>
          <a:solidFill>
            <a:srgbClr val="92d050"/>
          </a:solidFill>
          <a:ln>
            <a:solidFill>
              <a:srgbClr val="0d0d0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1" name="PlaceHolder 1"/>
          <p:cNvSpPr>
            <a:spLocks noGrp="1"/>
          </p:cNvSpPr>
          <p:nvPr>
            <p:ph/>
          </p:nvPr>
        </p:nvSpPr>
        <p:spPr>
          <a:xfrm>
            <a:off x="539640" y="1339200"/>
            <a:ext cx="11520360" cy="485856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0" rIns="0" tIns="0" bIns="0" anchor="ctr">
            <a:noAutofit/>
          </a:bodyPr>
          <a:p>
            <a:pPr marL="216000" indent="-216000">
              <a:lnSpc>
                <a:spcPct val="100000"/>
              </a:lnSpc>
              <a:spcBef>
                <a:spcPts val="1001"/>
              </a:spcBef>
              <a:buClr>
                <a:srgbClr val="008c4f"/>
              </a:buClr>
              <a:buSzPct val="80000"/>
              <a:buFont typeface="Wingdings 2" charset="2"/>
              <a:buChar char="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Arial"/>
              </a:rPr>
              <a:t>SOFREQ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Characterizes all acceptable software behavior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SOFREQ corresponds on the software level to REQ on the system level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It consists of all tuples </a:t>
            </a:r>
            <a:r>
              <a:rPr b="0" i="1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(i </a:t>
            </a:r>
            <a:r>
              <a:rPr b="0" i="1" lang="en-US" sz="1800" spc="-1" strike="noStrike" baseline="30000">
                <a:solidFill>
                  <a:srgbClr val="000000"/>
                </a:solidFill>
                <a:latin typeface="DejaVu Sans"/>
                <a:ea typeface="Arial"/>
              </a:rPr>
              <a:t>t</a:t>
            </a:r>
            <a:r>
              <a:rPr b="0" i="1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, o </a:t>
            </a:r>
            <a:r>
              <a:rPr b="0" i="1" lang="en-US" sz="1800" spc="-1" strike="noStrike" baseline="30000">
                <a:solidFill>
                  <a:srgbClr val="000000"/>
                </a:solidFill>
                <a:latin typeface="DejaVu Sans"/>
                <a:ea typeface="Arial"/>
              </a:rPr>
              <a:t>t</a:t>
            </a:r>
            <a:r>
              <a:rPr b="0" i="1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)</a:t>
            </a: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 satisfying for all </a:t>
            </a:r>
            <a:r>
              <a:rPr b="0" i="1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m</a:t>
            </a:r>
            <a:r>
              <a:rPr b="0" i="1" lang="en-US" sz="1800" spc="-1" strike="noStrike" baseline="30000">
                <a:solidFill>
                  <a:srgbClr val="000000"/>
                </a:solidFill>
                <a:latin typeface="DejaVu Sans"/>
                <a:ea typeface="Arial"/>
              </a:rPr>
              <a:t>t</a:t>
            </a:r>
            <a:r>
              <a:rPr b="0" i="1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, c</a:t>
            </a:r>
            <a:r>
              <a:rPr b="0" i="1" lang="en-US" sz="1800" spc="-1" strike="noStrike" baseline="30000">
                <a:solidFill>
                  <a:srgbClr val="000000"/>
                </a:solidFill>
                <a:latin typeface="DejaVu Sans"/>
                <a:ea typeface="Arial"/>
              </a:rPr>
              <a:t>t</a:t>
            </a:r>
            <a:r>
              <a:rPr b="0" i="1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 </a:t>
            </a: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: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1143000" indent="-26388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80000"/>
              <a:buFont typeface="Wingdings 2" charset="2"/>
              <a:buChar char="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	</a:t>
            </a:r>
            <a:r>
              <a:rPr b="0" i="1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(IN(m</a:t>
            </a:r>
            <a:r>
              <a:rPr b="0" i="1" lang="en-US" sz="1800" spc="-1" strike="noStrike" baseline="30000">
                <a:solidFill>
                  <a:srgbClr val="000000"/>
                </a:solidFill>
                <a:latin typeface="DejaVu Sans"/>
                <a:ea typeface="Arial"/>
              </a:rPr>
              <a:t>t</a:t>
            </a:r>
            <a:r>
              <a:rPr b="0" i="1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 ,i</a:t>
            </a:r>
            <a:r>
              <a:rPr b="0" i="1" lang="en-US" sz="1800" spc="-1" strike="noStrike" baseline="30000">
                <a:solidFill>
                  <a:srgbClr val="000000"/>
                </a:solidFill>
                <a:latin typeface="DejaVu Sans"/>
                <a:ea typeface="Arial"/>
              </a:rPr>
              <a:t>t</a:t>
            </a:r>
            <a:r>
              <a:rPr b="0" i="1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)</a:t>
            </a: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 ⋀ </a:t>
            </a:r>
            <a:r>
              <a:rPr b="0" i="1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OUT(o</a:t>
            </a:r>
            <a:r>
              <a:rPr b="0" i="1" lang="en-US" sz="1800" spc="-1" strike="noStrike" baseline="30000">
                <a:solidFill>
                  <a:srgbClr val="000000"/>
                </a:solidFill>
                <a:latin typeface="DejaVu Sans"/>
                <a:ea typeface="Arial"/>
              </a:rPr>
              <a:t>t</a:t>
            </a:r>
            <a:r>
              <a:rPr b="0" i="1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, c</a:t>
            </a:r>
            <a:r>
              <a:rPr b="0" i="1" lang="en-US" sz="1800" spc="-1" strike="noStrike" baseline="30000">
                <a:solidFill>
                  <a:srgbClr val="000000"/>
                </a:solidFill>
                <a:latin typeface="DejaVu Sans"/>
                <a:ea typeface="Arial"/>
              </a:rPr>
              <a:t>t</a:t>
            </a:r>
            <a:r>
              <a:rPr b="0" i="1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)</a:t>
            </a: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 ⋀ </a:t>
            </a:r>
            <a:r>
              <a:rPr b="0" i="1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NAT(m</a:t>
            </a:r>
            <a:r>
              <a:rPr b="0" i="1" lang="en-US" sz="1800" spc="-1" strike="noStrike" baseline="30000">
                <a:solidFill>
                  <a:srgbClr val="000000"/>
                </a:solidFill>
                <a:latin typeface="DejaVu Sans"/>
                <a:ea typeface="Arial"/>
              </a:rPr>
              <a:t>t</a:t>
            </a:r>
            <a:r>
              <a:rPr b="0" i="1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, c</a:t>
            </a:r>
            <a:r>
              <a:rPr b="0" i="1" lang="en-US" sz="1800" spc="-1" strike="noStrike" baseline="30000">
                <a:solidFill>
                  <a:srgbClr val="000000"/>
                </a:solidFill>
                <a:latin typeface="DejaVu Sans"/>
                <a:ea typeface="Arial"/>
              </a:rPr>
              <a:t>t</a:t>
            </a:r>
            <a:r>
              <a:rPr b="0" i="1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))</a:t>
            </a: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 → </a:t>
            </a:r>
            <a:r>
              <a:rPr b="0" i="1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REQ(m</a:t>
            </a:r>
            <a:r>
              <a:rPr b="0" i="1" lang="en-US" sz="1800" spc="-1" strike="noStrike" baseline="30000">
                <a:solidFill>
                  <a:srgbClr val="000000"/>
                </a:solidFill>
                <a:latin typeface="DejaVu Sans"/>
                <a:ea typeface="Arial"/>
              </a:rPr>
              <a:t>t</a:t>
            </a:r>
            <a:r>
              <a:rPr b="0" i="1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, c</a:t>
            </a:r>
            <a:r>
              <a:rPr b="0" i="1" lang="en-US" sz="1800" spc="-1" strike="noStrike" baseline="30000">
                <a:solidFill>
                  <a:srgbClr val="000000"/>
                </a:solidFill>
                <a:latin typeface="DejaVu Sans"/>
                <a:ea typeface="Arial"/>
              </a:rPr>
              <a:t>t</a:t>
            </a:r>
            <a:r>
              <a:rPr b="0" i="1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)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2" name="PlaceHolder 168"/>
          <p:cNvSpPr/>
          <p:nvPr/>
        </p:nvSpPr>
        <p:spPr>
          <a:xfrm>
            <a:off x="542880" y="723240"/>
            <a:ext cx="10357200" cy="49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Formal Specification Techniques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3" name="Rechteck 2226"/>
          <p:cNvSpPr/>
          <p:nvPr/>
        </p:nvSpPr>
        <p:spPr>
          <a:xfrm>
            <a:off x="542880" y="1268640"/>
            <a:ext cx="10357200" cy="49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GB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Four Variable Model – </a:t>
            </a:r>
            <a:r>
              <a:rPr b="1" lang="de-DE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Relations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4" name="Stern: 5 Zacken 1"/>
          <p:cNvSpPr/>
          <p:nvPr/>
        </p:nvSpPr>
        <p:spPr>
          <a:xfrm>
            <a:off x="9950040" y="915480"/>
            <a:ext cx="516960" cy="496800"/>
          </a:xfrm>
          <a:prstGeom prst="star5">
            <a:avLst>
              <a:gd name="adj" fmla="val 19098"/>
              <a:gd name="hf" fmla="val 105146"/>
              <a:gd name="vf" fmla="val 110557"/>
            </a:avLst>
          </a:prstGeom>
          <a:solidFill>
            <a:srgbClr val="92d050"/>
          </a:solidFill>
          <a:ln>
            <a:solidFill>
              <a:srgbClr val="0d0d0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5" name="PlaceHolder 1"/>
          <p:cNvSpPr>
            <a:spLocks noGrp="1"/>
          </p:cNvSpPr>
          <p:nvPr>
            <p:ph/>
          </p:nvPr>
        </p:nvSpPr>
        <p:spPr>
          <a:xfrm>
            <a:off x="539640" y="1339200"/>
            <a:ext cx="10730880" cy="485856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0" rIns="0" tIns="0" bIns="0" anchor="ctr">
            <a:noAutofit/>
          </a:bodyPr>
          <a:p>
            <a:pPr marL="216000" indent="-216000">
              <a:lnSpc>
                <a:spcPct val="100000"/>
              </a:lnSpc>
              <a:spcBef>
                <a:spcPts val="1001"/>
              </a:spcBef>
              <a:buClr>
                <a:srgbClr val="008c4f"/>
              </a:buClr>
              <a:buSzPct val="80000"/>
              <a:buFont typeface="Wingdings 2" charset="2"/>
              <a:buChar char=""/>
              <a:tabLst>
                <a:tab algn="l" pos="0"/>
              </a:tabLst>
            </a:pPr>
            <a:r>
              <a:rPr b="0" lang="en-US" sz="2000" spc="-1" strike="noStrike" u="sng">
                <a:solidFill>
                  <a:srgbClr val="008c4f"/>
                </a:solidFill>
                <a:uFillTx/>
                <a:latin typeface="DejaVu Sans"/>
                <a:ea typeface="Arial"/>
              </a:rPr>
              <a:t>Feasibility</a:t>
            </a: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Arial"/>
              </a:rPr>
              <a:t> of REQ w.r.t. NAT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Requirements should specify behavior for all cases that can arise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i="1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domain(NAT)</a:t>
            </a: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 ⊆ </a:t>
            </a:r>
            <a:r>
              <a:rPr b="0" i="1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domain(REQ)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i="1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domain(NAT </a:t>
            </a: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⋂ </a:t>
            </a:r>
            <a:r>
              <a:rPr b="0" i="1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REQ)</a:t>
            </a: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 = </a:t>
            </a:r>
            <a:r>
              <a:rPr b="0" i="1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domain(NAT)</a:t>
            </a: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 ⋂ </a:t>
            </a:r>
            <a:r>
              <a:rPr b="0" i="1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domain(REQ) = domain(NAT)</a:t>
            </a: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 </a:t>
            </a:r>
            <a:br>
              <a:rPr sz="3200"/>
            </a:br>
            <a:r>
              <a:rPr b="0" i="1" lang="en-US" sz="1600" spc="-1" strike="noStrike">
                <a:solidFill>
                  <a:srgbClr val="000000"/>
                </a:solidFill>
                <a:latin typeface="DejaVu Sans"/>
                <a:ea typeface="DejaVu Sans"/>
              </a:rPr>
              <a:t> 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001"/>
              </a:spcBef>
              <a:buClr>
                <a:srgbClr val="008c4f"/>
              </a:buClr>
              <a:buSzPct val="80000"/>
              <a:buFont typeface="Wingdings 2" charset="2"/>
              <a:buChar char=""/>
              <a:tabLst>
                <a:tab algn="l" pos="0"/>
              </a:tabLst>
            </a:pPr>
            <a:r>
              <a:rPr b="0" lang="en-US" sz="2000" spc="-1" strike="noStrike" u="sng">
                <a:solidFill>
                  <a:srgbClr val="008c4f"/>
                </a:solidFill>
                <a:uFillTx/>
                <a:latin typeface="DejaVu Sans"/>
                <a:ea typeface="Arial"/>
              </a:rPr>
              <a:t>Acceptability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Describes the behavior that the software must exhibit to be acceptable for use and for the requirements to be satisfied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NAT ⋂ (IN ○ SOF ○ OUT) ⊆ REQ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6" name="PlaceHolder 169"/>
          <p:cNvSpPr/>
          <p:nvPr/>
        </p:nvSpPr>
        <p:spPr>
          <a:xfrm>
            <a:off x="542880" y="723240"/>
            <a:ext cx="10357200" cy="49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Formal Specification Techniques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7" name="Rechteck 2229"/>
          <p:cNvSpPr/>
          <p:nvPr/>
        </p:nvSpPr>
        <p:spPr>
          <a:xfrm>
            <a:off x="542880" y="1268640"/>
            <a:ext cx="10357200" cy="49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GB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Four Variable Model – </a:t>
            </a:r>
            <a:r>
              <a:rPr b="1" lang="de-DE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Feasibility and Acceptability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8" name="Stern: 5 Zacken 1"/>
          <p:cNvSpPr/>
          <p:nvPr/>
        </p:nvSpPr>
        <p:spPr>
          <a:xfrm>
            <a:off x="9950040" y="915480"/>
            <a:ext cx="516960" cy="496800"/>
          </a:xfrm>
          <a:prstGeom prst="star5">
            <a:avLst>
              <a:gd name="adj" fmla="val 19098"/>
              <a:gd name="hf" fmla="val 105146"/>
              <a:gd name="vf" fmla="val 110557"/>
            </a:avLst>
          </a:prstGeom>
          <a:solidFill>
            <a:srgbClr val="92d050"/>
          </a:solidFill>
          <a:ln>
            <a:solidFill>
              <a:srgbClr val="0d0d0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9" name="PlaceHolder 14"/>
          <p:cNvSpPr/>
          <p:nvPr/>
        </p:nvSpPr>
        <p:spPr>
          <a:xfrm>
            <a:off x="542880" y="721800"/>
            <a:ext cx="10357200" cy="49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GB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Lecture 4: Requirements Documentation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0" name="Rechteck 334"/>
          <p:cNvSpPr/>
          <p:nvPr/>
        </p:nvSpPr>
        <p:spPr>
          <a:xfrm>
            <a:off x="542880" y="1267200"/>
            <a:ext cx="10357200" cy="49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de-DE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Content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1" name="HSN-Hierarchy 26"/>
          <p:cNvSpPr/>
          <p:nvPr/>
        </p:nvSpPr>
        <p:spPr>
          <a:xfrm>
            <a:off x="539640" y="1709280"/>
            <a:ext cx="8224560" cy="435276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0" rIns="0" tIns="45000" bIns="45000" anchor="ctr">
            <a:noAutofit/>
          </a:bodyPr>
          <a:p>
            <a:pPr marL="343080" indent="-343080">
              <a:lnSpc>
                <a:spcPct val="100000"/>
              </a:lnSpc>
              <a:spcAft>
                <a:spcPts val="601"/>
              </a:spcAft>
              <a:buClr>
                <a:srgbClr val="000000"/>
              </a:buClr>
              <a:buFont typeface="StarSymbol"/>
              <a:buAutoNum type="arabicPeriod"/>
              <a:tabLst>
                <a:tab algn="l" pos="0"/>
              </a:tabLst>
            </a:pPr>
            <a:r>
              <a:rPr b="0" lang="en-GB" sz="1800" spc="-1" strike="noStrike">
                <a:solidFill>
                  <a:srgbClr val="000000"/>
                </a:solidFill>
                <a:latin typeface="DejaVu Sans"/>
                <a:ea typeface="Arial"/>
              </a:rPr>
              <a:t>Model-based Requirements Documentation</a:t>
            </a:r>
            <a:r>
              <a:rPr b="0" lang="fr-FR" sz="1800" spc="-1" strike="noStrike">
                <a:solidFill>
                  <a:srgbClr val="000000"/>
                </a:solidFill>
                <a:latin typeface="DejaVu Sans"/>
                <a:ea typeface="Arial"/>
              </a:rPr>
              <a:t> Techniques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>
              <a:lnSpc>
                <a:spcPct val="100000"/>
              </a:lnSpc>
              <a:spcAft>
                <a:spcPts val="601"/>
              </a:spcAft>
              <a:buClr>
                <a:srgbClr val="000000"/>
              </a:buClr>
              <a:buFont typeface="StarSymbol"/>
              <a:buAutoNum type="arabicPeriod"/>
              <a:tabLst>
                <a:tab algn="l" pos="0"/>
              </a:tabLst>
            </a:pPr>
            <a:r>
              <a:rPr b="0" lang="en-GB" sz="1800" spc="-1" strike="noStrike">
                <a:solidFill>
                  <a:srgbClr val="000000"/>
                </a:solidFill>
                <a:latin typeface="DejaVu Sans"/>
                <a:ea typeface="Arial"/>
              </a:rPr>
              <a:t>Formal Specification Techniques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>
              <a:lnSpc>
                <a:spcPct val="100000"/>
              </a:lnSpc>
              <a:spcAft>
                <a:spcPts val="601"/>
              </a:spcAft>
              <a:buClr>
                <a:srgbClr val="000000"/>
              </a:buClr>
              <a:buFont typeface="StarSymbol"/>
              <a:buAutoNum type="arabicPeriod"/>
              <a:tabLst>
                <a:tab algn="l" pos="0"/>
              </a:tabLst>
            </a:pPr>
            <a:r>
              <a:rPr b="0" lang="en-GB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Coloured Petri Nets (CPNs)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>
              <a:lnSpc>
                <a:spcPct val="100000"/>
              </a:lnSpc>
              <a:spcAft>
                <a:spcPts val="601"/>
              </a:spcAft>
              <a:buClr>
                <a:srgbClr val="000000"/>
              </a:buClr>
              <a:buFont typeface="StarSymbol"/>
              <a:buAutoNum type="arabicPeriod"/>
              <a:tabLst>
                <a:tab algn="l" pos="0"/>
              </a:tabLst>
            </a:pPr>
            <a:r>
              <a:rPr b="0" lang="en-GB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AOM → CPN Mapping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>
              <a:lnSpc>
                <a:spcPct val="100000"/>
              </a:lnSpc>
              <a:spcAft>
                <a:spcPts val="601"/>
              </a:spcAft>
              <a:buClr>
                <a:srgbClr val="000000"/>
              </a:buClr>
              <a:buFont typeface="StarSymbol"/>
              <a:buAutoNum type="arabicPeriod"/>
              <a:tabLst>
                <a:tab algn="l" pos="0"/>
              </a:tabLst>
            </a:pPr>
            <a:r>
              <a:rPr b="0" lang="en-GB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Four Variable Model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800280" indent="-343080">
              <a:lnSpc>
                <a:spcPct val="100000"/>
              </a:lnSpc>
              <a:spcAft>
                <a:spcPts val="601"/>
              </a:spcAft>
              <a:buClr>
                <a:srgbClr val="000000"/>
              </a:buClr>
              <a:buFont typeface="StarSymbol"/>
              <a:buAutoNum type="arabicPeriod"/>
              <a:tabLst>
                <a:tab algn="l" pos="0"/>
              </a:tabLst>
            </a:pPr>
            <a:r>
              <a:rPr b="1" lang="en-GB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NRL / SCR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2" name="PlaceHolder 1"/>
          <p:cNvSpPr>
            <a:spLocks noGrp="1"/>
          </p:cNvSpPr>
          <p:nvPr>
            <p:ph/>
          </p:nvPr>
        </p:nvSpPr>
        <p:spPr>
          <a:xfrm>
            <a:off x="539640" y="1339200"/>
            <a:ext cx="10730880" cy="528588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0" rIns="0" tIns="0" bIns="0" anchor="ctr">
            <a:noAutofit/>
          </a:bodyPr>
          <a:p>
            <a:pPr marL="216000" indent="-216000">
              <a:lnSpc>
                <a:spcPct val="100000"/>
              </a:lnSpc>
              <a:spcBef>
                <a:spcPts val="1001"/>
              </a:spcBef>
              <a:buClr>
                <a:srgbClr val="008c4f"/>
              </a:buClr>
              <a:buSzPct val="80000"/>
              <a:buFont typeface="Wingdings 2" charset="2"/>
              <a:buChar char="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Arial"/>
              </a:rPr>
              <a:t>Tabular notations → precise and compact notation for requirements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001"/>
              </a:spcBef>
              <a:buClr>
                <a:srgbClr val="008c4f"/>
              </a:buClr>
              <a:buSzPct val="80000"/>
              <a:buFont typeface="Wingdings 2" charset="2"/>
              <a:buChar char="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Arial"/>
              </a:rPr>
              <a:t>Applications → avionics systems, controlling nuclear power plants, telephone networks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001"/>
              </a:spcBef>
              <a:buClr>
                <a:srgbClr val="008c4f"/>
              </a:buClr>
              <a:buSzPct val="80000"/>
              <a:buFont typeface="Wingdings 2" charset="2"/>
              <a:buChar char="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Arial"/>
              </a:rPr>
              <a:t>Can be used for automatic analysis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001"/>
              </a:spcBef>
              <a:buClr>
                <a:srgbClr val="008c4f"/>
              </a:buClr>
              <a:buSzPct val="80000"/>
              <a:buFont typeface="Wingdings 2" charset="2"/>
              <a:buChar char="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Arial"/>
              </a:rPr>
              <a:t>History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1978: flight program of the A-7 aircraft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Real-time, embedded system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Organizations: Bell Laboratories, Ontario Hydro, Naval Research Laboratory, Lockheed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Applications: submarine communication system, shutdown system for the Darlington nuclear power plant, flight program for Lockheed’s C130J aircraft.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3" name="PlaceHolder 171"/>
          <p:cNvSpPr/>
          <p:nvPr/>
        </p:nvSpPr>
        <p:spPr>
          <a:xfrm>
            <a:off x="542880" y="723600"/>
            <a:ext cx="10357200" cy="49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Formal Specification Techniques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4" name="Rechteck 209"/>
          <p:cNvSpPr/>
          <p:nvPr/>
        </p:nvSpPr>
        <p:spPr>
          <a:xfrm>
            <a:off x="542880" y="1267200"/>
            <a:ext cx="10356120" cy="49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NRL / SCR – Motivation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5" name="Stern: 5 Zacken 1"/>
          <p:cNvSpPr/>
          <p:nvPr/>
        </p:nvSpPr>
        <p:spPr>
          <a:xfrm>
            <a:off x="9950040" y="924120"/>
            <a:ext cx="516960" cy="496800"/>
          </a:xfrm>
          <a:prstGeom prst="star5">
            <a:avLst>
              <a:gd name="adj" fmla="val 19098"/>
              <a:gd name="hf" fmla="val 105146"/>
              <a:gd name="vf" fmla="val 110557"/>
            </a:avLst>
          </a:prstGeom>
          <a:solidFill>
            <a:srgbClr val="92d050"/>
          </a:solidFill>
          <a:ln>
            <a:solidFill>
              <a:srgbClr val="0d0d0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6" name="PlaceHolder 1"/>
          <p:cNvSpPr>
            <a:spLocks noGrp="1"/>
          </p:cNvSpPr>
          <p:nvPr>
            <p:ph/>
          </p:nvPr>
        </p:nvSpPr>
        <p:spPr>
          <a:xfrm>
            <a:off x="539640" y="1339200"/>
            <a:ext cx="10730880" cy="485856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0" rIns="0" tIns="0" bIns="0" anchor="ctr">
            <a:noAutofit/>
          </a:bodyPr>
          <a:p>
            <a:pPr marL="216000" indent="-216000">
              <a:lnSpc>
                <a:spcPct val="100000"/>
              </a:lnSpc>
              <a:spcBef>
                <a:spcPts val="1001"/>
              </a:spcBef>
              <a:buClr>
                <a:srgbClr val="008c4f"/>
              </a:buClr>
              <a:buSzPct val="80000"/>
              <a:buFont typeface="Wingdings 2" charset="2"/>
              <a:buChar char="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Arial"/>
              </a:rPr>
              <a:t>Behavior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Non-deterministic system environment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Deterministic system behavior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001"/>
              </a:spcBef>
              <a:buClr>
                <a:srgbClr val="008c4f"/>
              </a:buClr>
              <a:buSzPct val="80000"/>
              <a:buFont typeface="Wingdings 2" charset="2"/>
              <a:buChar char="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Arial"/>
              </a:rPr>
              <a:t>4VM → Monitored and controlled variables, NAT, REQ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001"/>
              </a:spcBef>
              <a:buClr>
                <a:srgbClr val="008c4f"/>
              </a:buClr>
              <a:buSzPct val="80000"/>
              <a:buFont typeface="Wingdings 2" charset="2"/>
              <a:buChar char="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Arial"/>
              </a:rPr>
              <a:t>Model: System is represented as labeled transition system (LTS), responds to each monitored event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001"/>
              </a:spcBef>
              <a:buClr>
                <a:srgbClr val="008c4f"/>
              </a:buClr>
              <a:buSzPct val="80000"/>
              <a:buFont typeface="Wingdings 2" charset="2"/>
              <a:buChar char="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Arial"/>
              </a:rPr>
              <a:t>Synchronous behavior: The system completely processes one set of inputs before processing the next state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001"/>
              </a:spcBef>
              <a:buClr>
                <a:srgbClr val="008c4f"/>
              </a:buClr>
              <a:buSzPct val="80000"/>
              <a:buFont typeface="Wingdings 2" charset="2"/>
              <a:buChar char="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Arial"/>
              </a:rPr>
              <a:t>One input assumption:</a:t>
            </a:r>
            <a:r>
              <a:rPr b="1" lang="en-US" sz="2000" spc="-1" strike="noStrike">
                <a:solidFill>
                  <a:srgbClr val="000000"/>
                </a:solidFill>
                <a:latin typeface="DejaVu Sans"/>
                <a:ea typeface="Arial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Arial"/>
              </a:rPr>
              <a:t>At most one monitored variable is allowed to change from one state to the next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7" name="PlaceHolder 172"/>
          <p:cNvSpPr/>
          <p:nvPr/>
        </p:nvSpPr>
        <p:spPr>
          <a:xfrm>
            <a:off x="542880" y="723960"/>
            <a:ext cx="10357200" cy="49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Formal Specification Techniques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8" name="Rechteck 2238"/>
          <p:cNvSpPr/>
          <p:nvPr/>
        </p:nvSpPr>
        <p:spPr>
          <a:xfrm>
            <a:off x="542880" y="1269360"/>
            <a:ext cx="10357200" cy="49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NRL / SCR – </a:t>
            </a:r>
            <a:r>
              <a:rPr b="1" lang="de-DE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SCR Formal Model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9" name="Stern: 5 Zacken 1"/>
          <p:cNvSpPr/>
          <p:nvPr/>
        </p:nvSpPr>
        <p:spPr>
          <a:xfrm>
            <a:off x="9950040" y="915480"/>
            <a:ext cx="516960" cy="496800"/>
          </a:xfrm>
          <a:prstGeom prst="star5">
            <a:avLst>
              <a:gd name="adj" fmla="val 19098"/>
              <a:gd name="hf" fmla="val 105146"/>
              <a:gd name="vf" fmla="val 110557"/>
            </a:avLst>
          </a:prstGeom>
          <a:solidFill>
            <a:srgbClr val="92d050"/>
          </a:solidFill>
          <a:ln>
            <a:solidFill>
              <a:srgbClr val="0d0d0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PlaceHolder 1"/>
          <p:cNvSpPr>
            <a:spLocks noGrp="1"/>
          </p:cNvSpPr>
          <p:nvPr>
            <p:ph/>
          </p:nvPr>
        </p:nvSpPr>
        <p:spPr>
          <a:xfrm>
            <a:off x="539640" y="1339200"/>
            <a:ext cx="10730880" cy="485856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0" rIns="0" tIns="0" bIns="0" anchor="ctr">
            <a:noAutofit/>
          </a:bodyPr>
          <a:p>
            <a:pPr marL="216000" indent="-216000">
              <a:lnSpc>
                <a:spcPct val="100000"/>
              </a:lnSpc>
              <a:spcBef>
                <a:spcPts val="1001"/>
              </a:spcBef>
              <a:buClr>
                <a:srgbClr val="008c4f"/>
              </a:buClr>
              <a:buSzPct val="80000"/>
              <a:buFont typeface="Wingdings 2" charset="2"/>
              <a:buChar char="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Arial"/>
              </a:rPr>
              <a:t>Auxiliary variables: (specification of </a:t>
            </a:r>
            <a:r>
              <a:rPr b="0" i="1" lang="en-US" sz="2000" spc="-1" strike="noStrike">
                <a:solidFill>
                  <a:srgbClr val="000000"/>
                </a:solidFill>
                <a:latin typeface="DejaVu Sans"/>
                <a:ea typeface="Arial"/>
              </a:rPr>
              <a:t>REQ</a:t>
            </a: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Arial"/>
              </a:rPr>
              <a:t>)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Mode classes: values are called modes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Modes: equivalence class of system states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Terms: internal variables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28600" indent="0">
              <a:lnSpc>
                <a:spcPct val="9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921"/>
              </a:spcBef>
              <a:buClr>
                <a:srgbClr val="008c4f"/>
              </a:buClr>
              <a:buSzPct val="80000"/>
              <a:buFont typeface="Wingdings 2" charset="2"/>
              <a:buChar char="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Arial"/>
              </a:rPr>
              <a:t>System: labeled transition system </a:t>
            </a:r>
            <a:r>
              <a:rPr b="0" i="1" lang="en-US" sz="2000" spc="-1" strike="noStrike">
                <a:solidFill>
                  <a:srgbClr val="000000"/>
                </a:solidFill>
                <a:latin typeface="DejaVu Sans"/>
                <a:ea typeface="Arial"/>
              </a:rPr>
              <a:t>(S, I, E</a:t>
            </a:r>
            <a:r>
              <a:rPr b="0" i="1" lang="en-US" sz="2000" spc="-1" strike="noStrike" baseline="30000">
                <a:solidFill>
                  <a:srgbClr val="000000"/>
                </a:solidFill>
                <a:latin typeface="DejaVu Sans"/>
                <a:ea typeface="Arial"/>
              </a:rPr>
              <a:t>m</a:t>
            </a:r>
            <a:r>
              <a:rPr b="0" i="1" lang="en-US" sz="2000" spc="-1" strike="noStrike">
                <a:solidFill>
                  <a:srgbClr val="000000"/>
                </a:solidFill>
                <a:latin typeface="DejaVu Sans"/>
                <a:ea typeface="Arial"/>
              </a:rPr>
              <a:t>,</a:t>
            </a: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Arial"/>
              </a:rPr>
              <a:t>→</a:t>
            </a:r>
            <a:r>
              <a:rPr b="0" i="1" lang="en-US" sz="2000" spc="-1" strike="noStrike">
                <a:solidFill>
                  <a:srgbClr val="000000"/>
                </a:solidFill>
                <a:latin typeface="DejaVu Sans"/>
                <a:ea typeface="Arial"/>
              </a:rPr>
              <a:t>)</a:t>
            </a: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Arial"/>
              </a:rPr>
              <a:t> consisting of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States </a:t>
            </a:r>
            <a:r>
              <a:rPr b="0" i="1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S</a:t>
            </a: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, initial states </a:t>
            </a:r>
            <a:r>
              <a:rPr b="0" i="1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I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Labels </a:t>
            </a:r>
            <a:r>
              <a:rPr b="0" i="1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E</a:t>
            </a:r>
            <a:r>
              <a:rPr b="0" i="1" lang="en-US" sz="1800" spc="-1" strike="noStrike" baseline="30000">
                <a:solidFill>
                  <a:srgbClr val="000000"/>
                </a:solidFill>
                <a:latin typeface="DejaVu Sans"/>
                <a:ea typeface="Arial"/>
              </a:rPr>
              <a:t>m</a:t>
            </a: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 (set of monitored events)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Transition relation → realized as a function that maps a monitored event </a:t>
            </a:r>
            <a:r>
              <a:rPr b="0" i="1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e</a:t>
            </a: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 ∈ </a:t>
            </a:r>
            <a:r>
              <a:rPr b="0" i="1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E</a:t>
            </a:r>
            <a:r>
              <a:rPr b="0" i="1" lang="en-US" sz="1800" spc="-1" strike="noStrike" baseline="30000">
                <a:solidFill>
                  <a:srgbClr val="000000"/>
                </a:solidFill>
                <a:latin typeface="DejaVu Sans"/>
                <a:ea typeface="Arial"/>
              </a:rPr>
              <a:t>m</a:t>
            </a: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 and the current state </a:t>
            </a:r>
            <a:r>
              <a:rPr b="0" i="1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s</a:t>
            </a: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 ∈ </a:t>
            </a:r>
            <a:r>
              <a:rPr b="0" i="1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S</a:t>
            </a: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 to the next state </a:t>
            </a:r>
            <a:r>
              <a:rPr b="0" i="1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s</a:t>
            </a: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’ ∈ </a:t>
            </a:r>
            <a:r>
              <a:rPr b="0" i="1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1" name="PlaceHolder 173"/>
          <p:cNvSpPr/>
          <p:nvPr/>
        </p:nvSpPr>
        <p:spPr>
          <a:xfrm>
            <a:off x="542880" y="724320"/>
            <a:ext cx="10357200" cy="49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de-DE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Formal Specification Techniques / NRL / SCR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2" name="Rechteck 2241"/>
          <p:cNvSpPr/>
          <p:nvPr/>
        </p:nvSpPr>
        <p:spPr>
          <a:xfrm>
            <a:off x="542880" y="1269720"/>
            <a:ext cx="10357200" cy="49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NRL / SCR – </a:t>
            </a:r>
            <a:r>
              <a:rPr b="1" lang="de-DE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SCR Formal Model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3" name="Stern: 5 Zacken 1"/>
          <p:cNvSpPr/>
          <p:nvPr/>
        </p:nvSpPr>
        <p:spPr>
          <a:xfrm>
            <a:off x="9950040" y="915480"/>
            <a:ext cx="516960" cy="496800"/>
          </a:xfrm>
          <a:prstGeom prst="star5">
            <a:avLst>
              <a:gd name="adj" fmla="val 19098"/>
              <a:gd name="hf" fmla="val 105146"/>
              <a:gd name="vf" fmla="val 110557"/>
            </a:avLst>
          </a:prstGeom>
          <a:solidFill>
            <a:srgbClr val="92d050"/>
          </a:solidFill>
          <a:ln>
            <a:solidFill>
              <a:srgbClr val="0d0d0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" name="PlaceHolder 1"/>
          <p:cNvSpPr>
            <a:spLocks noGrp="1"/>
          </p:cNvSpPr>
          <p:nvPr>
            <p:ph/>
          </p:nvPr>
        </p:nvSpPr>
        <p:spPr>
          <a:xfrm>
            <a:off x="539640" y="1339200"/>
            <a:ext cx="11520360" cy="485856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0" rIns="0" tIns="0" bIns="0" anchor="ctr">
            <a:noAutofit/>
          </a:bodyPr>
          <a:p>
            <a:pPr marL="216000" indent="-216000">
              <a:lnSpc>
                <a:spcPct val="100000"/>
              </a:lnSpc>
              <a:spcBef>
                <a:spcPts val="1001"/>
              </a:spcBef>
              <a:buClr>
                <a:srgbClr val="008c4f"/>
              </a:buClr>
              <a:buSzPct val="80000"/>
              <a:buFont typeface="Wingdings 2" charset="2"/>
              <a:buChar char="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Arial"/>
              </a:rPr>
              <a:t>Condition → Predicate defined on a single system state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001"/>
              </a:spcBef>
              <a:buClr>
                <a:srgbClr val="008c4f"/>
              </a:buClr>
              <a:buSzPct val="80000"/>
              <a:buFont typeface="Wingdings 2" charset="2"/>
              <a:buChar char="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Arial"/>
              </a:rPr>
              <a:t>Event → Predicate defined on two system states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001"/>
              </a:spcBef>
              <a:buClr>
                <a:srgbClr val="008c4f"/>
              </a:buClr>
              <a:buSzPct val="80000"/>
              <a:buFont typeface="Wingdings 2" charset="2"/>
              <a:buChar char="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Arial"/>
              </a:rPr>
              <a:t>Occurrence → An event occurs if a condition changes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001"/>
              </a:spcBef>
              <a:buClr>
                <a:srgbClr val="008c4f"/>
              </a:buClr>
              <a:buSzPct val="80000"/>
              <a:buFont typeface="Wingdings 2" charset="2"/>
              <a:buChar char=""/>
              <a:tabLst>
                <a:tab algn="l" pos="0"/>
              </a:tabLst>
            </a:pPr>
            <a:r>
              <a:rPr b="0" i="1" lang="en-US" sz="2000" spc="-1" strike="noStrike">
                <a:solidFill>
                  <a:srgbClr val="000000"/>
                </a:solidFill>
                <a:latin typeface="DejaVu Sans"/>
                <a:ea typeface="Arial"/>
              </a:rPr>
              <a:t>@T(c)</a:t>
            </a: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Arial"/>
              </a:rPr>
              <a:t>: </a:t>
            </a:r>
            <a:r>
              <a:rPr b="0" i="1" lang="en-US" sz="2000" spc="-1" strike="noStrike">
                <a:solidFill>
                  <a:srgbClr val="000000"/>
                </a:solidFill>
                <a:latin typeface="DejaVu Sans"/>
                <a:ea typeface="Arial"/>
              </a:rPr>
              <a:t>c</a:t>
            </a: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Arial"/>
              </a:rPr>
              <a:t> becomes </a:t>
            </a:r>
            <a:r>
              <a:rPr b="0" i="1" lang="en-US" sz="2000" spc="-1" strike="noStrike">
                <a:solidFill>
                  <a:srgbClr val="000000"/>
                </a:solidFill>
                <a:latin typeface="DejaVu Sans"/>
                <a:ea typeface="Arial"/>
              </a:rPr>
              <a:t>true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001"/>
              </a:spcBef>
              <a:buClr>
                <a:srgbClr val="008c4f"/>
              </a:buClr>
              <a:buSzPct val="80000"/>
              <a:buFont typeface="Wingdings 2" charset="2"/>
              <a:buChar char=""/>
              <a:tabLst>
                <a:tab algn="l" pos="0"/>
              </a:tabLst>
            </a:pPr>
            <a:r>
              <a:rPr b="0" i="1" lang="en-US" sz="2000" spc="-1" strike="noStrike">
                <a:solidFill>
                  <a:srgbClr val="000000"/>
                </a:solidFill>
                <a:latin typeface="DejaVu Sans"/>
                <a:ea typeface="Arial"/>
              </a:rPr>
              <a:t>@F(c)</a:t>
            </a: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Arial"/>
              </a:rPr>
              <a:t>: </a:t>
            </a:r>
            <a:r>
              <a:rPr b="0" i="1" lang="en-US" sz="2000" spc="-1" strike="noStrike">
                <a:solidFill>
                  <a:srgbClr val="000000"/>
                </a:solidFill>
                <a:latin typeface="DejaVu Sans"/>
                <a:ea typeface="Arial"/>
              </a:rPr>
              <a:t>c</a:t>
            </a: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Arial"/>
              </a:rPr>
              <a:t> becomes </a:t>
            </a:r>
            <a:r>
              <a:rPr b="0" i="1" lang="en-US" sz="2000" spc="-1" strike="noStrike">
                <a:solidFill>
                  <a:srgbClr val="000000"/>
                </a:solidFill>
                <a:latin typeface="DejaVu Sans"/>
                <a:ea typeface="Arial"/>
              </a:rPr>
              <a:t>false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001"/>
              </a:spcBef>
              <a:buClr>
                <a:srgbClr val="008c4f"/>
              </a:buClr>
              <a:buSzPct val="80000"/>
              <a:buFont typeface="Wingdings 2" charset="2"/>
              <a:buChar char="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Arial"/>
              </a:rPr>
              <a:t>Conditioned event → </a:t>
            </a:r>
            <a:r>
              <a:rPr b="0" i="1" lang="en-US" sz="2000" spc="-1" strike="noStrike">
                <a:solidFill>
                  <a:srgbClr val="000000"/>
                </a:solidFill>
                <a:latin typeface="DejaVu Sans"/>
                <a:ea typeface="Arial"/>
              </a:rPr>
              <a:t>@T(c</a:t>
            </a:r>
            <a:r>
              <a:rPr b="0" i="1" lang="en-US" sz="2000" spc="-1" strike="noStrike" baseline="-25000">
                <a:solidFill>
                  <a:srgbClr val="000000"/>
                </a:solidFill>
                <a:latin typeface="DejaVu Sans"/>
                <a:ea typeface="Arial"/>
              </a:rPr>
              <a:t>1</a:t>
            </a:r>
            <a:r>
              <a:rPr b="0" i="1" lang="en-US" sz="2000" spc="-1" strike="noStrike">
                <a:solidFill>
                  <a:srgbClr val="000000"/>
                </a:solidFill>
                <a:latin typeface="DejaVu Sans"/>
                <a:ea typeface="Arial"/>
              </a:rPr>
              <a:t>) WHEN c</a:t>
            </a:r>
            <a:r>
              <a:rPr b="0" i="1" lang="en-US" sz="2000" spc="-1" strike="noStrike" baseline="-25000">
                <a:solidFill>
                  <a:srgbClr val="000000"/>
                </a:solidFill>
                <a:latin typeface="DejaVu Sans"/>
                <a:ea typeface="Arial"/>
              </a:rPr>
              <a:t>2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28600" indent="0">
              <a:lnSpc>
                <a:spcPct val="10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316440" indent="0">
              <a:lnSpc>
                <a:spcPct val="10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Arial"/>
              </a:rPr>
              <a:t>Special form: </a:t>
            </a:r>
            <a:r>
              <a:rPr b="0" i="1" lang="en-US" sz="2000" spc="-1" strike="noStrike">
                <a:solidFill>
                  <a:srgbClr val="000000"/>
                </a:solidFill>
                <a:latin typeface="DejaVu Sans"/>
                <a:ea typeface="Arial"/>
              </a:rPr>
              <a:t>@T(c) WHEN d iff ¬c </a:t>
            </a: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Arial"/>
              </a:rPr>
              <a:t>⋀</a:t>
            </a:r>
            <a:r>
              <a:rPr b="0" i="1" lang="en-US" sz="2000" spc="-1" strike="noStrike">
                <a:solidFill>
                  <a:srgbClr val="000000"/>
                </a:solidFill>
                <a:latin typeface="DejaVu Sans"/>
                <a:ea typeface="Arial"/>
              </a:rPr>
              <a:t> c’ </a:t>
            </a: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Arial"/>
              </a:rPr>
              <a:t>⋀</a:t>
            </a:r>
            <a:r>
              <a:rPr b="0" i="1" lang="en-US" sz="2000" spc="-1" strike="noStrike">
                <a:solidFill>
                  <a:srgbClr val="000000"/>
                </a:solidFill>
                <a:latin typeface="DejaVu Sans"/>
                <a:ea typeface="Arial"/>
              </a:rPr>
              <a:t> d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5" name="PlaceHolder 174"/>
          <p:cNvSpPr/>
          <p:nvPr/>
        </p:nvSpPr>
        <p:spPr>
          <a:xfrm>
            <a:off x="542880" y="724320"/>
            <a:ext cx="10357200" cy="49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de-DE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Formal Specification Techniques / NRL / SCR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6" name="Rechteck 2244"/>
          <p:cNvSpPr/>
          <p:nvPr/>
        </p:nvSpPr>
        <p:spPr>
          <a:xfrm>
            <a:off x="542880" y="1269720"/>
            <a:ext cx="10357200" cy="49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NRL / SCR – </a:t>
            </a:r>
            <a:r>
              <a:rPr b="1" lang="de-DE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SCR Formal Model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7" name="Stern: 5 Zacken 1"/>
          <p:cNvSpPr/>
          <p:nvPr/>
        </p:nvSpPr>
        <p:spPr>
          <a:xfrm>
            <a:off x="9950040" y="915480"/>
            <a:ext cx="516960" cy="496800"/>
          </a:xfrm>
          <a:prstGeom prst="star5">
            <a:avLst>
              <a:gd name="adj" fmla="val 19098"/>
              <a:gd name="hf" fmla="val 105146"/>
              <a:gd name="vf" fmla="val 110557"/>
            </a:avLst>
          </a:prstGeom>
          <a:solidFill>
            <a:srgbClr val="92d050"/>
          </a:solidFill>
          <a:ln>
            <a:solidFill>
              <a:srgbClr val="0d0d0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8" name="PlaceHolder 1"/>
          <p:cNvSpPr>
            <a:spLocks noGrp="1"/>
          </p:cNvSpPr>
          <p:nvPr>
            <p:ph/>
          </p:nvPr>
        </p:nvSpPr>
        <p:spPr>
          <a:xfrm>
            <a:off x="465840" y="1339200"/>
            <a:ext cx="10502280" cy="505728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0" rIns="0" tIns="0" bIns="0" anchor="ctr">
            <a:noAutofit/>
          </a:bodyPr>
          <a:p>
            <a:pPr marL="316440" indent="-316440">
              <a:lnSpc>
                <a:spcPct val="100000"/>
              </a:lnSpc>
              <a:spcBef>
                <a:spcPts val="1001"/>
              </a:spcBef>
              <a:buClr>
                <a:srgbClr val="008c4f"/>
              </a:buClr>
              <a:buSzPct val="80000"/>
              <a:buFont typeface="Wingdings 2" charset="2"/>
              <a:buChar char=""/>
              <a:tabLst>
                <a:tab algn="l" pos="0"/>
              </a:tabLst>
            </a:pPr>
            <a:r>
              <a:rPr b="0" lang="en-US" sz="2000" spc="-1" strike="noStrike" u="sng">
                <a:solidFill>
                  <a:srgbClr val="008c4f"/>
                </a:solidFill>
                <a:uFillTx/>
                <a:latin typeface="DejaVu Sans"/>
                <a:ea typeface="Arial"/>
              </a:rPr>
              <a:t>Mode transition table</a:t>
            </a: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Arial"/>
              </a:rPr>
              <a:t>: 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Associates a source mode and an event with a destination mode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Each table should describe a </a:t>
            </a:r>
            <a:r>
              <a:rPr b="1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total function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Should exhibit disjointness and coverage properties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316440" indent="-316440">
              <a:lnSpc>
                <a:spcPct val="100000"/>
              </a:lnSpc>
              <a:spcBef>
                <a:spcPts val="921"/>
              </a:spcBef>
              <a:buClr>
                <a:srgbClr val="008c4f"/>
              </a:buClr>
              <a:buSzPct val="80000"/>
              <a:buFont typeface="Wingdings 2" charset="2"/>
              <a:buChar char=""/>
              <a:tabLst>
                <a:tab algn="l" pos="0"/>
              </a:tabLst>
            </a:pPr>
            <a:r>
              <a:rPr b="0" lang="en-US" sz="2000" spc="-1" strike="noStrike" u="sng">
                <a:solidFill>
                  <a:srgbClr val="008c4f"/>
                </a:solidFill>
                <a:uFillTx/>
                <a:latin typeface="DejaVu Sans"/>
                <a:ea typeface="Arial"/>
              </a:rPr>
              <a:t>Event table</a:t>
            </a: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Arial"/>
              </a:rPr>
              <a:t>: 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An event table defines how a term or controlled variable changes in response to input events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Defines a (partial) function from modes and events to variable values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316440" indent="-316440">
              <a:lnSpc>
                <a:spcPct val="100000"/>
              </a:lnSpc>
              <a:spcBef>
                <a:spcPts val="921"/>
              </a:spcBef>
              <a:buClr>
                <a:srgbClr val="008c4f"/>
              </a:buClr>
              <a:buSzPct val="80000"/>
              <a:buFont typeface="Wingdings 2" charset="2"/>
              <a:buChar char=""/>
              <a:tabLst>
                <a:tab algn="l" pos="0"/>
              </a:tabLst>
            </a:pPr>
            <a:r>
              <a:rPr b="0" lang="en-US" sz="2000" spc="-1" strike="noStrike" u="sng">
                <a:solidFill>
                  <a:srgbClr val="008c4f"/>
                </a:solidFill>
                <a:uFillTx/>
                <a:latin typeface="DejaVu Sans"/>
                <a:ea typeface="Arial"/>
              </a:rPr>
              <a:t>Condition table</a:t>
            </a: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Arial"/>
              </a:rPr>
              <a:t>:</a:t>
            </a:r>
            <a:r>
              <a:rPr b="0" lang="en-US" sz="1850" spc="-1" strike="noStrike">
                <a:solidFill>
                  <a:srgbClr val="000000"/>
                </a:solidFill>
                <a:latin typeface="DejaVu Sans"/>
                <a:ea typeface="Arial"/>
              </a:rPr>
              <a:t> </a:t>
            </a:r>
            <a:endParaRPr b="0" lang="en-GB" sz="185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A condition table defines the value of a term or controlled variable under every possible condition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Defines a total function from modes and conditions to variable values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9" name="PlaceHolder 175"/>
          <p:cNvSpPr/>
          <p:nvPr/>
        </p:nvSpPr>
        <p:spPr>
          <a:xfrm>
            <a:off x="542880" y="724320"/>
            <a:ext cx="10357200" cy="49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de-DE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Formal Specification Techniques / NRL / SCR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0" name="Rechteck 2247"/>
          <p:cNvSpPr/>
          <p:nvPr/>
        </p:nvSpPr>
        <p:spPr>
          <a:xfrm>
            <a:off x="542880" y="1269720"/>
            <a:ext cx="10357200" cy="49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NRL / SCR – </a:t>
            </a:r>
            <a:r>
              <a:rPr b="1" lang="de-DE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SCR Tables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1" name="Stern: 5 Zacken 1"/>
          <p:cNvSpPr/>
          <p:nvPr/>
        </p:nvSpPr>
        <p:spPr>
          <a:xfrm>
            <a:off x="9950040" y="915480"/>
            <a:ext cx="516960" cy="496800"/>
          </a:xfrm>
          <a:prstGeom prst="star5">
            <a:avLst>
              <a:gd name="adj" fmla="val 19098"/>
              <a:gd name="hf" fmla="val 105146"/>
              <a:gd name="vf" fmla="val 110557"/>
            </a:avLst>
          </a:prstGeom>
          <a:solidFill>
            <a:srgbClr val="92d050"/>
          </a:solidFill>
          <a:ln>
            <a:solidFill>
              <a:srgbClr val="0d0d0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2" name="PlaceHolder 176"/>
          <p:cNvSpPr/>
          <p:nvPr/>
        </p:nvSpPr>
        <p:spPr>
          <a:xfrm>
            <a:off x="542880" y="724320"/>
            <a:ext cx="10357200" cy="49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de-DE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Formal Specification Techniques / NRL / SCR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3" name="Rechteck 2251"/>
          <p:cNvSpPr/>
          <p:nvPr/>
        </p:nvSpPr>
        <p:spPr>
          <a:xfrm>
            <a:off x="542880" y="1269720"/>
            <a:ext cx="10357200" cy="49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NRL / SCR – </a:t>
            </a:r>
            <a:r>
              <a:rPr b="1" lang="de-DE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SCR Tables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4" name="Stern: 5 Zacken 1"/>
          <p:cNvSpPr/>
          <p:nvPr/>
        </p:nvSpPr>
        <p:spPr>
          <a:xfrm>
            <a:off x="9950040" y="915480"/>
            <a:ext cx="516960" cy="496800"/>
          </a:xfrm>
          <a:prstGeom prst="star5">
            <a:avLst>
              <a:gd name="adj" fmla="val 19098"/>
              <a:gd name="hf" fmla="val 105146"/>
              <a:gd name="vf" fmla="val 110557"/>
            </a:avLst>
          </a:prstGeom>
          <a:solidFill>
            <a:srgbClr val="92d050"/>
          </a:solidFill>
          <a:ln>
            <a:solidFill>
              <a:srgbClr val="0d0d0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graphicFrame>
        <p:nvGraphicFramePr>
          <p:cNvPr id="615" name="Table 2"/>
          <p:cNvGraphicFramePr/>
          <p:nvPr/>
        </p:nvGraphicFramePr>
        <p:xfrm>
          <a:off x="1309320" y="1985040"/>
          <a:ext cx="8828640" cy="4148280"/>
        </p:xfrm>
        <a:graphic>
          <a:graphicData uri="http://schemas.openxmlformats.org/drawingml/2006/table">
            <a:tbl>
              <a:tblPr/>
              <a:tblGrid>
                <a:gridCol w="1471320"/>
                <a:gridCol w="1471320"/>
                <a:gridCol w="1471320"/>
                <a:gridCol w="1471320"/>
                <a:gridCol w="1471320"/>
                <a:gridCol w="1472400"/>
              </a:tblGrid>
              <a:tr h="708120">
                <a:tc>
                  <a:txBody>
                    <a:bodyPr lIns="90000" rIns="90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de-DE" sz="1800" spc="-1" strike="noStrike">
                          <a:solidFill>
                            <a:srgbClr val="ffffff"/>
                          </a:solidFill>
                          <a:latin typeface="DejaVu Sans"/>
                          <a:ea typeface="DejaVu Sans"/>
                        </a:rPr>
                        <a:t>Current Mode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b3b3b3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de-DE" sz="1800" spc="-1" strike="noStrike">
                          <a:solidFill>
                            <a:srgbClr val="ffffff"/>
                          </a:solidFill>
                          <a:latin typeface="DejaVu Sans"/>
                          <a:ea typeface="DejaVu Sans"/>
                        </a:rPr>
                        <a:t>Powered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de-DE" sz="1800" spc="-1" strike="noStrike">
                          <a:solidFill>
                            <a:srgbClr val="ffffff"/>
                          </a:solidFill>
                          <a:latin typeface="DejaVu Sans"/>
                          <a:ea typeface="DejaVu Sans"/>
                        </a:rPr>
                        <a:t>on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b3b3b3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de-DE" sz="1800" spc="-1" strike="noStrike">
                          <a:solidFill>
                            <a:srgbClr val="ffffff"/>
                          </a:solidFill>
                          <a:latin typeface="DejaVu Sans"/>
                          <a:ea typeface="DejaVu Sans"/>
                        </a:rPr>
                        <a:t>Too Cold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b3b3b3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de-DE" sz="1800" spc="-1" strike="noStrike">
                          <a:solidFill>
                            <a:srgbClr val="ffffff"/>
                          </a:solidFill>
                          <a:latin typeface="DejaVu Sans"/>
                          <a:ea typeface="DejaVu Sans"/>
                        </a:rPr>
                        <a:t>Temp OK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b3b3b3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de-DE" sz="1800" spc="-1" strike="noStrike">
                          <a:solidFill>
                            <a:srgbClr val="ffffff"/>
                          </a:solidFill>
                          <a:latin typeface="DejaVu Sans"/>
                          <a:ea typeface="DejaVu Sans"/>
                        </a:rPr>
                        <a:t>Too Hot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b3b3b3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de-DE" sz="1800" spc="-1" strike="noStrike">
                          <a:solidFill>
                            <a:srgbClr val="ffffff"/>
                          </a:solidFill>
                          <a:latin typeface="DejaVu Sans"/>
                          <a:ea typeface="DejaVu Sans"/>
                        </a:rPr>
                        <a:t>New Mode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b3b3b3"/>
                    </a:solidFill>
                  </a:tcPr>
                </a:tc>
              </a:tr>
              <a:tr h="1011600">
                <a:tc>
                  <a:txBody>
                    <a:bodyPr lIns="90000" rIns="90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de-DE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Off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de-DE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@T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de-DE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@T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de-DE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@T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de-DE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-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de-DE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t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de-DE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-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de-DE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t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de-DE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-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de-DE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-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de-DE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-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de-DE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-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de-DE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t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de-DE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Inactive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de-DE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Heat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de-DE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AC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</a:tr>
              <a:tr h="1011600">
                <a:tc>
                  <a:txBody>
                    <a:bodyPr lIns="90000" rIns="90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de-DE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Inactive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de-DE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@F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de-DE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-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de-DE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-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de-DE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-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de-DE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@T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de-DE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-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de-DE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-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de-DE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-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de-DE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-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de-DE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-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de-DE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-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de-DE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@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de-DE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Off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de-DE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Heat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de-DE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AC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</a:tr>
              <a:tr h="708120">
                <a:tc>
                  <a:txBody>
                    <a:bodyPr lIns="90000" rIns="90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de-DE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Heat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de-DE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@F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de-DE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-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de-DE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-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de-DE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-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de-DE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-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de-DE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@T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de-DE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-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de-DE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-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de-DE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Off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de-DE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Inactive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</a:tr>
              <a:tr h="708840">
                <a:tc>
                  <a:txBody>
                    <a:bodyPr lIns="90000" rIns="90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de-DE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AC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de-DE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@</a:t>
                      </a: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F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-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de-DE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-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de-DE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-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de-DE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-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de-DE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@T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de-DE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-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de-DE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-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de-DE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Off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de-DE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Inactive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PlaceHolder 177"/>
          <p:cNvSpPr/>
          <p:nvPr/>
        </p:nvSpPr>
        <p:spPr>
          <a:xfrm>
            <a:off x="542880" y="724680"/>
            <a:ext cx="10357200" cy="49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de-DE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Formal Specification Techniques / NRL / SCR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7" name="Rechteck 2256"/>
          <p:cNvSpPr/>
          <p:nvPr/>
        </p:nvSpPr>
        <p:spPr>
          <a:xfrm>
            <a:off x="542880" y="1270080"/>
            <a:ext cx="10357200" cy="49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NRL / SCR – </a:t>
            </a:r>
            <a:r>
              <a:rPr b="1" lang="de-DE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SCR Tables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8" name="Stern: 5 Zacken 1"/>
          <p:cNvSpPr/>
          <p:nvPr/>
        </p:nvSpPr>
        <p:spPr>
          <a:xfrm>
            <a:off x="9950040" y="915480"/>
            <a:ext cx="516960" cy="496800"/>
          </a:xfrm>
          <a:prstGeom prst="star5">
            <a:avLst>
              <a:gd name="adj" fmla="val 19098"/>
              <a:gd name="hf" fmla="val 105146"/>
              <a:gd name="vf" fmla="val 110557"/>
            </a:avLst>
          </a:prstGeom>
          <a:solidFill>
            <a:srgbClr val="92d050"/>
          </a:solidFill>
          <a:ln>
            <a:solidFill>
              <a:srgbClr val="0d0d0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graphicFrame>
        <p:nvGraphicFramePr>
          <p:cNvPr id="619" name="Table 2"/>
          <p:cNvGraphicFramePr/>
          <p:nvPr/>
        </p:nvGraphicFramePr>
        <p:xfrm>
          <a:off x="3173040" y="2046960"/>
          <a:ext cx="8127360" cy="1483200"/>
        </p:xfrm>
        <a:graphic>
          <a:graphicData uri="http://schemas.openxmlformats.org/drawingml/2006/table">
            <a:tbl>
              <a:tblPr/>
              <a:tblGrid>
                <a:gridCol w="2709000"/>
                <a:gridCol w="2709000"/>
                <a:gridCol w="2709720"/>
              </a:tblGrid>
              <a:tr h="370800">
                <a:tc>
                  <a:txBody>
                    <a:bodyPr lIns="90000" rIns="90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de-DE" sz="1800" spc="-1" strike="noStrike">
                          <a:solidFill>
                            <a:srgbClr val="ffffff"/>
                          </a:solidFill>
                          <a:latin typeface="Arial"/>
                          <a:ea typeface="DejaVu Sans"/>
                        </a:rPr>
                        <a:t>Modes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b3b3b3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b3b3b3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b3b3b3"/>
                    </a:solidFill>
                  </a:tcPr>
                </a:tc>
              </a:tr>
              <a:tr h="370800"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de-DE" sz="1800" spc="-1" strike="noStrike">
                          <a:solidFill>
                            <a:srgbClr val="000000"/>
                          </a:solidFill>
                          <a:latin typeface="Arial"/>
                          <a:ea typeface="DejaVu Sans"/>
                        </a:rPr>
                        <a:t>NoFailure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de-DE" sz="1800" spc="-1" strike="noStrike">
                          <a:solidFill>
                            <a:srgbClr val="000000"/>
                          </a:solidFill>
                          <a:latin typeface="Arial"/>
                          <a:ea typeface="DejaVu Sans"/>
                        </a:rPr>
                        <a:t>@T(INMODE)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de-DE" sz="1800" spc="-1" strike="noStrike">
                          <a:solidFill>
                            <a:srgbClr val="000000"/>
                          </a:solidFill>
                          <a:latin typeface="Arial"/>
                          <a:ea typeface="DejaVu Sans"/>
                        </a:rPr>
                        <a:t>Never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</a:tr>
              <a:tr h="370800"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de-DE" sz="1800" spc="-1" strike="noStrike">
                          <a:solidFill>
                            <a:srgbClr val="000000"/>
                          </a:solidFill>
                          <a:latin typeface="Arial"/>
                          <a:ea typeface="DejaVu Sans"/>
                        </a:rPr>
                        <a:t>ACFailure, HeatFailure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de-DE" sz="1800" spc="-1" strike="noStrike">
                          <a:solidFill>
                            <a:srgbClr val="000000"/>
                          </a:solidFill>
                          <a:latin typeface="Arial"/>
                          <a:ea typeface="DejaVu Sans"/>
                        </a:rPr>
                        <a:t>Never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de-DE" sz="1800" spc="-1" strike="noStrike">
                          <a:solidFill>
                            <a:srgbClr val="000000"/>
                          </a:solidFill>
                          <a:latin typeface="Arial"/>
                          <a:ea typeface="DejaVu Sans"/>
                        </a:rPr>
                        <a:t>@T(INMODE)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</a:tr>
              <a:tr h="370800"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de-DE" sz="1800" spc="-1" strike="noStrike">
                          <a:solidFill>
                            <a:srgbClr val="000000"/>
                          </a:solidFill>
                          <a:latin typeface="Arial"/>
                          <a:ea typeface="DejaVu Sans"/>
                        </a:rPr>
                        <a:t>Warning light = 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de-DE" sz="1800" spc="-1" strike="noStrike">
                          <a:solidFill>
                            <a:srgbClr val="000000"/>
                          </a:solidFill>
                          <a:latin typeface="Arial"/>
                          <a:ea typeface="DejaVu Sans"/>
                        </a:rPr>
                        <a:t>Off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de-DE" sz="1800" spc="-1" strike="noStrike">
                          <a:solidFill>
                            <a:srgbClr val="000000"/>
                          </a:solidFill>
                          <a:latin typeface="Arial"/>
                          <a:ea typeface="DejaVu Sans"/>
                        </a:rPr>
                        <a:t>On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20" name="Table 2"/>
          <p:cNvGraphicFramePr/>
          <p:nvPr/>
        </p:nvGraphicFramePr>
        <p:xfrm>
          <a:off x="3182760" y="4278960"/>
          <a:ext cx="8127360" cy="1854000"/>
        </p:xfrm>
        <a:graphic>
          <a:graphicData uri="http://schemas.openxmlformats.org/drawingml/2006/table">
            <a:tbl>
              <a:tblPr/>
              <a:tblGrid>
                <a:gridCol w="2709000"/>
                <a:gridCol w="2709000"/>
                <a:gridCol w="2709720"/>
              </a:tblGrid>
              <a:tr h="370800">
                <a:tc>
                  <a:txBody>
                    <a:bodyPr lIns="90000" rIns="90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de-DE" sz="1800" spc="-1" strike="noStrike">
                          <a:solidFill>
                            <a:srgbClr val="ffffff"/>
                          </a:solidFill>
                          <a:latin typeface="Arial"/>
                          <a:ea typeface="DejaVu Sans"/>
                        </a:rPr>
                        <a:t>Modes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b3b3b3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b="1" lang="de-DE" sz="1800" spc="-1" strike="noStrike">
                          <a:solidFill>
                            <a:srgbClr val="ffffff"/>
                          </a:solidFill>
                          <a:latin typeface="Arial"/>
                          <a:ea typeface="DejaVu Sans"/>
                        </a:rPr>
                        <a:t>Events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b3b3b3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b3b3b3"/>
                    </a:solidFill>
                  </a:tcPr>
                </a:tc>
              </a:tr>
              <a:tr h="370800"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de-DE" sz="1800" spc="-1" strike="noStrike">
                          <a:solidFill>
                            <a:srgbClr val="000000"/>
                          </a:solidFill>
                          <a:latin typeface="Arial"/>
                          <a:ea typeface="DejaVu Sans"/>
                        </a:rPr>
                        <a:t>NoFailure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de-DE" sz="1800" spc="-1" strike="noStrike">
                          <a:solidFill>
                            <a:srgbClr val="000000"/>
                          </a:solidFill>
                          <a:latin typeface="Arial"/>
                          <a:ea typeface="DejaVu Sans"/>
                        </a:rPr>
                        <a:t>true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de-DE" sz="1800" spc="-1" strike="noStrike">
                          <a:solidFill>
                            <a:srgbClr val="000000"/>
                          </a:solidFill>
                          <a:latin typeface="Arial"/>
                          <a:ea typeface="DejaVu Sans"/>
                        </a:rPr>
                        <a:t>false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</a:tr>
              <a:tr h="370800"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de-DE" sz="1800" spc="-1" strike="noStrike">
                          <a:solidFill>
                            <a:srgbClr val="000000"/>
                          </a:solidFill>
                          <a:latin typeface="Arial"/>
                          <a:ea typeface="DejaVu Sans"/>
                        </a:rPr>
                        <a:t>ACFailure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de-DE" sz="1800" spc="-1" strike="noStrike">
                          <a:solidFill>
                            <a:srgbClr val="000000"/>
                          </a:solidFill>
                          <a:latin typeface="Arial"/>
                          <a:ea typeface="DejaVu Sans"/>
                        </a:rPr>
                        <a:t>temp &gt; temp0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de-DE" sz="1800" spc="-1" strike="noStrike">
                          <a:solidFill>
                            <a:srgbClr val="000000"/>
                          </a:solidFill>
                          <a:latin typeface="Arial"/>
                          <a:ea typeface="DejaVu Sans"/>
                        </a:rPr>
                        <a:t>temp &lt;= temp0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</a:tr>
              <a:tr h="370800"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de-DE" sz="1800" spc="-1" strike="noStrike">
                          <a:solidFill>
                            <a:srgbClr val="000000"/>
                          </a:solidFill>
                          <a:latin typeface="Arial"/>
                          <a:ea typeface="DejaVu Sans"/>
                        </a:rPr>
                        <a:t>HeatFailure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de-DE" sz="1800" spc="-1" strike="noStrike">
                          <a:solidFill>
                            <a:srgbClr val="000000"/>
                          </a:solidFill>
                          <a:latin typeface="Arial"/>
                          <a:ea typeface="DejaVu Sans"/>
                        </a:rPr>
                        <a:t>false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de-DE" sz="1800" spc="-1" strike="noStrike">
                          <a:solidFill>
                            <a:srgbClr val="000000"/>
                          </a:solidFill>
                          <a:latin typeface="Arial"/>
                          <a:ea typeface="DejaVu Sans"/>
                        </a:rPr>
                        <a:t>waterlevel = low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</a:tr>
              <a:tr h="370800"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de-DE" sz="1800" spc="-1" strike="noStrike">
                          <a:solidFill>
                            <a:srgbClr val="000000"/>
                          </a:solidFill>
                          <a:latin typeface="Arial"/>
                          <a:ea typeface="DejaVu Sans"/>
                        </a:rPr>
                        <a:t>Warning light = 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de-DE" sz="1800" spc="-1" strike="noStrike">
                          <a:solidFill>
                            <a:srgbClr val="000000"/>
                          </a:solidFill>
                          <a:latin typeface="Arial"/>
                          <a:ea typeface="DejaVu Sans"/>
                        </a:rPr>
                        <a:t>Off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de-DE" sz="1800" spc="-1" strike="noStrike">
                          <a:solidFill>
                            <a:srgbClr val="000000"/>
                          </a:solidFill>
                          <a:latin typeface="Arial"/>
                          <a:ea typeface="DejaVu Sans"/>
                        </a:rPr>
                        <a:t>On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ffff00"/>
                    </a:solidFill>
                  </a:tcPr>
                </a:tc>
              </a:tr>
            </a:tbl>
          </a:graphicData>
        </a:graphic>
      </p:graphicFrame>
      <p:sp>
        <p:nvSpPr>
          <p:cNvPr id="621" name="TextBox 2"/>
          <p:cNvSpPr/>
          <p:nvPr/>
        </p:nvSpPr>
        <p:spPr>
          <a:xfrm>
            <a:off x="542880" y="5006160"/>
            <a:ext cx="2556000" cy="39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de-DE" sz="2000" spc="-1" strike="noStrike" u="sng">
                <a:solidFill>
                  <a:srgbClr val="008c4f"/>
                </a:solidFill>
                <a:uFillTx/>
                <a:latin typeface="DejaVu Sans"/>
                <a:ea typeface="DejaVu Sans"/>
              </a:rPr>
              <a:t>Condition table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2" name="TextBox 11"/>
          <p:cNvSpPr/>
          <p:nvPr/>
        </p:nvSpPr>
        <p:spPr>
          <a:xfrm>
            <a:off x="542880" y="2580480"/>
            <a:ext cx="2556000" cy="39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de-DE" sz="2000" spc="-1" strike="noStrike" u="sng">
                <a:solidFill>
                  <a:srgbClr val="008c4f"/>
                </a:solidFill>
                <a:uFillTx/>
                <a:latin typeface="DejaVu Sans"/>
                <a:ea typeface="DejaVu Sans"/>
              </a:rPr>
              <a:t>Event table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3" name="PlaceHolder 1"/>
          <p:cNvSpPr>
            <a:spLocks noGrp="1"/>
          </p:cNvSpPr>
          <p:nvPr>
            <p:ph/>
          </p:nvPr>
        </p:nvSpPr>
        <p:spPr>
          <a:xfrm>
            <a:off x="539640" y="1339200"/>
            <a:ext cx="10730880" cy="485856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0" rIns="0" tIns="0" bIns="0" anchor="ctr">
            <a:noAutofit/>
          </a:bodyPr>
          <a:p>
            <a:pPr marL="216000" indent="-216000">
              <a:lnSpc>
                <a:spcPct val="100000"/>
              </a:lnSpc>
              <a:spcBef>
                <a:spcPts val="1001"/>
              </a:spcBef>
              <a:buClr>
                <a:srgbClr val="008c4f"/>
              </a:buClr>
              <a:buSzPct val="80000"/>
              <a:buFont typeface="Wingdings 2" charset="2"/>
              <a:buChar char="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Arial"/>
              </a:rPr>
              <a:t>Specification editor for creating the tabular specification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001"/>
              </a:spcBef>
              <a:buClr>
                <a:srgbClr val="008c4f"/>
              </a:buClr>
              <a:buSzPct val="80000"/>
              <a:buFont typeface="Wingdings 2" charset="2"/>
              <a:buChar char="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Arial"/>
              </a:rPr>
              <a:t>Simulator for validation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001"/>
              </a:spcBef>
              <a:buClr>
                <a:srgbClr val="008c4f"/>
              </a:buClr>
              <a:buSzPct val="80000"/>
              <a:buFont typeface="Wingdings 2" charset="2"/>
              <a:buChar char="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Arial"/>
              </a:rPr>
              <a:t>Dependency graph browser for understanding the relationship between different parts of the specification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001"/>
              </a:spcBef>
              <a:buClr>
                <a:srgbClr val="008c4f"/>
              </a:buClr>
              <a:buSzPct val="80000"/>
              <a:buFont typeface="Wingdings 2" charset="2"/>
              <a:buChar char="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Arial"/>
              </a:rPr>
              <a:t>Consistency checker for analyzing syntax, type correctness, determinism, case coverage, ...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001"/>
              </a:spcBef>
              <a:buClr>
                <a:srgbClr val="008c4f"/>
              </a:buClr>
              <a:buSzPct val="80000"/>
              <a:buFont typeface="Wingdings 2" charset="2"/>
              <a:buChar char="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Arial"/>
              </a:rPr>
              <a:t>Model checker for checking linear temporal properties of finite state systems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001"/>
              </a:spcBef>
              <a:buClr>
                <a:srgbClr val="008c4f"/>
              </a:buClr>
              <a:buSzPct val="80000"/>
              <a:buFont typeface="Wingdings 2" charset="2"/>
              <a:buChar char="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Arial"/>
              </a:rPr>
              <a:t>Theorem prover for checking properties deductively, avoiding the state explosion problem, often user interaction necessary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4" name="PlaceHolder 178"/>
          <p:cNvSpPr/>
          <p:nvPr/>
        </p:nvSpPr>
        <p:spPr>
          <a:xfrm>
            <a:off x="542880" y="724680"/>
            <a:ext cx="10357200" cy="49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de-DE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Formal Specification Techniques / NRL / SCR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5" name="Rechteck 2259"/>
          <p:cNvSpPr/>
          <p:nvPr/>
        </p:nvSpPr>
        <p:spPr>
          <a:xfrm>
            <a:off x="542880" y="1270080"/>
            <a:ext cx="10357200" cy="49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NRL / SCR – </a:t>
            </a:r>
            <a:r>
              <a:rPr b="1" lang="de-DE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Tool Support: SCR Toolset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6" name="Stern: 5 Zacken 1"/>
          <p:cNvSpPr/>
          <p:nvPr/>
        </p:nvSpPr>
        <p:spPr>
          <a:xfrm>
            <a:off x="9950040" y="915480"/>
            <a:ext cx="516960" cy="496800"/>
          </a:xfrm>
          <a:prstGeom prst="star5">
            <a:avLst>
              <a:gd name="adj" fmla="val 19098"/>
              <a:gd name="hf" fmla="val 105146"/>
              <a:gd name="vf" fmla="val 110557"/>
            </a:avLst>
          </a:prstGeom>
          <a:solidFill>
            <a:srgbClr val="92d050"/>
          </a:solidFill>
          <a:ln>
            <a:solidFill>
              <a:srgbClr val="0d0d0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7" name="PlaceHolder 1"/>
          <p:cNvSpPr>
            <a:spLocks noGrp="1"/>
          </p:cNvSpPr>
          <p:nvPr>
            <p:ph/>
          </p:nvPr>
        </p:nvSpPr>
        <p:spPr>
          <a:xfrm>
            <a:off x="539640" y="1339200"/>
            <a:ext cx="10730880" cy="485856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0" rIns="0" tIns="0" bIns="0" anchor="ctr">
            <a:noAutofit/>
          </a:bodyPr>
          <a:p>
            <a:pPr marL="216000" indent="-216000">
              <a:lnSpc>
                <a:spcPct val="100000"/>
              </a:lnSpc>
              <a:spcBef>
                <a:spcPts val="1001"/>
              </a:spcBef>
              <a:buClr>
                <a:srgbClr val="008c4f"/>
              </a:buClr>
              <a:buSzPct val="80000"/>
              <a:buFont typeface="Wingdings 2" charset="2"/>
              <a:buChar char="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Arial"/>
              </a:rPr>
              <a:t>Specification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Specification editor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Function tables: define the value of dependent variables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Dictionaries: variable declarations, environmental assumptions, type definitions</a:t>
            </a:r>
            <a:br>
              <a:rPr sz="3200"/>
            </a:b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 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001"/>
              </a:spcBef>
              <a:buClr>
                <a:srgbClr val="008c4f"/>
              </a:buClr>
              <a:buSzPct val="80000"/>
              <a:buFont typeface="Wingdings 2" charset="2"/>
              <a:buChar char="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Arial"/>
              </a:rPr>
              <a:t>Analysis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Consistency checker, property checker, dependency graph browser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Well-formedness errors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Disjointness and coverage: no nondeterminism, no missing cases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8" name="PlaceHolder 179"/>
          <p:cNvSpPr/>
          <p:nvPr/>
        </p:nvSpPr>
        <p:spPr>
          <a:xfrm>
            <a:off x="542880" y="724680"/>
            <a:ext cx="10357200" cy="49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de-DE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Formal Specification Techniques / NRL / SCR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9" name="Rechteck 2262"/>
          <p:cNvSpPr/>
          <p:nvPr/>
        </p:nvSpPr>
        <p:spPr>
          <a:xfrm>
            <a:off x="542880" y="1270080"/>
            <a:ext cx="10357200" cy="49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NRL / SCR – </a:t>
            </a:r>
            <a:r>
              <a:rPr b="1" lang="de-DE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SCR Toolset: Construction of Requirements Specifications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0" name="Stern: 5 Zacken 1"/>
          <p:cNvSpPr/>
          <p:nvPr/>
        </p:nvSpPr>
        <p:spPr>
          <a:xfrm>
            <a:off x="9950040" y="915480"/>
            <a:ext cx="516960" cy="496800"/>
          </a:xfrm>
          <a:prstGeom prst="star5">
            <a:avLst>
              <a:gd name="adj" fmla="val 19098"/>
              <a:gd name="hf" fmla="val 105146"/>
              <a:gd name="vf" fmla="val 110557"/>
            </a:avLst>
          </a:prstGeom>
          <a:solidFill>
            <a:srgbClr val="92d050"/>
          </a:solidFill>
          <a:ln>
            <a:solidFill>
              <a:srgbClr val="0d0d0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1" name="PlaceHolder 1"/>
          <p:cNvSpPr>
            <a:spLocks noGrp="1"/>
          </p:cNvSpPr>
          <p:nvPr>
            <p:ph/>
          </p:nvPr>
        </p:nvSpPr>
        <p:spPr>
          <a:xfrm>
            <a:off x="539640" y="1339200"/>
            <a:ext cx="11520360" cy="485856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0" rIns="0" tIns="0" bIns="0" anchor="ctr">
            <a:noAutofit/>
          </a:bodyPr>
          <a:p>
            <a:pPr marL="216000" indent="-216000">
              <a:lnSpc>
                <a:spcPct val="100000"/>
              </a:lnSpc>
              <a:spcBef>
                <a:spcPts val="1001"/>
              </a:spcBef>
              <a:buClr>
                <a:srgbClr val="008c4f"/>
              </a:buClr>
              <a:buSzPct val="80000"/>
              <a:buFont typeface="Wingdings 2" charset="2"/>
              <a:buChar char="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Arial"/>
              </a:rPr>
              <a:t>Validation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Check inconsistencies between the intended and the specified behavior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Simulator: the user can run scenarios (sequences of monitored events)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Invariant generator: the user can generate state invariants</a:t>
            </a:r>
            <a:br>
              <a:rPr sz="3200"/>
            </a:b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 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001"/>
              </a:spcBef>
              <a:buClr>
                <a:srgbClr val="008c4f"/>
              </a:buClr>
              <a:buSzPct val="80000"/>
              <a:buFont typeface="Wingdings 2" charset="2"/>
              <a:buChar char="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Arial"/>
              </a:rPr>
              <a:t>Application analysis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Check application properties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Model checker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Property checker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499"/>
              </a:spcBef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Arial"/>
              </a:rPr>
              <a:t>Theorem prover (TAME, PVS)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2" name="PlaceHolder 180"/>
          <p:cNvSpPr/>
          <p:nvPr/>
        </p:nvSpPr>
        <p:spPr>
          <a:xfrm>
            <a:off x="542880" y="725040"/>
            <a:ext cx="10357200" cy="49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de-DE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Formal Specification Techniques / NRL / SCR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3" name="Rechteck 2265"/>
          <p:cNvSpPr/>
          <p:nvPr/>
        </p:nvSpPr>
        <p:spPr>
          <a:xfrm>
            <a:off x="542880" y="1270440"/>
            <a:ext cx="10357200" cy="49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NRL / SCR – </a:t>
            </a:r>
            <a:r>
              <a:rPr b="1" lang="de-DE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SCR Toolset: Construction of Requirements Specifications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4" name="Stern: 5 Zacken 1"/>
          <p:cNvSpPr/>
          <p:nvPr/>
        </p:nvSpPr>
        <p:spPr>
          <a:xfrm>
            <a:off x="9950040" y="915480"/>
            <a:ext cx="516960" cy="496800"/>
          </a:xfrm>
          <a:prstGeom prst="star5">
            <a:avLst>
              <a:gd name="adj" fmla="val 19098"/>
              <a:gd name="hf" fmla="val 105146"/>
              <a:gd name="vf" fmla="val 110557"/>
            </a:avLst>
          </a:prstGeom>
          <a:solidFill>
            <a:srgbClr val="92d050"/>
          </a:solidFill>
          <a:ln>
            <a:solidFill>
              <a:srgbClr val="0d0d0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5" name="CustomShape 1"/>
          <p:cNvSpPr/>
          <p:nvPr/>
        </p:nvSpPr>
        <p:spPr>
          <a:xfrm>
            <a:off x="335520" y="4406760"/>
            <a:ext cx="10747800" cy="13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en-US" sz="3000" spc="-1" strike="noStrike" cap="all">
                <a:solidFill>
                  <a:srgbClr val="008c4f"/>
                </a:solidFill>
                <a:latin typeface="DejaVu Sans"/>
                <a:ea typeface="DejaVu Sans"/>
              </a:rPr>
              <a:t>Summary</a:t>
            </a:r>
            <a:endParaRPr b="0" lang="en-GB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6" name="CustomShape 2"/>
          <p:cNvSpPr/>
          <p:nvPr/>
        </p:nvSpPr>
        <p:spPr>
          <a:xfrm>
            <a:off x="335520" y="2906640"/>
            <a:ext cx="10747800" cy="149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7" name="PlaceHolder 7"/>
          <p:cNvSpPr/>
          <p:nvPr/>
        </p:nvSpPr>
        <p:spPr>
          <a:xfrm>
            <a:off x="542880" y="721800"/>
            <a:ext cx="10356120" cy="49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Summary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8" name="HSN-Hierarchy 6"/>
          <p:cNvSpPr/>
          <p:nvPr/>
        </p:nvSpPr>
        <p:spPr>
          <a:xfrm>
            <a:off x="451800" y="1709280"/>
            <a:ext cx="8223480" cy="435168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639" name="PlaceHolder 1"/>
          <p:cNvSpPr>
            <a:spLocks noGrp="1"/>
          </p:cNvSpPr>
          <p:nvPr>
            <p:ph/>
          </p:nvPr>
        </p:nvSpPr>
        <p:spPr>
          <a:xfrm>
            <a:off x="609480" y="1769400"/>
            <a:ext cx="10586520" cy="4854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marL="21600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Formal specification techniques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Coloured Petri Nets (incl. mapping from AOM), four variable model, NRL/SCR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More exist and might be better suited for your project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0" name="CustomShape 1"/>
          <p:cNvSpPr/>
          <p:nvPr/>
        </p:nvSpPr>
        <p:spPr>
          <a:xfrm>
            <a:off x="335520" y="1268640"/>
            <a:ext cx="10745640" cy="503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spcBef>
                <a:spcPts val="799"/>
              </a:spcBef>
              <a:tabLst>
                <a:tab algn="l" pos="0"/>
              </a:tabLst>
            </a:pPr>
            <a:r>
              <a:rPr b="1" lang="en-US" sz="4000" spc="-1" strike="noStrike">
                <a:solidFill>
                  <a:srgbClr val="000000"/>
                </a:solidFill>
                <a:latin typeface="DejaVu Sans"/>
                <a:ea typeface="DejaVu Sans"/>
              </a:rPr>
              <a:t>Questions?</a:t>
            </a:r>
            <a:endParaRPr b="0" lang="en-GB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1" name="CustomShape 3"/>
          <p:cNvSpPr/>
          <p:nvPr/>
        </p:nvSpPr>
        <p:spPr>
          <a:xfrm>
            <a:off x="335520" y="764640"/>
            <a:ext cx="10745640" cy="49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2" name="PlaceHolder 1"/>
          <p:cNvSpPr>
            <a:spLocks noGrp="1"/>
          </p:cNvSpPr>
          <p:nvPr>
            <p:ph type="title"/>
          </p:nvPr>
        </p:nvSpPr>
        <p:spPr>
          <a:xfrm>
            <a:off x="542880" y="685800"/>
            <a:ext cx="10357200" cy="49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de-DE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References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5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6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7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1628</TotalTime>
  <Application>LibreOffice/7.4.7.2$Linux_X86_64 LibreOffice_project/40$Build-2</Application>
  <AppVersion>15.0000</AppVersion>
  <Words>8997</Words>
  <Paragraphs>1349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2013-05-21T09:22:36Z</dcterms:created>
  <dc:creator>Hooby</dc:creator>
  <dc:description/>
  <dc:language>en-US</dc:language>
  <cp:lastModifiedBy/>
  <dcterms:modified xsi:type="dcterms:W3CDTF">2025-11-03T12:25:14Z</dcterms:modified>
  <cp:revision>3616</cp:revision>
  <dc:subject/>
  <dc:title>PowerPoint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HiddenSlides">
    <vt:i4>1</vt:i4>
  </property>
  <property fmtid="{D5CDD505-2E9C-101B-9397-08002B2CF9AE}" pid="3" name="Notes">
    <vt:i4>53</vt:i4>
  </property>
  <property fmtid="{D5CDD505-2E9C-101B-9397-08002B2CF9AE}" pid="4" name="PresentationFormat">
    <vt:lpwstr>Widescreen</vt:lpwstr>
  </property>
  <property fmtid="{D5CDD505-2E9C-101B-9397-08002B2CF9AE}" pid="5" name="Slides">
    <vt:i4>100</vt:i4>
  </property>
</Properties>
</file>