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6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comments/comment3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x="12192000" cy="6858000"/>
  <p:notesSz cx="7559675" cy="10691813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<Relationship Id="rId34" Type="http://schemas.openxmlformats.org/officeDocument/2006/relationships/commentAuthors" Target="commentAuthors.xml"/>
</Relationships>
</file>

<file path=ppt/comments/comment3.xml><?xml version="1.0" encoding="utf-8"?>
<p:cmLst xmlns:p="http://schemas.openxmlformats.org/presentationml/2006/main">
  <p:cm authorId="0" dt="2022-01-31T12:59:36.000000000" idx="1">
    <p:pos x="0" y="0"/>
    <p:text>Add these headings to the lecture slides where they will be placed</p:text>
  </p:cm>
</p:cmLst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11444760" y="0"/>
            <a:ext cx="740520" cy="68493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1" name="CustomShape 2"/>
          <p:cNvSpPr/>
          <p:nvPr/>
        </p:nvSpPr>
        <p:spPr>
          <a:xfrm>
            <a:off x="11438640" y="6453360"/>
            <a:ext cx="757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B00E8CD-94E6-4C2B-B7D2-5733E4BE637B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912240" y="1268280"/>
            <a:ext cx="9207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3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1360" cy="561240"/>
          </a:xfrm>
          <a:prstGeom prst="rect">
            <a:avLst/>
          </a:prstGeom>
          <a:ln w="0">
            <a:noFill/>
          </a:ln>
        </p:spPr>
      </p:pic>
      <p:pic>
        <p:nvPicPr>
          <p:cNvPr id="4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97200" cy="513360"/>
          </a:xfrm>
          <a:prstGeom prst="rect">
            <a:avLst/>
          </a:prstGeom>
          <a:ln w="0">
            <a:noFill/>
          </a:ln>
        </p:spPr>
      </p:pic>
      <p:sp>
        <p:nvSpPr>
          <p:cNvPr id="5" name="CustomShape 4"/>
          <p:cNvSpPr/>
          <p:nvPr/>
        </p:nvSpPr>
        <p:spPr>
          <a:xfrm>
            <a:off x="912240" y="1268280"/>
            <a:ext cx="9207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CustomShape 5"/>
          <p:cNvSpPr/>
          <p:nvPr/>
        </p:nvSpPr>
        <p:spPr>
          <a:xfrm>
            <a:off x="11444760" y="0"/>
            <a:ext cx="740520" cy="68493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7" name="CustomShape 7"/>
          <p:cNvSpPr/>
          <p:nvPr/>
        </p:nvSpPr>
        <p:spPr>
          <a:xfrm>
            <a:off x="0" y="6646680"/>
            <a:ext cx="121860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Roboto"/>
                <a:ea typeface="DejaVu Sans"/>
              </a:rPr>
              <a:t>Requirements Engineering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11444760" y="0"/>
            <a:ext cx="740520" cy="68493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11438640" y="6453360"/>
            <a:ext cx="757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7B291FA1-9554-4A37-BE8C-86B727050F05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912240" y="1268280"/>
            <a:ext cx="9207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49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1360" cy="561240"/>
          </a:xfrm>
          <a:prstGeom prst="rect">
            <a:avLst/>
          </a:prstGeom>
          <a:ln w="0">
            <a:noFill/>
          </a:ln>
        </p:spPr>
      </p:pic>
      <p:pic>
        <p:nvPicPr>
          <p:cNvPr id="50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97200" cy="513360"/>
          </a:xfrm>
          <a:prstGeom prst="rect">
            <a:avLst/>
          </a:prstGeom>
          <a:ln w="0">
            <a:noFill/>
          </a:ln>
        </p:spPr>
      </p:pic>
      <p:sp>
        <p:nvSpPr>
          <p:cNvPr id="51" name="CustomShape 4"/>
          <p:cNvSpPr/>
          <p:nvPr/>
        </p:nvSpPr>
        <p:spPr>
          <a:xfrm>
            <a:off x="912240" y="1268280"/>
            <a:ext cx="9207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2" name="CustomShape 5"/>
          <p:cNvSpPr/>
          <p:nvPr/>
        </p:nvSpPr>
        <p:spPr>
          <a:xfrm>
            <a:off x="11444760" y="0"/>
            <a:ext cx="740520" cy="68493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53" name="CustomShape 7"/>
          <p:cNvSpPr/>
          <p:nvPr/>
        </p:nvSpPr>
        <p:spPr>
          <a:xfrm>
            <a:off x="0" y="6646680"/>
            <a:ext cx="121860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Roboto"/>
                <a:ea typeface="DejaVu Sans"/>
              </a:rPr>
              <a:t>Requirements Engineering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11444760" y="0"/>
            <a:ext cx="740520" cy="68493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11438640" y="6453360"/>
            <a:ext cx="757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1A355729-E0C5-4107-B324-1046E8420B53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CustomShape 3"/>
          <p:cNvSpPr/>
          <p:nvPr/>
        </p:nvSpPr>
        <p:spPr>
          <a:xfrm>
            <a:off x="912240" y="1268280"/>
            <a:ext cx="920736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95" name="Picture 19" descr="Logo_TUC_de_RGB"/>
          <p:cNvPicPr/>
          <p:nvPr/>
        </p:nvPicPr>
        <p:blipFill>
          <a:blip r:embed="rId2"/>
          <a:stretch/>
        </p:blipFill>
        <p:spPr>
          <a:xfrm>
            <a:off x="0" y="0"/>
            <a:ext cx="3051360" cy="561240"/>
          </a:xfrm>
          <a:prstGeom prst="rect">
            <a:avLst/>
          </a:prstGeom>
          <a:ln w="0">
            <a:noFill/>
          </a:ln>
        </p:spPr>
      </p:pic>
      <p:pic>
        <p:nvPicPr>
          <p:cNvPr id="96" name="Grafik 2" descr=""/>
          <p:cNvPicPr/>
          <p:nvPr/>
        </p:nvPicPr>
        <p:blipFill>
          <a:blip r:embed="rId3"/>
          <a:stretch/>
        </p:blipFill>
        <p:spPr>
          <a:xfrm>
            <a:off x="7430400" y="134640"/>
            <a:ext cx="3697200" cy="513360"/>
          </a:xfrm>
          <a:prstGeom prst="rect">
            <a:avLst/>
          </a:prstGeom>
          <a:ln w="0">
            <a:noFill/>
          </a:ln>
        </p:spPr>
      </p:pic>
      <p:sp>
        <p:nvSpPr>
          <p:cNvPr id="97" name="CustomShape 4"/>
          <p:cNvSpPr/>
          <p:nvPr/>
        </p:nvSpPr>
        <p:spPr>
          <a:xfrm>
            <a:off x="11444760" y="1440"/>
            <a:ext cx="740520" cy="6849360"/>
          </a:xfrm>
          <a:prstGeom prst="rect">
            <a:avLst/>
          </a:pr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  <a:ea typeface="DejaVu Sans"/>
            </a:endParaRPr>
          </a:p>
        </p:txBody>
      </p:sp>
      <p:sp>
        <p:nvSpPr>
          <p:cNvPr id="98" name="CustomShape 5"/>
          <p:cNvSpPr/>
          <p:nvPr/>
        </p:nvSpPr>
        <p:spPr>
          <a:xfrm>
            <a:off x="11427480" y="6453360"/>
            <a:ext cx="757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fld id="{985AA707-9294-4879-B276-69B1C8400F92}" type="slidenum">
              <a:rPr b="0" lang="en-US" sz="1800" spc="-1" strike="noStrike">
                <a:solidFill>
                  <a:srgbClr val="808080"/>
                </a:solidFill>
                <a:latin typeface="Arial"/>
                <a:ea typeface="DejaVu Sans"/>
              </a:rPr>
              <a:t>&lt;number&gt;</a:t>
            </a:fld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CustomShape 7"/>
          <p:cNvSpPr/>
          <p:nvPr/>
        </p:nvSpPr>
        <p:spPr>
          <a:xfrm>
            <a:off x="0" y="6646680"/>
            <a:ext cx="1218600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a6a6a6"/>
                </a:solidFill>
                <a:latin typeface="Roboto"/>
                <a:ea typeface="DejaVu Sans"/>
              </a:rPr>
              <a:t>Requirements Engineering – TU Clausthal</a:t>
            </a:r>
            <a:endParaRPr b="0" lang="en-GB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omments" Target="../comments/commen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CustomShape 1"/>
          <p:cNvSpPr/>
          <p:nvPr/>
        </p:nvSpPr>
        <p:spPr>
          <a:xfrm>
            <a:off x="527400" y="1412640"/>
            <a:ext cx="10363320" cy="114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8c4f"/>
                </a:solidFill>
                <a:latin typeface="DejaVu Sans"/>
                <a:ea typeface="DejaVu Sans"/>
              </a:rPr>
              <a:t>Requirement Engineering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CustomShape 2"/>
          <p:cNvSpPr/>
          <p:nvPr/>
        </p:nvSpPr>
        <p:spPr>
          <a:xfrm>
            <a:off x="527400" y="2852640"/>
            <a:ext cx="10363320" cy="237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11: Requirements Management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79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241"/>
              </a:spcBef>
              <a:tabLst>
                <a:tab algn="l" pos="0"/>
              </a:tabLst>
            </a:pP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Prof. Dr. Benjamin Leiding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M.Sc. Anant Sujatanagarjuna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M.Sc. Chintan Patel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4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General Requirements Engineering Process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hteck 186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Overview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Grafik 5" descr=""/>
          <p:cNvPicPr/>
          <p:nvPr/>
        </p:nvPicPr>
        <p:blipFill>
          <a:blip r:embed="rId1"/>
          <a:stretch/>
        </p:blipFill>
        <p:spPr>
          <a:xfrm>
            <a:off x="542880" y="2387520"/>
            <a:ext cx="10101240" cy="2078640"/>
          </a:xfrm>
          <a:prstGeom prst="rect">
            <a:avLst/>
          </a:prstGeom>
          <a:ln w="0">
            <a:noFill/>
          </a:ln>
        </p:spPr>
      </p:pic>
      <p:sp>
        <p:nvSpPr>
          <p:cNvPr id="143" name="Rahmen 6"/>
          <p:cNvSpPr/>
          <p:nvPr/>
        </p:nvSpPr>
        <p:spPr>
          <a:xfrm>
            <a:off x="7193160" y="2309760"/>
            <a:ext cx="1830960" cy="2257560"/>
          </a:xfrm>
          <a:prstGeom prst="frame">
            <a:avLst>
              <a:gd name="adj1" fmla="val 1311"/>
            </a:avLst>
          </a:prstGeom>
          <a:solidFill>
            <a:srgbClr val="ff0000"/>
          </a:solidFill>
          <a:ln cap="rnd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4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Lecture 11: Requirements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echteck 186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de-DE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Content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HSN-Hierarchy 2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0" rIns="0" tIns="45000" bIns="45000" anchor="ctr">
            <a:noAutofit/>
          </a:bodyPr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 Requirements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Aft>
                <a:spcPts val="601"/>
              </a:spcAft>
              <a:buClr>
                <a:srgbClr val="000000"/>
              </a:buClr>
              <a:buFont typeface="StarSymbol"/>
              <a:buAutoNum type="arabicPeriod"/>
              <a:tabLst>
                <a:tab algn="l" pos="0"/>
              </a:tabLst>
            </a:pPr>
            <a:r>
              <a:rPr b="0" lang="de-DE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CustomShape 1"/>
          <p:cNvSpPr/>
          <p:nvPr/>
        </p:nvSpPr>
        <p:spPr>
          <a:xfrm>
            <a:off x="335520" y="4406760"/>
            <a:ext cx="10747800" cy="13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 cap="all">
                <a:solidFill>
                  <a:srgbClr val="008c4f"/>
                </a:solidFill>
                <a:latin typeface="DejaVu Sans"/>
                <a:ea typeface="DejaVu Sans"/>
              </a:rPr>
              <a:t>Manage Requirements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CustomShape 2"/>
          <p:cNvSpPr/>
          <p:nvPr/>
        </p:nvSpPr>
        <p:spPr>
          <a:xfrm>
            <a:off x="335520" y="2906640"/>
            <a:ext cx="10747800" cy="14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 Requirements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Motivation – Why do you need to manage requirements?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52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Number/scope of requirements and further information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Expected product lifetime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Rate of changes to requirements and related docs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Number of stakeholders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Availability of stakeholders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Heterogenous nature of stakeholder opinons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Future reusability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Number of expected releases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Etc.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 Requirements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Motivation – What exactly needs to be managed?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Flussdiagramm: Karte 10"/>
          <p:cNvSpPr/>
          <p:nvPr/>
        </p:nvSpPr>
        <p:spPr>
          <a:xfrm>
            <a:off x="542880" y="201420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Requirements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Flussdiagramm: Karte 11"/>
          <p:cNvSpPr/>
          <p:nvPr/>
        </p:nvSpPr>
        <p:spPr>
          <a:xfrm>
            <a:off x="2394720" y="319248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Epics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Flussdiagramm: Karte 12"/>
          <p:cNvSpPr/>
          <p:nvPr/>
        </p:nvSpPr>
        <p:spPr>
          <a:xfrm>
            <a:off x="2394720" y="201420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Definitions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Flussdiagramm: Karte 13"/>
          <p:cNvSpPr/>
          <p:nvPr/>
        </p:nvSpPr>
        <p:spPr>
          <a:xfrm>
            <a:off x="4246200" y="201420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Goals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Flussdiagramm: Karte 14"/>
          <p:cNvSpPr/>
          <p:nvPr/>
        </p:nvSpPr>
        <p:spPr>
          <a:xfrm>
            <a:off x="7945560" y="195804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Test Case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Flussdiagramm: Karte 16"/>
          <p:cNvSpPr/>
          <p:nvPr/>
        </p:nvSpPr>
        <p:spPr>
          <a:xfrm>
            <a:off x="6095880" y="201420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Assumptions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Flussdiagramm: Karte 17"/>
          <p:cNvSpPr/>
          <p:nvPr/>
        </p:nvSpPr>
        <p:spPr>
          <a:xfrm>
            <a:off x="4246200" y="318240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Use Case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Flussdiagramm: Karte 18"/>
          <p:cNvSpPr/>
          <p:nvPr/>
        </p:nvSpPr>
        <p:spPr>
          <a:xfrm>
            <a:off x="542160" y="319248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User Story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Flussdiagramm: Karte 19"/>
          <p:cNvSpPr/>
          <p:nvPr/>
        </p:nvSpPr>
        <p:spPr>
          <a:xfrm>
            <a:off x="542160" y="555336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Request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Flussdiagramm: Karte 20"/>
          <p:cNvSpPr/>
          <p:nvPr/>
        </p:nvSpPr>
        <p:spPr>
          <a:xfrm>
            <a:off x="2394720" y="555300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Issues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Flussdiagramm: Karte 21"/>
          <p:cNvSpPr/>
          <p:nvPr/>
        </p:nvSpPr>
        <p:spPr>
          <a:xfrm>
            <a:off x="542160" y="4375080"/>
            <a:ext cx="1654200" cy="917640"/>
          </a:xfrm>
          <a:prstGeom prst="flowChartPunchedCard">
            <a:avLst/>
          </a:prstGeom>
          <a:solidFill>
            <a:schemeClr val="bg1"/>
          </a:solidFill>
          <a:ln>
            <a:solidFill>
              <a:srgbClr val="008c4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DejaVu Sans"/>
                <a:ea typeface="DejaVu Sans"/>
              </a:rPr>
              <a:t>Architecture Description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 Requirements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Definition – Management in Requirements Engineering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588240" y="1769400"/>
            <a:ext cx="10607760" cy="46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108000" indent="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process of managing existing requirements and requirements related work products, including the storing, changing and tracing of requirements (traceability).”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CustomShape 4"/>
          <p:cNvSpPr/>
          <p:nvPr/>
        </p:nvSpPr>
        <p:spPr>
          <a:xfrm>
            <a:off x="602640" y="3174480"/>
            <a:ext cx="10579320" cy="18784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008c4f"/>
            </a:solidFill>
            <a:rou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1" name="CustomShape 5"/>
          <p:cNvSpPr/>
          <p:nvPr/>
        </p:nvSpPr>
        <p:spPr>
          <a:xfrm>
            <a:off x="263520" y="6411600"/>
            <a:ext cx="10918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Martin Glinz (2020)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A Glossary of Requirements Engineering Terminology (Standard Glossary for the Certified Professional for Requirements Engineering (CPRE) Studies and Exam)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 Requirements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Information model - Simple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pic>
        <p:nvPicPr>
          <p:cNvPr id="175" name="Grafik 2" descr=""/>
          <p:cNvPicPr/>
          <p:nvPr/>
        </p:nvPicPr>
        <p:blipFill>
          <a:blip r:embed="rId1"/>
          <a:stretch/>
        </p:blipFill>
        <p:spPr>
          <a:xfrm>
            <a:off x="672480" y="2766240"/>
            <a:ext cx="10096920" cy="1721520"/>
          </a:xfrm>
          <a:prstGeom prst="rect">
            <a:avLst/>
          </a:prstGeom>
          <a:ln w="0">
            <a:noFill/>
          </a:ln>
        </p:spPr>
      </p:pic>
      <p:sp>
        <p:nvSpPr>
          <p:cNvPr id="176" name="CustomShape 5"/>
          <p:cNvSpPr/>
          <p:nvPr/>
        </p:nvSpPr>
        <p:spPr>
          <a:xfrm>
            <a:off x="263520" y="6411600"/>
            <a:ext cx="10918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Based on Chris Rupp et al. (2021)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und Management – Das Handbuch für Anforderungen in jeder Situation (7</a:t>
            </a:r>
            <a:r>
              <a:rPr b="0" lang="en-US" sz="900" spc="-1" strike="noStrike" baseline="30000">
                <a:solidFill>
                  <a:srgbClr val="a6a6a6"/>
                </a:solidFill>
                <a:latin typeface="Roboto"/>
                <a:ea typeface="Roboto"/>
              </a:rPr>
              <a:t>th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 Edition)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 Requirements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Information model – More complex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CustomShape 5"/>
          <p:cNvSpPr/>
          <p:nvPr/>
        </p:nvSpPr>
        <p:spPr>
          <a:xfrm>
            <a:off x="263520" y="6411600"/>
            <a:ext cx="10918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Based on Chris Rupp et al. (2021) – 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Requirements Engineering und Management – Das Handbuch für Anforderungen in jeder Situation (7</a:t>
            </a:r>
            <a:r>
              <a:rPr b="0" lang="en-US" sz="900" spc="-1" strike="noStrike" baseline="30000">
                <a:solidFill>
                  <a:srgbClr val="a6a6a6"/>
                </a:solidFill>
                <a:latin typeface="Roboto"/>
                <a:ea typeface="Roboto"/>
              </a:rPr>
              <a:t>th</a:t>
            </a:r>
            <a:r>
              <a:rPr b="0" lang="en-US" sz="900" spc="-1" strike="noStrike">
                <a:solidFill>
                  <a:srgbClr val="a6a6a6"/>
                </a:solidFill>
                <a:latin typeface="Roboto"/>
                <a:ea typeface="Roboto"/>
              </a:rPr>
              <a:t> Edition)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Grafik 4" descr=""/>
          <p:cNvPicPr/>
          <p:nvPr/>
        </p:nvPicPr>
        <p:blipFill>
          <a:blip r:embed="rId1"/>
          <a:stretch/>
        </p:blipFill>
        <p:spPr>
          <a:xfrm>
            <a:off x="219600" y="2319840"/>
            <a:ext cx="11002680" cy="3130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Manage Requirements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Standardized structures and templates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84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Volere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V-Modell XT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IEEE 29148-2018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Etc.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CustomShape 3"/>
          <p:cNvSpPr/>
          <p:nvPr/>
        </p:nvSpPr>
        <p:spPr>
          <a:xfrm>
            <a:off x="347760" y="6192000"/>
            <a:ext cx="111099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1. https://www.volere.org/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2. Der Beauftragte der Bundesregierung für Informationstechnik. V-Modell XT (o.J.), URL: https://cio.bund.de/Web/DE/Architekturen-und-Standards/V-Modell-XT/vmodell_xt_node.html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de-DE" sz="900" spc="-1" strike="noStrike">
                <a:solidFill>
                  <a:srgbClr val="a6a6a6"/>
                </a:solidFill>
                <a:latin typeface="Roboto"/>
                <a:ea typeface="Roboto"/>
              </a:rPr>
              <a:t>3. https://standards.ieee.org/ieee/29148/6937/</a:t>
            </a:r>
            <a:endParaRPr b="0" lang="en-GB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335520" y="4406760"/>
            <a:ext cx="10747800" cy="13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 cap="all">
                <a:solidFill>
                  <a:srgbClr val="008c4f"/>
                </a:solidFill>
                <a:latin typeface="DejaVu Sans"/>
                <a:ea typeface="DejaVu Sans"/>
              </a:rPr>
              <a:t>Change Management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CustomShape 2"/>
          <p:cNvSpPr/>
          <p:nvPr/>
        </p:nvSpPr>
        <p:spPr>
          <a:xfrm>
            <a:off x="335520" y="2906640"/>
            <a:ext cx="10747800" cy="14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Overview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1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Various reasons for changes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Errors or incomplete requirements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Evolution of context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Changes are not a bad thing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Stakeholders may gain new knowledge at later project stages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Proofs interest/involvement of the stakeholders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Frequent changes are problematic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Makes development in agreement with all stakeholders very challenging and time-consuming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Indicator for bad process quality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Overview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Necessary to properly structure and process change requests for requirements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Structured process → Justifiable decisions if and how requests are approved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Changes may refer to: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Noto Serif Devanagari SemiCondensed SemiBold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Individual requirements, e.g., change/addition/removal of a feature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Noto Serif Devanagari SemiCondensed SemiBold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requirements document itself, e.g., updating terminology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Control Board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control board as entity responsible for change requests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Evaluation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Decision making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May delegate tasks to another party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example, drafting of actual changes to the requirements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Decisions have to be negotiated and agreed upon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Contractor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All involved stakeholders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Control Board – Tasks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effort estimation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Could be performed by third party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Evaluate change requests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example, effort/benefit ratio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Define requirements change and/or new requirements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Based on the changed request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Changes should be kept to a minimum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Decide about acceptance or rejection of change requests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Control Board – Tasks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07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Classify incoming changes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example, based on their criticality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Prioritize accepted change requests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 which order should accepted changes be implemented?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Assign accepted change requests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Who is responsible for implementing the changes?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Control Board – Members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numCol="2" spcCol="0"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The following parties should be represented in the change control board: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Contractor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Architect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Developer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Configuration manager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Customer representative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Product manager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Project manager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2449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Quality assurance representative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Requirements engineer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Control Board – Change Manager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5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Chairperson of the change control board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Mediates between parties in case of conflicts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Communicates and documents changes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Similar to the role of the requirements engineer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Requests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19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numCol="2" spcCol="720000" lIns="0" rIns="0" tIns="0" bIns="0" anchor="ctr">
            <a:normAutofit/>
          </a:bodyPr>
          <a:p>
            <a:pPr marL="108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DejaVu Sans"/>
              </a:rPr>
              <a:t>Should contain the following information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Identifier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Unique identification of change request possible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Title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Summarizes key concern of the change request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Description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Documents change as precisely as possible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Also contains information on the expected effect of a change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Justification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Reasons why the change is necessary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Date filed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Date the change request was filed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Applicant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Name of the person who filed the change request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Priority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134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Importance of the change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Requests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3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Date filed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Date the change request was filed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Applicant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Name of the person who filed the change request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Priority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Importance of the change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Requests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108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DejaVu Sans"/>
              </a:rPr>
              <a:t>The following information is helpful for the management of changes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validator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Person who is responsible to verify if a change was performed correctly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Impact analysis status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Flag indicating whether an impact analysis has been performed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control board decision status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Flag indicating the handling status of the request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example: pending, rejected, accepted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Requests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1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control board priority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Priority of the change request assigned by the change control board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Responsible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Person in charge of performing the change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System release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Version of the system that implements the change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Change Requests – Classifications 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numCol="2" spcCol="0" lIns="0" rIns="0" tIns="0" bIns="0" anchor="ctr">
            <a:normAutofit/>
          </a:bodyPr>
          <a:p>
            <a:pPr marL="108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000" spc="-1" strike="noStrike" u="sng">
                <a:solidFill>
                  <a:srgbClr val="008c4f"/>
                </a:solidFill>
                <a:uFillTx/>
                <a:latin typeface="DejaVu Sans"/>
                <a:ea typeface="DejaVu Sans"/>
              </a:rPr>
              <a:t>Three types of change requests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: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Corrective requirement change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Failure in the system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Reason for failure is an error in the requirements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fixes the error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Adaptive requirement change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System needs to be amended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For example, change in the system context or stakeholder needs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0">
              <a:lnSpc>
                <a:spcPct val="9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Exceptional change (hotfix)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Must be immediately done at all costs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Can be either adaptive or corrective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Usually due to critical bugs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Handling Change Requests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6572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108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de-DE" sz="2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Effort required for the change is estimated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Affected requirements are determined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Includes new requirements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Development artifacts that need to be change are determined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Effort for artifact change usually significantly higher than for requirement changes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Maintaining the requirements document is cheap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Still often neglected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Can be supported by traceability information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Grafik 2" descr=""/>
          <p:cNvPicPr/>
          <p:nvPr/>
        </p:nvPicPr>
        <p:blipFill>
          <a:blip r:embed="rId1"/>
          <a:stretch/>
        </p:blipFill>
        <p:spPr>
          <a:xfrm>
            <a:off x="7476120" y="1765440"/>
            <a:ext cx="3777120" cy="4780800"/>
          </a:xfrm>
          <a:prstGeom prst="rect">
            <a:avLst/>
          </a:prstGeom>
          <a:ln w="0">
            <a:noFill/>
          </a:ln>
        </p:spPr>
      </p:pic>
      <p:sp>
        <p:nvSpPr>
          <p:cNvPr id="241" name="Gerader Verbinder 240"/>
          <p:cNvSpPr/>
          <p:nvPr/>
        </p:nvSpPr>
        <p:spPr>
          <a:xfrm>
            <a:off x="457200" y="2286000"/>
            <a:ext cx="360" cy="434340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2" name="Gerader Verbinder 241"/>
          <p:cNvSpPr/>
          <p:nvPr/>
        </p:nvSpPr>
        <p:spPr>
          <a:xfrm flipV="1">
            <a:off x="457200" y="2286000"/>
            <a:ext cx="6400800" cy="36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3" name="Gerader Verbinder 242"/>
          <p:cNvSpPr/>
          <p:nvPr/>
        </p:nvSpPr>
        <p:spPr>
          <a:xfrm flipV="1">
            <a:off x="6858000" y="2286360"/>
            <a:ext cx="360" cy="433908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4" name="Gerader Verbinder 243"/>
          <p:cNvSpPr/>
          <p:nvPr/>
        </p:nvSpPr>
        <p:spPr>
          <a:xfrm>
            <a:off x="6858000" y="2514600"/>
            <a:ext cx="1818720" cy="36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rafik 2" descr=""/>
          <p:cNvPicPr/>
          <p:nvPr/>
        </p:nvPicPr>
        <p:blipFill>
          <a:blip r:embed="rId1"/>
          <a:stretch/>
        </p:blipFill>
        <p:spPr>
          <a:xfrm>
            <a:off x="7476120" y="1766160"/>
            <a:ext cx="3777120" cy="4780800"/>
          </a:xfrm>
          <a:prstGeom prst="rect">
            <a:avLst/>
          </a:prstGeom>
          <a:ln w="0">
            <a:noFill/>
          </a:ln>
        </p:spPr>
      </p:pic>
      <p:sp>
        <p:nvSpPr>
          <p:cNvPr id="246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hteck 209"/>
          <p:cNvSpPr/>
          <p:nvPr/>
        </p:nvSpPr>
        <p:spPr>
          <a:xfrm>
            <a:off x="542880" y="12672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666666"/>
                </a:solidFill>
                <a:latin typeface="DejaVu Sans"/>
                <a:ea typeface="DejaVu Sans"/>
              </a:rPr>
              <a:t>Handling Change Requests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6572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evaluation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Costs and benefits are compared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Available resources are considered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Prioritizing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Importance of the change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Assigning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System release for implementing is decided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Rejection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45000"/>
              <a:buFont typeface="OpenSymbol"/>
              <a:buChar char="—"/>
            </a:pPr>
            <a:r>
              <a:rPr b="0" lang="en-US" sz="1800" spc="-1" strike="noStrike">
                <a:solidFill>
                  <a:srgbClr val="000000"/>
                </a:solidFill>
                <a:latin typeface="DejaVu Sans"/>
                <a:ea typeface="DejaVu Sans"/>
              </a:rPr>
              <a:t>If a change is rejected it is communicated</a:t>
            </a:r>
            <a:endParaRPr b="0" lang="de-DE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Legende: mit gebogener Linie 249"/>
          <p:cNvSpPr/>
          <p:nvPr/>
        </p:nvSpPr>
        <p:spPr>
          <a:xfrm flipH="1">
            <a:off x="529920" y="3547800"/>
            <a:ext cx="4734360" cy="808200"/>
          </a:xfrm>
          <a:prstGeom prst="borderCallout2">
            <a:avLst>
              <a:gd name="adj1" fmla="val 18750"/>
              <a:gd name="adj2" fmla="val -8333"/>
              <a:gd name="adj3" fmla="val 32398"/>
              <a:gd name="adj4" fmla="val -46282"/>
              <a:gd name="adj5" fmla="val 33643"/>
              <a:gd name="adj6" fmla="val -46282"/>
            </a:avLst>
          </a:prstGeom>
          <a:noFill/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1" name="Legende: mit gebogener Linie 250"/>
          <p:cNvSpPr/>
          <p:nvPr/>
        </p:nvSpPr>
        <p:spPr>
          <a:xfrm flipH="1">
            <a:off x="530280" y="4428000"/>
            <a:ext cx="5639040" cy="952560"/>
          </a:xfrm>
          <a:prstGeom prst="borderCallout2">
            <a:avLst>
              <a:gd name="adj1" fmla="val 18750"/>
              <a:gd name="adj2" fmla="val -8333"/>
              <a:gd name="adj3" fmla="val 21384"/>
              <a:gd name="adj4" fmla="val -22814"/>
              <a:gd name="adj5" fmla="val 23500"/>
              <a:gd name="adj6" fmla="val -22990"/>
            </a:avLst>
          </a:prstGeom>
          <a:noFill/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2" name="Legende: mit gebogener Linie 251"/>
          <p:cNvSpPr/>
          <p:nvPr/>
        </p:nvSpPr>
        <p:spPr>
          <a:xfrm flipH="1">
            <a:off x="540720" y="5436360"/>
            <a:ext cx="5639040" cy="952560"/>
          </a:xfrm>
          <a:prstGeom prst="borderCallout2">
            <a:avLst>
              <a:gd name="adj1" fmla="val 18750"/>
              <a:gd name="adj2" fmla="val -8333"/>
              <a:gd name="adj3" fmla="val -23310"/>
              <a:gd name="adj4" fmla="val -61023"/>
              <a:gd name="adj5" fmla="val -166199"/>
              <a:gd name="adj6" fmla="val -67601"/>
            </a:avLst>
          </a:prstGeom>
          <a:noFill/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3" name="Gerader Verbinder 252"/>
          <p:cNvSpPr/>
          <p:nvPr/>
        </p:nvSpPr>
        <p:spPr>
          <a:xfrm>
            <a:off x="530280" y="2213280"/>
            <a:ext cx="360" cy="125280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4" name="Gerader Verbinder 253"/>
          <p:cNvSpPr/>
          <p:nvPr/>
        </p:nvSpPr>
        <p:spPr>
          <a:xfrm>
            <a:off x="5282280" y="2213280"/>
            <a:ext cx="360" cy="125280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5" name="Gerader Verbinder 254"/>
          <p:cNvSpPr/>
          <p:nvPr/>
        </p:nvSpPr>
        <p:spPr>
          <a:xfrm flipH="1">
            <a:off x="530280" y="3473280"/>
            <a:ext cx="4752000" cy="36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56" name="Gerader Verbinder 255"/>
          <p:cNvSpPr/>
          <p:nvPr/>
        </p:nvSpPr>
        <p:spPr>
          <a:xfrm>
            <a:off x="5378400" y="2514600"/>
            <a:ext cx="3310200" cy="360"/>
          </a:xfrm>
          <a:prstGeom prst="line">
            <a:avLst/>
          </a:prstGeom>
          <a:ln cap="rnd" w="0">
            <a:solidFill>
              <a:srgbClr val="000000"/>
            </a:solidFill>
            <a:prstDash val="lgDash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ustomShape 1"/>
          <p:cNvSpPr/>
          <p:nvPr/>
        </p:nvSpPr>
        <p:spPr>
          <a:xfrm>
            <a:off x="335520" y="4406760"/>
            <a:ext cx="10747800" cy="13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3000" spc="-1" strike="noStrike" cap="all">
                <a:solidFill>
                  <a:srgbClr val="008c4f"/>
                </a:solidFill>
                <a:latin typeface="DejaVu Sans"/>
                <a:ea typeface="DejaVu Sans"/>
              </a:rPr>
              <a:t>Summary</a:t>
            </a:r>
            <a:endParaRPr b="0" lang="en-GB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CustomShape 2"/>
          <p:cNvSpPr/>
          <p:nvPr/>
        </p:nvSpPr>
        <p:spPr>
          <a:xfrm>
            <a:off x="335520" y="2906640"/>
            <a:ext cx="10747800" cy="14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7"/>
          <p:cNvSpPr/>
          <p:nvPr/>
        </p:nvSpPr>
        <p:spPr>
          <a:xfrm>
            <a:off x="542880" y="721800"/>
            <a:ext cx="10356120" cy="49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>
              <a:lnSpc>
                <a:spcPct val="100000"/>
              </a:lnSpc>
            </a:pPr>
            <a:r>
              <a:rPr b="1" lang="en-US" sz="2200" spc="-1" strike="noStrike">
                <a:solidFill>
                  <a:srgbClr val="000000"/>
                </a:solidFill>
                <a:latin typeface="DejaVu Sans"/>
                <a:ea typeface="DejaVu Sans"/>
              </a:rPr>
              <a:t>Summary</a:t>
            </a:r>
            <a:endParaRPr b="0" lang="en-GB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HSN-Hierarchy 6"/>
          <p:cNvSpPr/>
          <p:nvPr/>
        </p:nvSpPr>
        <p:spPr>
          <a:xfrm>
            <a:off x="451800" y="1709280"/>
            <a:ext cx="8223480" cy="435168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1" name="PlaceHolder 1"/>
          <p:cNvSpPr>
            <a:spLocks noGrp="1"/>
          </p:cNvSpPr>
          <p:nvPr>
            <p:ph/>
          </p:nvPr>
        </p:nvSpPr>
        <p:spPr>
          <a:xfrm>
            <a:off x="609480" y="1769400"/>
            <a:ext cx="10586520" cy="485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Requirements of complex projects need to be managed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Requirements can change throughout a project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Changes need to be structured and processed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management defines how change requests are handled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Change control board </a:t>
            </a:r>
            <a:r>
              <a:rPr b="0" lang="en-US" sz="2000" spc="-1" strike="noStrike">
                <a:solidFill>
                  <a:srgbClr val="000000"/>
                </a:solidFill>
                <a:latin typeface="Rockwell"/>
                <a:ea typeface="DejaVu Sans"/>
              </a:rPr>
              <a:t>= </a:t>
            </a: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Evaluates and approves/rejects changes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417"/>
              </a:spcBef>
              <a:buClr>
                <a:srgbClr val="008c4f"/>
              </a:buClr>
              <a:buSzPct val="80000"/>
              <a:buFont typeface="Wingdings 2" charset="2"/>
              <a:buChar char="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  <a:ea typeface="DejaVu Sans"/>
              </a:rPr>
              <a:t>Handling change requests requires a process on its own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335520" y="1268640"/>
            <a:ext cx="10744560" cy="503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spcBef>
                <a:spcPts val="799"/>
              </a:spcBef>
              <a:tabLst>
                <a:tab algn="l" pos="0"/>
              </a:tabLst>
            </a:pPr>
            <a:r>
              <a:rPr b="1" lang="en-US" sz="4000" spc="-1" strike="noStrike">
                <a:solidFill>
                  <a:srgbClr val="000000"/>
                </a:solidFill>
                <a:latin typeface="DejaVu Sans"/>
                <a:ea typeface="DejaVu Sans"/>
              </a:rPr>
              <a:t>Questions?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CustomShape 3"/>
          <p:cNvSpPr/>
          <p:nvPr/>
        </p:nvSpPr>
        <p:spPr>
          <a:xfrm>
            <a:off x="335520" y="764640"/>
            <a:ext cx="10744560" cy="49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  <Words>1059</Words>
  <Paragraphs>219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2013-05-21T09:22:36Z</dcterms:created>
  <dc:creator>Hooby</dc:creator>
  <dc:description/>
  <dc:language>en-US</dc:language>
  <cp:lastModifiedBy/>
  <dcterms:modified xsi:type="dcterms:W3CDTF">2025-11-03T12:26:24Z</dcterms:modified>
  <cp:revision>3331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PresentationFormat">
    <vt:lpwstr>Breitbild</vt:lpwstr>
  </property>
  <property fmtid="{D5CDD505-2E9C-101B-9397-08002B2CF9AE}" pid="4" name="Slides">
    <vt:i4>28</vt:i4>
  </property>
</Properties>
</file>