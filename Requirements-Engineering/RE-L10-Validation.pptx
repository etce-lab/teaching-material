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_rels/notesSlide33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9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29.xml.rels" ContentType="application/vnd.openxmlformats-package.relationships+xml"/>
  <Override PartName="/ppt/notesSlides/notesSlide3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4.xml" ContentType="application/vnd.openxmlformats-officedocument.presentationml.notes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_rels/slide17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33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34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37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7.xml.rels" ContentType="application/vnd.openxmlformats-package.relationships+xml"/>
  <Override PartName="/ppt/slides/_rels/slide35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38.xml" ContentType="application/vnd.openxmlformats-officedocument.presentationml.slide+xml"/>
  <Override PartName="/ppt/slides/slide2.xml" ContentType="application/vnd.openxmlformats-officedocument.presentationml.slide+xml"/>
  <Override PartName="/ppt/slides/slide3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comments/comment3.xml" ContentType="application/vnd.openxmlformats-officedocument.presentationml.comments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2000" cy="6858000"/>
  <p:notesSz cx="7772400" cy="10058400"/>
</p:presentation>
</file>

<file path=ppt/commentAuthors.xml><?xml version="1.0" encoding="utf-8"?>
<p:cmAuthorLst xmlns:p="http://schemas.openxmlformats.org/presentationml/2006/main">
  <p:cmAuthor id="0" name="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presProps" Target="presProps.xml"/><Relationship Id="rId49" Type="http://schemas.openxmlformats.org/officeDocument/2006/relationships/commentAuthors" Target="commentAuthors.xml"/>
</Relationships>
</file>

<file path=ppt/comments/comment3.xml><?xml version="1.0" encoding="utf-8"?>
<p:cmLst xmlns:p="http://schemas.openxmlformats.org/presentationml/2006/main">
  <p:cm authorId="0" dt="2022-01-21T09:54:46.000000000" idx="1">
    <p:pos x="0" y="0"/>
    <p:text>TODO: After translation</p:tex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6896F57-62D0-410D-B954-C2C0AD72944B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EA78EA-51D5-49DE-852D-F51F9DB51A1A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5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91027C-4007-4FA8-9433-AB34C4F7FD8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B42B81-F158-42E1-BAA3-0570C7F71F59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7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082672-589F-4C30-9967-A53451FC422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8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F842BF-BC2B-4E9B-B6B3-E364DD283B64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EF761A-0246-4C81-8FB6-C3469FC051B9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10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C355B5-80E5-4159-BFB7-FAAA7BAF574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11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D60E13-050A-400B-AB62-5AD5927C2E11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12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27053D-73CF-4B7C-9D3C-9761D7D3104F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6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13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9A5DDCA-38F2-4428-B7C7-73212F4A0248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14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274F1D-7B5C-45F8-81D8-BE3F2A786DFC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15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267F73-5338-4849-810A-74EB0789665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6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82C3CD-FA98-4B83-A2CE-82DBB39141FA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17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B5DB99-2ADD-42D1-90EE-0F1EB3220D8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18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8C4DAD-C23D-447B-A2E6-EED81635F9FC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19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8846D60-C613-4530-8D3D-14D07045E3A9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20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5A7C6B-B521-4A1E-A849-69ADBE774BD3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21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51D872-BD31-45F5-907A-9A44DC1076CC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22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40DB28-5EBE-414D-BAFD-9B6AF88D0B5F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23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0D77EBE-FC4A-4180-A8AA-3F363CADFF04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ADA74D-5187-4285-931F-34532621090A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25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7DD4AAC-91DF-4397-A5D8-29522EC4B42A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26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6DF722-0ADF-402F-B1A0-BF4DA78F5BE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27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781428-75E4-4DE6-9E1D-F5992DFE4566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60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sldNum" idx="28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4AA30C-3071-45A7-8740-15910D35E351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600"/>
          </a:xfrm>
          <a:prstGeom prst="rect">
            <a:avLst/>
          </a:prstGeom>
          <a:ln w="0">
            <a:noFill/>
          </a:ln>
        </p:spPr>
      </p:sp>
      <p:sp>
        <p:nvSpPr>
          <p:cNvPr id="50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PlaceHolder 3"/>
          <p:cNvSpPr>
            <a:spLocks noGrp="1"/>
          </p:cNvSpPr>
          <p:nvPr>
            <p:ph type="sldNum" idx="29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E0CE41-E2A2-4C04-89AF-867D5A1BB716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600"/>
          </a:xfrm>
          <a:prstGeom prst="rect">
            <a:avLst/>
          </a:prstGeom>
          <a:ln w="0">
            <a:noFill/>
          </a:ln>
        </p:spPr>
      </p:sp>
      <p:sp>
        <p:nvSpPr>
          <p:cNvPr id="50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 type="sldNum" idx="30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428B08-C889-43F9-807B-58336AA1F38C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600"/>
          </a:xfrm>
          <a:prstGeom prst="rect">
            <a:avLst/>
          </a:prstGeom>
          <a:ln w="0">
            <a:noFill/>
          </a:ln>
        </p:spPr>
      </p:sp>
      <p:sp>
        <p:nvSpPr>
          <p:cNvPr id="50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 type="sldNum" idx="31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309984-083A-4C50-A563-3C77D66A3ED0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41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600"/>
          </a:xfrm>
          <a:prstGeom prst="rect">
            <a:avLst/>
          </a:prstGeom>
          <a:ln w="0">
            <a:noFill/>
          </a:ln>
        </p:spPr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sldNum" idx="32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4FA3B2-E1DE-4A0F-9A61-22EEFEF1A9A3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600"/>
          </a:xfrm>
          <a:prstGeom prst="rect">
            <a:avLst/>
          </a:prstGeom>
          <a:ln w="0">
            <a:noFill/>
          </a:ln>
        </p:spPr>
      </p:sp>
      <p:sp>
        <p:nvSpPr>
          <p:cNvPr id="51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 type="sldNum" idx="33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033C9D-357B-45D9-8B58-DABE0161E8E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600"/>
          </a:xfrm>
          <a:prstGeom prst="rect">
            <a:avLst/>
          </a:prstGeom>
          <a:ln w="0">
            <a:noFill/>
          </a:ln>
        </p:spPr>
      </p:sp>
      <p:sp>
        <p:nvSpPr>
          <p:cNvPr id="5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 type="sldNum" idx="34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03FDDC0-ADC3-4DCB-83D2-B07B32E5115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AD1D298-C2F2-4B10-B1FF-C685F5D9C56A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CustomShape 7"/>
          <p:cNvSpPr/>
          <p:nvPr/>
        </p:nvSpPr>
        <p:spPr>
          <a:xfrm>
            <a:off x="0" y="664668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05AC677-79DB-4F9F-887B-7782CA82EDCD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ln w="0">
            <a:noFill/>
          </a:ln>
        </p:spPr>
      </p:pic>
      <p:pic>
        <p:nvPicPr>
          <p:cNvPr id="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ln w="0">
            <a:noFill/>
          </a:ln>
        </p:spPr>
      </p:pic>
      <p:sp>
        <p:nvSpPr>
          <p:cNvPr id="51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CustomShape 7"/>
          <p:cNvSpPr/>
          <p:nvPr/>
        </p:nvSpPr>
        <p:spPr>
          <a:xfrm>
            <a:off x="0" y="664668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250E138-D3D8-49AD-8F7E-14A18F782689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ln w="0">
            <a:noFill/>
          </a:ln>
        </p:spPr>
      </p:pic>
      <p:pic>
        <p:nvPicPr>
          <p:cNvPr id="9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ln w="0">
            <a:noFill/>
          </a:ln>
        </p:spPr>
      </p:pic>
      <p:sp>
        <p:nvSpPr>
          <p:cNvPr id="97" name="CustomShape 4"/>
          <p:cNvSpPr/>
          <p:nvPr/>
        </p:nvSpPr>
        <p:spPr>
          <a:xfrm>
            <a:off x="11444760" y="144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8" name="CustomShape 5"/>
          <p:cNvSpPr/>
          <p:nvPr/>
        </p:nvSpPr>
        <p:spPr>
          <a:xfrm>
            <a:off x="1142748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AAE1302-9E7C-44AC-B0FD-CC304EF7D0D6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CustomShape 7"/>
          <p:cNvSpPr/>
          <p:nvPr/>
        </p:nvSpPr>
        <p:spPr>
          <a:xfrm>
            <a:off x="0" y="664668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707B1F4-E85F-4DB5-A779-498016A10DE5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ln w="0">
            <a:noFill/>
          </a:ln>
        </p:spPr>
      </p:pic>
      <p:pic>
        <p:nvPicPr>
          <p:cNvPr id="1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11444760" y="144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2748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EF95F8B-3AAC-4A68-A75C-C7750947C035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CustomShape 7"/>
          <p:cNvSpPr/>
          <p:nvPr/>
        </p:nvSpPr>
        <p:spPr>
          <a:xfrm>
            <a:off x="0" y="664668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omments" Target="../comments/commen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CustomShape 1"/>
          <p:cNvSpPr/>
          <p:nvPr/>
        </p:nvSpPr>
        <p:spPr>
          <a:xfrm>
            <a:off x="527400" y="1412640"/>
            <a:ext cx="10358280" cy="11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008c4f"/>
                </a:solidFill>
                <a:latin typeface="DejaVu Sans"/>
                <a:ea typeface="DejaVu Sans"/>
              </a:rPr>
              <a:t>Requirement Engineering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527400" y="2852640"/>
            <a:ext cx="10358280" cy="23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10: Requirements Validation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4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Requirements Engineering Process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Rechteck 186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099080" cy="2076480"/>
          </a:xfrm>
          <a:prstGeom prst="rect">
            <a:avLst/>
          </a:prstGeom>
          <a:ln w="0">
            <a:noFill/>
          </a:ln>
        </p:spPr>
      </p:pic>
      <p:sp>
        <p:nvSpPr>
          <p:cNvPr id="195" name="Rahmen 6"/>
          <p:cNvSpPr/>
          <p:nvPr/>
        </p:nvSpPr>
        <p:spPr>
          <a:xfrm>
            <a:off x="5519160" y="2297880"/>
            <a:ext cx="1815120" cy="2255400"/>
          </a:xfrm>
          <a:prstGeom prst="frame">
            <a:avLst>
              <a:gd name="adj1" fmla="val 1311"/>
            </a:avLst>
          </a:prstGeom>
          <a:solidFill>
            <a:srgbClr val="ff0000"/>
          </a:solidFill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4"/>
          <p:cNvSpPr/>
          <p:nvPr/>
        </p:nvSpPr>
        <p:spPr>
          <a:xfrm>
            <a:off x="542880" y="757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10: Requirements Validation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hteck 195"/>
          <p:cNvSpPr/>
          <p:nvPr/>
        </p:nvSpPr>
        <p:spPr>
          <a:xfrm>
            <a:off x="542880" y="1303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HSN-Hierarchy 2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" name="HSN-Hierarchy 26"/>
          <p:cNvSpPr/>
          <p:nvPr/>
        </p:nvSpPr>
        <p:spPr>
          <a:xfrm>
            <a:off x="604080" y="186156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Validation in General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Principles of Requirements Validation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Validation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ustomShape 1"/>
          <p:cNvSpPr/>
          <p:nvPr/>
        </p:nvSpPr>
        <p:spPr>
          <a:xfrm>
            <a:off x="335520" y="4406760"/>
            <a:ext cx="10745640" cy="13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Requirements Validation in general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CustomShape 2"/>
          <p:cNvSpPr/>
          <p:nvPr/>
        </p:nvSpPr>
        <p:spPr>
          <a:xfrm>
            <a:off x="335520" y="2906640"/>
            <a:ext cx="10745640" cy="14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Validation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Why?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Review of the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uncover errors in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Present requirements to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Identify deviations between requirements and actual wishes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Quality of requirements is evaluated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Decision is made if quality is sufficient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Leads to approval of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use predefined criteria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Validation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Quality Aspects of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Three major goals of validation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Are all relevant requirements elicited and documented?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Is the level of detail appropriate?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Is the documentation according to predefined guidelines and specifications?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Agreement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Do all stakeholders concur with the documented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Validation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Quality Aspects – Content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Refers to the content of the document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requirements themselves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completeness of the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Validation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Quality Aspects – Documentation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Validates the documentation of the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Flaws in the documentation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Violation of documentation guidelines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Project specific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Organization specific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Understandability of document formats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Structure of the documents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Validation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Quality Aspects – Documentation (Guideline Violation Risks)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Impairment of development activities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Development activities may require certain document formats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For example, consider the Rational Unified Process (RUP)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Later stages refine models created during the requirements engineering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If models have not been created, refinement is not possible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Misunderstandings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target audience may not understand or misinterpret requirements in certain document formats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may become unusable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Validation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Quality Aspects – Documentation (Guideline Violation Risks)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Incompleteness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Relevant information may be missing from the document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Must not necessarily be the requirements themselves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involved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Persons responsible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Overlooking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documented at the wrong place → Not missing!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May be overlooked in later activities → Example: Developer wants to implement the persistence features of a system. Checks section “4.3 Persistence requirements” and implements all documented features.  Additional persistence requirements hiding in other sections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Validation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Quality Aspects – Documentation (Test Criteria)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Conformation to documentation format and rules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Are all documents in the predetermined documentation format?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Have modeling languages been used properly?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Conformity to documentation structures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Has the structure of the document been maintained?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Is everything where it belongs?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Understandability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Is the documentation understandable in the given context?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Is the glossary sufficient?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Validation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Quality Aspects – Agreement 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gain additional knowledge during the course of requirements engineering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May lead to changes between the begin of the elicitation and the end of the documentation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offers a last opportunity for changes without impacting later phases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 criteria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Agreed → Is every requirement agreed upon with all relevant stakeholders?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Agreed after changes → Is every requirement agreed upon with all relevant stakeholders after it has been changed?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Conflicts resolved → Have all known conflicts with regard to the requirements been resolved?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CustomShape 1"/>
          <p:cNvSpPr/>
          <p:nvPr/>
        </p:nvSpPr>
        <p:spPr>
          <a:xfrm>
            <a:off x="335520" y="4406760"/>
            <a:ext cx="10745640" cy="13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Principles of Requirements Validation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CustomShape 2"/>
          <p:cNvSpPr/>
          <p:nvPr/>
        </p:nvSpPr>
        <p:spPr>
          <a:xfrm>
            <a:off x="335520" y="2906640"/>
            <a:ext cx="10745640" cy="14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Principles of Requirements Validation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6 principles of requirements validation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Principles of Requirements Validation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98000"/>
          </a:bodyPr>
          <a:p>
            <a:pPr marL="111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1. Involvement of the correct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2120" indent="-22212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Independence of the author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44240" indent="-22212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Author should not be the one validate a requirement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44240" indent="-22212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Has prior knowledge which influences the validation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2120" indent="-22212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Internal auditors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44240" indent="-22212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that are members of the developing organization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44240" indent="-22212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Easy to organize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2120" indent="-22212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External auditors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44240" indent="-22212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Higher effort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44240" indent="-22212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Have to become familiar with the document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44240" indent="-22212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Independent perspective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Principles of Requirements Validation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/>
          </p:nvPr>
        </p:nvSpPr>
        <p:spPr>
          <a:xfrm>
            <a:off x="609480" y="176616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2. Separating the identification and the correction of errors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Identify flaw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flaw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Fix flaw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Separation allows concentration on identification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Better separation of resources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3. Validation from different views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Different people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→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Different perspectives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Principles of Requirements Validation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4. Adequate change of documentation type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Check if usage of different documentation types balances out weaknesses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Natural language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Very expressive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Conceptual models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Abstraction and complex behavior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5. Construction of development artifacts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Creation of artifacts reveals ambiguities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Creation of a test case to validate the requirement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Problems during the test creation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Principles of Requirements Validation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6. Repeated validation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Positive validation at one point does not guarantee that a requirement is still valid at a later point in time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be repeated in the following cases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Lots of innovative ideas and technologies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Significant gain of knowledge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Long-lasting projects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Very early previous validation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Unknown domain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Reuse of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CustomShape 1"/>
          <p:cNvSpPr/>
          <p:nvPr/>
        </p:nvSpPr>
        <p:spPr>
          <a:xfrm>
            <a:off x="335520" y="4406760"/>
            <a:ext cx="10745640" cy="13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Validation Techniques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CustomShape 2"/>
          <p:cNvSpPr/>
          <p:nvPr/>
        </p:nvSpPr>
        <p:spPr>
          <a:xfrm>
            <a:off x="335520" y="2906640"/>
            <a:ext cx="10745640" cy="14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6 validation techniques in this lecture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Three types of reviews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Commenting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Inspections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Walk-throughs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Three supporting techniques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Perspective-based reading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Prototypes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Checklists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Commenting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Author gives requirements to another person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Usually a co-worker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Receive expert opinion of the other person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Marks flaws in the document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Briefly discusses the flaws with the author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Informal and cheap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Inspection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" name="PlaceHolder 1"/>
          <p:cNvSpPr>
            <a:spLocks noGrp="1"/>
          </p:cNvSpPr>
          <p:nvPr>
            <p:ph/>
          </p:nvPr>
        </p:nvSpPr>
        <p:spPr>
          <a:xfrm>
            <a:off x="609480" y="2057400"/>
            <a:ext cx="5329800" cy="456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Systematic check development artifacts for errors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Consists of 4 phases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Planning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Object and goals of the inspection are determined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Roles and participants are selected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Overview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Author explains the requirements to the inspection team → Common understanding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15"/>
          <p:cNvSpPr/>
          <p:nvPr/>
        </p:nvSpPr>
        <p:spPr>
          <a:xfrm>
            <a:off x="5973840" y="1769760"/>
            <a:ext cx="5329800" cy="48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Error detection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Inspectors analyze the requirements for flaws → Individually or in teams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Error collection and consolidation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Results are collected and consolidated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Duplicate errors removed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Check if each finding is indeed an error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Inspection – Roles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360080" cy="4852440"/>
          </a:xfrm>
          <a:prstGeom prst="rect">
            <a:avLst/>
          </a:prstGeom>
          <a:noFill/>
          <a:ln w="0">
            <a:noFill/>
          </a:ln>
        </p:spPr>
        <p:txBody>
          <a:bodyPr numCol="2" spcCol="0" lIns="0" rIns="0" tIns="0" bIns="0" anchor="b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Organizer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Plans and supervises the inspection process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Moderator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Leads collection and consolidation session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Neutral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Author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Explains the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Responsible for error correction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Reader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Introduces the requirements to be inspected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Neutral (usually the moderator)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Inspection – Roles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Inspectors / Reviewers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Responsible for the flaw detection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Communicate findings to members of the project team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Minute-taker / Recorder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Takes minutes of the results during the collection and consolidation session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Writes protocol of the inspection results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Walk-Through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“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Lightweight” inspection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Less strict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Roles not strongly differentiated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Step-by-step “walk-through” of the requirements during the review session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Author introduces the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use the opportunity to give additional details about the requirements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For example, rationale for a decision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Perspective-based Reading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Validate the requirements from a certain perspective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User/customer perspective → Do the requirements meat the expectations and desired functions of a user?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Software architect perspective → Do the requirements contain all information required for the architectural design?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Tester perspective → Do the requirements contain all information necessary to derive test cases?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Content / documentation / agreement perspective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Prototypes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Implement something to try out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everything, but a subset of the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Throw-away prototypes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once, throw away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Evolutionary prototypes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 further after prototypical use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Additional prototypes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Development artifact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Prototypes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with prototypes requires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Manuals / Instructions → Information necessary to apply the prototype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scenarios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90000"/>
              </a:lnSpc>
              <a:spcBef>
                <a:spcPts val="85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Scenarios to perform with the prototype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90000"/>
              </a:lnSpc>
              <a:spcBef>
                <a:spcPts val="85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Encompasses data and user interactions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Checklist with validation criteria → Define how users of the prototype validate the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Results: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Protocol of the auditor → Experiences with the prototype of the auditor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Observation protocol (optional) → “Second person” writes protocol of how the auditor interacted with the prototype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Checklists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Set of questions and/or statements about a certain circumstance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Make sure no aspect is omitted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not be longer than a single page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be used in combination with all previously introduced techniques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Provide a guideline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Automatically structure review results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Checklists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Sources for checklist entries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three quality aspects of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Principles of requirements validation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Criteria for good requirements (Lecture 06, Part 2, Section 1)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Characteristics for good requirements documents (Lecture 06, Part 3, Section 1)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Experience from prior projects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Error statistics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(Software-) Reviews – Its Complicated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90% of all companies choose testing as their only quality assurance measure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 requires executable code → Bugs are discovered late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Failures are discovered not the bugs themselves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Isolation of the error requires additional effort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all errors are found with testing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 proof of correctness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 effort ("debugging") often more than 50% of the development effort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ffffff"/>
                </a:solidFill>
                <a:latin typeface="DejaVu Sans"/>
                <a:ea typeface="DejaVu Sans"/>
              </a:rPr>
              <a:t>→ </a:t>
            </a:r>
            <a:r>
              <a:rPr b="0" lang="en-US" sz="2000" spc="-1" strike="noStrike">
                <a:solidFill>
                  <a:srgbClr val="ffffff"/>
                </a:solidFill>
                <a:latin typeface="DejaVu Sans"/>
                <a:ea typeface="DejaVu Sans"/>
              </a:rPr>
              <a:t>Do not use “reviews” as your only validation technique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(Software-) Reviews – Its Complicated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90% of all companies choose testing as their only quality assurance measure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 requires executable code → Bugs are discovered late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Failures are discovered not the bugs themselves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Isolation of the error requires additional effort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all errors are found with testing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 proof of correctness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 effort ("debugging") often more than 50% of the development effort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Do not use “reviews” as your only validation technique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(Software-) Reviews – Overview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Without reviews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With reviews (ideally):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Box 3"/>
          <p:cNvSpPr/>
          <p:nvPr/>
        </p:nvSpPr>
        <p:spPr>
          <a:xfrm>
            <a:off x="5147280" y="3252960"/>
            <a:ext cx="1136520" cy="334080"/>
          </a:xfrm>
          <a:custGeom>
            <a:avLst/>
            <a:gdLst>
              <a:gd name="textAreaLeft" fmla="*/ 0 w 1136520"/>
              <a:gd name="textAreaRight" fmla="*/ 1139400 w 113652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Design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Box 4"/>
          <p:cNvSpPr/>
          <p:nvPr/>
        </p:nvSpPr>
        <p:spPr>
          <a:xfrm>
            <a:off x="6671520" y="3252960"/>
            <a:ext cx="1136520" cy="334080"/>
          </a:xfrm>
          <a:custGeom>
            <a:avLst/>
            <a:gdLst>
              <a:gd name="textAreaLeft" fmla="*/ 0 w 1136520"/>
              <a:gd name="textAreaRight" fmla="*/ 1139400 w 113652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Code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Box 5"/>
          <p:cNvSpPr/>
          <p:nvPr/>
        </p:nvSpPr>
        <p:spPr>
          <a:xfrm>
            <a:off x="8100360" y="3252960"/>
            <a:ext cx="1134360" cy="334080"/>
          </a:xfrm>
          <a:custGeom>
            <a:avLst/>
            <a:gdLst>
              <a:gd name="textAreaLeft" fmla="*/ 0 w 1134360"/>
              <a:gd name="textAreaRight" fmla="*/ 1137240 w 113436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Test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Box 6"/>
          <p:cNvSpPr/>
          <p:nvPr/>
        </p:nvSpPr>
        <p:spPr>
          <a:xfrm>
            <a:off x="3530520" y="3252960"/>
            <a:ext cx="1134000" cy="334080"/>
          </a:xfrm>
          <a:custGeom>
            <a:avLst/>
            <a:gdLst>
              <a:gd name="textAreaLeft" fmla="*/ 0 w 1134000"/>
              <a:gd name="textAreaRight" fmla="*/ 1136880 w 113400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Req.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Box 7"/>
          <p:cNvSpPr/>
          <p:nvPr/>
        </p:nvSpPr>
        <p:spPr>
          <a:xfrm>
            <a:off x="9527040" y="3252960"/>
            <a:ext cx="1707840" cy="334080"/>
          </a:xfrm>
          <a:custGeom>
            <a:avLst/>
            <a:gdLst>
              <a:gd name="textAreaLeft" fmla="*/ 0 w 1707840"/>
              <a:gd name="textAreaRight" fmla="*/ 1710720 w 170784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Maintenance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ectangle 8"/>
          <p:cNvSpPr/>
          <p:nvPr/>
        </p:nvSpPr>
        <p:spPr>
          <a:xfrm>
            <a:off x="8005320" y="3557880"/>
            <a:ext cx="2943720" cy="69120"/>
          </a:xfrm>
          <a:prstGeom prst="rect">
            <a:avLst/>
          </a:prstGeom>
          <a:solidFill>
            <a:srgbClr val="ff0000"/>
          </a:solidFill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34560" bIns="3456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" name="Text Box 9"/>
          <p:cNvSpPr/>
          <p:nvPr/>
        </p:nvSpPr>
        <p:spPr>
          <a:xfrm>
            <a:off x="857160" y="3100680"/>
            <a:ext cx="2190240" cy="304200"/>
          </a:xfrm>
          <a:custGeom>
            <a:avLst/>
            <a:gdLst>
              <a:gd name="textAreaLeft" fmla="*/ 0 w 2190240"/>
              <a:gd name="textAreaRight" fmla="*/ 2193120 w 2190240"/>
              <a:gd name="textAreaTop" fmla="*/ 0 h 304200"/>
              <a:gd name="textAreaBottom" fmla="*/ 307080 h 30420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r">
              <a:lnSpc>
                <a:spcPct val="100000"/>
              </a:lnSpc>
              <a:spcBef>
                <a:spcPts val="876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  <a:ea typeface="Arial"/>
              </a:rPr>
              <a:t>Bug – discovery 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Line 10"/>
          <p:cNvSpPr/>
          <p:nvPr/>
        </p:nvSpPr>
        <p:spPr>
          <a:xfrm>
            <a:off x="3340080" y="2643480"/>
            <a:ext cx="7520400" cy="360"/>
          </a:xfrm>
          <a:prstGeom prst="line">
            <a:avLst/>
          </a:prstGeom>
          <a:ln w="381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" name="Text Box 11"/>
          <p:cNvSpPr/>
          <p:nvPr/>
        </p:nvSpPr>
        <p:spPr>
          <a:xfrm>
            <a:off x="952200" y="2490840"/>
            <a:ext cx="2112480" cy="304200"/>
          </a:xfrm>
          <a:custGeom>
            <a:avLst/>
            <a:gdLst>
              <a:gd name="textAreaLeft" fmla="*/ 0 w 2112480"/>
              <a:gd name="textAreaRight" fmla="*/ 2115360 w 2112480"/>
              <a:gd name="textAreaTop" fmla="*/ 0 h 304200"/>
              <a:gd name="textAreaBottom" fmla="*/ 307080 h 30420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r">
              <a:lnSpc>
                <a:spcPct val="100000"/>
              </a:lnSpc>
              <a:spcBef>
                <a:spcPts val="876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  <a:ea typeface="Arial"/>
              </a:rPr>
              <a:t>Bug – origin 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ectangle 17"/>
          <p:cNvSpPr/>
          <p:nvPr/>
        </p:nvSpPr>
        <p:spPr>
          <a:xfrm>
            <a:off x="3244680" y="2490840"/>
            <a:ext cx="88560" cy="2980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" name="Rectangle 18"/>
          <p:cNvSpPr/>
          <p:nvPr/>
        </p:nvSpPr>
        <p:spPr>
          <a:xfrm>
            <a:off x="4861800" y="2490840"/>
            <a:ext cx="88560" cy="2980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" name="Rectangle 19"/>
          <p:cNvSpPr/>
          <p:nvPr/>
        </p:nvSpPr>
        <p:spPr>
          <a:xfrm>
            <a:off x="6386040" y="2490840"/>
            <a:ext cx="88560" cy="2980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" name="Rectangle 20"/>
          <p:cNvSpPr/>
          <p:nvPr/>
        </p:nvSpPr>
        <p:spPr>
          <a:xfrm>
            <a:off x="7909920" y="2490840"/>
            <a:ext cx="88560" cy="2980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" name="Rectangle 21"/>
          <p:cNvSpPr/>
          <p:nvPr/>
        </p:nvSpPr>
        <p:spPr>
          <a:xfrm>
            <a:off x="9431640" y="2490840"/>
            <a:ext cx="88200" cy="2980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" name="Rectangle 22"/>
          <p:cNvSpPr/>
          <p:nvPr/>
        </p:nvSpPr>
        <p:spPr>
          <a:xfrm>
            <a:off x="10860480" y="2490840"/>
            <a:ext cx="88560" cy="2980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" name="Line 19"/>
          <p:cNvSpPr/>
          <p:nvPr/>
        </p:nvSpPr>
        <p:spPr>
          <a:xfrm>
            <a:off x="3340080" y="3252960"/>
            <a:ext cx="7520400" cy="360"/>
          </a:xfrm>
          <a:prstGeom prst="line">
            <a:avLst/>
          </a:prstGeom>
          <a:ln w="381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" name="Rectangle 24"/>
          <p:cNvSpPr/>
          <p:nvPr/>
        </p:nvSpPr>
        <p:spPr>
          <a:xfrm>
            <a:off x="3244680" y="3100680"/>
            <a:ext cx="88560" cy="2977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" name="Rectangle 25"/>
          <p:cNvSpPr/>
          <p:nvPr/>
        </p:nvSpPr>
        <p:spPr>
          <a:xfrm>
            <a:off x="4861800" y="3100680"/>
            <a:ext cx="88560" cy="2977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" name="Rectangle 26"/>
          <p:cNvSpPr/>
          <p:nvPr/>
        </p:nvSpPr>
        <p:spPr>
          <a:xfrm>
            <a:off x="6386040" y="3100680"/>
            <a:ext cx="88560" cy="2977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" name="Rectangle 27"/>
          <p:cNvSpPr/>
          <p:nvPr/>
        </p:nvSpPr>
        <p:spPr>
          <a:xfrm>
            <a:off x="7909920" y="3100680"/>
            <a:ext cx="88560" cy="2977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" name="Rectangle 28"/>
          <p:cNvSpPr/>
          <p:nvPr/>
        </p:nvSpPr>
        <p:spPr>
          <a:xfrm>
            <a:off x="9431640" y="3100680"/>
            <a:ext cx="88200" cy="2977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6" name="Rectangle 29"/>
          <p:cNvSpPr/>
          <p:nvPr/>
        </p:nvSpPr>
        <p:spPr>
          <a:xfrm>
            <a:off x="10860480" y="3100680"/>
            <a:ext cx="88560" cy="2977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7" name="Line 20"/>
          <p:cNvSpPr/>
          <p:nvPr/>
        </p:nvSpPr>
        <p:spPr>
          <a:xfrm>
            <a:off x="4101840" y="2643480"/>
            <a:ext cx="4379760" cy="609480"/>
          </a:xfrm>
          <a:prstGeom prst="line">
            <a:avLst/>
          </a:prstGeom>
          <a:ln w="25560">
            <a:solidFill>
              <a:srgbClr val="ff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8" name="Line 21"/>
          <p:cNvSpPr/>
          <p:nvPr/>
        </p:nvSpPr>
        <p:spPr>
          <a:xfrm>
            <a:off x="5814720" y="2643480"/>
            <a:ext cx="3236040" cy="609480"/>
          </a:xfrm>
          <a:prstGeom prst="line">
            <a:avLst/>
          </a:prstGeom>
          <a:ln w="25560">
            <a:solidFill>
              <a:srgbClr val="ff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9" name="Line 22"/>
          <p:cNvSpPr/>
          <p:nvPr/>
        </p:nvSpPr>
        <p:spPr>
          <a:xfrm>
            <a:off x="7243200" y="2643480"/>
            <a:ext cx="3331800" cy="609480"/>
          </a:xfrm>
          <a:prstGeom prst="line">
            <a:avLst/>
          </a:prstGeom>
          <a:ln w="25560">
            <a:solidFill>
              <a:srgbClr val="ff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0" name="Line 23"/>
          <p:cNvSpPr/>
          <p:nvPr/>
        </p:nvSpPr>
        <p:spPr>
          <a:xfrm>
            <a:off x="8576640" y="2643480"/>
            <a:ext cx="1426680" cy="609480"/>
          </a:xfrm>
          <a:prstGeom prst="line">
            <a:avLst/>
          </a:prstGeom>
          <a:ln w="25560">
            <a:solidFill>
              <a:srgbClr val="ff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1" name="Line 24"/>
          <p:cNvSpPr/>
          <p:nvPr/>
        </p:nvSpPr>
        <p:spPr>
          <a:xfrm>
            <a:off x="10193400" y="2643480"/>
            <a:ext cx="476280" cy="609480"/>
          </a:xfrm>
          <a:prstGeom prst="line">
            <a:avLst/>
          </a:prstGeom>
          <a:ln w="25560">
            <a:solidFill>
              <a:srgbClr val="ff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2" name="Line 25"/>
          <p:cNvSpPr/>
          <p:nvPr/>
        </p:nvSpPr>
        <p:spPr>
          <a:xfrm>
            <a:off x="7624080" y="2795760"/>
            <a:ext cx="360" cy="360"/>
          </a:xfrm>
          <a:prstGeom prst="line">
            <a:avLst/>
          </a:prstGeom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3" name="Text Box 36"/>
          <p:cNvSpPr/>
          <p:nvPr/>
        </p:nvSpPr>
        <p:spPr>
          <a:xfrm>
            <a:off x="8481600" y="3633840"/>
            <a:ext cx="1895760" cy="365040"/>
          </a:xfrm>
          <a:custGeom>
            <a:avLst/>
            <a:gdLst>
              <a:gd name="textAreaLeft" fmla="*/ 0 w 1895760"/>
              <a:gd name="textAreaRight" fmla="*/ 1898640 w 1895760"/>
              <a:gd name="textAreaTop" fmla="*/ 0 h 365040"/>
              <a:gd name="textAreaBottom" fmla="*/ 367560 h 36504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125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Arial"/>
              </a:rPr>
              <a:t>Chaos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Line 26"/>
          <p:cNvSpPr/>
          <p:nvPr/>
        </p:nvSpPr>
        <p:spPr>
          <a:xfrm>
            <a:off x="8005320" y="3405240"/>
            <a:ext cx="360" cy="152640"/>
          </a:xfrm>
          <a:prstGeom prst="line">
            <a:avLst/>
          </a:prstGeom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76320" bIns="7632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5" name="Rectangle 38"/>
          <p:cNvSpPr/>
          <p:nvPr/>
        </p:nvSpPr>
        <p:spPr>
          <a:xfrm>
            <a:off x="7909920" y="3405240"/>
            <a:ext cx="88560" cy="221760"/>
          </a:xfrm>
          <a:prstGeom prst="rect">
            <a:avLst/>
          </a:prstGeom>
          <a:solidFill>
            <a:srgbClr val="ff0000"/>
          </a:solidFill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6" name="Rectangle 39"/>
          <p:cNvSpPr/>
          <p:nvPr/>
        </p:nvSpPr>
        <p:spPr>
          <a:xfrm>
            <a:off x="10860120" y="3405240"/>
            <a:ext cx="86400" cy="221760"/>
          </a:xfrm>
          <a:prstGeom prst="rect">
            <a:avLst/>
          </a:prstGeom>
          <a:solidFill>
            <a:srgbClr val="ff0000"/>
          </a:solidFill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7" name="Text Box 39"/>
          <p:cNvSpPr/>
          <p:nvPr/>
        </p:nvSpPr>
        <p:spPr>
          <a:xfrm>
            <a:off x="5147280" y="5497560"/>
            <a:ext cx="1136520" cy="334080"/>
          </a:xfrm>
          <a:custGeom>
            <a:avLst/>
            <a:gdLst>
              <a:gd name="textAreaLeft" fmla="*/ 0 w 1136520"/>
              <a:gd name="textAreaRight" fmla="*/ 1139400 w 113652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Design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 Box 40"/>
          <p:cNvSpPr/>
          <p:nvPr/>
        </p:nvSpPr>
        <p:spPr>
          <a:xfrm>
            <a:off x="6671520" y="5497560"/>
            <a:ext cx="1136520" cy="334080"/>
          </a:xfrm>
          <a:custGeom>
            <a:avLst/>
            <a:gdLst>
              <a:gd name="textAreaLeft" fmla="*/ 0 w 1136520"/>
              <a:gd name="textAreaRight" fmla="*/ 1139400 w 113652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Code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 Box 41"/>
          <p:cNvSpPr/>
          <p:nvPr/>
        </p:nvSpPr>
        <p:spPr>
          <a:xfrm>
            <a:off x="8100360" y="5497560"/>
            <a:ext cx="1134360" cy="334080"/>
          </a:xfrm>
          <a:custGeom>
            <a:avLst/>
            <a:gdLst>
              <a:gd name="textAreaLeft" fmla="*/ 0 w 1134360"/>
              <a:gd name="textAreaRight" fmla="*/ 1137240 w 113436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Test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Box 42"/>
          <p:cNvSpPr/>
          <p:nvPr/>
        </p:nvSpPr>
        <p:spPr>
          <a:xfrm>
            <a:off x="3530520" y="5497560"/>
            <a:ext cx="1134000" cy="334080"/>
          </a:xfrm>
          <a:custGeom>
            <a:avLst/>
            <a:gdLst>
              <a:gd name="textAreaLeft" fmla="*/ 0 w 1134000"/>
              <a:gd name="textAreaRight" fmla="*/ 1136880 w 113400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Req.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 Box 43"/>
          <p:cNvSpPr/>
          <p:nvPr/>
        </p:nvSpPr>
        <p:spPr>
          <a:xfrm>
            <a:off x="9527040" y="5497560"/>
            <a:ext cx="1707840" cy="334080"/>
          </a:xfrm>
          <a:custGeom>
            <a:avLst/>
            <a:gdLst>
              <a:gd name="textAreaLeft" fmla="*/ 0 w 1707840"/>
              <a:gd name="textAreaRight" fmla="*/ 1710720 w 170784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Maintenance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Box 44"/>
          <p:cNvSpPr/>
          <p:nvPr/>
        </p:nvSpPr>
        <p:spPr>
          <a:xfrm>
            <a:off x="857160" y="5345280"/>
            <a:ext cx="2190240" cy="304200"/>
          </a:xfrm>
          <a:custGeom>
            <a:avLst/>
            <a:gdLst>
              <a:gd name="textAreaLeft" fmla="*/ 0 w 2190240"/>
              <a:gd name="textAreaRight" fmla="*/ 2193120 w 2190240"/>
              <a:gd name="textAreaTop" fmla="*/ 0 h 304200"/>
              <a:gd name="textAreaBottom" fmla="*/ 307080 h 30420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r">
              <a:lnSpc>
                <a:spcPct val="100000"/>
              </a:lnSpc>
              <a:spcBef>
                <a:spcPts val="876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  <a:ea typeface="Arial"/>
              </a:rPr>
              <a:t>Bug – discovery 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Line 27"/>
          <p:cNvSpPr/>
          <p:nvPr/>
        </p:nvSpPr>
        <p:spPr>
          <a:xfrm>
            <a:off x="3340080" y="4888080"/>
            <a:ext cx="7520400" cy="360"/>
          </a:xfrm>
          <a:prstGeom prst="line">
            <a:avLst/>
          </a:prstGeom>
          <a:ln w="381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4" name="Text Box 45"/>
          <p:cNvSpPr/>
          <p:nvPr/>
        </p:nvSpPr>
        <p:spPr>
          <a:xfrm>
            <a:off x="952200" y="4735800"/>
            <a:ext cx="2095200" cy="304200"/>
          </a:xfrm>
          <a:custGeom>
            <a:avLst/>
            <a:gdLst>
              <a:gd name="textAreaLeft" fmla="*/ 0 w 2095200"/>
              <a:gd name="textAreaRight" fmla="*/ 2098080 w 2095200"/>
              <a:gd name="textAreaTop" fmla="*/ 0 h 304200"/>
              <a:gd name="textAreaBottom" fmla="*/ 307080 h 30420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r">
              <a:lnSpc>
                <a:spcPct val="100000"/>
              </a:lnSpc>
              <a:spcBef>
                <a:spcPts val="876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  <a:ea typeface="Arial"/>
              </a:rPr>
              <a:t>Bug – origin 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 Box 46"/>
          <p:cNvSpPr/>
          <p:nvPr/>
        </p:nvSpPr>
        <p:spPr>
          <a:xfrm>
            <a:off x="5147280" y="4583160"/>
            <a:ext cx="1136520" cy="334080"/>
          </a:xfrm>
          <a:custGeom>
            <a:avLst/>
            <a:gdLst>
              <a:gd name="textAreaLeft" fmla="*/ 0 w 1136520"/>
              <a:gd name="textAreaRight" fmla="*/ 1139400 w 113652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Design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 Box 47"/>
          <p:cNvSpPr/>
          <p:nvPr/>
        </p:nvSpPr>
        <p:spPr>
          <a:xfrm>
            <a:off x="6671520" y="4583160"/>
            <a:ext cx="1136520" cy="334080"/>
          </a:xfrm>
          <a:custGeom>
            <a:avLst/>
            <a:gdLst>
              <a:gd name="textAreaLeft" fmla="*/ 0 w 1136520"/>
              <a:gd name="textAreaRight" fmla="*/ 1139400 w 113652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Code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 Box 48"/>
          <p:cNvSpPr/>
          <p:nvPr/>
        </p:nvSpPr>
        <p:spPr>
          <a:xfrm>
            <a:off x="8100360" y="4583160"/>
            <a:ext cx="1134360" cy="334080"/>
          </a:xfrm>
          <a:custGeom>
            <a:avLst/>
            <a:gdLst>
              <a:gd name="textAreaLeft" fmla="*/ 0 w 1134360"/>
              <a:gd name="textAreaRight" fmla="*/ 1137240 w 113436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Test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 Box 49"/>
          <p:cNvSpPr/>
          <p:nvPr/>
        </p:nvSpPr>
        <p:spPr>
          <a:xfrm>
            <a:off x="3530520" y="4583160"/>
            <a:ext cx="1134000" cy="334080"/>
          </a:xfrm>
          <a:custGeom>
            <a:avLst/>
            <a:gdLst>
              <a:gd name="textAreaLeft" fmla="*/ 0 w 1134000"/>
              <a:gd name="textAreaRight" fmla="*/ 1136880 w 113400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Req.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 Box 50"/>
          <p:cNvSpPr/>
          <p:nvPr/>
        </p:nvSpPr>
        <p:spPr>
          <a:xfrm>
            <a:off x="9527040" y="4583160"/>
            <a:ext cx="1707840" cy="334080"/>
          </a:xfrm>
          <a:custGeom>
            <a:avLst/>
            <a:gdLst>
              <a:gd name="textAreaLeft" fmla="*/ 0 w 1707840"/>
              <a:gd name="textAreaRight" fmla="*/ 1710720 w 170784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Maintenance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Rectangle 43"/>
          <p:cNvSpPr/>
          <p:nvPr/>
        </p:nvSpPr>
        <p:spPr>
          <a:xfrm>
            <a:off x="3244680" y="4735800"/>
            <a:ext cx="88560" cy="2977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1" name="Rectangle 44"/>
          <p:cNvSpPr/>
          <p:nvPr/>
        </p:nvSpPr>
        <p:spPr>
          <a:xfrm>
            <a:off x="4861800" y="4735800"/>
            <a:ext cx="88560" cy="2977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2" name="Rectangle 45"/>
          <p:cNvSpPr/>
          <p:nvPr/>
        </p:nvSpPr>
        <p:spPr>
          <a:xfrm>
            <a:off x="6386040" y="4735800"/>
            <a:ext cx="88560" cy="2977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3" name="Rectangle 46"/>
          <p:cNvSpPr/>
          <p:nvPr/>
        </p:nvSpPr>
        <p:spPr>
          <a:xfrm>
            <a:off x="7909920" y="4735800"/>
            <a:ext cx="88560" cy="2977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4" name="Rectangle 47"/>
          <p:cNvSpPr/>
          <p:nvPr/>
        </p:nvSpPr>
        <p:spPr>
          <a:xfrm>
            <a:off x="9431640" y="4735800"/>
            <a:ext cx="88200" cy="2977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5" name="Rectangle 48"/>
          <p:cNvSpPr/>
          <p:nvPr/>
        </p:nvSpPr>
        <p:spPr>
          <a:xfrm>
            <a:off x="10860480" y="4735800"/>
            <a:ext cx="88560" cy="2977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6" name="Line 28"/>
          <p:cNvSpPr/>
          <p:nvPr/>
        </p:nvSpPr>
        <p:spPr>
          <a:xfrm>
            <a:off x="3340080" y="5497560"/>
            <a:ext cx="7520400" cy="360"/>
          </a:xfrm>
          <a:prstGeom prst="line">
            <a:avLst/>
          </a:prstGeom>
          <a:ln w="381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7" name="Rectangle 49"/>
          <p:cNvSpPr/>
          <p:nvPr/>
        </p:nvSpPr>
        <p:spPr>
          <a:xfrm>
            <a:off x="3244680" y="5345280"/>
            <a:ext cx="88560" cy="2980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8" name="Rectangle 50"/>
          <p:cNvSpPr/>
          <p:nvPr/>
        </p:nvSpPr>
        <p:spPr>
          <a:xfrm>
            <a:off x="4861800" y="5345280"/>
            <a:ext cx="88560" cy="2980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9" name="Rectangle 51"/>
          <p:cNvSpPr/>
          <p:nvPr/>
        </p:nvSpPr>
        <p:spPr>
          <a:xfrm>
            <a:off x="6386040" y="5345280"/>
            <a:ext cx="88560" cy="2980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0" name="Rectangle 52"/>
          <p:cNvSpPr/>
          <p:nvPr/>
        </p:nvSpPr>
        <p:spPr>
          <a:xfrm>
            <a:off x="7909920" y="5345280"/>
            <a:ext cx="88560" cy="2980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1" name="Rectangle 53"/>
          <p:cNvSpPr/>
          <p:nvPr/>
        </p:nvSpPr>
        <p:spPr>
          <a:xfrm>
            <a:off x="9431640" y="5345280"/>
            <a:ext cx="88200" cy="2980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2" name="Rectangle 54"/>
          <p:cNvSpPr/>
          <p:nvPr/>
        </p:nvSpPr>
        <p:spPr>
          <a:xfrm>
            <a:off x="10860480" y="5345280"/>
            <a:ext cx="88560" cy="2980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3" name="Line 29"/>
          <p:cNvSpPr/>
          <p:nvPr/>
        </p:nvSpPr>
        <p:spPr>
          <a:xfrm>
            <a:off x="5338080" y="4888080"/>
            <a:ext cx="762120" cy="609480"/>
          </a:xfrm>
          <a:prstGeom prst="line">
            <a:avLst/>
          </a:prstGeom>
          <a:ln w="25560">
            <a:solidFill>
              <a:srgbClr val="3366ff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4" name="Line 30"/>
          <p:cNvSpPr/>
          <p:nvPr/>
        </p:nvSpPr>
        <p:spPr>
          <a:xfrm>
            <a:off x="7624080" y="5040360"/>
            <a:ext cx="360" cy="360"/>
          </a:xfrm>
          <a:prstGeom prst="line">
            <a:avLst/>
          </a:prstGeom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5" name="Line 31"/>
          <p:cNvSpPr/>
          <p:nvPr/>
        </p:nvSpPr>
        <p:spPr>
          <a:xfrm>
            <a:off x="6861960" y="4888080"/>
            <a:ext cx="762120" cy="609480"/>
          </a:xfrm>
          <a:prstGeom prst="line">
            <a:avLst/>
          </a:prstGeom>
          <a:ln w="25560">
            <a:solidFill>
              <a:srgbClr val="3366ff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6" name="Line 32"/>
          <p:cNvSpPr/>
          <p:nvPr/>
        </p:nvSpPr>
        <p:spPr>
          <a:xfrm>
            <a:off x="3816360" y="4888080"/>
            <a:ext cx="759600" cy="609480"/>
          </a:xfrm>
          <a:prstGeom prst="line">
            <a:avLst/>
          </a:prstGeom>
          <a:ln w="25560">
            <a:solidFill>
              <a:srgbClr val="3366ff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7" name="Line 33"/>
          <p:cNvSpPr/>
          <p:nvPr/>
        </p:nvSpPr>
        <p:spPr>
          <a:xfrm>
            <a:off x="8386200" y="4888080"/>
            <a:ext cx="759600" cy="609480"/>
          </a:xfrm>
          <a:prstGeom prst="line">
            <a:avLst/>
          </a:prstGeom>
          <a:ln w="25560">
            <a:solidFill>
              <a:srgbClr val="3366ff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8" name="Line 34"/>
          <p:cNvSpPr/>
          <p:nvPr/>
        </p:nvSpPr>
        <p:spPr>
          <a:xfrm>
            <a:off x="9812520" y="4888080"/>
            <a:ext cx="762120" cy="609480"/>
          </a:xfrm>
          <a:prstGeom prst="line">
            <a:avLst/>
          </a:prstGeom>
          <a:ln w="25560">
            <a:solidFill>
              <a:srgbClr val="3366ff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9" name="Text Box 12"/>
          <p:cNvSpPr/>
          <p:nvPr/>
        </p:nvSpPr>
        <p:spPr>
          <a:xfrm>
            <a:off x="5141520" y="2342160"/>
            <a:ext cx="1136520" cy="334080"/>
          </a:xfrm>
          <a:custGeom>
            <a:avLst/>
            <a:gdLst>
              <a:gd name="textAreaLeft" fmla="*/ 0 w 1136520"/>
              <a:gd name="textAreaRight" fmla="*/ 1139400 w 113652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Design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Box 13"/>
          <p:cNvSpPr/>
          <p:nvPr/>
        </p:nvSpPr>
        <p:spPr>
          <a:xfrm>
            <a:off x="6665760" y="2342160"/>
            <a:ext cx="1136520" cy="334080"/>
          </a:xfrm>
          <a:custGeom>
            <a:avLst/>
            <a:gdLst>
              <a:gd name="textAreaLeft" fmla="*/ 0 w 1136520"/>
              <a:gd name="textAreaRight" fmla="*/ 1139400 w 113652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Code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 Box 14"/>
          <p:cNvSpPr/>
          <p:nvPr/>
        </p:nvSpPr>
        <p:spPr>
          <a:xfrm>
            <a:off x="8094600" y="2342160"/>
            <a:ext cx="1134360" cy="334080"/>
          </a:xfrm>
          <a:custGeom>
            <a:avLst/>
            <a:gdLst>
              <a:gd name="textAreaLeft" fmla="*/ 0 w 1134360"/>
              <a:gd name="textAreaRight" fmla="*/ 1137240 w 113436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Test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 Box 15"/>
          <p:cNvSpPr/>
          <p:nvPr/>
        </p:nvSpPr>
        <p:spPr>
          <a:xfrm>
            <a:off x="3524760" y="2342160"/>
            <a:ext cx="1134000" cy="334080"/>
          </a:xfrm>
          <a:custGeom>
            <a:avLst/>
            <a:gdLst>
              <a:gd name="textAreaLeft" fmla="*/ 0 w 1134000"/>
              <a:gd name="textAreaRight" fmla="*/ 1136880 w 113400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Req.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 Box 16"/>
          <p:cNvSpPr/>
          <p:nvPr/>
        </p:nvSpPr>
        <p:spPr>
          <a:xfrm>
            <a:off x="9521280" y="2342160"/>
            <a:ext cx="1707840" cy="334080"/>
          </a:xfrm>
          <a:custGeom>
            <a:avLst/>
            <a:gdLst>
              <a:gd name="textAreaLeft" fmla="*/ 0 w 1707840"/>
              <a:gd name="textAreaRight" fmla="*/ 1710720 w 1707840"/>
              <a:gd name="textAreaTop" fmla="*/ 0 h 334080"/>
              <a:gd name="textAreaBottom" fmla="*/ 336600 h 3340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Arial"/>
              </a:rPr>
              <a:t>Maintenance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Line 25"/>
          <p:cNvSpPr/>
          <p:nvPr/>
        </p:nvSpPr>
        <p:spPr>
          <a:xfrm>
            <a:off x="7617960" y="2799360"/>
            <a:ext cx="360" cy="360"/>
          </a:xfrm>
          <a:prstGeom prst="line">
            <a:avLst/>
          </a:prstGeom>
          <a:ln w="936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Review Techniques – Overview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Inspections as the most reliable review technique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Empirical studies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Inspections find 50% more defects than walkthroughs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Inspections find up to 6x more defects than ad-hoc reviews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Line 1"/>
          <p:cNvSpPr/>
          <p:nvPr/>
        </p:nvSpPr>
        <p:spPr>
          <a:xfrm>
            <a:off x="819000" y="2571840"/>
            <a:ext cx="9924120" cy="360"/>
          </a:xfrm>
          <a:prstGeom prst="line">
            <a:avLst/>
          </a:prstGeom>
          <a:ln w="25560">
            <a:solidFill>
              <a:srgbClr val="c0504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0" name="Line 2"/>
          <p:cNvSpPr/>
          <p:nvPr/>
        </p:nvSpPr>
        <p:spPr>
          <a:xfrm>
            <a:off x="1323000" y="2468160"/>
            <a:ext cx="360" cy="205560"/>
          </a:xfrm>
          <a:prstGeom prst="line">
            <a:avLst/>
          </a:prstGeom>
          <a:ln w="25560">
            <a:solidFill>
              <a:srgbClr val="c0504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02600" bIns="1026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1" name="Text Box 1"/>
          <p:cNvSpPr/>
          <p:nvPr/>
        </p:nvSpPr>
        <p:spPr>
          <a:xfrm>
            <a:off x="781560" y="2725920"/>
            <a:ext cx="1449720" cy="396000"/>
          </a:xfrm>
          <a:custGeom>
            <a:avLst/>
            <a:gdLst>
              <a:gd name="textAreaLeft" fmla="*/ 0 w 1449720"/>
              <a:gd name="textAreaRight" fmla="*/ 1452600 w 1449720"/>
              <a:gd name="textAreaTop" fmla="*/ 0 h 396000"/>
              <a:gd name="textAreaBottom" fmla="*/ 398880 h 39600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GB" sz="2000" spc="-1" strike="noStrike">
                <a:solidFill>
                  <a:srgbClr val="c00000"/>
                </a:solidFill>
                <a:latin typeface="Arial"/>
                <a:ea typeface="DejaVu Sans"/>
              </a:rPr>
              <a:t>Inspection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 Box 2"/>
          <p:cNvSpPr/>
          <p:nvPr/>
        </p:nvSpPr>
        <p:spPr>
          <a:xfrm>
            <a:off x="2318400" y="2725920"/>
            <a:ext cx="1054800" cy="700920"/>
          </a:xfrm>
          <a:custGeom>
            <a:avLst/>
            <a:gdLst>
              <a:gd name="textAreaLeft" fmla="*/ 0 w 1054800"/>
              <a:gd name="textAreaRight" fmla="*/ 1057680 w 1054800"/>
              <a:gd name="textAreaTop" fmla="*/ 0 h 700920"/>
              <a:gd name="textAreaBottom" fmla="*/ 703800 h 7009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de-DE" sz="2000" spc="-1" strike="noStrike">
                <a:solidFill>
                  <a:srgbClr val="c00000"/>
                </a:solidFill>
                <a:latin typeface="Arial"/>
                <a:ea typeface="DejaVu Sans"/>
              </a:rPr>
              <a:t>Team</a:t>
            </a:r>
            <a:br>
              <a:rPr sz="1800"/>
            </a:br>
            <a:r>
              <a:rPr b="1" lang="de-DE" sz="2000" spc="-1" strike="noStrike">
                <a:solidFill>
                  <a:srgbClr val="c00000"/>
                </a:solidFill>
                <a:latin typeface="Arial"/>
                <a:ea typeface="DejaVu Sans"/>
              </a:rPr>
              <a:t>Review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Box 8"/>
          <p:cNvSpPr/>
          <p:nvPr/>
        </p:nvSpPr>
        <p:spPr>
          <a:xfrm>
            <a:off x="3738600" y="2725920"/>
            <a:ext cx="1724040" cy="396000"/>
          </a:xfrm>
          <a:custGeom>
            <a:avLst/>
            <a:gdLst>
              <a:gd name="textAreaLeft" fmla="*/ 0 w 1724040"/>
              <a:gd name="textAreaRight" fmla="*/ 1726920 w 1724040"/>
              <a:gd name="textAreaTop" fmla="*/ 0 h 396000"/>
              <a:gd name="textAreaBottom" fmla="*/ 398880 h 39600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2000" spc="-1" strike="noStrike">
                <a:solidFill>
                  <a:srgbClr val="c00000"/>
                </a:solidFill>
                <a:latin typeface="Arial"/>
                <a:ea typeface="DejaVu Sans"/>
              </a:rPr>
              <a:t>Walkthrough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Box 10"/>
          <p:cNvSpPr/>
          <p:nvPr/>
        </p:nvSpPr>
        <p:spPr>
          <a:xfrm>
            <a:off x="5355000" y="2725920"/>
            <a:ext cx="1829160" cy="700920"/>
          </a:xfrm>
          <a:custGeom>
            <a:avLst/>
            <a:gdLst>
              <a:gd name="textAreaLeft" fmla="*/ 0 w 1829160"/>
              <a:gd name="textAreaRight" fmla="*/ 1832040 w 1829160"/>
              <a:gd name="textAreaTop" fmla="*/ 0 h 700920"/>
              <a:gd name="textAreaBottom" fmla="*/ 703800 h 7009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de-DE" sz="2000" spc="-1" strike="noStrike">
                <a:solidFill>
                  <a:srgbClr val="c00000"/>
                </a:solidFill>
                <a:latin typeface="Arial"/>
                <a:ea typeface="DejaVu Sans"/>
              </a:rPr>
              <a:t>Pair</a:t>
            </a:r>
            <a:br>
              <a:rPr sz="1800"/>
            </a:br>
            <a:r>
              <a:rPr b="1" lang="de-DE" sz="2000" spc="-1" strike="noStrike">
                <a:solidFill>
                  <a:srgbClr val="c00000"/>
                </a:solidFill>
                <a:latin typeface="Arial"/>
                <a:ea typeface="DejaVu Sans"/>
              </a:rPr>
              <a:t>Programming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 Box 17"/>
          <p:cNvSpPr/>
          <p:nvPr/>
        </p:nvSpPr>
        <p:spPr>
          <a:xfrm>
            <a:off x="7494120" y="2725920"/>
            <a:ext cx="2019600" cy="700920"/>
          </a:xfrm>
          <a:custGeom>
            <a:avLst/>
            <a:gdLst>
              <a:gd name="textAreaLeft" fmla="*/ 0 w 2019600"/>
              <a:gd name="textAreaRight" fmla="*/ 2022480 w 2019600"/>
              <a:gd name="textAreaTop" fmla="*/ 0 h 700920"/>
              <a:gd name="textAreaBottom" fmla="*/ 703800 h 7009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de-DE" sz="2000" spc="-1" strike="noStrike">
                <a:solidFill>
                  <a:srgbClr val="c00000"/>
                </a:solidFill>
                <a:latin typeface="Arial"/>
                <a:ea typeface="DejaVu Sans"/>
              </a:rPr>
              <a:t>Peer</a:t>
            </a:r>
            <a:br>
              <a:rPr sz="1800"/>
            </a:br>
            <a:r>
              <a:rPr b="1" lang="de-DE" sz="2000" spc="-1" strike="noStrike">
                <a:solidFill>
                  <a:srgbClr val="c00000"/>
                </a:solidFill>
                <a:latin typeface="Arial"/>
                <a:ea typeface="DejaVu Sans"/>
              </a:rPr>
              <a:t>Desk-Checking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 Box 18"/>
          <p:cNvSpPr/>
          <p:nvPr/>
        </p:nvSpPr>
        <p:spPr>
          <a:xfrm>
            <a:off x="9575280" y="2750760"/>
            <a:ext cx="1054800" cy="396000"/>
          </a:xfrm>
          <a:custGeom>
            <a:avLst/>
            <a:gdLst>
              <a:gd name="textAreaLeft" fmla="*/ 0 w 1054800"/>
              <a:gd name="textAreaRight" fmla="*/ 1057680 w 1054800"/>
              <a:gd name="textAreaTop" fmla="*/ 0 h 396000"/>
              <a:gd name="textAreaBottom" fmla="*/ 398880 h 39600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de-DE" sz="2000" spc="-1" strike="noStrike">
                <a:solidFill>
                  <a:srgbClr val="c00000"/>
                </a:solidFill>
                <a:latin typeface="Arial"/>
                <a:ea typeface="DejaVu Sans"/>
              </a:rPr>
              <a:t>Ad-hoc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Line 3"/>
          <p:cNvSpPr/>
          <p:nvPr/>
        </p:nvSpPr>
        <p:spPr>
          <a:xfrm>
            <a:off x="4453200" y="2468160"/>
            <a:ext cx="360" cy="205560"/>
          </a:xfrm>
          <a:prstGeom prst="line">
            <a:avLst/>
          </a:prstGeom>
          <a:ln w="25560">
            <a:solidFill>
              <a:srgbClr val="c0504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02600" bIns="1026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8" name="Line 4"/>
          <p:cNvSpPr/>
          <p:nvPr/>
        </p:nvSpPr>
        <p:spPr>
          <a:xfrm>
            <a:off x="2836440" y="2468160"/>
            <a:ext cx="360" cy="205560"/>
          </a:xfrm>
          <a:prstGeom prst="line">
            <a:avLst/>
          </a:prstGeom>
          <a:ln w="25560">
            <a:solidFill>
              <a:srgbClr val="c0504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02600" bIns="1026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9" name="Line 5"/>
          <p:cNvSpPr/>
          <p:nvPr/>
        </p:nvSpPr>
        <p:spPr>
          <a:xfrm>
            <a:off x="6285600" y="2468160"/>
            <a:ext cx="360" cy="205560"/>
          </a:xfrm>
          <a:prstGeom prst="line">
            <a:avLst/>
          </a:prstGeom>
          <a:ln w="25560">
            <a:solidFill>
              <a:srgbClr val="c0504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02600" bIns="1026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0" name="Line 6"/>
          <p:cNvSpPr/>
          <p:nvPr/>
        </p:nvSpPr>
        <p:spPr>
          <a:xfrm>
            <a:off x="8471880" y="2468160"/>
            <a:ext cx="360" cy="205560"/>
          </a:xfrm>
          <a:prstGeom prst="line">
            <a:avLst/>
          </a:prstGeom>
          <a:ln w="25560">
            <a:solidFill>
              <a:srgbClr val="c0504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02600" bIns="1026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1" name="Line 7"/>
          <p:cNvSpPr/>
          <p:nvPr/>
        </p:nvSpPr>
        <p:spPr>
          <a:xfrm>
            <a:off x="9986760" y="2468160"/>
            <a:ext cx="360" cy="205560"/>
          </a:xfrm>
          <a:prstGeom prst="line">
            <a:avLst/>
          </a:prstGeom>
          <a:ln w="25560">
            <a:solidFill>
              <a:srgbClr val="c0504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02600" bIns="10260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2" name="Text Box 19"/>
          <p:cNvSpPr/>
          <p:nvPr/>
        </p:nvSpPr>
        <p:spPr>
          <a:xfrm>
            <a:off x="544320" y="2005200"/>
            <a:ext cx="722880" cy="517320"/>
          </a:xfrm>
          <a:custGeom>
            <a:avLst/>
            <a:gdLst>
              <a:gd name="textAreaLeft" fmla="*/ 0 w 722880"/>
              <a:gd name="textAreaRight" fmla="*/ 725760 w 722880"/>
              <a:gd name="textAreaTop" fmla="*/ 0 h 517320"/>
              <a:gd name="textAreaBottom" fmla="*/ 519840 h 5173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i="1" lang="de-DE" sz="1400" spc="-1" strike="noStrike">
                <a:solidFill>
                  <a:srgbClr val="000000"/>
                </a:solidFill>
                <a:latin typeface="Arial"/>
                <a:ea typeface="DejaVu Sans"/>
              </a:rPr>
              <a:t>very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i="1" lang="de-DE" sz="1400" spc="-1" strike="noStrike">
                <a:solidFill>
                  <a:srgbClr val="000000"/>
                </a:solidFill>
                <a:latin typeface="Arial"/>
                <a:ea typeface="DejaVu Sans"/>
              </a:rPr>
              <a:t>formal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 Box 20"/>
          <p:cNvSpPr/>
          <p:nvPr/>
        </p:nvSpPr>
        <p:spPr>
          <a:xfrm>
            <a:off x="10045080" y="2047320"/>
            <a:ext cx="722880" cy="517320"/>
          </a:xfrm>
          <a:custGeom>
            <a:avLst/>
            <a:gdLst>
              <a:gd name="textAreaLeft" fmla="*/ 0 w 722880"/>
              <a:gd name="textAreaRight" fmla="*/ 725760 w 722880"/>
              <a:gd name="textAreaTop" fmla="*/ 0 h 517320"/>
              <a:gd name="textAreaBottom" fmla="*/ 519840 h 5173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 algn="r">
              <a:lnSpc>
                <a:spcPct val="100000"/>
              </a:lnSpc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i="1" lang="de-DE" sz="1400" spc="-1" strike="noStrike">
                <a:solidFill>
                  <a:srgbClr val="000000"/>
                </a:solidFill>
                <a:latin typeface="Arial"/>
                <a:ea typeface="DejaVu Sans"/>
              </a:rPr>
              <a:t>less</a:t>
            </a:r>
            <a:br>
              <a:rPr sz="1800"/>
            </a:br>
            <a:r>
              <a:rPr b="1" i="1" lang="de-DE" sz="1400" spc="-1" strike="noStrike">
                <a:solidFill>
                  <a:srgbClr val="000000"/>
                </a:solidFill>
                <a:latin typeface="Arial"/>
                <a:ea typeface="DejaVu Sans"/>
              </a:rPr>
              <a:t>formal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Review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7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Ad-hoc Review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If you cannot solve a problem, you spontaneously ask an employee for help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Result depends entirely on the experience of one employee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Peer Desk-Checking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Similar to ad-hoc review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employee "executes the product to be checked on paper" (mostly code)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Review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Pair </a:t>
            </a: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Programming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Two developers share a PC workstation. While one operates the keyboard, the other checks the input.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One of the practices of eXtreme Programming.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Walkthrough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author of a document presents it to collaborators to gain a general understanding and improve the quality of the document.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 predefined process and no guidance on how to find errors.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Risk: The author easily forgets to focus on the essential parts of the document during the presentation.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Review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Team-Review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Similar to the inspection technique but less formal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Several employees inspect a product individually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results are discussed in a meeting with the author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CustomShape 1"/>
          <p:cNvSpPr/>
          <p:nvPr/>
        </p:nvSpPr>
        <p:spPr>
          <a:xfrm>
            <a:off x="335520" y="4406760"/>
            <a:ext cx="10745640" cy="13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Summary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CustomShape 2"/>
          <p:cNvSpPr/>
          <p:nvPr/>
        </p:nvSpPr>
        <p:spPr>
          <a:xfrm>
            <a:off x="335520" y="2906640"/>
            <a:ext cx="10745640" cy="14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ensures quality of the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Makes sure all stakeholders are on the same page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Also offers last chance for changes without negative impact on later phases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Different aspects of quality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Content, documentation, agreement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abide by the six principles of validation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Increases the quality of validation results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Different techniques available for validation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Usually some flavor of a review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Checklists are helpful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CustomShape 1"/>
          <p:cNvSpPr/>
          <p:nvPr/>
        </p:nvSpPr>
        <p:spPr>
          <a:xfrm>
            <a:off x="335520" y="1268640"/>
            <a:ext cx="10742400" cy="50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CustomShape 3"/>
          <p:cNvSpPr/>
          <p:nvPr/>
        </p:nvSpPr>
        <p:spPr>
          <a:xfrm>
            <a:off x="335520" y="764640"/>
            <a:ext cx="10742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542880" y="722520"/>
            <a:ext cx="10353960" cy="49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16000"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References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1"/>
          <p:cNvSpPr/>
          <p:nvPr/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Additional </a:t>
            </a: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literature on reviews and software inspection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80000"/>
              </a:lnSpc>
              <a:spcBef>
                <a:spcPts val="1134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Karl E. Wiegers (2002) – Peer Reviews in Software – A practical Guide.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80000"/>
              </a:lnSpc>
              <a:spcBef>
                <a:spcPts val="1134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T. Gilb, D. Graham (1993) – Software Inspection.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169</TotalTime>
  <Application>LibreOffice/7.4.7.2$Linux_X86_64 LibreOffice_project/40$Build-2</Application>
  <AppVersion>15.0000</AppVersion>
  <Words>1842</Words>
  <Paragraphs>403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cp:lastPrinted>2023-11-22T11:29:18Z</cp:lastPrinted>
  <dcterms:modified xsi:type="dcterms:W3CDTF">2025-11-03T12:26:06Z</dcterms:modified>
  <cp:revision>3276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</vt:i4>
  </property>
  <property fmtid="{D5CDD505-2E9C-101B-9397-08002B2CF9AE}" pid="3" name="Notes">
    <vt:i4>31</vt:i4>
  </property>
  <property fmtid="{D5CDD505-2E9C-101B-9397-08002B2CF9AE}" pid="4" name="PresentationFormat">
    <vt:lpwstr>Widescreen</vt:lpwstr>
  </property>
  <property fmtid="{D5CDD505-2E9C-101B-9397-08002B2CF9AE}" pid="5" name="Slides">
    <vt:i4>41</vt:i4>
  </property>
</Properties>
</file>