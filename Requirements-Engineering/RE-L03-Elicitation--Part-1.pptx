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4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_rels/notesSlide28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52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1.xml.rels" ContentType="application/vnd.openxmlformats-package.relationships+xml"/>
  <Override PartName="/ppt/notesSlides/notesSlide5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wmf" ContentType="image/x-wmf"/>
  <Override PartName="/ppt/media/image6.wmf" ContentType="image/x-wmf"/>
  <Override PartName="/ppt/media/image7.wmf" ContentType="image/x-wmf"/>
  <Override PartName="/ppt/media/image8.wmf" ContentType="image/x-wmf"/>
  <Override PartName="/ppt/media/image9.png" ContentType="image/png"/>
  <Override PartName="/ppt/media/image10.png" ContentType="image/png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40.xml" ContentType="application/vnd.openxmlformats-officedocument.presentationml.slide+xml"/>
  <Override PartName="/ppt/slides/slide6.xml" ContentType="application/vnd.openxmlformats-officedocument.presentationml.slide+xml"/>
  <Override PartName="/ppt/slides/slide41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4.xml" ContentType="application/vnd.openxmlformats-officedocument.presentationml.slide+xml"/>
  <Override PartName="/ppt/slides/slide46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51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47.xml.rels" ContentType="application/vnd.openxmlformats-package.relationships+xml"/>
  <Override PartName="/ppt/slides/_rels/slide4.xml.rels" ContentType="application/vnd.openxmlformats-package.relationships+xml"/>
  <Override PartName="/ppt/slides/_rels/slide8.xml.rels" ContentType="application/vnd.openxmlformats-package.relationships+xml"/>
  <Override PartName="/ppt/slides/_rels/slide43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21.xml.rels" ContentType="application/vnd.openxmlformats-package.relationships+xml"/>
  <Override PartName="/ppt/slides/_rels/slide27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6.xml.rels" ContentType="application/vnd.openxmlformats-package.relationships+xml"/>
  <Override PartName="/ppt/slides/_rels/slide52.xml.rels" ContentType="application/vnd.openxmlformats-package.relationships+xml"/>
  <Override PartName="/ppt/slides/_rels/slide34.xml.rels" ContentType="application/vnd.openxmlformats-package.relationships+xml"/>
  <Override PartName="/ppt/slides/_rels/slide50.xml.rels" ContentType="application/vnd.openxmlformats-package.relationships+xml"/>
  <Override PartName="/ppt/slides/_rels/slide49.xml.rels" ContentType="application/vnd.openxmlformats-package.relationships+xml"/>
  <Override PartName="/ppt/slides/_rels/slide41.xml.rels" ContentType="application/vnd.openxmlformats-package.relationships+xml"/>
  <Override PartName="/ppt/slides/_rels/slide6.xml.rels" ContentType="application/vnd.openxmlformats-package.relationships+xml"/>
  <Override PartName="/ppt/slides/_rels/slide45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38.xml.rels" ContentType="application/vnd.openxmlformats-package.relationships+xml"/>
  <Override PartName="/ppt/slides/_rels/slide23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48.xml.rels" ContentType="application/vnd.openxmlformats-package.relationships+xml"/>
  <Override PartName="/ppt/slides/_rels/slide46.xml.rels" ContentType="application/vnd.openxmlformats-package.relationships+xml"/>
  <Override PartName="/ppt/slides/_rels/slide5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44.xml.rels" ContentType="application/vnd.openxmlformats-package.relationships+xml"/>
  <Override PartName="/ppt/slides/_rels/slide37.xml.rels" ContentType="application/vnd.openxmlformats-package.relationships+xml"/>
  <Override PartName="/ppt/slides/_rels/slide28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slide30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comments/comment10.xml" ContentType="application/vnd.openxmlformats-officedocument.presentationml.comments+xml"/>
  <Override PartName="/ppt/comments/comment12.xml" ContentType="application/vnd.openxmlformats-officedocument.presentationml.comments+xml"/>
  <Override PartName="/ppt/comments/comment30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2000" cy="6858000"/>
  <p:notesSz cx="7772400" cy="10058400"/>
</p:presentation>
</file>

<file path=ppt/commentAuthors.xml><?xml version="1.0" encoding="utf-8"?>
<p:cmAuthorLst xmlns:p="http://schemas.openxmlformats.org/presentationml/2006/main">
  <p:cmAuthor id="0" name="" initials="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presProps" Target="presProps.xml"/><Relationship Id="rId61" Type="http://schemas.openxmlformats.org/officeDocument/2006/relationships/commentAuthors" Target="commentAuthors.xml"/>
</Relationships>
</file>

<file path=ppt/comments/comment10.xml><?xml version="1.0" encoding="utf-8"?>
<p:cmLst xmlns:p="http://schemas.openxmlformats.org/presentationml/2006/main">
  <p:cm authorId="0" dt="2022-01-11T12:23:17.000000000" idx="1">
    <p:pos x="0" y="0"/>
    <p:text/>
  </p:cm>
</p:cmLst>
</file>

<file path=ppt/comments/comment12.xml><?xml version="1.0" encoding="utf-8"?>
<p:cmLst xmlns:p="http://schemas.openxmlformats.org/presentationml/2006/main">
  <p:cm authorId="0" dt="2022-01-11T12:23:17.000000000" idx="2">
    <p:pos x="0" y="0"/>
    <p:text/>
  </p:cm>
</p:cmLst>
</file>

<file path=ppt/comments/comment30.xml><?xml version="1.0" encoding="utf-8"?>
<p:cmLst xmlns:p="http://schemas.openxmlformats.org/presentationml/2006/main">
  <p:cm authorId="0" dt="2022-01-12T15:20:49.000000000" idx="3">
    <p:pos x="0" y="0"/>
    <p:text>Recreate Table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DEB8DDF-8AAA-4A90-B6D4-34852AE8DCDB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DC2BF000-5A98-46D9-B44E-05E4548D5D5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TextShape 1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8D256B47-C598-4FC8-A1A8-7CE4FAB73DBB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CustomShape 2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8E9D2B7C-FA32-4E35-A628-1542D19DCA7B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200" cy="376200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1600" cy="451872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extShape 1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38F28EAA-4F35-48C1-B42B-A498981D8452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CustomShape 2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FCEBA3B8-A844-49DD-848F-0BFA3CEEA02C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200" cy="376200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1600" cy="451872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TextShape 1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0CC465A8-0A81-4C34-A2BA-CE3D133BEC65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CustomShape 2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12858478-C801-4088-87ED-B257B93777EE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200" cy="376200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1600" cy="451872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TextShape 1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2BD6DA11-FE4E-4F04-95FF-4F274DA2AEEF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CustomShape 2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B71B58F8-6BD8-4690-A92C-C0B9DB465F25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200" cy="376200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1600" cy="451872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A2A1E030-FC51-46D3-89AF-34BCE622FFD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0F0D3ADA-3459-4856-AAF3-6A17A12F97E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0BA0300A-6259-4F95-8514-7092A819517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44C58482-53F7-4DDE-8359-1700C04607C4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8C1DBF80-7600-4271-AD67-51A5C0BF5D00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0D3B4EC6-270A-4E2C-8286-882AA37687B5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0A0E30F-7CD2-4ACA-A10E-60DCAE5EA84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411913C4-6695-4AEA-8B9B-9E9034093B7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80E8B83-B5D4-4976-9E29-DEE89B8BEE1B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8AFBDFEE-C98B-4829-AF90-5BFB0A41146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TextShape 1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BA699F0C-5B1C-4B3F-AA0D-645B9FD494BA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CustomShape 2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1019CAC0-649A-4687-BF0C-AAF5D68340C5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200" cy="376200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1035360" y="4775400"/>
            <a:ext cx="5691600" cy="451872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TextShape 1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F3081876-DBDE-437B-A0EC-5ACBE809B78E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210960" y="820800"/>
            <a:ext cx="7270560" cy="408744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1026000" y="5188680"/>
            <a:ext cx="5639400" cy="4907160"/>
          </a:xfrm>
          <a:prstGeom prst="rect">
            <a:avLst/>
          </a:prstGeom>
          <a:noFill/>
          <a:ln w="0">
            <a:noFill/>
          </a:ln>
        </p:spPr>
        <p:txBody>
          <a:bodyPr lIns="95400" rIns="95400" tIns="47520" bIns="475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TextShape 1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C6C8005B-9E31-445B-90DA-0C672EC98C93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210960" y="820800"/>
            <a:ext cx="7270560" cy="408744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1026000" y="5188680"/>
            <a:ext cx="5639400" cy="4907160"/>
          </a:xfrm>
          <a:prstGeom prst="rect">
            <a:avLst/>
          </a:prstGeom>
          <a:noFill/>
          <a:ln w="0">
            <a:noFill/>
          </a:ln>
        </p:spPr>
        <p:txBody>
          <a:bodyPr lIns="95400" rIns="95400" tIns="47520" bIns="475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9F2E38EF-40A0-44B0-A84F-CCE1CF4AEF1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DBB3ECE9-16C2-4729-896F-B22D00D30B7B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TextShape 1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CB81F290-4E5A-408F-8D93-50D739A0D6AE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CustomShape 2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2F8BF2C6-E942-4B65-9F07-C3274F910ACE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212760" y="820800"/>
            <a:ext cx="7267320" cy="408600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1026000" y="5186520"/>
            <a:ext cx="5639400" cy="490896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Nach Pohl S.332f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TextShape 1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54052BE4-435C-4C72-97DF-4BFD047829D5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CustomShape 2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A6337A57-FD0C-4D5E-9626-6ED538D64ED1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212760" y="820800"/>
            <a:ext cx="7267320" cy="408600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1026000" y="5186520"/>
            <a:ext cx="5639400" cy="490896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Nach Pohl S.332f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TextShape 1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0BB661C2-8187-45EC-AADE-DD5AA59EE925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CustomShape 2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2420CB5E-15B0-40B1-B798-C9177372CE5B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212760" y="820800"/>
            <a:ext cx="7267320" cy="408600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1026000" y="5186520"/>
            <a:ext cx="5639400" cy="490896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Nach Pohl S.332f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TextShape 1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39DE99AB-D642-4D51-9DEF-B72FDF182D5A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CustomShape 2"/>
          <p:cNvSpPr/>
          <p:nvPr/>
        </p:nvSpPr>
        <p:spPr>
          <a:xfrm>
            <a:off x="4362840" y="10378440"/>
            <a:ext cx="3328200" cy="53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9000" rIns="99000" tIns="49320" bIns="49320" anchor="b">
            <a:noAutofit/>
          </a:bodyPr>
          <a:p>
            <a:pPr algn="r">
              <a:lnSpc>
                <a:spcPct val="100000"/>
              </a:lnSpc>
            </a:pPr>
            <a:fld id="{8E654E6D-1131-429E-8F1B-41BD32150368}" type="slidenum">
              <a:rPr b="0" lang="de-DE" sz="15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212760" y="820800"/>
            <a:ext cx="7267320" cy="408600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26000" y="5186520"/>
            <a:ext cx="5639400" cy="4908960"/>
          </a:xfrm>
          <a:prstGeom prst="rect">
            <a:avLst/>
          </a:prstGeom>
          <a:noFill/>
          <a:ln w="0">
            <a:noFill/>
          </a:ln>
        </p:spPr>
        <p:txBody>
          <a:bodyPr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Nach Pohl S.332f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1FEDCBE9-1091-4D2A-921D-15AB3E701FC5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9F9D31B1-E278-4E87-8B37-73E0B72AF1FF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5288ECC1-4A2C-446C-A767-25464C7E998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627B9347-8F5E-473B-A9CD-ABD102F6029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713EAF9F-EFD4-4D34-8FFD-FDCE9F84B85A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72810A5D-0991-42BF-8BD9-AF4416C3E40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9429B195-1E20-4127-83FA-2DFE067EBBA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A3468BBE-1A4E-431F-94B3-E2CDA3453420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322C062B-A35E-41E2-85A7-47F5173E0B9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6360" cy="376452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12743A19-226F-4FB4-A015-E496E1E0D4B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TextShape 1"/>
          <p:cNvSpPr/>
          <p:nvPr/>
        </p:nvSpPr>
        <p:spPr>
          <a:xfrm>
            <a:off x="4403520" y="9555840"/>
            <a:ext cx="3359160" cy="4935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5400" rIns="95400" tIns="47520" bIns="47520" anchor="b">
            <a:noAutofit/>
          </a:bodyPr>
          <a:p>
            <a:pPr algn="r">
              <a:lnSpc>
                <a:spcPct val="100000"/>
              </a:lnSpc>
            </a:pPr>
            <a:fld id="{04F262C3-1CCE-45D9-A8E6-2433862DF27C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534960" y="755640"/>
            <a:ext cx="6694200" cy="376200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1035360" y="4777200"/>
            <a:ext cx="5691600" cy="4517280"/>
          </a:xfrm>
          <a:prstGeom prst="rect">
            <a:avLst/>
          </a:prstGeom>
          <a:noFill/>
          <a:ln w="0">
            <a:noFill/>
          </a:ln>
        </p:spPr>
        <p:txBody>
          <a:bodyPr lIns="95400" rIns="95400" tIns="47520" bIns="475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Nicht sicher, ob ich die Schrift in der Skizze richtig deuten konnte.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5640" cy="376380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9280" cy="451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Shape 3"/>
          <p:cNvSpPr/>
          <p:nvPr/>
        </p:nvSpPr>
        <p:spPr>
          <a:xfrm>
            <a:off x="4399200" y="9555480"/>
            <a:ext cx="336456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B3073A67-380C-4F99-85FC-DE776CE7162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34B2C9C-6B2F-4CD4-AD25-BB0B4530F1A5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6"/>
          <p:cNvSpPr/>
          <p:nvPr/>
        </p:nvSpPr>
        <p:spPr>
          <a:xfrm>
            <a:off x="0" y="6646680"/>
            <a:ext cx="12183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C8BC4CF-EEAF-40D0-A359-36DF9EDF8FDE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6"/>
          <p:cNvSpPr/>
          <p:nvPr/>
        </p:nvSpPr>
        <p:spPr>
          <a:xfrm>
            <a:off x="0" y="6646680"/>
            <a:ext cx="12183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C5C0F7E-0AE3-4F0F-99FD-072B729DF4E7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9" name="CustomShape 6"/>
          <p:cNvSpPr/>
          <p:nvPr/>
        </p:nvSpPr>
        <p:spPr>
          <a:xfrm>
            <a:off x="0" y="6646680"/>
            <a:ext cx="12183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A693CDE-7BE1-4960-9DAC-77C3B32FD655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ln w="0">
            <a:noFill/>
          </a:ln>
        </p:spPr>
      </p:pic>
      <p:pic>
        <p:nvPicPr>
          <p:cNvPr id="1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11444760" y="144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2748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A01418C-8152-485D-85E8-01FB70236E1F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6"/>
          <p:cNvSpPr/>
          <p:nvPr/>
        </p:nvSpPr>
        <p:spPr>
          <a:xfrm>
            <a:off x="0" y="6646680"/>
            <a:ext cx="12183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wmf"/><Relationship Id="rId2" Type="http://schemas.openxmlformats.org/officeDocument/2006/relationships/image" Target="../media/image6.wmf"/><Relationship Id="rId3" Type="http://schemas.openxmlformats.org/officeDocument/2006/relationships/image" Target="../media/image7.wmf"/><Relationship Id="rId4" Type="http://schemas.openxmlformats.org/officeDocument/2006/relationships/image" Target="../media/image8.wmf"/><Relationship Id="rId5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www.youtube.com/watch?v=NI43U9UpkQo" TargetMode="External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3.xml"/><Relationship Id="rId4" Type="http://schemas.openxmlformats.org/officeDocument/2006/relationships/comments" Target="../comments/commen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omments" Target="../comments/commen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comments" Target="../comments/comment30.xml"/><Relationship Id="rId4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CustomShape 1"/>
          <p:cNvSpPr/>
          <p:nvPr/>
        </p:nvSpPr>
        <p:spPr>
          <a:xfrm>
            <a:off x="527400" y="1412640"/>
            <a:ext cx="10358280" cy="11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527400" y="2852640"/>
            <a:ext cx="10358280" cy="23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3: Requirements Elicitation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  <a:ea typeface="DejaVu Sans"/>
              </a:rPr>
              <a:t>Part 1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7640" cy="2075040"/>
          </a:xfrm>
          <a:prstGeom prst="rect">
            <a:avLst/>
          </a:prstGeom>
          <a:ln w="0">
            <a:noFill/>
          </a:ln>
        </p:spPr>
      </p:pic>
      <p:sp>
        <p:nvSpPr>
          <p:cNvPr id="195" name="CustomShape 3"/>
          <p:cNvSpPr/>
          <p:nvPr/>
        </p:nvSpPr>
        <p:spPr>
          <a:xfrm>
            <a:off x="474120" y="2297880"/>
            <a:ext cx="1813680" cy="225396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Shape 1"/>
          <p:cNvSpPr/>
          <p:nvPr/>
        </p:nvSpPr>
        <p:spPr>
          <a:xfrm>
            <a:off x="465840" y="1339200"/>
            <a:ext cx="11515680" cy="48538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564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Clr>
                <a:srgbClr val="000000"/>
              </a:buClr>
              <a:buFont typeface="StarSymbol"/>
              <a:buAutoNum type="arabicPlain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Getting the Right Information is Tricky</a:t>
            </a: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	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Clr>
                <a:srgbClr val="000000"/>
              </a:buClr>
              <a:buFont typeface="StarSymbol"/>
              <a:buAutoNum type="arabicPlain"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Requirement Sources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Clr>
                <a:srgbClr val="000000"/>
              </a:buClr>
              <a:buFont typeface="StarSymbol"/>
              <a:buAutoNum type="arabicPlain"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Elicitation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CustomShape 2"/>
          <p:cNvSpPr/>
          <p:nvPr/>
        </p:nvSpPr>
        <p:spPr>
          <a:xfrm>
            <a:off x="0" y="6858000"/>
            <a:ext cx="12182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HSN:/RE as part of Software Engineering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CustomShape 3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3: Requirements Elicitation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CustomShape 4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ustomShape 1"/>
          <p:cNvSpPr/>
          <p:nvPr/>
        </p:nvSpPr>
        <p:spPr>
          <a:xfrm>
            <a:off x="335520" y="4406760"/>
            <a:ext cx="10744200" cy="13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Getting the Right Information is Tricky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CustomShape 2"/>
          <p:cNvSpPr/>
          <p:nvPr/>
        </p:nvSpPr>
        <p:spPr>
          <a:xfrm>
            <a:off x="335520" y="2906640"/>
            <a:ext cx="10744200" cy="14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CustomShape 1"/>
          <p:cNvSpPr/>
          <p:nvPr/>
        </p:nvSpPr>
        <p:spPr>
          <a:xfrm>
            <a:off x="542880" y="72252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Getting the Right Information is Tricky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CustomShape 2"/>
          <p:cNvSpPr/>
          <p:nvPr/>
        </p:nvSpPr>
        <p:spPr>
          <a:xfrm>
            <a:off x="542880" y="127116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Requirements Engineering = Communication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CustomShape 3"/>
          <p:cNvSpPr/>
          <p:nvPr/>
        </p:nvSpPr>
        <p:spPr>
          <a:xfrm>
            <a:off x="493560" y="1828800"/>
            <a:ext cx="10843200" cy="4563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16000" indent="-2160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 Software Engineering (SE) we can assume that there exists prior documentation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  </a:t>
            </a:r>
            <a:r>
              <a:rPr b="1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But not in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CustomShape 1"/>
          <p:cNvSpPr/>
          <p:nvPr/>
        </p:nvSpPr>
        <p:spPr>
          <a:xfrm>
            <a:off x="493560" y="1828800"/>
            <a:ext cx="10843200" cy="4563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16000" indent="-2160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 Software Engineering (SE) we can assume that there exists prior documentation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  </a:t>
            </a:r>
            <a:r>
              <a:rPr b="1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But not in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 the beginning requirements are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unknown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unconscious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Misunderstood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Furthermore there are different opinions about the requirements</a:t>
            </a:r>
            <a:br>
              <a:rPr sz="1800"/>
            </a:b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(in general at least one per stakeholder)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CustomShape 2"/>
          <p:cNvSpPr/>
          <p:nvPr/>
        </p:nvSpPr>
        <p:spPr>
          <a:xfrm>
            <a:off x="542880" y="72252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Getting the Right Information is Tricky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CustomShape 3"/>
          <p:cNvSpPr/>
          <p:nvPr/>
        </p:nvSpPr>
        <p:spPr>
          <a:xfrm>
            <a:off x="542880" y="127116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Requirements Engineering = Communication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CustomShape 2"/>
          <p:cNvSpPr/>
          <p:nvPr/>
        </p:nvSpPr>
        <p:spPr>
          <a:xfrm>
            <a:off x="542880" y="72252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Getting the Right Information is Tricky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CustomShape 3"/>
          <p:cNvSpPr/>
          <p:nvPr/>
        </p:nvSpPr>
        <p:spPr>
          <a:xfrm>
            <a:off x="542880" y="127116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Requirements Engineering = Communication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ustomShape 22"/>
          <p:cNvSpPr/>
          <p:nvPr/>
        </p:nvSpPr>
        <p:spPr>
          <a:xfrm>
            <a:off x="493560" y="1828800"/>
            <a:ext cx="10843200" cy="4563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16000" indent="-2160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 Software Engineering (SE) we can assume that there exists prior documentation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  </a:t>
            </a:r>
            <a:r>
              <a:rPr b="1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But not in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 the beginning requirements are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unknown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unconscious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Misunderstood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Furthermore there are different opinions about the requirements</a:t>
            </a:r>
            <a:br>
              <a:rPr sz="1800"/>
            </a:b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(in general at least one per stakeholder)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Acquisition of information as part of the requirements engineering activity</a:t>
            </a:r>
            <a:br>
              <a:rPr sz="1800"/>
            </a:b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is called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CustomShape 1"/>
          <p:cNvSpPr/>
          <p:nvPr/>
        </p:nvSpPr>
        <p:spPr>
          <a:xfrm>
            <a:off x="457560" y="1842480"/>
            <a:ext cx="5706000" cy="4791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marL="343080" indent="-34272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Why do we need to elicit information?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Knowledge acquisition (Elicitation, Acquisition)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About involved persons and objectives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Current state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Expectations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Domain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Grafik 9" descr=""/>
          <p:cNvPicPr/>
          <p:nvPr/>
        </p:nvPicPr>
        <p:blipFill>
          <a:blip r:embed="rId1"/>
          <a:stretch/>
        </p:blipFill>
        <p:spPr>
          <a:xfrm>
            <a:off x="6171840" y="3615120"/>
            <a:ext cx="5105160" cy="1045800"/>
          </a:xfrm>
          <a:prstGeom prst="rect">
            <a:avLst/>
          </a:prstGeom>
          <a:ln w="0">
            <a:noFill/>
          </a:ln>
        </p:spPr>
      </p:pic>
      <p:sp>
        <p:nvSpPr>
          <p:cNvPr id="213" name="CustomShape 2"/>
          <p:cNvSpPr/>
          <p:nvPr/>
        </p:nvSpPr>
        <p:spPr>
          <a:xfrm>
            <a:off x="542880" y="72252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Getting the Right Information is Tricky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CustomShape 3"/>
          <p:cNvSpPr/>
          <p:nvPr/>
        </p:nvSpPr>
        <p:spPr>
          <a:xfrm>
            <a:off x="542880" y="127116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Objectives of the Elicitation Phase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CustomShape 1"/>
          <p:cNvSpPr/>
          <p:nvPr/>
        </p:nvSpPr>
        <p:spPr>
          <a:xfrm>
            <a:off x="466560" y="1827360"/>
            <a:ext cx="10506600" cy="13766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marL="343080" indent="-342720"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Communication happens via speech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Representation of experiences → perceptions)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Communication of personal reality → presentation) Conflicts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6" name="Picture 1" descr="C:\Users\voges\AppData\Local\Microsoft\Windows\Temporary Internet Files\Content.IE5\M08JDKOM\MC900356473[1].wmf"/>
          <p:cNvPicPr/>
          <p:nvPr/>
        </p:nvPicPr>
        <p:blipFill>
          <a:blip r:embed="rId1"/>
          <a:stretch/>
        </p:blipFill>
        <p:spPr>
          <a:xfrm>
            <a:off x="3981960" y="4142520"/>
            <a:ext cx="1256760" cy="971640"/>
          </a:xfrm>
          <a:prstGeom prst="rect">
            <a:avLst/>
          </a:prstGeom>
          <a:ln w="0">
            <a:noFill/>
          </a:ln>
        </p:spPr>
      </p:pic>
      <p:sp>
        <p:nvSpPr>
          <p:cNvPr id="217" name="CustomShape 2"/>
          <p:cNvSpPr/>
          <p:nvPr/>
        </p:nvSpPr>
        <p:spPr>
          <a:xfrm>
            <a:off x="1225800" y="5077080"/>
            <a:ext cx="16257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Objective reality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CustomShape 3"/>
          <p:cNvSpPr/>
          <p:nvPr/>
        </p:nvSpPr>
        <p:spPr>
          <a:xfrm>
            <a:off x="3877920" y="5077080"/>
            <a:ext cx="158004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Personal reality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Line 4"/>
          <p:cNvSpPr/>
          <p:nvPr/>
        </p:nvSpPr>
        <p:spPr>
          <a:xfrm>
            <a:off x="2440080" y="4501440"/>
            <a:ext cx="1656720" cy="360"/>
          </a:xfrm>
          <a:prstGeom prst="line">
            <a:avLst/>
          </a:prstGeom>
          <a:ln>
            <a:solidFill>
              <a:srgbClr val="f79646"/>
            </a:solidFill>
            <a:round/>
            <a:tailEnd len="sm" type="triangle" w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" name="CustomShape 5"/>
          <p:cNvSpPr/>
          <p:nvPr/>
        </p:nvSpPr>
        <p:spPr>
          <a:xfrm>
            <a:off x="2712240" y="4108320"/>
            <a:ext cx="11505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Perception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CustomShape 6"/>
          <p:cNvSpPr/>
          <p:nvPr/>
        </p:nvSpPr>
        <p:spPr>
          <a:xfrm>
            <a:off x="6313680" y="5077080"/>
            <a:ext cx="206784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Linguistic expression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Line 7"/>
          <p:cNvSpPr/>
          <p:nvPr/>
        </p:nvSpPr>
        <p:spPr>
          <a:xfrm>
            <a:off x="5247720" y="4501440"/>
            <a:ext cx="1401120" cy="360"/>
          </a:xfrm>
          <a:prstGeom prst="line">
            <a:avLst/>
          </a:prstGeom>
          <a:ln>
            <a:solidFill>
              <a:srgbClr val="f79646"/>
            </a:solidFill>
            <a:round/>
            <a:tailEnd len="sm" type="triangle" w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" name="CustomShape 8"/>
          <p:cNvSpPr/>
          <p:nvPr/>
        </p:nvSpPr>
        <p:spPr>
          <a:xfrm>
            <a:off x="5241960" y="4108320"/>
            <a:ext cx="13197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Presentation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Line 9"/>
          <p:cNvSpPr/>
          <p:nvPr/>
        </p:nvSpPr>
        <p:spPr>
          <a:xfrm>
            <a:off x="7863120" y="4501440"/>
            <a:ext cx="1494360" cy="360"/>
          </a:xfrm>
          <a:prstGeom prst="line">
            <a:avLst/>
          </a:prstGeom>
          <a:ln>
            <a:solidFill>
              <a:srgbClr val="f79646"/>
            </a:solidFill>
            <a:round/>
            <a:tailEnd len="sm" type="triangle" w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" name="CustomShape 10"/>
          <p:cNvSpPr/>
          <p:nvPr/>
        </p:nvSpPr>
        <p:spPr>
          <a:xfrm>
            <a:off x="7927920" y="4108320"/>
            <a:ext cx="137448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Interpretation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CustomShape 11"/>
          <p:cNvSpPr/>
          <p:nvPr/>
        </p:nvSpPr>
        <p:spPr>
          <a:xfrm>
            <a:off x="9640080" y="5077080"/>
            <a:ext cx="75564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Result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Line 12"/>
          <p:cNvSpPr/>
          <p:nvPr/>
        </p:nvSpPr>
        <p:spPr>
          <a:xfrm flipV="1">
            <a:off x="1046880" y="3774960"/>
            <a:ext cx="720" cy="322920"/>
          </a:xfrm>
          <a:prstGeom prst="line">
            <a:avLst/>
          </a:prstGeom>
          <a:ln>
            <a:solidFill>
              <a:srgbClr val="f79646"/>
            </a:solidFill>
            <a:round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161280" bIns="16128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" name="Line 13"/>
          <p:cNvSpPr/>
          <p:nvPr/>
        </p:nvSpPr>
        <p:spPr>
          <a:xfrm>
            <a:off x="1046880" y="3794760"/>
            <a:ext cx="6068160" cy="360"/>
          </a:xfrm>
          <a:prstGeom prst="line">
            <a:avLst/>
          </a:prstGeom>
          <a:ln>
            <a:solidFill>
              <a:srgbClr val="f79646"/>
            </a:solidFill>
            <a:round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" name="Line 14"/>
          <p:cNvSpPr/>
          <p:nvPr/>
        </p:nvSpPr>
        <p:spPr>
          <a:xfrm>
            <a:off x="7115040" y="3774960"/>
            <a:ext cx="360" cy="242280"/>
          </a:xfrm>
          <a:prstGeom prst="line">
            <a:avLst/>
          </a:prstGeom>
          <a:ln>
            <a:solidFill>
              <a:srgbClr val="f79646"/>
            </a:solidFill>
            <a:round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120960" bIns="12096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" name="CustomShape 15"/>
          <p:cNvSpPr/>
          <p:nvPr/>
        </p:nvSpPr>
        <p:spPr>
          <a:xfrm>
            <a:off x="2876400" y="3381480"/>
            <a:ext cx="16563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Customer / User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Line 16"/>
          <p:cNvSpPr/>
          <p:nvPr/>
        </p:nvSpPr>
        <p:spPr>
          <a:xfrm flipV="1">
            <a:off x="7302240" y="3774960"/>
            <a:ext cx="720" cy="242280"/>
          </a:xfrm>
          <a:prstGeom prst="line">
            <a:avLst/>
          </a:prstGeom>
          <a:ln>
            <a:solidFill>
              <a:srgbClr val="f79646"/>
            </a:solidFill>
            <a:round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120960" bIns="12096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" name="Line 17"/>
          <p:cNvSpPr/>
          <p:nvPr/>
        </p:nvSpPr>
        <p:spPr>
          <a:xfrm>
            <a:off x="7302240" y="3794760"/>
            <a:ext cx="3174120" cy="360"/>
          </a:xfrm>
          <a:prstGeom prst="line">
            <a:avLst/>
          </a:prstGeom>
          <a:ln>
            <a:solidFill>
              <a:srgbClr val="f79646"/>
            </a:solidFill>
            <a:round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" name="Line 18"/>
          <p:cNvSpPr/>
          <p:nvPr/>
        </p:nvSpPr>
        <p:spPr>
          <a:xfrm>
            <a:off x="10476360" y="3774960"/>
            <a:ext cx="360" cy="242280"/>
          </a:xfrm>
          <a:prstGeom prst="line">
            <a:avLst/>
          </a:prstGeom>
          <a:ln>
            <a:solidFill>
              <a:srgbClr val="f79646"/>
            </a:solidFill>
            <a:round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120960" bIns="12096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" name="CustomShape 19"/>
          <p:cNvSpPr/>
          <p:nvPr/>
        </p:nvSpPr>
        <p:spPr>
          <a:xfrm>
            <a:off x="7625880" y="3381480"/>
            <a:ext cx="23115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Requirements Engineer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Line 20"/>
          <p:cNvSpPr/>
          <p:nvPr/>
        </p:nvSpPr>
        <p:spPr>
          <a:xfrm flipV="1">
            <a:off x="3283200" y="4632840"/>
            <a:ext cx="720" cy="1130040"/>
          </a:xfrm>
          <a:prstGeom prst="line">
            <a:avLst/>
          </a:prstGeom>
          <a:ln>
            <a:solidFill>
              <a:srgbClr val="f79646"/>
            </a:solidFill>
            <a:round/>
            <a:tailEnd len="med" type="triangle" w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180000" bIns="180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" name="Line 21"/>
          <p:cNvSpPr/>
          <p:nvPr/>
        </p:nvSpPr>
        <p:spPr>
          <a:xfrm flipV="1">
            <a:off x="5902920" y="4632840"/>
            <a:ext cx="360" cy="1130040"/>
          </a:xfrm>
          <a:prstGeom prst="line">
            <a:avLst/>
          </a:prstGeom>
          <a:ln>
            <a:solidFill>
              <a:srgbClr val="f79646"/>
            </a:solidFill>
            <a:round/>
            <a:tailEnd len="med" type="triangle" w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180000" bIns="180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" name="Line 22"/>
          <p:cNvSpPr/>
          <p:nvPr/>
        </p:nvSpPr>
        <p:spPr>
          <a:xfrm flipV="1">
            <a:off x="8813520" y="4632840"/>
            <a:ext cx="720" cy="1130040"/>
          </a:xfrm>
          <a:prstGeom prst="line">
            <a:avLst/>
          </a:prstGeom>
          <a:ln>
            <a:solidFill>
              <a:srgbClr val="f79646"/>
            </a:solidFill>
            <a:round/>
            <a:tailEnd len="med" type="triangle" w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/>
        </p:style>
        <p:txBody>
          <a:bodyPr lIns="90000" rIns="90000" tIns="180000" bIns="180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" name="CustomShape 23"/>
          <p:cNvSpPr/>
          <p:nvPr/>
        </p:nvSpPr>
        <p:spPr>
          <a:xfrm>
            <a:off x="2430360" y="5783760"/>
            <a:ext cx="1697760" cy="333000"/>
          </a:xfrm>
          <a:prstGeom prst="rect">
            <a:avLst/>
          </a:prstGeom>
          <a:gradFill rotWithShape="0">
            <a:gsLst>
              <a:gs pos="0">
                <a:srgbClr val="2e5f99"/>
              </a:gs>
              <a:gs pos="100000">
                <a:srgbClr val="3c7ac7"/>
              </a:gs>
            </a:gsLst>
            <a:lin ang="16200000"/>
          </a:gra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interference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CustomShape 24"/>
          <p:cNvSpPr/>
          <p:nvPr/>
        </p:nvSpPr>
        <p:spPr>
          <a:xfrm>
            <a:off x="5055840" y="5790240"/>
            <a:ext cx="1698120" cy="333000"/>
          </a:xfrm>
          <a:prstGeom prst="rect">
            <a:avLst/>
          </a:prstGeom>
          <a:gradFill rotWithShape="0">
            <a:gsLst>
              <a:gs pos="0">
                <a:srgbClr val="2e5f99"/>
              </a:gs>
              <a:gs pos="100000">
                <a:srgbClr val="3c7ac7"/>
              </a:gs>
            </a:gsLst>
            <a:lin ang="16200000"/>
          </a:gra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interference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CustomShape 25"/>
          <p:cNvSpPr/>
          <p:nvPr/>
        </p:nvSpPr>
        <p:spPr>
          <a:xfrm>
            <a:off x="7947720" y="5776920"/>
            <a:ext cx="1698120" cy="333000"/>
          </a:xfrm>
          <a:prstGeom prst="rect">
            <a:avLst/>
          </a:prstGeom>
          <a:gradFill rotWithShape="0">
            <a:gsLst>
              <a:gs pos="0">
                <a:srgbClr val="2e5f99"/>
              </a:gs>
              <a:gs pos="100000">
                <a:srgbClr val="3c7ac7"/>
              </a:gs>
            </a:gsLst>
            <a:lin ang="16200000"/>
          </a:gra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interference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1" name="Picture 2" descr="C:\Users\voges\AppData\Local\Microsoft\Windows\Temporary Internet Files\Content.IE5\MRX1DDN7\MC900351284[1].wmf"/>
          <p:cNvPicPr/>
          <p:nvPr/>
        </p:nvPicPr>
        <p:blipFill>
          <a:blip r:embed="rId2"/>
          <a:stretch/>
        </p:blipFill>
        <p:spPr>
          <a:xfrm>
            <a:off x="302400" y="3884760"/>
            <a:ext cx="1833840" cy="1408680"/>
          </a:xfrm>
          <a:prstGeom prst="rect">
            <a:avLst/>
          </a:prstGeom>
          <a:ln w="0">
            <a:noFill/>
          </a:ln>
        </p:spPr>
      </p:pic>
      <p:pic>
        <p:nvPicPr>
          <p:cNvPr id="242" name="Picture 3" descr="C:\Users\voges\AppData\Local\Microsoft\Windows\Temporary Internet Files\Content.IE5\M08JDKOM\MC900340226[1].wmf"/>
          <p:cNvPicPr/>
          <p:nvPr/>
        </p:nvPicPr>
        <p:blipFill>
          <a:blip r:embed="rId3"/>
          <a:stretch/>
        </p:blipFill>
        <p:spPr>
          <a:xfrm>
            <a:off x="6684480" y="4017240"/>
            <a:ext cx="1113840" cy="1107000"/>
          </a:xfrm>
          <a:prstGeom prst="rect">
            <a:avLst/>
          </a:prstGeom>
          <a:ln w="0">
            <a:noFill/>
          </a:ln>
        </p:spPr>
      </p:pic>
      <p:pic>
        <p:nvPicPr>
          <p:cNvPr id="243" name="Picture 4" descr="C:\Users\voges\AppData\Local\Microsoft\Windows\Temporary Internet Files\Content.IE5\M08JDKOM\MC900352373[1].wmf"/>
          <p:cNvPicPr/>
          <p:nvPr/>
        </p:nvPicPr>
        <p:blipFill>
          <a:blip r:embed="rId4"/>
          <a:stretch/>
        </p:blipFill>
        <p:spPr>
          <a:xfrm>
            <a:off x="9654840" y="3909600"/>
            <a:ext cx="1537920" cy="1175760"/>
          </a:xfrm>
          <a:prstGeom prst="rect">
            <a:avLst/>
          </a:prstGeom>
          <a:ln w="0">
            <a:noFill/>
          </a:ln>
        </p:spPr>
      </p:pic>
      <p:sp>
        <p:nvSpPr>
          <p:cNvPr id="244" name="CustomShape 26"/>
          <p:cNvSpPr/>
          <p:nvPr/>
        </p:nvSpPr>
        <p:spPr>
          <a:xfrm>
            <a:off x="542880" y="72468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Getting the Right Information is Tricky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CustomShape 27"/>
          <p:cNvSpPr/>
          <p:nvPr/>
        </p:nvSpPr>
        <p:spPr>
          <a:xfrm>
            <a:off x="542880" y="127116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Communication Problems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CustomShape 1"/>
          <p:cNvSpPr/>
          <p:nvPr/>
        </p:nvSpPr>
        <p:spPr>
          <a:xfrm>
            <a:off x="457200" y="2057400"/>
            <a:ext cx="10735560" cy="4563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1700" spc="-1" strike="noStrike">
                <a:solidFill>
                  <a:srgbClr val="000000"/>
                </a:solidFill>
                <a:latin typeface="DejaVu Sans"/>
                <a:ea typeface="DejaVu Sans"/>
              </a:rPr>
              <a:t>Youtube </a:t>
            </a:r>
            <a:r>
              <a:rPr b="0" lang="en-US" sz="1700" spc="-1" strike="noStrike">
                <a:solidFill>
                  <a:srgbClr val="000000"/>
                </a:solidFill>
                <a:latin typeface="Arial"/>
                <a:ea typeface="DejaVu Sans"/>
              </a:rPr>
              <a:t>→</a:t>
            </a:r>
            <a:r>
              <a:rPr b="0" lang="en-US" sz="17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17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1"/>
              </a:rPr>
              <a:t>Link</a:t>
            </a:r>
            <a:endParaRPr b="0" lang="en-GB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Grafik 2" descr=""/>
          <p:cNvPicPr/>
          <p:nvPr/>
        </p:nvPicPr>
        <p:blipFill>
          <a:blip r:embed="rId2"/>
          <a:stretch/>
        </p:blipFill>
        <p:spPr>
          <a:xfrm>
            <a:off x="2329920" y="2606040"/>
            <a:ext cx="6982560" cy="2755440"/>
          </a:xfrm>
          <a:prstGeom prst="rect">
            <a:avLst/>
          </a:prstGeom>
          <a:ln w="0">
            <a:noFill/>
          </a:ln>
        </p:spPr>
      </p:pic>
      <p:sp>
        <p:nvSpPr>
          <p:cNvPr id="248" name="CustomShape 2"/>
          <p:cNvSpPr/>
          <p:nvPr/>
        </p:nvSpPr>
        <p:spPr>
          <a:xfrm>
            <a:off x="542880" y="72468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Getting the Right Information is Tricky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CustomShape 3"/>
          <p:cNvSpPr/>
          <p:nvPr/>
        </p:nvSpPr>
        <p:spPr>
          <a:xfrm>
            <a:off x="542880" y="127116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Communication Problems – Telephone Game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CustomShape 1"/>
          <p:cNvSpPr/>
          <p:nvPr/>
        </p:nvSpPr>
        <p:spPr>
          <a:xfrm>
            <a:off x="457200" y="2057400"/>
            <a:ext cx="10735560" cy="4563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Consideration of all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Communication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can not describe abstractly what they are doing, why they are doing it, nor what they need to be able to do things.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Requests are much too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Presentation of new possibilities and their consequences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like to keep their existing approaches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It is difficult to invent new approaches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CustomShape 2"/>
          <p:cNvSpPr/>
          <p:nvPr/>
        </p:nvSpPr>
        <p:spPr>
          <a:xfrm>
            <a:off x="542880" y="72468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Getting the Right Information is Tricky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CustomShape 3"/>
          <p:cNvSpPr/>
          <p:nvPr/>
        </p:nvSpPr>
        <p:spPr>
          <a:xfrm>
            <a:off x="542880" y="127116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Communication Problems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CustomShape 1"/>
          <p:cNvSpPr/>
          <p:nvPr/>
        </p:nvSpPr>
        <p:spPr>
          <a:xfrm>
            <a:off x="457200" y="2057400"/>
            <a:ext cx="10735560" cy="4563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Cause of power struggles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Cause of opposition against changes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34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Priorities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want too much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always add new ideas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CustomShape 2"/>
          <p:cNvSpPr/>
          <p:nvPr/>
        </p:nvSpPr>
        <p:spPr>
          <a:xfrm>
            <a:off x="542880" y="72468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Getting the Right Information is Tricky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CustomShape 3"/>
          <p:cNvSpPr/>
          <p:nvPr/>
        </p:nvSpPr>
        <p:spPr>
          <a:xfrm>
            <a:off x="542880" y="127116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Communication Problems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335520" y="4406760"/>
            <a:ext cx="10744200" cy="13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Requirement sources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335520" y="2906640"/>
            <a:ext cx="10744200" cy="14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1080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Three kinds of requirement sources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People or organizations that influence the requirements of a system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users, operators, architects, testers, ...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Contain important information that can provide requirements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standards, legal documents, requirements documents, error reports of legacy systems, ...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Systems in operation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Legacy/predecessor systems or computer systems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Shape 1"/>
          <p:cNvSpPr/>
          <p:nvPr/>
        </p:nvSpPr>
        <p:spPr>
          <a:xfrm>
            <a:off x="465840" y="1828800"/>
            <a:ext cx="10726920" cy="4575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Previous functions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32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 secretary organized meetings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Problems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32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 status of the organization is not recognizable for everyone, takes too long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Objectives for new functions / systems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32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 transparent organization, faster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Factors of success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32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 organizing a typical meeting within one day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Basic system architecture (how much components, partitioning)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32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 install software for every employee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 of Knowledge to Gain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CustomShape 3"/>
          <p:cNvSpPr/>
          <p:nvPr/>
        </p:nvSpPr>
        <p:spPr>
          <a:xfrm>
            <a:off x="542880" y="72288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Shape 1"/>
          <p:cNvSpPr/>
          <p:nvPr/>
        </p:nvSpPr>
        <p:spPr>
          <a:xfrm>
            <a:off x="465840" y="1828800"/>
            <a:ext cx="10726920" cy="4575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865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Realistic Solutions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 System is gathering data, people are solving problems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Consequences and risks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 too little freedom of decision for participants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 of Knowledge to Gain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3"/>
          <p:cNvSpPr/>
          <p:nvPr/>
        </p:nvSpPr>
        <p:spPr>
          <a:xfrm>
            <a:off x="542880" y="72288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Shape 1"/>
          <p:cNvSpPr/>
          <p:nvPr/>
        </p:nvSpPr>
        <p:spPr>
          <a:xfrm>
            <a:off x="465840" y="1843200"/>
            <a:ext cx="1072692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Customer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Actual and potential customers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leader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Business manager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Old and new users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Typical Stakeholders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CustomShape 3"/>
          <p:cNvSpPr/>
          <p:nvPr/>
        </p:nvSpPr>
        <p:spPr>
          <a:xfrm>
            <a:off x="542880" y="7239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Shape 1"/>
          <p:cNvSpPr/>
          <p:nvPr/>
        </p:nvSpPr>
        <p:spPr>
          <a:xfrm>
            <a:off x="458280" y="1339200"/>
            <a:ext cx="10734480" cy="5052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28600" indent="-22824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marketing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Project leader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Technical leader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Architect / Designer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00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Legal Department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Maybe in different locations, maybe in competing divisions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Typical Stakeholders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CustomShape 3"/>
          <p:cNvSpPr/>
          <p:nvPr/>
        </p:nvSpPr>
        <p:spPr>
          <a:xfrm>
            <a:off x="542880" y="7239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Significance of Stakeholders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are the main source of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Missing stakeholders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→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Missing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Leads to change requests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Retroactive changes are expensive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all stakeholders are equally important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stakeholders also require prioritization →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Never tell them!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Maintain checklists of all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Maintenance of Stakeholder Data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tables and spreadsheets to handle stakeholder data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each stakeholder, maintain at least: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name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function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Additional personal and contact data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Temporal and spatial availability during the project progress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Relevance of the stakeholder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Area and extent of expertise of the stakeholder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Goals in interests regarding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Handling Stakeholders Throughout the Project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Continuous exchange of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Periodic status updates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Continuous involvement turns stakeholders from affected by the project into collaborators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Principally affected stakeholders vs. well-integrated, jointly responsible stakeholders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Lack of attention may lead to overcritical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However, stakeholders might not be motivated from the beginning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they like the existing legacy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 supports project management with convincing stakeholders of the benefit of a project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Agreement with Stakeholders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agreements with stakeholders are often useful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Avoid misunderstandings and disputes regarding competence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Such agreements should include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Tasks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Responsibilities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Managerial authority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Individual goals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Communication paths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Feedback loops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Agreement with Stakeholders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informal (“shaking hands”) or formal with written documents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be signed of by the management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Tasks of the Requirements Engineer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Speaks language of the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Becomes thoroughly familiar with the application domain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Creates a requirements document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Is able to get work results across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Maintains a respectful relationship with any stakeholder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Presents ideas and alternatives as well as realizations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Allows stakeholders to demand properties that make the system user-friendly and simple.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Ensures that the system satisfies the functional and qualitative demands of the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Tasks of the Stakeholder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Introduce the requirements engineer into the application domain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Supply the requirements engineer with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Documents requirements assiduously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Make timely decisions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Respect the requirements engineer’s estimates of costs and feasibility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Prioritize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Sources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Tasks of the Stakeholder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Inspect requirements that the requirements engineer documents, such as prototypes, etc.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Communicate changes in the requirements immediately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Adhere to the predetermined change process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Respect the requirements engineering process that has been instated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"/>
          <p:cNvSpPr/>
          <p:nvPr/>
        </p:nvSpPr>
        <p:spPr>
          <a:xfrm>
            <a:off x="335520" y="4406760"/>
            <a:ext cx="10744200" cy="13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Elicitation Techniques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CustomShape 2"/>
          <p:cNvSpPr/>
          <p:nvPr/>
        </p:nvSpPr>
        <p:spPr>
          <a:xfrm>
            <a:off x="335520" y="2906640"/>
            <a:ext cx="10744200" cy="14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 the identification of the conscious, unconscious, and subconscious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 universal method!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 must match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Factors for choosing a technique are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distinction between conscious, unconscious and subconscious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Time and budget constraints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Availability of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Experience with a particular technique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Chances and risks of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Combination of different techniques minimizes risks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315" name="Table 4"/>
          <p:cNvGraphicFramePr/>
          <p:nvPr/>
        </p:nvGraphicFramePr>
        <p:xfrm>
          <a:off x="732960" y="1813320"/>
          <a:ext cx="9979920" cy="4519080"/>
        </p:xfrm>
        <a:graphic>
          <a:graphicData uri="http://schemas.openxmlformats.org/drawingml/2006/table">
            <a:tbl>
              <a:tblPr/>
              <a:tblGrid>
                <a:gridCol w="1930320"/>
                <a:gridCol w="1930320"/>
                <a:gridCol w="1930320"/>
                <a:gridCol w="1930320"/>
                <a:gridCol w="2259000"/>
              </a:tblGrid>
              <a:tr h="88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Survey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Creativity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Document-centric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Observation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Support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Interviews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System Archaeology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Field Observation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Mind Mapping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4808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Questionnaires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 Paradox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Perspective-based Reading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Apprenticing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Workshops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Change of Perspective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Reuse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CRC Cards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58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Analogy Technique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Audio and Video Recording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Use Case Modeling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5712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Prototypes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CustomShape 1"/>
          <p:cNvSpPr/>
          <p:nvPr/>
        </p:nvSpPr>
        <p:spPr>
          <a:xfrm>
            <a:off x="2001960" y="3708720"/>
            <a:ext cx="1613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p = possible</a:t>
            </a:r>
            <a:br>
              <a:rPr sz="1800"/>
            </a:b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g = good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v = very good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263520" y="6411600"/>
            <a:ext cx="10914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S. Lauesen (2002) – Software Requirements – Styles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8" name="Grafik 2" descr=""/>
          <p:cNvPicPr/>
          <p:nvPr/>
        </p:nvPicPr>
        <p:blipFill>
          <a:blip r:embed="rId1"/>
          <a:stretch/>
        </p:blipFill>
        <p:spPr>
          <a:xfrm>
            <a:off x="5619240" y="1320840"/>
            <a:ext cx="4223160" cy="5151600"/>
          </a:xfrm>
          <a:prstGeom prst="rect">
            <a:avLst/>
          </a:prstGeom>
          <a:ln w="0">
            <a:noFill/>
          </a:ln>
        </p:spPr>
      </p:pic>
      <p:sp>
        <p:nvSpPr>
          <p:cNvPr id="319" name="CustomShape 3"/>
          <p:cNvSpPr/>
          <p:nvPr/>
        </p:nvSpPr>
        <p:spPr>
          <a:xfrm>
            <a:off x="542880" y="7221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CustomShape 4"/>
          <p:cNvSpPr/>
          <p:nvPr/>
        </p:nvSpPr>
        <p:spPr>
          <a:xfrm>
            <a:off x="542880" y="12675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Aquisition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CustomShape 5"/>
          <p:cNvSpPr/>
          <p:nvPr/>
        </p:nvSpPr>
        <p:spPr>
          <a:xfrm>
            <a:off x="9950040" y="911520"/>
            <a:ext cx="516240" cy="4960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TextShape 1"/>
          <p:cNvSpPr/>
          <p:nvPr/>
        </p:nvSpPr>
        <p:spPr>
          <a:xfrm>
            <a:off x="612720" y="1697400"/>
            <a:ext cx="10411200" cy="4324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Interview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More time consuming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Requires explicit integration of standpoints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Allows better adaptation on background of the interviewed person and interests of the interviewee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Observations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Most complicated technique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Least impact of presumptions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CustomShape 2"/>
          <p:cNvSpPr/>
          <p:nvPr/>
        </p:nvSpPr>
        <p:spPr>
          <a:xfrm>
            <a:off x="263520" y="6411600"/>
            <a:ext cx="10914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A.M. Hickey, A.M. Davis (2003)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Elicitation Technique Selection: How do Experts do it?</a:t>
            </a: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 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CustomShape 3"/>
          <p:cNvSpPr/>
          <p:nvPr/>
        </p:nvSpPr>
        <p:spPr>
          <a:xfrm>
            <a:off x="542880" y="7221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CustomShape 4"/>
          <p:cNvSpPr/>
          <p:nvPr/>
        </p:nvSpPr>
        <p:spPr>
          <a:xfrm>
            <a:off x="542880" y="12675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The most common / important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CustomShape 1"/>
          <p:cNvSpPr/>
          <p:nvPr/>
        </p:nvSpPr>
        <p:spPr>
          <a:xfrm>
            <a:off x="263520" y="6411600"/>
            <a:ext cx="10914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A.M. Hickey, A.M. Davis (2003)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Elicitation Technique Selection: How do Experts do it?</a:t>
            </a: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 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CustomShape 2"/>
          <p:cNvSpPr/>
          <p:nvPr/>
        </p:nvSpPr>
        <p:spPr>
          <a:xfrm>
            <a:off x="542880" y="7221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CustomShape 3"/>
          <p:cNvSpPr/>
          <p:nvPr/>
        </p:nvSpPr>
        <p:spPr>
          <a:xfrm>
            <a:off x="542880" y="12675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The most common / important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CustomShape 4"/>
          <p:cNvSpPr/>
          <p:nvPr/>
        </p:nvSpPr>
        <p:spPr>
          <a:xfrm>
            <a:off x="612720" y="1687680"/>
            <a:ext cx="10724040" cy="4324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Workshop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Frequently used technique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Relative little expenditure of time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Fundamental for team creation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Creates new ideas (→ Vision workshop)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Problems with social structures, focus on hot spots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Other techniques may be used in addition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Survey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" name="TextShape 4"/>
          <p:cNvSpPr/>
          <p:nvPr/>
        </p:nvSpPr>
        <p:spPr>
          <a:xfrm>
            <a:off x="55764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requirements engineer asks questions, the stakeholders answer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Driven by the requirements engineer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Possible that stakeholder concerns are missed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Used for eliciting explicit knowledge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Conscious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Assumptions: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respondents are capable of explicitly expressing their knowledge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respondents are committed to invest time and effort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Survey Techniques – Interviews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7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employed during the entire development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 prepares questions beforehand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Might be the same for multiple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 that arise during the interview can be discussed immediately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Clever questions may uncover subconscious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Experienced interviewers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control the course of the conversation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commit themselves to each stakeholder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inquire about specific aspects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Drawback of interviews: very time-consuming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Shape 1"/>
          <p:cNvSpPr/>
          <p:nvPr/>
        </p:nvSpPr>
        <p:spPr>
          <a:xfrm>
            <a:off x="557640" y="1339200"/>
            <a:ext cx="10509120" cy="50551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28600" indent="-22824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Preparation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Analysis of documents (e.g. scenarios, previous work documents)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Prepare questions (with at least one domain expert)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Performance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Two interviewers if possible (Analyst; Transcript writer)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Single or multiple person interviews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Maybe recording on tape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Analysis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Analysis / Summary of answers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Feedback to participants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CustomShape 2"/>
          <p:cNvSpPr/>
          <p:nvPr/>
        </p:nvSpPr>
        <p:spPr>
          <a:xfrm>
            <a:off x="542880" y="7221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CustomShape 3"/>
          <p:cNvSpPr/>
          <p:nvPr/>
        </p:nvSpPr>
        <p:spPr>
          <a:xfrm>
            <a:off x="542880" y="126756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Survey Techniques – Interviews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Shape 1"/>
          <p:cNvSpPr/>
          <p:nvPr/>
        </p:nvSpPr>
        <p:spPr>
          <a:xfrm>
            <a:off x="557640" y="1591200"/>
            <a:ext cx="10727280" cy="4854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240">
              <a:lnSpc>
                <a:spcPct val="104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Purpose →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Define the purpose of the interview explicitly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87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Participants (interviewees)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Invite participants, taking the object of the interview into account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Communicate with participants (invitation, purpose and background)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87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Location →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Select a suitable location for the interview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87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Questions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Prepare open and closed questions, where possible with a specific context (with at least one domain expert)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Avoid leading questions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87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Interviewer → Make yourself familiar with the participants and their terminology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CustomShape 2"/>
          <p:cNvSpPr/>
          <p:nvPr/>
        </p:nvSpPr>
        <p:spPr>
          <a:xfrm>
            <a:off x="542880" y="72252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CustomShape 3"/>
          <p:cNvSpPr/>
          <p:nvPr/>
        </p:nvSpPr>
        <p:spPr>
          <a:xfrm>
            <a:off x="542880" y="126792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Survey Techniques – Prepare an Interview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TextShape 1"/>
          <p:cNvSpPr/>
          <p:nvPr/>
        </p:nvSpPr>
        <p:spPr>
          <a:xfrm>
            <a:off x="557640" y="1339200"/>
            <a:ext cx="10727280" cy="4854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Introduction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What is the interview good for?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What will happen with the answers?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The questionnaire 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Start general, progress to more specific issues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Mixture of open and closed questions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Active listening! (esp. paraphrasing)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Ensure non-verbal communication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Prevent typical mistakes: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Deviation from topic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Answers too general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Uneasy atmosphere (noise, interruptions, etc.)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CustomShape 2"/>
          <p:cNvSpPr/>
          <p:nvPr/>
        </p:nvSpPr>
        <p:spPr>
          <a:xfrm>
            <a:off x="542880" y="72288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CustomShape 3"/>
          <p:cNvSpPr/>
          <p:nvPr/>
        </p:nvSpPr>
        <p:spPr>
          <a:xfrm>
            <a:off x="542880" y="126828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Survey Techniques – Conduct an Interview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Shape 1"/>
          <p:cNvSpPr/>
          <p:nvPr/>
        </p:nvSpPr>
        <p:spPr>
          <a:xfrm>
            <a:off x="465840" y="1339200"/>
            <a:ext cx="11516760" cy="4854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Finish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Comment on the first impression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Outline further activities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Thank the interviewed person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Interviewed person has the final say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CustomShape 2"/>
          <p:cNvSpPr/>
          <p:nvPr/>
        </p:nvSpPr>
        <p:spPr>
          <a:xfrm>
            <a:off x="542880" y="126864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Survey Techniques – Conduct an Interview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CustomShape 3"/>
          <p:cNvSpPr/>
          <p:nvPr/>
        </p:nvSpPr>
        <p:spPr>
          <a:xfrm>
            <a:off x="542880" y="72432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Shape 1"/>
          <p:cNvSpPr/>
          <p:nvPr/>
        </p:nvSpPr>
        <p:spPr>
          <a:xfrm>
            <a:off x="465840" y="1339200"/>
            <a:ext cx="11516760" cy="48549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Write a protocol of the interview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Document explicitly gained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Revise your models and scenarios used for the interview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Make a to-do-List of the remaining questions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Further communication with the interviewed persons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Give them your results, so they can check and confirm them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Identify conflicts between the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Try to resolve identified conflicts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CustomShape 2"/>
          <p:cNvSpPr/>
          <p:nvPr/>
        </p:nvSpPr>
        <p:spPr>
          <a:xfrm>
            <a:off x="542880" y="72288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CustomShape 3"/>
          <p:cNvSpPr/>
          <p:nvPr/>
        </p:nvSpPr>
        <p:spPr>
          <a:xfrm>
            <a:off x="542880" y="126828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Survey Techniques – Post-processing the Interview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Survey Techniques – Questionnaires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6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Only viable option for a large number of participants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Cheap and time efficient in comparison to interviews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May use online questionnaire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use different kinds of questions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Open questions → What do you think is the most important feature of the new system?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Closed questions → Do you think the new system requires a GUI?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Closed questions better suited for less experienced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Survey Techniques – Questionnaires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0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Drawbacks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Only for eliciting requirements known or conjectured → Not able to pose additional question due to feedback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 immediate feedback → Forgotten or badly phrased questions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364" name="Table 4"/>
          <p:cNvGraphicFramePr/>
          <p:nvPr/>
        </p:nvGraphicFramePr>
        <p:xfrm>
          <a:off x="732960" y="1813320"/>
          <a:ext cx="9979920" cy="4519080"/>
        </p:xfrm>
        <a:graphic>
          <a:graphicData uri="http://schemas.openxmlformats.org/drawingml/2006/table">
            <a:tbl>
              <a:tblPr/>
              <a:tblGrid>
                <a:gridCol w="1930320"/>
                <a:gridCol w="1930320"/>
                <a:gridCol w="1930320"/>
                <a:gridCol w="1930320"/>
                <a:gridCol w="2259000"/>
              </a:tblGrid>
              <a:tr h="88776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Survey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Creativity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Document-centric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Observation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Support Techniques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Interviews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System Archaeology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Field Observation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Mind Mapping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4808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Questionnaires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Brainstorming Paradox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Perspective-based Reading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Apprenticing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Workshops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Change of Perspective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Reuse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CRC Cards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58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Analogy Technique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Audio and Video Recording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22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Use Case Modeling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5712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Prototypes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Creativity Techniques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8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Well-suited for: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Outlining an initial vision of a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Developing innovative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Eliciting excitement factors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well-suited for getting fine-grained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Techniques yield general ideas about possible requirements, not specifics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Especially unsuited for complex charting of system behavior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Creativity Techniques – Brainstorming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2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Fixed timeframe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Usually in groups of 5 to 10 people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Moderator documents ideas without discussing, judging, or commenting on them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Participants expand and modify ideas to add new ones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Once the ideas are collected, they are discussed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Each idea is subjected to thorough analysis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Especially effective if different stakeholders are involved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Creativity Techniques – Brainstorming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DejaVu Sans"/>
              <a:ea typeface="DejaVu Sans"/>
            </a:endParaRPr>
          </a:p>
        </p:txBody>
      </p:sp>
      <p:sp>
        <p:nvSpPr>
          <p:cNvPr id="376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Large number of ideas can be collected in a short amount of time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People can expand on ideas collaboratively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Unbiased collection allows new ideas and solutions to pop up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Effectiveness depends on the group dynamics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Varied levels of dominance effectively reduce number of participants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Other techniques better suited → 6-3-5 method: six participants, three ideas each, fivefold hand-off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Creativity Techniques – Brainstorming Paradox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0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Variant of brainstorming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Collects events that must not occur, instead of ideas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Develops measures to prevent the events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Well-suited for the early identification of risks and countermeasures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Same advantages and drawbacks as brainstorming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Creativity Techniques – Change of Perspective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4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Involved people change their perspective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Most popular: Six Thinking Hats → Approach a problem from six different perspectives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Information: what is available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Emotions: intuitive reactions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Discernment: logical analysis of reasons to be cautious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Creativity Techniques – Change of Perspective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8" name="TextShape 4"/>
          <p:cNvSpPr/>
          <p:nvPr/>
        </p:nvSpPr>
        <p:spPr>
          <a:xfrm>
            <a:off x="609480" y="1769400"/>
            <a:ext cx="1035936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Optimistic response: logically identifying benefits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Creativity: provocation and investigation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Ordered: overview over processes, “big picture”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Solutions approach the problems from different standpoints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convinced of their opinion are persuaded to adopt a different point of view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CustomShape 2"/>
          <p:cNvSpPr/>
          <p:nvPr/>
        </p:nvSpPr>
        <p:spPr>
          <a:xfrm>
            <a:off x="542880" y="12672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Creativity Techniques – Analogy Technique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CustomShape 3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2" name="TextShape 4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Provide an analogy for the system or a partial problem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Discuss the analogy instead of the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Draw conclusions for the real system based on the analogy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Assumes that each participant is capable of analogous thinking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applied in the open or covertly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Covert application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Only the requirements engineer knows the relationship to the real system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Participants only know the analogy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 responsible to map everything back to the real world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Open application → Everybody knows the relationship to the real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CustomShape 5"/>
          <p:cNvSpPr/>
          <p:nvPr/>
        </p:nvSpPr>
        <p:spPr>
          <a:xfrm>
            <a:off x="9950040" y="915480"/>
            <a:ext cx="516240" cy="4960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CustomShape 20"/>
          <p:cNvSpPr/>
          <p:nvPr/>
        </p:nvSpPr>
        <p:spPr>
          <a:xfrm>
            <a:off x="335520" y="4406760"/>
            <a:ext cx="10744200" cy="13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CustomShape 21"/>
          <p:cNvSpPr/>
          <p:nvPr/>
        </p:nvSpPr>
        <p:spPr>
          <a:xfrm>
            <a:off x="335520" y="2906640"/>
            <a:ext cx="10744200" cy="14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CustomShape 1"/>
          <p:cNvSpPr/>
          <p:nvPr/>
        </p:nvSpPr>
        <p:spPr>
          <a:xfrm>
            <a:off x="1823400" y="2057400"/>
            <a:ext cx="4976280" cy="506520"/>
          </a:xfrm>
          <a:prstGeom prst="ellipse">
            <a:avLst/>
          </a:prstGeom>
          <a:solidFill>
            <a:srgbClr val="ffc000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Prepare about domain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CustomShape 2"/>
          <p:cNvSpPr/>
          <p:nvPr/>
        </p:nvSpPr>
        <p:spPr>
          <a:xfrm>
            <a:off x="1540440" y="2943360"/>
            <a:ext cx="5557320" cy="534960"/>
          </a:xfrm>
          <a:prstGeom prst="ellipse">
            <a:avLst/>
          </a:prstGeom>
          <a:solidFill>
            <a:srgbClr val="ffc000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Identify Information Goals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CustomShape 3"/>
          <p:cNvSpPr/>
          <p:nvPr/>
        </p:nvSpPr>
        <p:spPr>
          <a:xfrm>
            <a:off x="1547280" y="3888000"/>
            <a:ext cx="5550840" cy="696240"/>
          </a:xfrm>
          <a:prstGeom prst="ellipse">
            <a:avLst/>
          </a:prstGeom>
          <a:solidFill>
            <a:srgbClr val="ffc000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Determine appr.techniques / identify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CustomShape 4"/>
          <p:cNvSpPr/>
          <p:nvPr/>
        </p:nvSpPr>
        <p:spPr>
          <a:xfrm>
            <a:off x="2244960" y="4965480"/>
            <a:ext cx="4161240" cy="522720"/>
          </a:xfrm>
          <a:prstGeom prst="ellipse">
            <a:avLst/>
          </a:prstGeom>
          <a:solidFill>
            <a:srgbClr val="ffc000"/>
          </a:solidFill>
          <a:ln w="0"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Conduct technique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CustomShape 5"/>
          <p:cNvSpPr/>
          <p:nvPr/>
        </p:nvSpPr>
        <p:spPr>
          <a:xfrm flipH="1" rot="16200000">
            <a:off x="4131360" y="2753640"/>
            <a:ext cx="361440" cy="360"/>
          </a:xfrm>
          <a:custGeom>
            <a:avLst/>
            <a:gdLst>
              <a:gd name="textAreaLeft" fmla="*/ -1080 w 361440"/>
              <a:gd name="textAreaRight" fmla="*/ 362520 w 361440"/>
              <a:gd name="textAreaTop" fmla="*/ 0 h 360"/>
              <a:gd name="textAreaBottom" fmla="*/ 2304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5760" bIns="576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1" name="CustomShape 6"/>
          <p:cNvSpPr/>
          <p:nvPr/>
        </p:nvSpPr>
        <p:spPr>
          <a:xfrm flipH="1" rot="16200000">
            <a:off x="4116240" y="3683160"/>
            <a:ext cx="391320" cy="360"/>
          </a:xfrm>
          <a:custGeom>
            <a:avLst/>
            <a:gdLst>
              <a:gd name="textAreaLeft" fmla="*/ 1080 w 391320"/>
              <a:gd name="textAreaRight" fmla="*/ 394560 w 391320"/>
              <a:gd name="textAreaTop" fmla="*/ 0 h 360"/>
              <a:gd name="textAreaBottom" fmla="*/ 2304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5760" bIns="576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2" name="CustomShape 7"/>
          <p:cNvSpPr/>
          <p:nvPr/>
        </p:nvSpPr>
        <p:spPr>
          <a:xfrm flipH="1" rot="16200000">
            <a:off x="4133160" y="4774680"/>
            <a:ext cx="363240" cy="360"/>
          </a:xfrm>
          <a:custGeom>
            <a:avLst/>
            <a:gdLst>
              <a:gd name="textAreaLeft" fmla="*/ 1080 w 363240"/>
              <a:gd name="textAreaRight" fmla="*/ 366480 w 363240"/>
              <a:gd name="textAreaTop" fmla="*/ 0 h 360"/>
              <a:gd name="textAreaBottom" fmla="*/ 2304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5760" bIns="576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3" name="CustomShape 8"/>
          <p:cNvSpPr/>
          <p:nvPr/>
        </p:nvSpPr>
        <p:spPr>
          <a:xfrm flipH="1" rot="16200000">
            <a:off x="4069800" y="5746320"/>
            <a:ext cx="498600" cy="360"/>
          </a:xfrm>
          <a:custGeom>
            <a:avLst/>
            <a:gdLst>
              <a:gd name="textAreaLeft" fmla="*/ 1080 w 498600"/>
              <a:gd name="textAreaRight" fmla="*/ 501840 w 498600"/>
              <a:gd name="textAreaTop" fmla="*/ 0 h 360"/>
              <a:gd name="textAreaBottom" fmla="*/ 2304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5760" bIns="576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4" name="CustomShape 9"/>
          <p:cNvSpPr/>
          <p:nvPr/>
        </p:nvSpPr>
        <p:spPr>
          <a:xfrm rot="10800000">
            <a:off x="1549080" y="3224520"/>
            <a:ext cx="695880" cy="2006640"/>
          </a:xfrm>
          <a:prstGeom prst="bentConnector3">
            <a:avLst>
              <a:gd name="adj1" fmla="val 185666"/>
            </a:avLst>
          </a:prstGeom>
          <a:noFill/>
          <a:ln>
            <a:solidFill>
              <a:srgbClr val="8064a2"/>
            </a:solidFill>
            <a:round/>
            <a:tailEnd len="med" type="arrow" w="med"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405" name="Group 10"/>
          <p:cNvGrpSpPr/>
          <p:nvPr/>
        </p:nvGrpSpPr>
        <p:grpSpPr>
          <a:xfrm>
            <a:off x="7539480" y="2774520"/>
            <a:ext cx="3653280" cy="1742040"/>
            <a:chOff x="7539480" y="2774520"/>
            <a:chExt cx="3653280" cy="1742040"/>
          </a:xfrm>
        </p:grpSpPr>
        <p:sp>
          <p:nvSpPr>
            <p:cNvPr id="406" name="CustomShape 11"/>
            <p:cNvSpPr/>
            <p:nvPr/>
          </p:nvSpPr>
          <p:spPr>
            <a:xfrm>
              <a:off x="7539480" y="2774520"/>
              <a:ext cx="3653280" cy="1742040"/>
            </a:xfrm>
            <a:prstGeom prst="cloud">
              <a:avLst/>
            </a:prstGeom>
            <a:solidFill>
              <a:srgbClr val="fbc726"/>
            </a:solidFill>
            <a:ln w="0"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407" name="CustomShape 12"/>
            <p:cNvSpPr/>
            <p:nvPr/>
          </p:nvSpPr>
          <p:spPr>
            <a:xfrm>
              <a:off x="7809840" y="2946960"/>
              <a:ext cx="2980800" cy="130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Not shown</a:t>
              </a: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:</a:t>
              </a:r>
              <a:endParaRPr b="0" lang="en-GB" sz="1600" spc="-1" strike="noStrike">
                <a:solidFill>
                  <a:srgbClr val="000000"/>
                </a:solidFill>
                <a:latin typeface="Arial"/>
              </a:endParaRPr>
            </a:p>
            <a:p>
              <a:pPr marL="216000" indent="-215640">
                <a:lnSpc>
                  <a:spcPct val="100000"/>
                </a:lnSpc>
                <a:buClr>
                  <a:srgbClr val="000000"/>
                </a:buClr>
                <a:buFont typeface="Arial"/>
                <a:buChar char="•"/>
              </a:pP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 </a:t>
              </a: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Application of analysis techniques</a:t>
              </a:r>
              <a:endParaRPr b="0" lang="en-GB" sz="1600" spc="-1" strike="noStrike">
                <a:solidFill>
                  <a:srgbClr val="000000"/>
                </a:solidFill>
                <a:latin typeface="Arial"/>
              </a:endParaRPr>
            </a:p>
            <a:p>
              <a:pPr marL="216000" indent="-215640">
                <a:lnSpc>
                  <a:spcPct val="100000"/>
                </a:lnSpc>
                <a:buClr>
                  <a:srgbClr val="000000"/>
                </a:buClr>
                <a:buFont typeface="Arial"/>
                <a:buChar char="•"/>
              </a:pP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 </a:t>
              </a:r>
              <a:r>
                <a:rPr b="0" lang="en-US" sz="1600" spc="-1" strike="noStrike">
                  <a:solidFill>
                    <a:srgbClr val="000000"/>
                  </a:solidFill>
                  <a:latin typeface="Arial"/>
                  <a:ea typeface="ＭＳ Ｐゴシック"/>
                </a:rPr>
                <a:t>Often overlapping and parallel activities</a:t>
              </a:r>
              <a:endParaRPr b="0" lang="en-GB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08" name="CustomShape 13"/>
          <p:cNvSpPr/>
          <p:nvPr/>
        </p:nvSpPr>
        <p:spPr>
          <a:xfrm rot="16200000">
            <a:off x="228600" y="3869640"/>
            <a:ext cx="1371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still deficits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CustomShape 14"/>
          <p:cNvSpPr/>
          <p:nvPr/>
        </p:nvSpPr>
        <p:spPr>
          <a:xfrm>
            <a:off x="4167000" y="5557320"/>
            <a:ext cx="3349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Sufficient knowledge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10" name="Group 15"/>
          <p:cNvGrpSpPr/>
          <p:nvPr/>
        </p:nvGrpSpPr>
        <p:grpSpPr>
          <a:xfrm>
            <a:off x="4073040" y="6004800"/>
            <a:ext cx="513360" cy="383040"/>
            <a:chOff x="4073040" y="6004800"/>
            <a:chExt cx="513360" cy="383040"/>
          </a:xfrm>
        </p:grpSpPr>
        <p:sp>
          <p:nvSpPr>
            <p:cNvPr id="411" name="CustomShape 16"/>
            <p:cNvSpPr/>
            <p:nvPr/>
          </p:nvSpPr>
          <p:spPr>
            <a:xfrm>
              <a:off x="4110480" y="6028920"/>
              <a:ext cx="444240" cy="331200"/>
            </a:xfrm>
            <a:prstGeom prst="ellipse">
              <a:avLst/>
            </a:prstGeom>
            <a:solidFill>
              <a:schemeClr val="tx1"/>
            </a:solidFill>
            <a:ln w="57240">
              <a:solidFill>
                <a:srgbClr val="ffffff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412" name="CustomShape 17"/>
            <p:cNvSpPr/>
            <p:nvPr/>
          </p:nvSpPr>
          <p:spPr>
            <a:xfrm>
              <a:off x="4073040" y="6004800"/>
              <a:ext cx="513360" cy="383040"/>
            </a:xfrm>
            <a:prstGeom prst="ellipse">
              <a:avLst/>
            </a:prstGeom>
            <a:noFill/>
            <a:ln w="2844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413" name="CustomShape 18"/>
          <p:cNvSpPr/>
          <p:nvPr/>
        </p:nvSpPr>
        <p:spPr>
          <a:xfrm>
            <a:off x="542880" y="127116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Planning Requirement Elicitation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CustomShape 19"/>
          <p:cNvSpPr/>
          <p:nvPr/>
        </p:nvSpPr>
        <p:spPr>
          <a:xfrm>
            <a:off x="542880" y="72252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CustomShape 1"/>
          <p:cNvSpPr/>
          <p:nvPr/>
        </p:nvSpPr>
        <p:spPr>
          <a:xfrm>
            <a:off x="542880" y="721800"/>
            <a:ext cx="1035252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CustomShape 2"/>
          <p:cNvSpPr/>
          <p:nvPr/>
        </p:nvSpPr>
        <p:spPr>
          <a:xfrm>
            <a:off x="451800" y="1709280"/>
            <a:ext cx="8219880" cy="4348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7" name="TextShape 3"/>
          <p:cNvSpPr/>
          <p:nvPr/>
        </p:nvSpPr>
        <p:spPr>
          <a:xfrm>
            <a:off x="609480" y="1769400"/>
            <a:ext cx="10582920" cy="48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is a core activity of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Without good elicitation, requirements will be wrong or missing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Stakeholders, documents and existing systems as requirements sources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Missing a source leads to missing the requirements of the source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Many techniques for requirements elicitation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every technique is good in every scenario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Select the techniques depending on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Usually, a combination of multiple techniques yields the best results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CustomShape 1"/>
          <p:cNvSpPr/>
          <p:nvPr/>
        </p:nvSpPr>
        <p:spPr>
          <a:xfrm>
            <a:off x="335520" y="1268640"/>
            <a:ext cx="10742400" cy="50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CustomShape 2"/>
          <p:cNvSpPr/>
          <p:nvPr/>
        </p:nvSpPr>
        <p:spPr>
          <a:xfrm>
            <a:off x="33552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</TotalTime>
  <Application>LibreOffice/7.4.7.2$Linux_X86_64 LibreOffice_project/40$Build-2</Application>
  <AppVersion>15.0000</AppVersion>
  <Words>4021</Words>
  <Paragraphs>929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2025-11-03T12:21:00Z</dcterms:modified>
  <cp:revision>3229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54</vt:i4>
  </property>
  <property fmtid="{D5CDD505-2E9C-101B-9397-08002B2CF9AE}" pid="3" name="PresentationFormat">
    <vt:lpwstr>Widescreen</vt:lpwstr>
  </property>
  <property fmtid="{D5CDD505-2E9C-101B-9397-08002B2CF9AE}" pid="4" name="Slides">
    <vt:i4>82</vt:i4>
  </property>
</Properties>
</file>