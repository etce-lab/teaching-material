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6.xml.rels" ContentType="application/vnd.openxmlformats-package.relationships+xml"/>
  <Override PartName="/ppt/slides/_rels/slide34.xml.rels" ContentType="application/vnd.openxmlformats-package.relationships+xml"/>
  <Override PartName="/ppt/slides/_rels/slide20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_rels/slide16.xml.rels" ContentType="application/vnd.openxmlformats-package.relationships+xml"/>
  <Override PartName="/ppt/slides/_rels/slide32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24.xml.rels" ContentType="application/vnd.openxmlformats-package.relationships+xml"/>
  <Override PartName="/ppt/slides/_rels/slide33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2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33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C583C24-DC80-4151-90BC-5D922230C75E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720" cy="56160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560" cy="51372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3"/>
          <p:cNvSpPr/>
          <p:nvPr/>
        </p:nvSpPr>
        <p:spPr>
          <a:xfrm>
            <a:off x="0" y="6646680"/>
            <a:ext cx="12186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A0B8F27-2F3A-4652-B25F-EABE5BC02CA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720" cy="56160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560" cy="51372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3"/>
          <p:cNvSpPr/>
          <p:nvPr/>
        </p:nvSpPr>
        <p:spPr>
          <a:xfrm>
            <a:off x="0" y="6646680"/>
            <a:ext cx="12186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59F5F59-7EF5-42B5-B4D6-66F0D4C9752E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720" cy="56160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560" cy="51372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38FCC1C-BEBB-4F73-AA6A-5BCE681B3216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3"/>
          <p:cNvSpPr/>
          <p:nvPr/>
        </p:nvSpPr>
        <p:spPr>
          <a:xfrm>
            <a:off x="0" y="6646680"/>
            <a:ext cx="12186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527400" y="1412640"/>
            <a:ext cx="10363680" cy="11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527400" y="2852640"/>
            <a:ext cx="10363680" cy="23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13: Tool Support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4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hteck 186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101600" cy="2079000"/>
          </a:xfrm>
          <a:prstGeom prst="rect">
            <a:avLst/>
          </a:prstGeom>
          <a:ln w="0">
            <a:noFill/>
          </a:ln>
        </p:spPr>
      </p:pic>
      <p:sp>
        <p:nvSpPr>
          <p:cNvPr id="143" name="Rahmen 6"/>
          <p:cNvSpPr/>
          <p:nvPr/>
        </p:nvSpPr>
        <p:spPr>
          <a:xfrm>
            <a:off x="453960" y="2309760"/>
            <a:ext cx="10280520" cy="225792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4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13: Tool Support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hteck 186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HSN-Hierarchy 26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ustomShape 1"/>
          <p:cNvSpPr/>
          <p:nvPr/>
        </p:nvSpPr>
        <p:spPr>
          <a:xfrm>
            <a:off x="335520" y="4406760"/>
            <a:ext cx="10748160" cy="13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Tool Support in General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CustomShape 2"/>
          <p:cNvSpPr/>
          <p:nvPr/>
        </p:nvSpPr>
        <p:spPr>
          <a:xfrm>
            <a:off x="335520" y="2906640"/>
            <a:ext cx="10748160" cy="14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7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hteck 209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Motivation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HSN-Hierarchy 6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Integrate and process already existing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Information from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Natural language requirements, models, 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Information that is the basis of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Minutes, goal documents, stakeholder lists, 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practice mostly support of requirements management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53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echteck 26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between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HSN-Hierarchy 28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Usually, multiple tools are used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Interfaces for integration and traceability required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be either available or easy to create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allow tracing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allow managing the traces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Vital to know where changes are propagated to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51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Rechteck 25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Reuse of Tools from System Development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HSN-Hierarchy 27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Tools for development can often be used for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Often offer ability to manage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Examples: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management tools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Bug tracking tools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Configuration management tools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Advantage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automatically integrated with developed artifacts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Interface between requirements management tool and development tool not required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49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Rechteck 24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Wikis in Requirements Engineering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HSN-Hierarchy 25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Wikis offer a simple to use and easy to access opportunity for collaboratively working on documents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Interesting for glossaries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Each wiki page defines a glossary term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 suited if a lot of different stakeholders are involved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47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hteck 23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Visualization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HSN-Hierarchy 24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Mind mapping tools to support brainstorming sessions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Presentation tools can help guide through meetings and for describing rough analysis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GUI modeling tools for prototyping user interfaces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Flow charting tools to depict processes and work-flows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45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hteck 22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„</a:t>
            </a: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Everyday”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HSN-Hierarchy 23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Mail clients, chat software, address books, online calendars vital for communication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management and controlling tools also required for managing the requirements engineering process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Help stakeholders with the coordination of tasks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CustomShape 14"/>
          <p:cNvSpPr/>
          <p:nvPr/>
        </p:nvSpPr>
        <p:spPr>
          <a:xfrm>
            <a:off x="335520" y="4406760"/>
            <a:ext cx="10748160" cy="13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Requirements Management Tools 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CustomShape 15"/>
          <p:cNvSpPr/>
          <p:nvPr/>
        </p:nvSpPr>
        <p:spPr>
          <a:xfrm>
            <a:off x="335520" y="2906640"/>
            <a:ext cx="10748160" cy="14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43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echteck 21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Properties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HSN-Hierarchy 22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different types of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Natural language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Conceptual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Sketches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plans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requests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 logical relationships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 unique identification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Unique Ids for every artifact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41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echteck 20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Properties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HSN-Hierarchy 21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Editors for managed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Multi-user access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Access control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Configuration management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Version management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views on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Developer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Tester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View on partial systems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39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Rechteck 19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Properties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HSN-Hierarchy 20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Organization of managed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Grouping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Hierarchical structuring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Assigning attributes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Annotation with additional information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Generation of reports and summaries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Reports of change requests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Reports on state of the requirements implementation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Generation of appropriate outputs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document for a system release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37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hteck 18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Special Purpose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HSN-Hierarchy 19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Comprehensive list: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http://www.volere.co.uk/tools.htm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Enterprise Architect (Sparx Systems)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HP Quality Center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IBM Rational DOORS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35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echteck 17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Standard Office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HSN-Hierarchy 18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Word processors, spreadsheet calculators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Used in many projects due to multiple reasons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Advantages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Are already available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additional training required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Versatile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Well-suited for natural-language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Adapted for requirements management, e.g., by using templates and predefined document formats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 traceability to some degree through hyperlinks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33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 Tools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echteck 16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Standard Office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HSN-Hierarchy 17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Disadvantages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 not offer version control on the level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 not directly support requirements engineering, e.g., traceability links often have to be maintained manually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Drawbacks can be worked around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Still, the efficiency is lower than with a dedicated tool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CustomShape 12"/>
          <p:cNvSpPr/>
          <p:nvPr/>
        </p:nvSpPr>
        <p:spPr>
          <a:xfrm>
            <a:off x="335520" y="4406760"/>
            <a:ext cx="10748160" cy="13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Arial Unicode MS"/>
                <a:ea typeface="DejaVu Sans"/>
              </a:rPr>
              <a:t> 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ustomShape 13"/>
          <p:cNvSpPr/>
          <p:nvPr/>
        </p:nvSpPr>
        <p:spPr>
          <a:xfrm>
            <a:off x="335520" y="2906640"/>
            <a:ext cx="10748160" cy="14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31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hteck 15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Before Introducing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HSN-Hierarchy 16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Tools support existing processes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Process needs to be in place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Responsibilities must be clear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Techniques must be known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People must be able to follow all this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„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Automating chaos just gives faster chaos“ (Dorothy Graham)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29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hteck 14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Before Introducing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HSN-Hierarchy 15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Choice and introduction of tool costs resources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Licensing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Training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Customization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only current, but possible future efforts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Adaption of already existing artifacts may further increase the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27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Rechteck 13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Before Introducing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HSN-Hierarchy 14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 into already started projects difficult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 in place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Existing concepts would have to be replaced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Effort and risk can be estimated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Often underestimated due to multiple factors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Employee resistance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deficiencies</a:t>
            </a:r>
            <a:r>
              <a:rPr b="0" lang="en-US" sz="2000" spc="-1" strike="noStrike" u="sng">
                <a:solidFill>
                  <a:srgbClr val="ffffff"/>
                </a:solidFill>
                <a:uFillTx/>
                <a:latin typeface="DejaVu Sans"/>
                <a:ea typeface="DejaVu Sans"/>
              </a:rPr>
              <a:t>Instead →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25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echteck 12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Before Introducing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HSN-Hierarchy 13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 into already started projects difficult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 in place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Existing concepts would have to be replaced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Effort and risk can be estimated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Often underestimated due to multiple factors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Employee resistance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deficiencies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ustomShape 11"/>
          <p:cNvSpPr/>
          <p:nvPr/>
        </p:nvSpPr>
        <p:spPr>
          <a:xfrm>
            <a:off x="542880" y="5303520"/>
            <a:ext cx="10579680" cy="907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marL="108000" algn="ctr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Instead →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5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hteck 11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Before Introducing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HSN-Hierarchy 12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 into already started projects difficult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 in place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Existing concepts would have to be replaced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Effort and risk can be estimated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Often underestimated due to multiple factors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Employee resistance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deficiencies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CustomShape 10"/>
          <p:cNvSpPr/>
          <p:nvPr/>
        </p:nvSpPr>
        <p:spPr>
          <a:xfrm>
            <a:off x="542880" y="5303520"/>
            <a:ext cx="10579680" cy="9079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marL="108000" algn="ctr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Instead → pilot project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21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echteck 10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Evaluation of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HSN-Hierarchy 11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perspectives matter for tools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Process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Provider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Technical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Economic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be taken into account when evaluating tools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all views should be defined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20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hteck 9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RE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HSN-Hierarchy 10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CustomShape 9"/>
          <p:cNvSpPr/>
          <p:nvPr/>
        </p:nvSpPr>
        <p:spPr>
          <a:xfrm>
            <a:off x="263520" y="6411600"/>
            <a:ext cx="10918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" name="Grafik 1" descr=""/>
          <p:cNvPicPr/>
          <p:nvPr/>
        </p:nvPicPr>
        <p:blipFill>
          <a:blip r:embed="rId1"/>
          <a:stretch/>
        </p:blipFill>
        <p:spPr>
          <a:xfrm>
            <a:off x="2883960" y="1812600"/>
            <a:ext cx="5673960" cy="437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8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hteck 8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Project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HSN-Hierarchy 9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Extent to which a tool can support a project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preparation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project-specific information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project-specific document formats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planning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Scope of milestones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How information managed by the tool pertains to milestones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execution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control, e.g., completion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6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7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User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8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requirements from the user‘s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usage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Access to appropriate functions required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Mapping of roles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mapped to roles through user management and access rights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of group work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Multiple users should be able to work collaboratively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3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hteck 6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Product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HSN-Hierarchy 7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Concerned with the functionalities possed by a tool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example, for different documentation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Supported document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Views on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Reports that can be generated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1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Rechteck 5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Process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HSN-Hierarchy 5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From the perspective of method support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How does a tool support the application of a specific technique?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Ability to document activities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Method guidance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Strict and restrictive guidance (e.g., wizards)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Lenient guidance (e.g., suggestions and hints)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Project-specific process model definition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e.g, phases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9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Rechteck 4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Provider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HSN-Hierarchy 4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Market position and services offered by the tool manufacturer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Brand awareness and reputation often important criteria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High costs and required long-term support require strong commitment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6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hteck 3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Technical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HSN-Hierarchy 3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Considers technical context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Ability to integrate the tool with existing tools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Evaluate APIs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Performance of the tool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Evaluate how long importing/exporting data takes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Scalability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Maximum number of users/objects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Hardware and software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4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Introducing and Evaluating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echteck 2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Views on Tools: Economic 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HSN-Hierarchy 2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Considers costs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Due to acquisition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Maintenance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Integration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Operation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Method tailoring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CustomShape 7"/>
          <p:cNvSpPr/>
          <p:nvPr/>
        </p:nvSpPr>
        <p:spPr>
          <a:xfrm>
            <a:off x="335520" y="4406760"/>
            <a:ext cx="10748160" cy="13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Arial Unicode MS"/>
                <a:ea typeface="DejaVu Sans"/>
              </a:rPr>
              <a:t> 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8"/>
          <p:cNvSpPr/>
          <p:nvPr/>
        </p:nvSpPr>
        <p:spPr>
          <a:xfrm>
            <a:off x="335520" y="2906640"/>
            <a:ext cx="10748160" cy="14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2"/>
          <p:cNvSpPr/>
          <p:nvPr/>
        </p:nvSpPr>
        <p:spPr>
          <a:xfrm>
            <a:off x="542880" y="7218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echteck 1"/>
          <p:cNvSpPr/>
          <p:nvPr/>
        </p:nvSpPr>
        <p:spPr>
          <a:xfrm>
            <a:off x="542880" y="1267200"/>
            <a:ext cx="10356480" cy="49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" name="HSN-Hierarchy 1"/>
          <p:cNvSpPr/>
          <p:nvPr/>
        </p:nvSpPr>
        <p:spPr>
          <a:xfrm>
            <a:off x="451800" y="1709280"/>
            <a:ext cx="8223840" cy="43520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880" cy="48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kinds of tools available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Special RE tools vs. general purpose tools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 good process comes before a good tool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Whatever the tool, its use must be fitting for the process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New tools should be introduced in a pilot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Evaluating new tools is time consuming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4"/>
          <p:cNvSpPr/>
          <p:nvPr/>
        </p:nvSpPr>
        <p:spPr>
          <a:xfrm>
            <a:off x="335520" y="1268640"/>
            <a:ext cx="10744920" cy="50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6"/>
          <p:cNvSpPr/>
          <p:nvPr/>
        </p:nvSpPr>
        <p:spPr>
          <a:xfrm>
            <a:off x="335520" y="764640"/>
            <a:ext cx="1074492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LibreOffice/7.4.7.2$Linux_X86_64 LibreOffice_project/40$Build-2</Application>
  <AppVersion>15.0000</AppVersion>
  <Words>1226</Words>
  <Paragraphs>269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2025-11-03T12:28:05Z</dcterms:modified>
  <cp:revision>3236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36</vt:i4>
  </property>
</Properties>
</file>