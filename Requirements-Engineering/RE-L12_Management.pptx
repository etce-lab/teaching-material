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8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6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28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comments/comment3.xml" ContentType="application/vnd.openxmlformats-officedocument.presentationml.comments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7559675" cy="10691813"/>
</p:presentation>
</file>

<file path=ppt/commentAuthors.xml><?xml version="1.0" encoding="utf-8"?>
<p:cmAuthorLst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presProps" Target="presProps.xml"/><Relationship Id="rId34" Type="http://schemas.openxmlformats.org/officeDocument/2006/relationships/commentAuthors" Target="commentAuthors.xml"/>
</Relationships>
</file>

<file path=ppt/comments/comment3.xml><?xml version="1.0" encoding="utf-8"?>
<p:cmLst xmlns:p="http://schemas.openxmlformats.org/presentationml/2006/main">
  <p:cm authorId="0" dt="2022-01-31T12:59:36.000000000" idx="1">
    <p:pos x="0" y="0"/>
    <p:text>Add these headings to the lecture slides where they will be placed</p:text>
  </p:cm>
</p:cmLst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40520" cy="68493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7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2F0662C-FF23-4BBB-9B29-933747BAF9C3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73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360" cy="56124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7200" cy="51336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73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40520" cy="68493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7"/>
          <p:cNvSpPr/>
          <p:nvPr/>
        </p:nvSpPr>
        <p:spPr>
          <a:xfrm>
            <a:off x="0" y="6646680"/>
            <a:ext cx="12186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40520" cy="68493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7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0D1A255-FD4A-44BA-A779-BA7EB5CBC577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73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360" cy="56124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7200" cy="51336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73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40520" cy="68493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7"/>
          <p:cNvSpPr/>
          <p:nvPr/>
        </p:nvSpPr>
        <p:spPr>
          <a:xfrm>
            <a:off x="0" y="6646680"/>
            <a:ext cx="12186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40520" cy="68493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7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D59A051-E5A7-44FD-875A-AD1E33AFC0BA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73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360" cy="56124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7200" cy="51336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11444760" y="1440"/>
            <a:ext cx="740520" cy="68493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27480" y="6453360"/>
            <a:ext cx="757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C763582-F36A-444C-9D36-E26BFB2F1A4C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CustomShape 7"/>
          <p:cNvSpPr/>
          <p:nvPr/>
        </p:nvSpPr>
        <p:spPr>
          <a:xfrm>
            <a:off x="0" y="6646680"/>
            <a:ext cx="12186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527400" y="1412640"/>
            <a:ext cx="10363320" cy="11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527400" y="2852640"/>
            <a:ext cx="10363320" cy="23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12: Requirements Management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4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hteck 186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101240" cy="2078640"/>
          </a:xfrm>
          <a:prstGeom prst="rect">
            <a:avLst/>
          </a:prstGeom>
          <a:ln w="0">
            <a:noFill/>
          </a:ln>
        </p:spPr>
      </p:pic>
      <p:sp>
        <p:nvSpPr>
          <p:cNvPr id="143" name="Rahmen 6"/>
          <p:cNvSpPr/>
          <p:nvPr/>
        </p:nvSpPr>
        <p:spPr>
          <a:xfrm>
            <a:off x="7193160" y="2309760"/>
            <a:ext cx="1830960" cy="225756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4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12: Requirements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echteck 186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HSN-Hierarchy 2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CustomShape 1"/>
          <p:cNvSpPr/>
          <p:nvPr/>
        </p:nvSpPr>
        <p:spPr>
          <a:xfrm>
            <a:off x="335520" y="4406760"/>
            <a:ext cx="10747800" cy="13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Manage Requirements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CustomShape 2"/>
          <p:cNvSpPr/>
          <p:nvPr/>
        </p:nvSpPr>
        <p:spPr>
          <a:xfrm>
            <a:off x="335520" y="2906640"/>
            <a:ext cx="10747800" cy="14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Motivation – Why do you need to manage requirements?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Number/scope of requirements and further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Expected product lifetime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Rate of changes to requirements and related docs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Number of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Availability of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Heterogenous nature of stakeholder opinons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Future reusability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Number of expected releases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Etc.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Motivation – What exactly needs to be managed?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Flussdiagramm: Karte 10"/>
          <p:cNvSpPr/>
          <p:nvPr/>
        </p:nvSpPr>
        <p:spPr>
          <a:xfrm>
            <a:off x="542880" y="201420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Flussdiagramm: Karte 11"/>
          <p:cNvSpPr/>
          <p:nvPr/>
        </p:nvSpPr>
        <p:spPr>
          <a:xfrm>
            <a:off x="2394720" y="319248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Epics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Flussdiagramm: Karte 12"/>
          <p:cNvSpPr/>
          <p:nvPr/>
        </p:nvSpPr>
        <p:spPr>
          <a:xfrm>
            <a:off x="2394720" y="201420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Flussdiagramm: Karte 13"/>
          <p:cNvSpPr/>
          <p:nvPr/>
        </p:nvSpPr>
        <p:spPr>
          <a:xfrm>
            <a:off x="4246200" y="201420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Flussdiagramm: Karte 14"/>
          <p:cNvSpPr/>
          <p:nvPr/>
        </p:nvSpPr>
        <p:spPr>
          <a:xfrm>
            <a:off x="7945560" y="195804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 Case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Flussdiagramm: Karte 16"/>
          <p:cNvSpPr/>
          <p:nvPr/>
        </p:nvSpPr>
        <p:spPr>
          <a:xfrm>
            <a:off x="6095880" y="201420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Assumptions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Flussdiagramm: Karte 17"/>
          <p:cNvSpPr/>
          <p:nvPr/>
        </p:nvSpPr>
        <p:spPr>
          <a:xfrm>
            <a:off x="4246200" y="318240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Case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Flussdiagramm: Karte 18"/>
          <p:cNvSpPr/>
          <p:nvPr/>
        </p:nvSpPr>
        <p:spPr>
          <a:xfrm>
            <a:off x="542160" y="319248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 Story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Flussdiagramm: Karte 19"/>
          <p:cNvSpPr/>
          <p:nvPr/>
        </p:nvSpPr>
        <p:spPr>
          <a:xfrm>
            <a:off x="542160" y="555336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Request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Flussdiagramm: Karte 20"/>
          <p:cNvSpPr/>
          <p:nvPr/>
        </p:nvSpPr>
        <p:spPr>
          <a:xfrm>
            <a:off x="2394720" y="555300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Issues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Flussdiagramm: Karte 21"/>
          <p:cNvSpPr/>
          <p:nvPr/>
        </p:nvSpPr>
        <p:spPr>
          <a:xfrm>
            <a:off x="542160" y="4375080"/>
            <a:ext cx="1654200" cy="917640"/>
          </a:xfrm>
          <a:prstGeom prst="flowChartPunchedCard">
            <a:avLst/>
          </a:prstGeom>
          <a:solidFill>
            <a:schemeClr val="bg1"/>
          </a:solidFill>
          <a:ln>
            <a:solidFill>
              <a:srgbClr val="008c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Architecture Description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Definition – Management in Requirements Engineering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" name="PlaceHolder 1"/>
          <p:cNvSpPr>
            <a:spLocks noGrp="1"/>
          </p:cNvSpPr>
          <p:nvPr>
            <p:ph/>
          </p:nvPr>
        </p:nvSpPr>
        <p:spPr>
          <a:xfrm>
            <a:off x="588240" y="1769400"/>
            <a:ext cx="10607760" cy="46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process of managing existing requirements and requirements related work products, including the storing, changing and tracing of requirements (traceability).”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CustomShape 4"/>
          <p:cNvSpPr/>
          <p:nvPr/>
        </p:nvSpPr>
        <p:spPr>
          <a:xfrm>
            <a:off x="602640" y="3174480"/>
            <a:ext cx="10579320" cy="187848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" name="CustomShape 5"/>
          <p:cNvSpPr/>
          <p:nvPr/>
        </p:nvSpPr>
        <p:spPr>
          <a:xfrm>
            <a:off x="263520" y="6411600"/>
            <a:ext cx="109184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Martin Glinz (2020)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A Glossary of Requirements Engineering Terminology (Standard Glossary for the Certified Professional for Requirements Engineering (CPRE) Studies and Exam)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Information model - Simple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75" name="Grafik 2" descr=""/>
          <p:cNvPicPr/>
          <p:nvPr/>
        </p:nvPicPr>
        <p:blipFill>
          <a:blip r:embed="rId1"/>
          <a:stretch/>
        </p:blipFill>
        <p:spPr>
          <a:xfrm>
            <a:off x="672480" y="2766240"/>
            <a:ext cx="10096920" cy="1721520"/>
          </a:xfrm>
          <a:prstGeom prst="rect">
            <a:avLst/>
          </a:prstGeom>
          <a:ln w="0">
            <a:noFill/>
          </a:ln>
        </p:spPr>
      </p:pic>
      <p:sp>
        <p:nvSpPr>
          <p:cNvPr id="176" name="CustomShape 5"/>
          <p:cNvSpPr/>
          <p:nvPr/>
        </p:nvSpPr>
        <p:spPr>
          <a:xfrm>
            <a:off x="263520" y="6411600"/>
            <a:ext cx="109184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Chris Rupp et al. (2021)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und Management – Das Handbuch für Anforderungen in jeder Situation (7</a:t>
            </a:r>
            <a:r>
              <a:rPr b="0" lang="en-US" sz="900" spc="-1" strike="noStrike" baseline="30000">
                <a:solidFill>
                  <a:srgbClr val="a6a6a6"/>
                </a:solidFill>
                <a:latin typeface="Roboto"/>
                <a:ea typeface="Roboto"/>
              </a:rPr>
              <a:t>th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 Edition)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Information model – More complex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CustomShape 5"/>
          <p:cNvSpPr/>
          <p:nvPr/>
        </p:nvSpPr>
        <p:spPr>
          <a:xfrm>
            <a:off x="263520" y="6411600"/>
            <a:ext cx="109184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Chris Rupp et al. (2021)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und Management – Das Handbuch für Anforderungen in jeder Situation (7</a:t>
            </a:r>
            <a:r>
              <a:rPr b="0" lang="en-US" sz="900" spc="-1" strike="noStrike" baseline="30000">
                <a:solidFill>
                  <a:srgbClr val="a6a6a6"/>
                </a:solidFill>
                <a:latin typeface="Roboto"/>
                <a:ea typeface="Roboto"/>
              </a:rPr>
              <a:t>th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 Edition)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Grafik 4" descr=""/>
          <p:cNvPicPr/>
          <p:nvPr/>
        </p:nvPicPr>
        <p:blipFill>
          <a:blip r:embed="rId1"/>
          <a:stretch/>
        </p:blipFill>
        <p:spPr>
          <a:xfrm>
            <a:off x="219600" y="2319840"/>
            <a:ext cx="11002680" cy="3130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Standardized structures and templates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Volere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V-Modell XT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IEEE 29148-2018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Etc.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CustomShape 3"/>
          <p:cNvSpPr/>
          <p:nvPr/>
        </p:nvSpPr>
        <p:spPr>
          <a:xfrm>
            <a:off x="347760" y="6192000"/>
            <a:ext cx="1110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1. https://www.volere.org/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2. Der Beauftragte der Bundesregierung für Informationstechnik. V-Modell XT (o.J.), URL: https://cio.bund.de/Web/DE/Architekturen-und-Standards/V-Modell-XT/vmodell_xt_node.html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3. https://standards.ieee.org/ieee/29148/6937/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CustomShape 1"/>
          <p:cNvSpPr/>
          <p:nvPr/>
        </p:nvSpPr>
        <p:spPr>
          <a:xfrm>
            <a:off x="335520" y="4406760"/>
            <a:ext cx="10747800" cy="13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Change Management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CustomShape 2"/>
          <p:cNvSpPr/>
          <p:nvPr/>
        </p:nvSpPr>
        <p:spPr>
          <a:xfrm>
            <a:off x="335520" y="2906640"/>
            <a:ext cx="10747800" cy="14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Various reasons for changes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Errors or incomplete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Evolution of context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Changes are not a bad thing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may gain new knowledge at later project stages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Proofs interest/involvement of the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Frequent changes are problematic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Makes development in agreement with all stakeholders very challenging and time-consuming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Indicator for bad process quality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Necessary to properly structure and process change requests for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Structured process → Justifiable decisions if and how requests are approved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Changes may refer to: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Noto Serif Devanagari SemiCondensed SemiBold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Individual requirements, e.g., change/addition/removal of a feature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Noto Serif Devanagari SemiCondensed SemiBold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requirements document itself, e.g., updating terminology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Change Control Board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control board as entity responsible for change requests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Evaluation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Decision making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May delegate tasks to another party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example, drafting of actual changes to the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Decisions have to be negotiated and agreed upon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Contractor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involved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Change Control Board – Tasks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effort estimation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Could be performed by third party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Evaluate change requests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example, effort/benefit ratio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Define requirements change and/or new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Based on the changed request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Changes should be kept to a minimum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Decide about acceptance or rejection of change requests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Change Control Board – Tasks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Classify incoming changes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example, based on their criticality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Prioritize accepted change requests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 which order should accepted changes be implemented?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Assign accepted change requests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Who is responsible for implementing the changes?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Change Control Board – Members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numCol="2" spcCol="0"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following parties should be represented in the change control board: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Contractor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Architect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Configuration manager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Customer representative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manager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 manager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244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Quality assurance representative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Change Control Board – Change Manager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Chairperson of the change control board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Mediates between parties in case of conflicts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Communicates and documents changes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Similar to the role of the requirements engineer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Change Requests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numCol="2" spcCol="720000" lIns="0" rIns="0" tIns="0" bIns="0" anchor="ctr">
            <a:normAutofit/>
          </a:bodyPr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Should contain the following information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Identifier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Unique identification of change request 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Title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Summarizes key concern of the change request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Description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Documents change as precisely as 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Also contains information on the expected effect of a change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Justification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Reasons why the change is necessary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Date filed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Date the change request was filed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Applicant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Name of the person who filed the change request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Priority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Importance of the change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Change Requests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Date filed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Date the change request was filed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Applicant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Name of the person who filed the change request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Priority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Importance of the change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Change Requests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The following information is helpful for the management of changes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validator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Person who is responsible to verify if a change was performed correctly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Impact analysis status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Flag indicating whether an impact analysis has been performed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control board decision status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Flag indicating the handling status of the request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example: pending, rejected, accepted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Change Requests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control board priority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Priority of the change request assigned by the change control board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Responsible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Person in charge of performing the change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release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Version of the system that implements the change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Change Requests – Classifications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numCol="2" spcCol="0" lIns="0" rIns="0" tIns="0" bIns="0" anchor="ctr">
            <a:normAutofit/>
          </a:bodyPr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Three types of change requests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Corrective requirement change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Failure in the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Reason for failure is an error in the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fixes the error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Adaptive requirement change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needs to be amended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example, change in the system context or stakeholder needs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Exceptional change (hotfix)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Must be immediately done at all costs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either adaptive or corrective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Usually due to critical bugs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Handling Change Requests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6572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Effort required for the change is estimated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Affected requirements are determined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Includes new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Development artifacts that need to be change are determined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Effort for artifact change usually significantly higher than for requirement changes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Maintaining the requirements document is cheap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Still often neglected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supported by traceability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0" name="Grafik 2" descr=""/>
          <p:cNvPicPr/>
          <p:nvPr/>
        </p:nvPicPr>
        <p:blipFill>
          <a:blip r:embed="rId1"/>
          <a:stretch/>
        </p:blipFill>
        <p:spPr>
          <a:xfrm>
            <a:off x="7476120" y="1765440"/>
            <a:ext cx="3777120" cy="4780800"/>
          </a:xfrm>
          <a:prstGeom prst="rect">
            <a:avLst/>
          </a:prstGeom>
          <a:ln w="0">
            <a:noFill/>
          </a:ln>
        </p:spPr>
      </p:pic>
      <p:sp>
        <p:nvSpPr>
          <p:cNvPr id="241" name=""/>
          <p:cNvSpPr/>
          <p:nvPr/>
        </p:nvSpPr>
        <p:spPr>
          <a:xfrm>
            <a:off x="457200" y="2286000"/>
            <a:ext cx="360" cy="4343400"/>
          </a:xfrm>
          <a:prstGeom prst="line">
            <a:avLst/>
          </a:prstGeom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" name=""/>
          <p:cNvSpPr/>
          <p:nvPr/>
        </p:nvSpPr>
        <p:spPr>
          <a:xfrm flipV="1">
            <a:off x="457200" y="2286000"/>
            <a:ext cx="6400800" cy="360"/>
          </a:xfrm>
          <a:prstGeom prst="line">
            <a:avLst/>
          </a:prstGeom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" name=""/>
          <p:cNvSpPr/>
          <p:nvPr/>
        </p:nvSpPr>
        <p:spPr>
          <a:xfrm flipV="1">
            <a:off x="6858000" y="2286360"/>
            <a:ext cx="360" cy="4339080"/>
          </a:xfrm>
          <a:prstGeom prst="line">
            <a:avLst/>
          </a:prstGeom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" name=""/>
          <p:cNvSpPr/>
          <p:nvPr/>
        </p:nvSpPr>
        <p:spPr>
          <a:xfrm>
            <a:off x="6858000" y="2514600"/>
            <a:ext cx="1818720" cy="360"/>
          </a:xfrm>
          <a:prstGeom prst="line">
            <a:avLst/>
          </a:prstGeom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rafik 2" descr=""/>
          <p:cNvPicPr/>
          <p:nvPr/>
        </p:nvPicPr>
        <p:blipFill>
          <a:blip r:embed="rId1"/>
          <a:stretch/>
        </p:blipFill>
        <p:spPr>
          <a:xfrm>
            <a:off x="7476120" y="1766160"/>
            <a:ext cx="3777120" cy="4780800"/>
          </a:xfrm>
          <a:prstGeom prst="rect">
            <a:avLst/>
          </a:prstGeom>
          <a:ln w="0">
            <a:noFill/>
          </a:ln>
        </p:spPr>
      </p:pic>
      <p:sp>
        <p:nvSpPr>
          <p:cNvPr id="246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Handling Change Requests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6572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evaluation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Costs and benefits are compared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Available resources are considered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Prioritizing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Importance of the change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Assigning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release for implementing is decided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Rejection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If a change is rejected it is communicated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 flipH="1">
            <a:off x="529920" y="3547800"/>
            <a:ext cx="4734360" cy="808200"/>
          </a:xfrm>
          <a:prstGeom prst="borderCallout2">
            <a:avLst>
              <a:gd name="adj1" fmla="val 18750"/>
              <a:gd name="adj2" fmla="val -8333"/>
              <a:gd name="adj3" fmla="val 32398"/>
              <a:gd name="adj4" fmla="val -46282"/>
              <a:gd name="adj5" fmla="val 33643"/>
              <a:gd name="adj6" fmla="val -46282"/>
            </a:avLst>
          </a:prstGeom>
          <a:noFill/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" name=""/>
          <p:cNvSpPr/>
          <p:nvPr/>
        </p:nvSpPr>
        <p:spPr>
          <a:xfrm flipH="1">
            <a:off x="530280" y="4428000"/>
            <a:ext cx="5639040" cy="952560"/>
          </a:xfrm>
          <a:prstGeom prst="borderCallout2">
            <a:avLst>
              <a:gd name="adj1" fmla="val 18750"/>
              <a:gd name="adj2" fmla="val -8333"/>
              <a:gd name="adj3" fmla="val 21384"/>
              <a:gd name="adj4" fmla="val -22814"/>
              <a:gd name="adj5" fmla="val 23500"/>
              <a:gd name="adj6" fmla="val -22990"/>
            </a:avLst>
          </a:prstGeom>
          <a:noFill/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" name=""/>
          <p:cNvSpPr/>
          <p:nvPr/>
        </p:nvSpPr>
        <p:spPr>
          <a:xfrm flipH="1">
            <a:off x="540720" y="5436360"/>
            <a:ext cx="5639040" cy="952560"/>
          </a:xfrm>
          <a:prstGeom prst="borderCallout2">
            <a:avLst>
              <a:gd name="adj1" fmla="val 18750"/>
              <a:gd name="adj2" fmla="val -8333"/>
              <a:gd name="adj3" fmla="val -23310"/>
              <a:gd name="adj4" fmla="val -61023"/>
              <a:gd name="adj5" fmla="val -166199"/>
              <a:gd name="adj6" fmla="val -67601"/>
            </a:avLst>
          </a:prstGeom>
          <a:noFill/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" name=""/>
          <p:cNvSpPr/>
          <p:nvPr/>
        </p:nvSpPr>
        <p:spPr>
          <a:xfrm>
            <a:off x="530280" y="2213280"/>
            <a:ext cx="360" cy="1252800"/>
          </a:xfrm>
          <a:prstGeom prst="line">
            <a:avLst/>
          </a:prstGeom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" name=""/>
          <p:cNvSpPr/>
          <p:nvPr/>
        </p:nvSpPr>
        <p:spPr>
          <a:xfrm>
            <a:off x="5282280" y="2213280"/>
            <a:ext cx="360" cy="1252800"/>
          </a:xfrm>
          <a:prstGeom prst="line">
            <a:avLst/>
          </a:prstGeom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" name=""/>
          <p:cNvSpPr/>
          <p:nvPr/>
        </p:nvSpPr>
        <p:spPr>
          <a:xfrm flipH="1">
            <a:off x="530280" y="3473280"/>
            <a:ext cx="4752000" cy="360"/>
          </a:xfrm>
          <a:prstGeom prst="line">
            <a:avLst/>
          </a:prstGeom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" name=""/>
          <p:cNvSpPr/>
          <p:nvPr/>
        </p:nvSpPr>
        <p:spPr>
          <a:xfrm>
            <a:off x="5378400" y="2514600"/>
            <a:ext cx="3310200" cy="360"/>
          </a:xfrm>
          <a:prstGeom prst="line">
            <a:avLst/>
          </a:prstGeom>
          <a:ln cap="rnd"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CustomShape 1"/>
          <p:cNvSpPr/>
          <p:nvPr/>
        </p:nvSpPr>
        <p:spPr>
          <a:xfrm>
            <a:off x="335520" y="4406760"/>
            <a:ext cx="10747800" cy="13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CustomShape 2"/>
          <p:cNvSpPr/>
          <p:nvPr/>
        </p:nvSpPr>
        <p:spPr>
          <a:xfrm>
            <a:off x="335520" y="2906640"/>
            <a:ext cx="10747800" cy="14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of complex projects need to be managed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can change throughout a project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Changes need to be structured and processed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 defines how change requests are handled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control board </a:t>
            </a:r>
            <a:r>
              <a:rPr b="0" lang="en-US" sz="2000" spc="-1" strike="noStrike">
                <a:solidFill>
                  <a:srgbClr val="000000"/>
                </a:solidFill>
                <a:latin typeface="Rockwell"/>
                <a:ea typeface="DejaVu Sans"/>
              </a:rPr>
              <a:t>=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Evaluates and approves/rejects changes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Handling change requests requires a process on its own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ustomShape 1"/>
          <p:cNvSpPr/>
          <p:nvPr/>
        </p:nvSpPr>
        <p:spPr>
          <a:xfrm>
            <a:off x="335520" y="1268640"/>
            <a:ext cx="10744560" cy="50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CustomShape 3"/>
          <p:cNvSpPr/>
          <p:nvPr/>
        </p:nvSpPr>
        <p:spPr>
          <a:xfrm>
            <a:off x="335520" y="764640"/>
            <a:ext cx="1074456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LibreOffice/7.4.7.2$Linux_X86_64 LibreOffice_project/40$Build-2</Application>
  <AppVersion>15.0000</AppVersion>
  <Words>1072</Words>
  <Paragraphs>220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2025-11-03T12:27:04Z</dcterms:modified>
  <cp:revision>3330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</vt:i4>
  </property>
  <property fmtid="{D5CDD505-2E9C-101B-9397-08002B2CF9AE}" pid="3" name="PresentationFormat">
    <vt:lpwstr>Widescreen</vt:lpwstr>
  </property>
  <property fmtid="{D5CDD505-2E9C-101B-9397-08002B2CF9AE}" pid="4" name="Slides">
    <vt:i4>29</vt:i4>
  </property>
</Properties>
</file>