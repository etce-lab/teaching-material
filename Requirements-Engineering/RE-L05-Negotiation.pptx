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notesSlide1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23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comments/comment3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/>
  <p:notesSz cx="7772400" cy="10058400"/>
</p:presentation>
</file>

<file path=ppt/commentAuthors.xml><?xml version="1.0" encoding="utf-8"?>
<p:cmAuthorLst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presProps" Target="presProps.xml"/><Relationship Id="rId31" Type="http://schemas.openxmlformats.org/officeDocument/2006/relationships/commentAuthors" Target="commentAuthors.xml"/>
</Relationships>
</file>

<file path=ppt/comments/comment3.xml><?xml version="1.0" encoding="utf-8"?>
<p:cmLst xmlns:p="http://schemas.openxmlformats.org/presentationml/2006/main">
  <p:cm authorId="0" dt="2022-01-21T09:54:46.000000000" idx="1">
    <p:pos x="0" y="0"/>
    <p:text>TODO: After translation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AD114CB-97FC-4F96-A397-1426F7B4A88A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E3C741-973F-45E9-90C1-728357AE6E6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5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AA1E4B-9ABA-4214-98E2-C74792AF51F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A025A8-C17A-4C24-A0B6-DB0A2CE276A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7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076FF9-5731-4C0C-8ABA-A13B1502DC9E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8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C7C580-F132-45B4-AAF5-A061C9A293E4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74A55C-84E4-4100-97F6-A98604D8EEB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0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0B10A2-FA31-46CE-BE9A-EBC59FEB5FA5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1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0C29C8-13A7-4AE3-8223-8F40E100D3C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D4F0E5-C578-43BB-A7F4-009EC7B3922B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3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73670E-E6ED-40B5-8772-E90FFDA30B5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4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33AC85-BE97-445E-8D65-19C1CAD2327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5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017F9F-D7E8-49B9-ACA7-3BDD1EA5B6E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6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09F2AC-C311-482D-ACA1-DECA248103D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8880" cy="376704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2520" cy="452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7"/>
          </p:nvPr>
        </p:nvSpPr>
        <p:spPr>
          <a:xfrm>
            <a:off x="4399200" y="9555480"/>
            <a:ext cx="3367800" cy="49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837032-4AE7-4DBE-97DA-203EF44C72B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7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2211378-9A1D-4209-BC33-656AF589D2C7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7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000" cy="56088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840" cy="51300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7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6680"/>
            <a:ext cx="12186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7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CF70701-B7B8-452D-94F9-23C1623704FB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7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000" cy="56088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840" cy="51300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7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6680"/>
            <a:ext cx="12186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7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C90D41C-AFFE-4F43-94B4-13C6B484A830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7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000" cy="56088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840" cy="51300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11444760" y="144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27480" y="6453360"/>
            <a:ext cx="757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4F44777-7244-4592-BA1E-580C0F9F32C2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6680"/>
            <a:ext cx="12186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7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77A866E-86D1-4C53-BBCF-AB9C637D179F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70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000" cy="56088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840" cy="51300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40160" cy="68490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7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A3C5D8C-2F96-4519-AC08-EE7AA46DC196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0" y="6646680"/>
            <a:ext cx="121860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omments" Target="../comments/commen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527400" y="1412640"/>
            <a:ext cx="10360080" cy="11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527400" y="2852640"/>
            <a:ext cx="10360080" cy="23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5: Negotiation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4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hteck 186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100880" cy="2078280"/>
          </a:xfrm>
          <a:prstGeom prst="rect">
            <a:avLst/>
          </a:prstGeom>
          <a:ln w="0">
            <a:noFill/>
          </a:ln>
        </p:spPr>
      </p:pic>
      <p:sp>
        <p:nvSpPr>
          <p:cNvPr id="195" name="Rahmen 6"/>
          <p:cNvSpPr/>
          <p:nvPr/>
        </p:nvSpPr>
        <p:spPr>
          <a:xfrm>
            <a:off x="2377800" y="2297880"/>
            <a:ext cx="1411560" cy="225720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4"/>
          <p:cNvSpPr/>
          <p:nvPr/>
        </p:nvSpPr>
        <p:spPr>
          <a:xfrm>
            <a:off x="542880" y="757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5: Negotiation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hteck 195"/>
          <p:cNvSpPr/>
          <p:nvPr/>
        </p:nvSpPr>
        <p:spPr>
          <a:xfrm>
            <a:off x="542880" y="1303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HSN-Hierarchy 2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" name="HSN-Hierarchy 26"/>
          <p:cNvSpPr/>
          <p:nvPr/>
        </p:nvSpPr>
        <p:spPr>
          <a:xfrm>
            <a:off x="604080" y="186156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Negotiation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ustomShape 1"/>
          <p:cNvSpPr/>
          <p:nvPr/>
        </p:nvSpPr>
        <p:spPr>
          <a:xfrm>
            <a:off x="335520" y="4406760"/>
            <a:ext cx="10747440" cy="13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Negotiation in general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335520" y="2906640"/>
            <a:ext cx="10747440" cy="149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Negotiation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Why?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Interpretation of the elicitation results may uncover conflicts between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</a:t>
            </a:r>
            <a:r>
              <a:rPr b="0" lang="en-US" sz="1800" spc="-1" strike="noStrike">
                <a:solidFill>
                  <a:srgbClr val="000000"/>
                </a:solidFill>
                <a:latin typeface="Rockwell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contradictory demands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A wants the system to shut down in case of failure.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B wants the system to restarts in case of failure.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Unresolved conflicts threaten the project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Erode support by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Loosing” side in a conflict may cease to support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Conflicts may provide opportunities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Force thinking about new concepts and solutions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Negotiation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Goals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Resolve the conflicts between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Even if a conflict cannot be resolved, negotiation helps with acceptance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Loosing party was involved an knows the reasons why they do not get the feature they wanted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Gain a common and agreed-upon understanding of the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Negotiation is closely related to the validation!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CustomShape 1"/>
          <p:cNvSpPr/>
          <p:nvPr/>
        </p:nvSpPr>
        <p:spPr>
          <a:xfrm>
            <a:off x="335520" y="4406760"/>
            <a:ext cx="10747440" cy="13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Conflict Management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CustomShape 2"/>
          <p:cNvSpPr/>
          <p:nvPr/>
        </p:nvSpPr>
        <p:spPr>
          <a:xfrm>
            <a:off x="335520" y="2906640"/>
            <a:ext cx="10747440" cy="149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Identification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Conflicts can arise at any point during the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may change their opinion at any point, leading do conflicts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Most conflicts identified during the interpretation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Identification is the task of the requirements engineer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only person involved with all stakeholders and a complete overview of the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Analysis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task of analyzing the reason for a conflict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Difficult to resolve a conflict without completely understanding it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Various types of conflicts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Subject conflict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of interest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of value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Relationship conflict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Structural conflict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Mixed reasons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Analysis – Types of Conflicts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7000"/>
          </a:bodyPr>
          <a:p>
            <a:pPr marL="215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Subject Conflict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Caused by deficit of information, false information, or different interpretation of information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7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start-up time of the system does not exceed 2 seconds.”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564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A thinks this is too slow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564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B thinks this is infeasibly fast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5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of Interest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Stakeholders have different goals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 due to 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462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A wants to minimize the costs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146268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B desires a high quality system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Analysis – Types of Conflicts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of Value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related to monetary values!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Means values in the sense of principles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A wants open source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B wants closed source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Relationship Conflict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Caused by stereotypical relationship concepts (“I just cannot stand the marketing guys”), communication deficits, or negative personal relationships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A and B are of equal importance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A tries to distinguish itself through forcing his requirements on the project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Analysis – Types of Conflicts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Structural Conflict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Caused by unequal levels of power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Superior rejects all input of an employee invariable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Important stakeholder A completely rejects opinions and suppresses requirements of less important stakeholder B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Mixed reasons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Often a clear classification not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A wants open source due to their principles, but also due to cost objectives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B wants closed source due to their principles and does not care about potentially higher costs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Both conflict of interest and conflict of values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Resolution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1000"/>
          </a:bodyPr>
          <a:p>
            <a:pPr marL="215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Most important part of the conflict management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Fair resolution leads to acceptance by all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involve all relevant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5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Various conflict resolution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Agreement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Compromise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Voting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 of variants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Overruling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Consider-all-facts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Plus-minus-interesting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1640" indent="-2156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Decision matrix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Resolution – Techniques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Agreement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conflict parties negotiate a solution to the conflict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Exchange of information, ideas, arguments, and opinions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Results in an agreeable solution for everyone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One of the alternatives is selected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Compromise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conflict parties try to find a compromise between alternative solutions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Difference to agreement: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Mix and match different parts of alternate solutions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Possibly a completely new alternative solution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Resolution – Techniques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Voting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possible solution alternatives are presented to the relevant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conflict parties vote on solution alternatives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Alternative with the most votes is the accepted solution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 of variants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system is developed to allow multiple alternatives through configuration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directly satisfies the needs of the stakeholder without restrictions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Usually associated with higher costs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Resolution – Techniques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Overruling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Conflicts are resolved by hierarchical means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solution of the party higher up in the hierarchy is selected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If both parties are on the same level, a superior or third party decides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 advisable if other techniques failed!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Consider-all-facts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really a technique by itself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Precursor to plus-minus-interesting and decision matrix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 much information about the conflict as possible is collected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Influence factors are prioritized and their relevance is determined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Resolution – Techniques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/>
          </p:nvPr>
        </p:nvSpPr>
        <p:spPr>
          <a:xfrm>
            <a:off x="609480" y="176724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Plus-minus-interesting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really a technique by itself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support other techniques, e.g., agreement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Positive repercussions are placed in a “plus” category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Negative repercussions are placed in a “minus” category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Neither positive nor negative repercussions are placed in a “interesting” category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Resolution – Techniques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/>
          </p:nvPr>
        </p:nvSpPr>
        <p:spPr>
          <a:xfrm>
            <a:off x="609480" y="2057400"/>
            <a:ext cx="10586160" cy="4566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Decision Matrix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Select relevant decision criteria for the conflict resolution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Assign a score from 0 to 10 to all alternative regarding for each criterion (Higher = better suited)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Highest sum of scores is elected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56" name="Tabelle 3"/>
          <p:cNvGraphicFramePr/>
          <p:nvPr/>
        </p:nvGraphicFramePr>
        <p:xfrm>
          <a:off x="1659240" y="4326840"/>
          <a:ext cx="8127360" cy="1854000"/>
        </p:xfrm>
        <a:graphic>
          <a:graphicData uri="http://schemas.openxmlformats.org/drawingml/2006/table">
            <a:tbl>
              <a:tblPr/>
              <a:tblGrid>
                <a:gridCol w="2031840"/>
                <a:gridCol w="2031840"/>
                <a:gridCol w="2031840"/>
                <a:gridCol w="2032200"/>
              </a:tblGrid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Alternative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Alternative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Alternative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Criterion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6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Criterion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Criterion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Sum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18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17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hteck 209"/>
          <p:cNvSpPr/>
          <p:nvPr/>
        </p:nvSpPr>
        <p:spPr>
          <a:xfrm>
            <a:off x="542880" y="12672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Conflict Resolution – Documentation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resolutions to all conflicts must be documented in a traceable way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Who was involved in the resolution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Why was a specific alternative chosen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Otherwise, problems may occur at a later stage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same conflict may arise twice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With documentation, you can just point to the previous resolution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Inappropriate conflict resolution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Sometimes, the resolutions are dissatisfying and need to be reconsidered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Without documentation of the first resolution, the same mistakes may happen again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335520" y="4406760"/>
            <a:ext cx="10747440" cy="13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335520" y="2906640"/>
            <a:ext cx="10747440" cy="149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7"/>
          <p:cNvSpPr/>
          <p:nvPr/>
        </p:nvSpPr>
        <p:spPr>
          <a:xfrm>
            <a:off x="542880" y="721800"/>
            <a:ext cx="1035576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HSN-Hierarchy 6"/>
          <p:cNvSpPr/>
          <p:nvPr/>
        </p:nvSpPr>
        <p:spPr>
          <a:xfrm>
            <a:off x="451800" y="1709280"/>
            <a:ext cx="8223120" cy="435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160" cy="485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Negotiation deals with gaining a common understanding of the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Conflicts between stakeholders are resolved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Conflict management vital part of the negotiation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After negotiation, a unified and agreed-upon understanding of requirements between all stakeholders exists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CustomShape 1"/>
          <p:cNvSpPr/>
          <p:nvPr/>
        </p:nvSpPr>
        <p:spPr>
          <a:xfrm>
            <a:off x="335520" y="1268640"/>
            <a:ext cx="10744200" cy="50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3"/>
          <p:cNvSpPr/>
          <p:nvPr/>
        </p:nvSpPr>
        <p:spPr>
          <a:xfrm>
            <a:off x="335520" y="764640"/>
            <a:ext cx="107442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42880" y="722520"/>
            <a:ext cx="10355760" cy="49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LibreOffice/7.4.7.2$Linux_X86_64 LibreOffice_project/40$Build-2</Application>
  <AppVersion>15.0000</AppVersion>
  <Words>1013</Words>
  <Paragraphs>210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2025-11-03T12:22:13Z</dcterms:modified>
  <cp:revision>3247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14</vt:i4>
  </property>
  <property fmtid="{D5CDD505-2E9C-101B-9397-08002B2CF9AE}" pid="4" name="PresentationFormat">
    <vt:lpwstr>Widescreen</vt:lpwstr>
  </property>
  <property fmtid="{D5CDD505-2E9C-101B-9397-08002B2CF9AE}" pid="5" name="Slides">
    <vt:i4>23</vt:i4>
  </property>
</Properties>
</file>