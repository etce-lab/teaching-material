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4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25.xml" ContentType="application/vnd.openxmlformats-officedocument.presentationml.notesSlide+xml"/>
  <Override PartName="/ppt/notesSlides/_rels/notesSlide32.xml.rels" ContentType="application/vnd.openxmlformats-package.relationships+xml"/>
  <Override PartName="/ppt/notesSlides/_rels/notesSlide30.xml.rels" ContentType="application/vnd.openxmlformats-package.relationships+xml"/>
  <Override PartName="/ppt/notesSlides/_rels/notesSlide29.xml.rels" ContentType="application/vnd.openxmlformats-package.relationships+xml"/>
  <Override PartName="/ppt/notesSlides/_rels/notesSlide25.xml.rels" ContentType="application/vnd.openxmlformats-package.relationships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slideLayouts/_rels/slideLayout5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39.xml.rels" ContentType="application/vnd.openxmlformats-package.relationships+xml"/>
  <Override PartName="/ppt/slideLayouts/slideLayout2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5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13.xml" ContentType="application/vnd.openxmlformats-officedocument.presentationml.slide+xml"/>
  <Override PartName="/ppt/slides/_rels/slide22.xml.rels" ContentType="application/vnd.openxmlformats-package.relationships+xml"/>
  <Override PartName="/ppt/slides/_rels/slide3.xml.rels" ContentType="application/vnd.openxmlformats-package.relationships+xml"/>
  <Override PartName="/ppt/slides/_rels/slide9.xml.rels" ContentType="application/vnd.openxmlformats-package.relationships+xml"/>
  <Override PartName="/ppt/slides/_rels/slide28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30.xml.rels" ContentType="application/vnd.openxmlformats-package.relationships+xml"/>
  <Override PartName="/ppt/slides/_rels/slide29.xml.rels" ContentType="application/vnd.openxmlformats-package.relationships+xml"/>
  <Override PartName="/ppt/slides/_rels/slide14.xml.rels" ContentType="application/vnd.openxmlformats-package.relationships+xml"/>
  <Override PartName="/ppt/slides/_rels/slide23.xml.rels" ContentType="application/vnd.openxmlformats-package.relationships+xml"/>
  <Override PartName="/ppt/slides/_rels/slide10.xml.rels" ContentType="application/vnd.openxmlformats-package.relationships+xml"/>
  <Override PartName="/ppt/slides/_rels/slide25.xml.rels" ContentType="application/vnd.openxmlformats-package.relationships+xml"/>
  <Override PartName="/ppt/slides/_rels/slide16.xml.rels" ContentType="application/vnd.openxmlformats-package.relationships+xml"/>
  <Override PartName="/ppt/slides/_rels/slide32.xml.rels" ContentType="application/vnd.openxmlformats-package.relationships+xml"/>
  <Override PartName="/ppt/slides/_rels/slide15.xml.rels" ContentType="application/vnd.openxmlformats-package.relationships+xml"/>
  <Override PartName="/ppt/slides/_rels/slide31.xml.rels" ContentType="application/vnd.openxmlformats-package.relationships+xml"/>
  <Override PartName="/ppt/slides/_rels/slide24.xml.rels" ContentType="application/vnd.openxmlformats-package.relationships+xml"/>
  <Override PartName="/ppt/slides/_rels/slide8.xml.rels" ContentType="application/vnd.openxmlformats-package.relationships+xml"/>
  <Override PartName="/ppt/slides/_rels/slide27.xml.rels" ContentType="application/vnd.openxmlformats-package.relationships+xml"/>
  <Override PartName="/ppt/slides/_rels/slide2.xml.rels" ContentType="application/vnd.openxmlformats-package.relationships+xml"/>
  <Override PartName="/ppt/slides/_rels/slide36.xml.rels" ContentType="application/vnd.openxmlformats-package.relationships+xml"/>
  <Override PartName="/ppt/slides/_rels/slide21.xml.rels" ContentType="application/vnd.openxmlformats-package.relationships+xml"/>
  <Override PartName="/ppt/slides/_rels/slide35.xml.rels" ContentType="application/vnd.openxmlformats-package.relationships+xml"/>
  <Override PartName="/ppt/slides/_rels/slide20.xml.rels" ContentType="application/vnd.openxmlformats-package.relationships+xml"/>
  <Override PartName="/ppt/slides/_rels/slide1.xml.rels" ContentType="application/vnd.openxmlformats-package.relationships+xml"/>
  <Override PartName="/ppt/slides/_rels/slide7.xml.rels" ContentType="application/vnd.openxmlformats-package.relationships+xml"/>
  <Override PartName="/ppt/slides/_rels/slide34.xml.rels" ContentType="application/vnd.openxmlformats-package.relationships+xml"/>
  <Override PartName="/ppt/slides/_rels/slide6.xml.rels" ContentType="application/vnd.openxmlformats-package.relationships+xml"/>
  <Override PartName="/ppt/slides/_rels/slide33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2.xml.rels" ContentType="application/vnd.openxmlformats-package.relationships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34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comments/comment3.xml" ContentType="application/vnd.openxmlformats-officedocument.presentationml.comments+xml"/>
  <Override PartName="/ppt/commentAuthors.xml" ContentType="application/vnd.openxmlformats-officedocument.presentationml.commentAuthor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2000" cy="6858000"/>
  <p:notesSz cx="7772400" cy="10058400"/>
</p:presentation>
</file>

<file path=ppt/commentAuthors.xml><?xml version="1.0" encoding="utf-8"?>
<p:cmAuthorLst xmlns:p="http://schemas.openxmlformats.org/presentationml/2006/main">
  <p:cmAuthor id="0" name="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presProps" Target="presProps.xml"/><Relationship Id="rId44" Type="http://schemas.openxmlformats.org/officeDocument/2006/relationships/commentAuthors" Target="commentAuthors.xml"/>
</Relationships>
</file>

<file path=ppt/comments/comment3.xml><?xml version="1.0" encoding="utf-8"?>
<p:cmLst xmlns:p="http://schemas.openxmlformats.org/presentationml/2006/main">
  <p:cm authorId="0" dt="2022-01-31T12:59:36.000000000" idx="1">
    <p:pos x="0" y="0"/>
    <p:text>Add these headings to the lecture slides where they will be placed</p:text>
  </p:cm>
</p:cmLst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12382332-21E7-4B40-8ADC-22335E5C7273}" type="slidenum"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sldImg"/>
          </p:nvPr>
        </p:nvSpPr>
        <p:spPr>
          <a:xfrm>
            <a:off x="870120" y="1257480"/>
            <a:ext cx="6026400" cy="3387960"/>
          </a:xfrm>
          <a:prstGeom prst="rect">
            <a:avLst/>
          </a:prstGeom>
          <a:ln w="0">
            <a:noFill/>
          </a:ln>
        </p:spPr>
      </p:sp>
      <p:sp>
        <p:nvSpPr>
          <p:cNvPr id="349" name="PlaceHolder 2"/>
          <p:cNvSpPr>
            <a:spLocks noGrp="1"/>
          </p:cNvSpPr>
          <p:nvPr>
            <p:ph type="body"/>
          </p:nvPr>
        </p:nvSpPr>
        <p:spPr>
          <a:xfrm>
            <a:off x="777960" y="4840200"/>
            <a:ext cx="6210360" cy="39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PlaceHolder 3"/>
          <p:cNvSpPr>
            <a:spLocks noGrp="1"/>
          </p:cNvSpPr>
          <p:nvPr>
            <p:ph type="sldNum" idx="4"/>
          </p:nvPr>
        </p:nvSpPr>
        <p:spPr>
          <a:xfrm>
            <a:off x="4402080" y="9553680"/>
            <a:ext cx="3362400" cy="49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pc="-1" strike="noStrike">
                <a:solidFill>
                  <a:srgbClr val="000000"/>
                </a:solidFill>
                <a:latin typeface="DejaVu Serif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8EA5AC6-8171-440B-86BD-60B35CAEF34C}" type="slidenum">
              <a:rPr b="0" lang="de-DE" sz="1200" spc="-1" strike="noStrike">
                <a:solidFill>
                  <a:srgbClr val="000000"/>
                </a:solidFill>
                <a:latin typeface="DejaVu Serif"/>
              </a:rPr>
              <a:t>&lt;number&gt;</a:t>
            </a:fld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sldImg"/>
          </p:nvPr>
        </p:nvSpPr>
        <p:spPr>
          <a:xfrm>
            <a:off x="870120" y="1257480"/>
            <a:ext cx="6026400" cy="3387960"/>
          </a:xfrm>
          <a:prstGeom prst="rect">
            <a:avLst/>
          </a:prstGeom>
          <a:ln w="0">
            <a:noFill/>
          </a:ln>
        </p:spPr>
      </p:sp>
      <p:sp>
        <p:nvSpPr>
          <p:cNvPr id="352" name="PlaceHolder 2"/>
          <p:cNvSpPr>
            <a:spLocks noGrp="1"/>
          </p:cNvSpPr>
          <p:nvPr>
            <p:ph type="body"/>
          </p:nvPr>
        </p:nvSpPr>
        <p:spPr>
          <a:xfrm>
            <a:off x="777960" y="4840200"/>
            <a:ext cx="6210360" cy="39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 type="sldNum" idx="5"/>
          </p:nvPr>
        </p:nvSpPr>
        <p:spPr>
          <a:xfrm>
            <a:off x="4402080" y="9553680"/>
            <a:ext cx="3362400" cy="49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pc="-1" strike="noStrike">
                <a:solidFill>
                  <a:srgbClr val="000000"/>
                </a:solidFill>
                <a:latin typeface="DejaVu Serif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7973F4D-BD7D-47FD-A765-76A418EAF740}" type="slidenum">
              <a:rPr b="0" lang="de-DE" sz="1200" spc="-1" strike="noStrike">
                <a:solidFill>
                  <a:srgbClr val="000000"/>
                </a:solidFill>
                <a:latin typeface="DejaVu Serif"/>
              </a:rPr>
              <a:t>&lt;number&gt;</a:t>
            </a:fld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sldImg"/>
          </p:nvPr>
        </p:nvSpPr>
        <p:spPr>
          <a:xfrm>
            <a:off x="870120" y="1257480"/>
            <a:ext cx="6026400" cy="3387960"/>
          </a:xfrm>
          <a:prstGeom prst="rect">
            <a:avLst/>
          </a:prstGeom>
          <a:ln w="0">
            <a:noFill/>
          </a:ln>
        </p:spPr>
      </p:sp>
      <p:sp>
        <p:nvSpPr>
          <p:cNvPr id="355" name="PlaceHolder 2"/>
          <p:cNvSpPr>
            <a:spLocks noGrp="1"/>
          </p:cNvSpPr>
          <p:nvPr>
            <p:ph type="body"/>
          </p:nvPr>
        </p:nvSpPr>
        <p:spPr>
          <a:xfrm>
            <a:off x="777960" y="4840200"/>
            <a:ext cx="6210360" cy="39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 type="sldNum" idx="6"/>
          </p:nvPr>
        </p:nvSpPr>
        <p:spPr>
          <a:xfrm>
            <a:off x="4402080" y="9553680"/>
            <a:ext cx="3362400" cy="49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pc="-1" strike="noStrike">
                <a:solidFill>
                  <a:srgbClr val="000000"/>
                </a:solidFill>
                <a:latin typeface="DejaVu Serif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916D9A6-E14F-47F1-8523-60583F0A3229}" type="slidenum">
              <a:rPr b="0" lang="de-DE" sz="1200" spc="-1" strike="noStrike">
                <a:solidFill>
                  <a:srgbClr val="000000"/>
                </a:solidFill>
                <a:latin typeface="DejaVu Serif"/>
              </a:rPr>
              <a:t>&lt;number&gt;</a:t>
            </a:fld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sldImg"/>
          </p:nvPr>
        </p:nvSpPr>
        <p:spPr>
          <a:xfrm>
            <a:off x="870120" y="1257480"/>
            <a:ext cx="6026400" cy="3387960"/>
          </a:xfrm>
          <a:prstGeom prst="rect">
            <a:avLst/>
          </a:prstGeom>
          <a:ln w="0">
            <a:noFill/>
          </a:ln>
        </p:spPr>
      </p:sp>
      <p:sp>
        <p:nvSpPr>
          <p:cNvPr id="358" name="PlaceHolder 2"/>
          <p:cNvSpPr>
            <a:spLocks noGrp="1"/>
          </p:cNvSpPr>
          <p:nvPr>
            <p:ph type="body"/>
          </p:nvPr>
        </p:nvSpPr>
        <p:spPr>
          <a:xfrm>
            <a:off x="777960" y="4840200"/>
            <a:ext cx="6210360" cy="39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 type="sldNum" idx="7"/>
          </p:nvPr>
        </p:nvSpPr>
        <p:spPr>
          <a:xfrm>
            <a:off x="4402080" y="9553680"/>
            <a:ext cx="3362400" cy="49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200" spc="-1" strike="noStrike">
                <a:solidFill>
                  <a:srgbClr val="000000"/>
                </a:solidFill>
                <a:latin typeface="DejaVu Serif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C704313-5336-4CEA-93F5-9F3CE60035F9}" type="slidenum">
              <a:rPr b="0" lang="de-DE" sz="1200" spc="-1" strike="noStrike">
                <a:solidFill>
                  <a:srgbClr val="000000"/>
                </a:solidFill>
                <a:latin typeface="DejaVu Serif"/>
              </a:rPr>
              <a:t>&lt;number&gt;</a:t>
            </a:fld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.xml"/><Relationship Id="rId5" Type="http://schemas.openxmlformats.org/officeDocument/2006/relationships/slideLayout" Target="../slideLayouts/slideLayout2.xml"/><Relationship Id="rId6" Type="http://schemas.openxmlformats.org/officeDocument/2006/relationships/slideLayout" Target="../slideLayouts/slideLayout3.xml"/><Relationship Id="rId7" Type="http://schemas.openxmlformats.org/officeDocument/2006/relationships/slideLayout" Target="../slideLayouts/slideLayout4.xml"/><Relationship Id="rId8" Type="http://schemas.openxmlformats.org/officeDocument/2006/relationships/slideLayout" Target="../slideLayouts/slideLayout5.xml"/><Relationship Id="rId9" Type="http://schemas.openxmlformats.org/officeDocument/2006/relationships/slideLayout" Target="../slideLayouts/slideLayout6.xml"/><Relationship Id="rId10" Type="http://schemas.openxmlformats.org/officeDocument/2006/relationships/slideLayout" Target="../slideLayouts/slideLayout7.xml"/><Relationship Id="rId11" Type="http://schemas.openxmlformats.org/officeDocument/2006/relationships/slideLayout" Target="../slideLayouts/slideLayout8.xml"/><Relationship Id="rId12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1.xml"/><Relationship Id="rId15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6.xml"/><Relationship Id="rId8" Type="http://schemas.openxmlformats.org/officeDocument/2006/relationships/slideLayout" Target="../slideLayouts/slideLayout17.xml"/><Relationship Id="rId9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3.xml"/><Relationship Id="rId13" Type="http://schemas.openxmlformats.org/officeDocument/2006/relationships/slideLayout" Target="../slideLayouts/slideLayout34.xml"/><Relationship Id="rId14" Type="http://schemas.openxmlformats.org/officeDocument/2006/relationships/slideLayout" Target="../slideLayouts/slideLayout35.xml"/><Relationship Id="rId15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2.xml"/><Relationship Id="rId10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4.xml"/><Relationship Id="rId12" Type="http://schemas.openxmlformats.org/officeDocument/2006/relationships/slideLayout" Target="../slideLayouts/slideLayout45.xml"/><Relationship Id="rId13" Type="http://schemas.openxmlformats.org/officeDocument/2006/relationships/slideLayout" Target="../slideLayouts/slideLayout46.xml"/><Relationship Id="rId14" Type="http://schemas.openxmlformats.org/officeDocument/2006/relationships/slideLayout" Target="../slideLayouts/slideLayout47.xml"/><Relationship Id="rId15" Type="http://schemas.openxmlformats.org/officeDocument/2006/relationships/slideLayout" Target="../slideLayouts/slideLayout4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CustomShape 1"/>
          <p:cNvSpPr/>
          <p:nvPr/>
        </p:nvSpPr>
        <p:spPr>
          <a:xfrm>
            <a:off x="11444760" y="0"/>
            <a:ext cx="739080" cy="68479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" name="CustomShape 2"/>
          <p:cNvSpPr/>
          <p:nvPr/>
        </p:nvSpPr>
        <p:spPr>
          <a:xfrm>
            <a:off x="11438640" y="6453360"/>
            <a:ext cx="756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34046F53-9BE3-4602-8E19-C4C3F0E81974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CustomShape 3"/>
          <p:cNvSpPr/>
          <p:nvPr/>
        </p:nvSpPr>
        <p:spPr>
          <a:xfrm>
            <a:off x="912240" y="1268280"/>
            <a:ext cx="92059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3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920" cy="559800"/>
          </a:xfrm>
          <a:prstGeom prst="rect">
            <a:avLst/>
          </a:prstGeom>
          <a:ln w="0">
            <a:noFill/>
          </a:ln>
        </p:spPr>
      </p:pic>
      <p:pic>
        <p:nvPicPr>
          <p:cNvPr id="4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760" cy="511920"/>
          </a:xfrm>
          <a:prstGeom prst="rect">
            <a:avLst/>
          </a:prstGeom>
          <a:ln w="0">
            <a:noFill/>
          </a:ln>
        </p:spPr>
      </p:pic>
      <p:sp>
        <p:nvSpPr>
          <p:cNvPr id="5" name="CustomShape 4"/>
          <p:cNvSpPr/>
          <p:nvPr/>
        </p:nvSpPr>
        <p:spPr>
          <a:xfrm>
            <a:off x="912240" y="1268280"/>
            <a:ext cx="92059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" name="CustomShape 5"/>
          <p:cNvSpPr/>
          <p:nvPr/>
        </p:nvSpPr>
        <p:spPr>
          <a:xfrm>
            <a:off x="11444760" y="0"/>
            <a:ext cx="739080" cy="68479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" name="CustomShape 7"/>
          <p:cNvSpPr/>
          <p:nvPr/>
        </p:nvSpPr>
        <p:spPr>
          <a:xfrm>
            <a:off x="0" y="6646680"/>
            <a:ext cx="121852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  <p:sldLayoutId id="2147483660" r:id="rId15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CustomShape 1"/>
          <p:cNvSpPr/>
          <p:nvPr/>
        </p:nvSpPr>
        <p:spPr>
          <a:xfrm>
            <a:off x="11444760" y="0"/>
            <a:ext cx="739080" cy="68479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7" name="CustomShape 2"/>
          <p:cNvSpPr/>
          <p:nvPr/>
        </p:nvSpPr>
        <p:spPr>
          <a:xfrm>
            <a:off x="11438640" y="6453360"/>
            <a:ext cx="756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4CC6DBB5-1EFC-41EA-A8D2-F14D0F1C1399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CustomShape 3"/>
          <p:cNvSpPr/>
          <p:nvPr/>
        </p:nvSpPr>
        <p:spPr>
          <a:xfrm>
            <a:off x="912240" y="1268280"/>
            <a:ext cx="92059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49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920" cy="559800"/>
          </a:xfrm>
          <a:prstGeom prst="rect">
            <a:avLst/>
          </a:prstGeom>
          <a:ln w="0">
            <a:noFill/>
          </a:ln>
        </p:spPr>
      </p:pic>
      <p:pic>
        <p:nvPicPr>
          <p:cNvPr id="50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760" cy="511920"/>
          </a:xfrm>
          <a:prstGeom prst="rect">
            <a:avLst/>
          </a:prstGeom>
          <a:ln w="0">
            <a:noFill/>
          </a:ln>
        </p:spPr>
      </p:pic>
      <p:sp>
        <p:nvSpPr>
          <p:cNvPr id="51" name="CustomShape 4"/>
          <p:cNvSpPr/>
          <p:nvPr/>
        </p:nvSpPr>
        <p:spPr>
          <a:xfrm>
            <a:off x="912240" y="1268280"/>
            <a:ext cx="92059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2" name="CustomShape 5"/>
          <p:cNvSpPr/>
          <p:nvPr/>
        </p:nvSpPr>
        <p:spPr>
          <a:xfrm>
            <a:off x="11444760" y="0"/>
            <a:ext cx="739080" cy="68479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3" name="CustomShape 7"/>
          <p:cNvSpPr/>
          <p:nvPr/>
        </p:nvSpPr>
        <p:spPr>
          <a:xfrm>
            <a:off x="0" y="6646680"/>
            <a:ext cx="121852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CustomShape 1"/>
          <p:cNvSpPr/>
          <p:nvPr/>
        </p:nvSpPr>
        <p:spPr>
          <a:xfrm>
            <a:off x="11444760" y="0"/>
            <a:ext cx="739080" cy="68479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93" name="CustomShape 2"/>
          <p:cNvSpPr/>
          <p:nvPr/>
        </p:nvSpPr>
        <p:spPr>
          <a:xfrm>
            <a:off x="11438640" y="6453360"/>
            <a:ext cx="756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A4F96E2C-C064-47F4-B10E-D91DBCE9369B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CustomShape 3"/>
          <p:cNvSpPr/>
          <p:nvPr/>
        </p:nvSpPr>
        <p:spPr>
          <a:xfrm>
            <a:off x="912240" y="1268280"/>
            <a:ext cx="92059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95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920" cy="559800"/>
          </a:xfrm>
          <a:prstGeom prst="rect">
            <a:avLst/>
          </a:prstGeom>
          <a:ln w="0">
            <a:noFill/>
          </a:ln>
        </p:spPr>
      </p:pic>
      <p:pic>
        <p:nvPicPr>
          <p:cNvPr id="96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760" cy="511920"/>
          </a:xfrm>
          <a:prstGeom prst="rect">
            <a:avLst/>
          </a:prstGeom>
          <a:ln w="0">
            <a:noFill/>
          </a:ln>
        </p:spPr>
      </p:pic>
      <p:sp>
        <p:nvSpPr>
          <p:cNvPr id="97" name="CustomShape 4"/>
          <p:cNvSpPr/>
          <p:nvPr/>
        </p:nvSpPr>
        <p:spPr>
          <a:xfrm>
            <a:off x="11444760" y="1440"/>
            <a:ext cx="739080" cy="68479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98" name="CustomShape 5"/>
          <p:cNvSpPr/>
          <p:nvPr/>
        </p:nvSpPr>
        <p:spPr>
          <a:xfrm>
            <a:off x="11427480" y="6453360"/>
            <a:ext cx="756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98EB49A7-61DF-4B3A-AE23-AC80146370A8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CustomShape 7"/>
          <p:cNvSpPr/>
          <p:nvPr/>
        </p:nvSpPr>
        <p:spPr>
          <a:xfrm>
            <a:off x="0" y="6646680"/>
            <a:ext cx="121852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CustomShape 1"/>
          <p:cNvSpPr/>
          <p:nvPr/>
        </p:nvSpPr>
        <p:spPr>
          <a:xfrm>
            <a:off x="11444760" y="0"/>
            <a:ext cx="739080" cy="68479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9" name="CustomShape 2"/>
          <p:cNvSpPr/>
          <p:nvPr/>
        </p:nvSpPr>
        <p:spPr>
          <a:xfrm>
            <a:off x="11438640" y="6453360"/>
            <a:ext cx="756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FAC67149-8037-4B72-AFBE-A9FE5F0B3C38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CustomShape 3"/>
          <p:cNvSpPr/>
          <p:nvPr/>
        </p:nvSpPr>
        <p:spPr>
          <a:xfrm>
            <a:off x="912240" y="1268280"/>
            <a:ext cx="920592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141" name="Picture 19" descr="Logo_TUC_de_RGB"/>
          <p:cNvPicPr/>
          <p:nvPr/>
        </p:nvPicPr>
        <p:blipFill>
          <a:blip r:embed="rId2"/>
          <a:stretch/>
        </p:blipFill>
        <p:spPr>
          <a:xfrm>
            <a:off x="0" y="0"/>
            <a:ext cx="3049920" cy="559800"/>
          </a:xfrm>
          <a:prstGeom prst="rect">
            <a:avLst/>
          </a:prstGeom>
          <a:ln w="0">
            <a:noFill/>
          </a:ln>
        </p:spPr>
      </p:pic>
      <p:pic>
        <p:nvPicPr>
          <p:cNvPr id="142" name="Grafik 2" descr=""/>
          <p:cNvPicPr/>
          <p:nvPr/>
        </p:nvPicPr>
        <p:blipFill>
          <a:blip r:embed="rId3"/>
          <a:stretch/>
        </p:blipFill>
        <p:spPr>
          <a:xfrm>
            <a:off x="7430400" y="134640"/>
            <a:ext cx="3695760" cy="511920"/>
          </a:xfrm>
          <a:prstGeom prst="rect">
            <a:avLst/>
          </a:prstGeom>
          <a:ln w="0">
            <a:noFill/>
          </a:ln>
        </p:spPr>
      </p:pic>
      <p:sp>
        <p:nvSpPr>
          <p:cNvPr id="143" name="CustomShape 4"/>
          <p:cNvSpPr/>
          <p:nvPr/>
        </p:nvSpPr>
        <p:spPr>
          <a:xfrm>
            <a:off x="11444760" y="1440"/>
            <a:ext cx="739080" cy="6847920"/>
          </a:xfrm>
          <a:prstGeom prst="rect">
            <a:avLst/>
          </a:prstGeom>
          <a:solidFill>
            <a:srgbClr val="000000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44" name="CustomShape 5"/>
          <p:cNvSpPr/>
          <p:nvPr/>
        </p:nvSpPr>
        <p:spPr>
          <a:xfrm>
            <a:off x="11427480" y="6453360"/>
            <a:ext cx="756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fld id="{13ED3AAC-9A55-4468-BC6B-634CFF999C40}" type="slidenum">
              <a:rPr b="0" lang="en-US" sz="1800" spc="-1" strike="noStrike">
                <a:solidFill>
                  <a:srgbClr val="808080"/>
                </a:solidFill>
                <a:latin typeface="Arial"/>
                <a:ea typeface="DejaVu Sans"/>
              </a:rPr>
              <a:t>&lt;number&gt;</a:t>
            </a:fld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CustomShape 7"/>
          <p:cNvSpPr/>
          <p:nvPr/>
        </p:nvSpPr>
        <p:spPr>
          <a:xfrm>
            <a:off x="0" y="6646680"/>
            <a:ext cx="121852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a6a6a6"/>
                </a:solidFill>
                <a:latin typeface="Roboto"/>
                <a:ea typeface="DejaVu Sans"/>
              </a:rPr>
              <a:t>Requirements Engineering – TU Clausthal</a:t>
            </a:r>
            <a:endParaRPr b="0" lang="en-GB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  <p:sldLayoutId id="2147483697" r:id="rId13"/>
    <p:sldLayoutId id="2147483698" r:id="rId14"/>
    <p:sldLayoutId id="2147483699" r:id="rId1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omments" Target="../comments/commen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3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CustomShape 1"/>
          <p:cNvSpPr/>
          <p:nvPr/>
        </p:nvSpPr>
        <p:spPr>
          <a:xfrm>
            <a:off x="527400" y="1412640"/>
            <a:ext cx="10361880" cy="114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100000"/>
              </a:lnSpc>
            </a:pPr>
            <a:r>
              <a:rPr b="1" lang="en-US" sz="3200" spc="-1" strike="noStrike">
                <a:solidFill>
                  <a:srgbClr val="008c4f"/>
                </a:solidFill>
                <a:latin typeface="DejaVu Sans"/>
                <a:ea typeface="DejaVu Sans"/>
              </a:rPr>
              <a:t>Requirement Engineering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CustomShape 2"/>
          <p:cNvSpPr/>
          <p:nvPr/>
        </p:nvSpPr>
        <p:spPr>
          <a:xfrm>
            <a:off x="527400" y="2852640"/>
            <a:ext cx="10361880" cy="23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1" lang="en-US" sz="2400" spc="-1" strike="noStrike">
                <a:solidFill>
                  <a:srgbClr val="000000"/>
                </a:solidFill>
                <a:latin typeface="DejaVu Sans"/>
                <a:ea typeface="DejaVu Sans"/>
              </a:rPr>
              <a:t>Lecture 11: Traceability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241"/>
              </a:spcBef>
              <a:tabLst>
                <a:tab algn="l" pos="0"/>
              </a:tabLst>
            </a:pP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US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Prof. Dr. Benjamin Leiding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GB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M.Sc. Anant Sujatanagarjuna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320"/>
              </a:spcBef>
              <a:tabLst>
                <a:tab algn="l" pos="0"/>
              </a:tabLst>
            </a:pPr>
            <a:r>
              <a:rPr b="0" lang="en-GB" sz="1600" spc="-1" strike="noStrike">
                <a:solidFill>
                  <a:srgbClr val="000000"/>
                </a:solidFill>
                <a:latin typeface="DejaVu Sans"/>
                <a:ea typeface="DejaVu Sans"/>
              </a:rPr>
              <a:t>M.Sc. Chintan Patel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4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General Requirements Engineering Process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Rechteck 186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Overview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4" name="Grafik 5" descr=""/>
          <p:cNvPicPr/>
          <p:nvPr/>
        </p:nvPicPr>
        <p:blipFill>
          <a:blip r:embed="rId1"/>
          <a:stretch/>
        </p:blipFill>
        <p:spPr>
          <a:xfrm>
            <a:off x="542880" y="2387520"/>
            <a:ext cx="10099800" cy="2077200"/>
          </a:xfrm>
          <a:prstGeom prst="rect">
            <a:avLst/>
          </a:prstGeom>
          <a:ln w="0">
            <a:noFill/>
          </a:ln>
        </p:spPr>
      </p:pic>
      <p:sp>
        <p:nvSpPr>
          <p:cNvPr id="195" name="Rahmen 6"/>
          <p:cNvSpPr/>
          <p:nvPr/>
        </p:nvSpPr>
        <p:spPr>
          <a:xfrm>
            <a:off x="8879760" y="2309760"/>
            <a:ext cx="1836360" cy="2256120"/>
          </a:xfrm>
          <a:prstGeom prst="frame">
            <a:avLst>
              <a:gd name="adj1" fmla="val 1311"/>
            </a:avLst>
          </a:prstGeom>
          <a:solidFill>
            <a:srgbClr val="ff0000"/>
          </a:solidFill>
          <a:ln cap="rnd">
            <a:solidFill>
              <a:srgbClr val="ff00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4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Lecture 11: Traceability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Rechteck 186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de-DE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Content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HSN-Hierarchy 2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0" rIns="0" tIns="45000" bIns="45000" anchor="ctr">
            <a:noAutofit/>
          </a:bodyPr>
          <a:p>
            <a:pPr marL="3430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Introduction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GB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Classification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StarSymbol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CustomShape 1"/>
          <p:cNvSpPr/>
          <p:nvPr/>
        </p:nvSpPr>
        <p:spPr>
          <a:xfrm>
            <a:off x="335520" y="4406760"/>
            <a:ext cx="10746360" cy="13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000" spc="-1" strike="noStrike" cap="all">
                <a:solidFill>
                  <a:srgbClr val="008c4f"/>
                </a:solidFill>
                <a:latin typeface="DejaVu Sans"/>
                <a:ea typeface="DejaVu Sans"/>
              </a:rPr>
              <a:t>Introduction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CustomShape 2"/>
          <p:cNvSpPr/>
          <p:nvPr/>
        </p:nvSpPr>
        <p:spPr>
          <a:xfrm>
            <a:off x="335520" y="2906640"/>
            <a:ext cx="10746360" cy="14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Introduction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Traceability in a Nutshell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4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5080" cy="485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108000" indent="0" algn="ctr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What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happened </a:t>
            </a:r>
            <a:r>
              <a:rPr b="1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when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to a/the requirement(s)?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CustomShape 4"/>
          <p:cNvSpPr/>
          <p:nvPr/>
        </p:nvSpPr>
        <p:spPr>
          <a:xfrm>
            <a:off x="602640" y="3174480"/>
            <a:ext cx="10577880" cy="1877040"/>
          </a:xfrm>
          <a:prstGeom prst="roundRect">
            <a:avLst>
              <a:gd name="adj" fmla="val 16667"/>
            </a:avLst>
          </a:prstGeom>
          <a:noFill/>
          <a:ln>
            <a:solidFill>
              <a:srgbClr val="008c4f"/>
            </a:solidFill>
            <a:round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Introduction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Definition – Requirements Traceability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9" name="PlaceHolder 1"/>
          <p:cNvSpPr>
            <a:spLocks noGrp="1"/>
          </p:cNvSpPr>
          <p:nvPr>
            <p:ph/>
          </p:nvPr>
        </p:nvSpPr>
        <p:spPr>
          <a:xfrm>
            <a:off x="588240" y="1769400"/>
            <a:ext cx="10606320" cy="46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108000" indent="0" algn="ctr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“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traceability refers to the ability to describe and follow the life of a requirement, in both a forwards and backwards direction (i.e., from its origins, through its development and specification, to its subsequent deployment and use, and through all periods of on-going refinement and iteration in any of these phases).”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CustomShape 4"/>
          <p:cNvSpPr/>
          <p:nvPr/>
        </p:nvSpPr>
        <p:spPr>
          <a:xfrm>
            <a:off x="602640" y="3174480"/>
            <a:ext cx="10577880" cy="1877040"/>
          </a:xfrm>
          <a:prstGeom prst="roundRect">
            <a:avLst>
              <a:gd name="adj" fmla="val 16667"/>
            </a:avLst>
          </a:prstGeom>
          <a:noFill/>
          <a:ln>
            <a:solidFill>
              <a:srgbClr val="008c4f"/>
            </a:solidFill>
            <a:round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1" name="CustomShape 5"/>
          <p:cNvSpPr/>
          <p:nvPr/>
        </p:nvSpPr>
        <p:spPr>
          <a:xfrm>
            <a:off x="263520" y="6411600"/>
            <a:ext cx="10917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O. C. Z. Gotel and A. C. W. Finkelstein (1994)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An Analysis of the Requirements Traceability Problem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Introduction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Advantages of Traceable Requirements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5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5080" cy="485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Change management → Which other artefacts are affected by a change?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Process improvements → Trace problems in the development process back to their cause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Reuse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Identify development artefacts associated with a requirement → If requirement is reused, the development artefact might also be reused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Accountability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Calculate/estimate the development effort to implement a requirement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Maintenance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Simplified cause-effect analysis, impact analysis, etc.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Introduction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Advantages of Traceable Requirements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9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5080" cy="485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Verifiability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Easy to verify whether a requirement has been implemented or not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Identification of gold-plated solutions in the system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Gold-plated = unnecessary attention to details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Reverse function to “verifiability” → Checks for each function whether it implements a requirement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Identification of gold-plated solutions in the requirements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Tracing requirements to their origin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Analysis whether a requirement contributes to a goal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Introduction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Purpose-driven Tracing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3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5080" cy="485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Extensive tracing is expensive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Purpose-driven!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Do not trace everything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Trace according to needs → Too much/little information (sufficient level of detail)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Introduction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State Changes of a Requirement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7" name="CustomShape 5"/>
          <p:cNvSpPr/>
          <p:nvPr/>
        </p:nvSpPr>
        <p:spPr>
          <a:xfrm>
            <a:off x="263520" y="6411600"/>
            <a:ext cx="10917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Based on Chris Rupp et al. (2021)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und Management – Das Handbuch für Anforderungen in jeder Situation (7</a:t>
            </a:r>
            <a:r>
              <a:rPr b="0" lang="en-US" sz="900" spc="-1" strike="noStrike" baseline="30000">
                <a:solidFill>
                  <a:srgbClr val="a6a6a6"/>
                </a:solidFill>
                <a:latin typeface="Roboto"/>
                <a:ea typeface="Roboto"/>
              </a:rPr>
              <a:t>th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 Edition)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8" name="Grafik 2" descr=""/>
          <p:cNvPicPr/>
          <p:nvPr/>
        </p:nvPicPr>
        <p:blipFill>
          <a:blip r:embed="rId1"/>
          <a:stretch/>
        </p:blipFill>
        <p:spPr>
          <a:xfrm>
            <a:off x="2892600" y="1768680"/>
            <a:ext cx="5655600" cy="4460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CustomShape 1"/>
          <p:cNvSpPr/>
          <p:nvPr/>
        </p:nvSpPr>
        <p:spPr>
          <a:xfrm>
            <a:off x="335520" y="4406760"/>
            <a:ext cx="10746360" cy="13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000" spc="-1" strike="noStrike" cap="all">
                <a:solidFill>
                  <a:srgbClr val="008c4f"/>
                </a:solidFill>
                <a:latin typeface="DejaVu Sans"/>
                <a:ea typeface="DejaVu Sans"/>
              </a:rPr>
              <a:t>Classification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CustomShape 2"/>
          <p:cNvSpPr/>
          <p:nvPr/>
        </p:nvSpPr>
        <p:spPr>
          <a:xfrm>
            <a:off x="335520" y="2906640"/>
            <a:ext cx="10746360" cy="14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Classification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Pre- and Post-Traceability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pic>
        <p:nvPicPr>
          <p:cNvPr id="234" name="Grafik 2" descr=""/>
          <p:cNvPicPr/>
          <p:nvPr/>
        </p:nvPicPr>
        <p:blipFill>
          <a:blip r:embed="rId1"/>
          <a:stretch/>
        </p:blipFill>
        <p:spPr>
          <a:xfrm>
            <a:off x="684720" y="3077280"/>
            <a:ext cx="10071000" cy="1193040"/>
          </a:xfrm>
          <a:prstGeom prst="rect">
            <a:avLst/>
          </a:prstGeom>
          <a:ln w="0">
            <a:noFill/>
          </a:ln>
        </p:spPr>
      </p:pic>
      <p:sp>
        <p:nvSpPr>
          <p:cNvPr id="235" name="CustomShape 5"/>
          <p:cNvSpPr/>
          <p:nvPr/>
        </p:nvSpPr>
        <p:spPr>
          <a:xfrm>
            <a:off x="263520" y="6411600"/>
            <a:ext cx="10917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Based on K. Pohl (2010)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– Fundamentals, Principles and Techniques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Classification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Overview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9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5080" cy="485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Pre-requirements-specification (pre-RS) traceability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Post-requirements-specification (post-RS) traceability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Traceability among requirements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E.g., requirement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refines/generalized/replaces requirement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B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Classification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Classes of Traceability Relationships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3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5080" cy="485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Wingdings 2" charset="2"/>
              <a:buAutoNum type="arabicPlain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Condition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Wingdings 2" charset="2"/>
              <a:buAutoNum type="arabicPlain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Content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Wingdings 2" charset="2"/>
              <a:buAutoNum type="arabicPlain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Abstraction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Wingdings 2" charset="2"/>
              <a:buAutoNum type="arabicPlain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Evolution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Wingdings 2" charset="2"/>
              <a:buAutoNum type="arabicPlain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Miscellaneous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CustomShape 5"/>
          <p:cNvSpPr/>
          <p:nvPr/>
        </p:nvSpPr>
        <p:spPr>
          <a:xfrm>
            <a:off x="263520" y="6411600"/>
            <a:ext cx="10917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K. Pohl (2010)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– Fundamentals, Principles and Techniques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Classification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Traceability Relationships – Condition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8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5080" cy="485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constraint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E.g., 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defines a constraint on 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B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precondition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 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E.g., 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defines a condition that must be fulfilled before 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B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can be realized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CustomShape 5"/>
          <p:cNvSpPr/>
          <p:nvPr/>
        </p:nvSpPr>
        <p:spPr>
          <a:xfrm>
            <a:off x="263520" y="6411600"/>
            <a:ext cx="10917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K. Pohl (2010)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– Fundamentals, Principles and Techniques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Classification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Traceability Relationships – Content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3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5080" cy="485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similar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Two associated artefacts are similar in content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compares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</a:t>
            </a:r>
            <a:r>
              <a:rPr b="1" lang="en-US" sz="1800" spc="-1" strike="noStrike" baseline="-25000">
                <a:solidFill>
                  <a:srgbClr val="000000"/>
                </a:solidFill>
                <a:latin typeface="DejaVu Sans"/>
                <a:ea typeface="DejaVu Sans"/>
              </a:rPr>
              <a:t>1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represents the result of a comparison of the artefacts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</a:t>
            </a:r>
            <a:r>
              <a:rPr b="1" lang="en-US" sz="1800" spc="-1" strike="noStrike" baseline="-25000">
                <a:solidFill>
                  <a:srgbClr val="000000"/>
                </a:solidFill>
                <a:latin typeface="DejaVu Sans"/>
                <a:ea typeface="DejaVu Sans"/>
              </a:rPr>
              <a:t>2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…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</a:t>
            </a:r>
            <a:r>
              <a:rPr b="1" lang="en-US" sz="1800" spc="-1" strike="noStrike" baseline="-25000">
                <a:solidFill>
                  <a:srgbClr val="000000"/>
                </a:solidFill>
                <a:latin typeface="DejaVu Sans"/>
                <a:ea typeface="DejaVu Sans"/>
              </a:rPr>
              <a:t>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contradicts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Two artefacts cannot be realized together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conflicts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may hinder (but not necessarily exclude) the realization of 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B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CustomShape 5"/>
          <p:cNvSpPr/>
          <p:nvPr/>
        </p:nvSpPr>
        <p:spPr>
          <a:xfrm>
            <a:off x="263520" y="6411600"/>
            <a:ext cx="10917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K. Pohl (2010)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– Fundamentals, Principles and Techniques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Classification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Traceability Relationships – Abstraction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8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5080" cy="485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classifies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classifies a set of artefacts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B</a:t>
            </a:r>
            <a:r>
              <a:rPr b="1" lang="en-US" sz="1800" spc="-1" strike="noStrike" baseline="-25000">
                <a:solidFill>
                  <a:srgbClr val="000000"/>
                </a:solidFill>
                <a:latin typeface="DejaVu Sans"/>
                <a:ea typeface="DejaVu Sans"/>
              </a:rPr>
              <a:t>1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…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B</a:t>
            </a:r>
            <a:r>
              <a:rPr b="1" lang="en-US" sz="1800" spc="-1" strike="noStrike" baseline="-25000">
                <a:solidFill>
                  <a:srgbClr val="000000"/>
                </a:solidFill>
                <a:latin typeface="DejaVu Sans"/>
                <a:ea typeface="DejaVu Sans"/>
              </a:rPr>
              <a:t>n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→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e.g., a goal classifies a set of solution-oriented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aggregates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is an aggregation of a set of other artefacts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B</a:t>
            </a:r>
            <a:r>
              <a:rPr b="1" lang="en-US" sz="1800" spc="-1" strike="noStrike" baseline="-25000">
                <a:solidFill>
                  <a:srgbClr val="000000"/>
                </a:solidFill>
                <a:latin typeface="DejaVu Sans"/>
                <a:ea typeface="DejaVu Sans"/>
              </a:rPr>
              <a:t>1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…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B</a:t>
            </a:r>
            <a:r>
              <a:rPr b="1" lang="en-US" sz="1800" spc="-1" strike="noStrike" baseline="-25000">
                <a:solidFill>
                  <a:srgbClr val="000000"/>
                </a:solidFill>
                <a:latin typeface="DejaVu Sans"/>
                <a:ea typeface="DejaVu Sans"/>
              </a:rPr>
              <a:t>n 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generalizes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is a generalization of (one or) several other artefacts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→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e.g., an abstract scenario (e.g., a type scenario) is a generalization of a set of more concrete scenarios (e.g., instance scenarios)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CustomShape 5"/>
          <p:cNvSpPr/>
          <p:nvPr/>
        </p:nvSpPr>
        <p:spPr>
          <a:xfrm>
            <a:off x="263520" y="6411600"/>
            <a:ext cx="10917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K. Pohl (2010)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– Fundamentals, Principles and Techniques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Classification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Traceability Relationships – Evolution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3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5080" cy="4853160"/>
          </a:xfrm>
          <a:prstGeom prst="rect">
            <a:avLst/>
          </a:prstGeom>
          <a:noFill/>
          <a:ln w="0">
            <a:noFill/>
          </a:ln>
        </p:spPr>
        <p:txBody>
          <a:bodyPr numCol="2" spcCol="360000"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replaces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B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replaces 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based_on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has influenced the definition of 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B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formalizes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is a formal documentation of 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B →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e.g., relate a solution-oriented requirements model to a set of textual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refines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refines 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B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derived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  <a:tabLst>
                <a:tab algn="l" pos="0"/>
              </a:tabLst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was derived based on (a set of) other artefact(s)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CustomShape 5"/>
          <p:cNvSpPr/>
          <p:nvPr/>
        </p:nvSpPr>
        <p:spPr>
          <a:xfrm>
            <a:off x="268920" y="6496920"/>
            <a:ext cx="10917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K. Pohl (2010)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– Fundamentals, Principles and Techniques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Classification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Traceability Relationships – Miscellaneous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8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5080" cy="485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example_of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contains exemplary aspects of a set of artefacts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→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e.g., relates an interaction scenario to a set of solution-oriented requirements to document an exemplary sequence of interactions that a system implementing the solution-oriented requirements will support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verifies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Test 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verifies requirement 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B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rationale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justifies 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B →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e.g., text fragment contains justification for the existence of a scenario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CustomShape 5"/>
          <p:cNvSpPr/>
          <p:nvPr/>
        </p:nvSpPr>
        <p:spPr>
          <a:xfrm>
            <a:off x="263520" y="6411600"/>
            <a:ext cx="10917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K. Pohl (2010)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– Fundamentals, Principles and Techniques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Classification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Traceability Relationships – Miscellaneous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3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5080" cy="485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responsible_for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Stakeholder (or role)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is responsible for the associated 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B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background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Assign background information to a requirement artefact </a:t>
            </a:r>
            <a:r>
              <a:rPr b="1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→</a:t>
            </a: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 e.g., standardization document relating to a solution-oriented requirement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 u="sng">
                <a:solidFill>
                  <a:srgbClr val="008c4f"/>
                </a:solidFill>
                <a:uFillTx/>
                <a:latin typeface="DejaVu Sans"/>
                <a:ea typeface="DejaVu Sans"/>
              </a:rPr>
              <a:t>comment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Relates any kind of information to a requirements artefact – use sparingly!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CustomShape 5"/>
          <p:cNvSpPr/>
          <p:nvPr/>
        </p:nvSpPr>
        <p:spPr>
          <a:xfrm>
            <a:off x="263520" y="6411600"/>
            <a:ext cx="10917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K. Pohl (2010)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– Fundamentals, Principles and Techniques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CustomShape 1"/>
          <p:cNvSpPr/>
          <p:nvPr/>
        </p:nvSpPr>
        <p:spPr>
          <a:xfrm>
            <a:off x="335520" y="4406760"/>
            <a:ext cx="10746360" cy="13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000" spc="-1" strike="noStrike" cap="all">
                <a:solidFill>
                  <a:srgbClr val="008c4f"/>
                </a:solidFill>
                <a:latin typeface="DejaVu Sans"/>
                <a:ea typeface="DejaVu Sans"/>
              </a:rPr>
              <a:t>DocumentaTION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CustomShape 2"/>
          <p:cNvSpPr/>
          <p:nvPr/>
        </p:nvSpPr>
        <p:spPr>
          <a:xfrm>
            <a:off x="335520" y="2906640"/>
            <a:ext cx="10746360" cy="14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Overview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0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5080" cy="485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Wingdings 2" charset="2"/>
              <a:buAutoNum type="arabicPlain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Textual references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Wingdings 2" charset="2"/>
              <a:buAutoNum type="arabicPlain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Hyperlinks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Wingdings 2" charset="2"/>
              <a:buAutoNum type="arabicPlain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Traceability models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Wingdings 2" charset="2"/>
              <a:buAutoNum type="arabicPlain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Matrix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Wingdings 2" charset="2"/>
              <a:buAutoNum type="arabicPlain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Graph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Textual References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4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5080" cy="485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108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0000"/>
                </a:solidFill>
                <a:uFillTx/>
                <a:latin typeface="DejaVu Sans"/>
                <a:ea typeface="DejaVu Sans"/>
              </a:rPr>
              <a:t>R2-17: 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For selecting the trip destination, the navigation system shall display the last ten trip destinations. [based_on→R1-17] […]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CustomShape 5"/>
          <p:cNvSpPr/>
          <p:nvPr/>
        </p:nvSpPr>
        <p:spPr>
          <a:xfrm>
            <a:off x="263520" y="6411600"/>
            <a:ext cx="10917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K. Pohl (2010)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– Fundamentals, Principles and Techniques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CustomShape 4"/>
          <p:cNvSpPr/>
          <p:nvPr/>
        </p:nvSpPr>
        <p:spPr>
          <a:xfrm>
            <a:off x="602640" y="3257640"/>
            <a:ext cx="10577880" cy="1877040"/>
          </a:xfrm>
          <a:prstGeom prst="roundRect">
            <a:avLst>
              <a:gd name="adj" fmla="val 16667"/>
            </a:avLst>
          </a:prstGeom>
          <a:noFill/>
          <a:ln>
            <a:solidFill>
              <a:srgbClr val="008c4f"/>
            </a:solidFill>
            <a:round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Hyperlinks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PlaceHolder 1"/>
          <p:cNvSpPr/>
          <p:nvPr/>
        </p:nvSpPr>
        <p:spPr>
          <a:xfrm>
            <a:off x="609480" y="1769400"/>
            <a:ext cx="10585080" cy="485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marL="10800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0000"/>
                </a:solidFill>
                <a:uFillTx/>
                <a:latin typeface="DejaVu Sans"/>
                <a:ea typeface="DejaVu Sans"/>
              </a:rPr>
              <a:t>R2-17: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For selecting the trip destination, the navigation system shall display the 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 last ten trip destinations. 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10800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10800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10800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000000"/>
                </a:solidFill>
                <a:uFillTx/>
                <a:latin typeface="DejaVu Sans"/>
                <a:ea typeface="DejaVu Sans"/>
              </a:rPr>
              <a:t>R3-11: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The system shall not store any information about the destinations of 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 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	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  previous trips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10800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108000">
              <a:lnSpc>
                <a:spcPct val="100000"/>
              </a:lnSpc>
              <a:spcBef>
                <a:spcPts val="1417"/>
              </a:spcBef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CustomShape 4"/>
          <p:cNvSpPr/>
          <p:nvPr/>
        </p:nvSpPr>
        <p:spPr>
          <a:xfrm>
            <a:off x="542880" y="2280240"/>
            <a:ext cx="10577880" cy="1106640"/>
          </a:xfrm>
          <a:prstGeom prst="roundRect">
            <a:avLst>
              <a:gd name="adj" fmla="val 16667"/>
            </a:avLst>
          </a:prstGeom>
          <a:noFill/>
          <a:ln>
            <a:solidFill>
              <a:srgbClr val="008c4f"/>
            </a:solidFill>
            <a:round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1" name="CustomShape 4"/>
          <p:cNvSpPr/>
          <p:nvPr/>
        </p:nvSpPr>
        <p:spPr>
          <a:xfrm>
            <a:off x="542880" y="4100760"/>
            <a:ext cx="10577880" cy="1106640"/>
          </a:xfrm>
          <a:prstGeom prst="roundRect">
            <a:avLst>
              <a:gd name="adj" fmla="val 16667"/>
            </a:avLst>
          </a:prstGeom>
          <a:noFill/>
          <a:ln>
            <a:solidFill>
              <a:srgbClr val="008c4f"/>
            </a:solidFill>
            <a:round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2" name="Textfeld 1"/>
          <p:cNvSpPr/>
          <p:nvPr/>
        </p:nvSpPr>
        <p:spPr>
          <a:xfrm>
            <a:off x="1145160" y="3526200"/>
            <a:ext cx="3651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hyperlink (type: conflicts)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Gerade Verbindung mit Pfeil 3"/>
          <p:cNvSpPr/>
          <p:nvPr/>
        </p:nvSpPr>
        <p:spPr>
          <a:xfrm>
            <a:off x="1078560" y="2930400"/>
            <a:ext cx="360" cy="1262520"/>
          </a:xfrm>
          <a:custGeom>
            <a:avLst/>
            <a:gdLst>
              <a:gd name="textAreaLeft" fmla="*/ 0 w 360"/>
              <a:gd name="textAreaRight" fmla="*/ 23040 w 360"/>
              <a:gd name="textAreaTop" fmla="*/ 0 h 1262520"/>
              <a:gd name="textAreaBottom" fmla="*/ 1264680 h 1262520"/>
            </a:gdLst>
            <a:ahLst/>
            <a:rect l="textAreaLeft" t="textAreaTop" r="textAreaRight" b="textAreaBottom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38100">
            <a:solidFill>
              <a:srgbClr val="000000"/>
            </a:solidFill>
            <a:tailEnd len="med" type="triangle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4" name="CustomShape 5"/>
          <p:cNvSpPr/>
          <p:nvPr/>
        </p:nvSpPr>
        <p:spPr>
          <a:xfrm>
            <a:off x="263520" y="6411600"/>
            <a:ext cx="10917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K. Pohl (2010)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– Fundamentals, Principles and Techniques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Textual References &amp; Hyperlinks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8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5080" cy="485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Simple and easy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Links are textually part of the requirements themselves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Disadvantages: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Maintenance is time-consuming and tedious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Bidirectionality is difficult to achieve/maintain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Traceability Models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2" name="CustomShape 5"/>
          <p:cNvSpPr/>
          <p:nvPr/>
        </p:nvSpPr>
        <p:spPr>
          <a:xfrm>
            <a:off x="263520" y="6411600"/>
            <a:ext cx="10917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K. Pohl (2010)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– Fundamentals, Principles and Techniques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3" name="Grafik 7" descr=""/>
          <p:cNvPicPr/>
          <p:nvPr/>
        </p:nvPicPr>
        <p:blipFill>
          <a:blip r:embed="rId1"/>
          <a:stretch/>
        </p:blipFill>
        <p:spPr>
          <a:xfrm>
            <a:off x="2750760" y="1865880"/>
            <a:ext cx="5923080" cy="4397760"/>
          </a:xfrm>
          <a:prstGeom prst="rect">
            <a:avLst/>
          </a:prstGeom>
          <a:ln w="0">
            <a:noFill/>
          </a:ln>
        </p:spPr>
      </p:pic>
      <p:sp>
        <p:nvSpPr>
          <p:cNvPr id="304" name="Gleichschenkliges Dreieck 12"/>
          <p:cNvSpPr/>
          <p:nvPr/>
        </p:nvSpPr>
        <p:spPr>
          <a:xfrm rot="16200000">
            <a:off x="6162120" y="1934640"/>
            <a:ext cx="65880" cy="57600"/>
          </a:xfrm>
          <a:prstGeom prst="triangle">
            <a:avLst>
              <a:gd name="adj" fmla="val 50000"/>
            </a:avLst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14400" bIns="144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05" name="Gleichschenkliges Dreieck 13"/>
          <p:cNvSpPr/>
          <p:nvPr/>
        </p:nvSpPr>
        <p:spPr>
          <a:xfrm rot="16200000">
            <a:off x="3831120" y="1940040"/>
            <a:ext cx="65880" cy="57600"/>
          </a:xfrm>
          <a:prstGeom prst="triangle">
            <a:avLst>
              <a:gd name="adj" fmla="val 50000"/>
            </a:avLst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14400" bIns="144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06" name="Gleichschenkliges Dreieck 3"/>
          <p:cNvSpPr/>
          <p:nvPr/>
        </p:nvSpPr>
        <p:spPr>
          <a:xfrm rot="16200000">
            <a:off x="6027840" y="2428560"/>
            <a:ext cx="65880" cy="57600"/>
          </a:xfrm>
          <a:prstGeom prst="triangle">
            <a:avLst>
              <a:gd name="adj" fmla="val 50000"/>
            </a:avLst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rIns="90000" tIns="14400" bIns="144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Traceability Matrix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CustomShape 5"/>
          <p:cNvSpPr/>
          <p:nvPr/>
        </p:nvSpPr>
        <p:spPr>
          <a:xfrm>
            <a:off x="263520" y="6411600"/>
            <a:ext cx="10917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DejaVu Sans"/>
                <a:ea typeface="Roboto"/>
              </a:rPr>
              <a:t>K. Pohl (2010) – </a:t>
            </a:r>
            <a:r>
              <a:rPr b="0" lang="en-US" sz="900" spc="-1" strike="noStrike">
                <a:solidFill>
                  <a:srgbClr val="a6a6a6"/>
                </a:solidFill>
                <a:latin typeface="DejaVu Sans"/>
                <a:ea typeface="Roboto"/>
              </a:rPr>
              <a:t>Requirements Engineering – Fundamentals, Principles and Techniques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310" name="Tabelle 2"/>
          <p:cNvGraphicFramePr/>
          <p:nvPr/>
        </p:nvGraphicFramePr>
        <p:xfrm>
          <a:off x="1892880" y="2734200"/>
          <a:ext cx="8960760" cy="2856240"/>
        </p:xfrm>
        <a:graphic>
          <a:graphicData uri="http://schemas.openxmlformats.org/drawingml/2006/table">
            <a:tbl>
              <a:tblPr/>
              <a:tblGrid>
                <a:gridCol w="1493280"/>
                <a:gridCol w="1493280"/>
                <a:gridCol w="1493280"/>
                <a:gridCol w="1493280"/>
                <a:gridCol w="1493280"/>
                <a:gridCol w="1494720"/>
              </a:tblGrid>
              <a:tr h="475920"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satisfies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Goal 1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Goal 2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Goal 3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Goal 4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Goal 5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</a:tr>
              <a:tr h="47592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Scenario 1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47592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Scenario 2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47592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Scenario 3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Traceability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47592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Scenario 4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6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relationships</a:t>
                      </a:r>
                      <a:endParaRPr b="0" lang="en-GB" sz="16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47664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Scenario 5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</a:tbl>
          </a:graphicData>
        </a:graphic>
      </p:graphicFrame>
      <p:sp>
        <p:nvSpPr>
          <p:cNvPr id="311" name="Eckige Klammer links 2"/>
          <p:cNvSpPr/>
          <p:nvPr/>
        </p:nvSpPr>
        <p:spPr>
          <a:xfrm>
            <a:off x="1456200" y="2734200"/>
            <a:ext cx="231120" cy="2850480"/>
          </a:xfrm>
          <a:prstGeom prst="leftBracket">
            <a:avLst>
              <a:gd name="adj" fmla="val 8333"/>
            </a:avLst>
          </a:prstGeom>
          <a:noFill/>
          <a:ln w="28575">
            <a:solidFill>
              <a:srgbClr val="4a7e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2" name="Eckige Klammer links 10"/>
          <p:cNvSpPr/>
          <p:nvPr/>
        </p:nvSpPr>
        <p:spPr>
          <a:xfrm rot="5400000">
            <a:off x="6972840" y="-1235160"/>
            <a:ext cx="231120" cy="7416720"/>
          </a:xfrm>
          <a:prstGeom prst="leftBracket">
            <a:avLst>
              <a:gd name="adj" fmla="val 8333"/>
            </a:avLst>
          </a:prstGeom>
          <a:noFill/>
          <a:ln w="28575">
            <a:solidFill>
              <a:srgbClr val="4a7e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3" name="Textfeld 4"/>
          <p:cNvSpPr/>
          <p:nvPr/>
        </p:nvSpPr>
        <p:spPr>
          <a:xfrm>
            <a:off x="5811480" y="1957680"/>
            <a:ext cx="224280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Target artefacts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Textfeld 12"/>
          <p:cNvSpPr/>
          <p:nvPr/>
        </p:nvSpPr>
        <p:spPr>
          <a:xfrm>
            <a:off x="0" y="3736080"/>
            <a:ext cx="157932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de-DE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Source artefacts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Traceability Matrix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CustomShape 5"/>
          <p:cNvSpPr/>
          <p:nvPr/>
        </p:nvSpPr>
        <p:spPr>
          <a:xfrm>
            <a:off x="263520" y="6411600"/>
            <a:ext cx="10917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DejaVu Sans"/>
                <a:ea typeface="Roboto"/>
              </a:rPr>
              <a:t>K. Pohl (2010) – </a:t>
            </a:r>
            <a:r>
              <a:rPr b="0" lang="en-US" sz="900" spc="-1" strike="noStrike">
                <a:solidFill>
                  <a:srgbClr val="a6a6a6"/>
                </a:solidFill>
                <a:latin typeface="DejaVu Sans"/>
                <a:ea typeface="Roboto"/>
              </a:rPr>
              <a:t>Requirements Engineering – Fundamentals, Principles and Techniques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318" name="Tabelle 2"/>
          <p:cNvGraphicFramePr/>
          <p:nvPr/>
        </p:nvGraphicFramePr>
        <p:xfrm>
          <a:off x="1892880" y="2734200"/>
          <a:ext cx="8960760" cy="2856240"/>
        </p:xfrm>
        <a:graphic>
          <a:graphicData uri="http://schemas.openxmlformats.org/drawingml/2006/table">
            <a:tbl>
              <a:tblPr/>
              <a:tblGrid>
                <a:gridCol w="1493280"/>
                <a:gridCol w="1493280"/>
                <a:gridCol w="1493280"/>
                <a:gridCol w="1493280"/>
                <a:gridCol w="1493280"/>
                <a:gridCol w="1494720"/>
              </a:tblGrid>
              <a:tr h="475920"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Goal 1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Goal 2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Goal 3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Goal 4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de-DE" sz="1800" spc="-1" strike="noStrike">
                          <a:solidFill>
                            <a:srgbClr val="ffffff"/>
                          </a:solidFill>
                          <a:latin typeface="DejaVu Sans"/>
                          <a:ea typeface="DejaVu Sans"/>
                        </a:rPr>
                        <a:t>Goal 5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b3b3b3"/>
                    </a:solidFill>
                  </a:tcPr>
                </a:tc>
              </a:tr>
              <a:tr h="47592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Scenario 1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satisfies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47592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Scenario 2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based_on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conflicts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satisfies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47592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Scenario 3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satisfies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  <a:tr h="47592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Scenario 4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conflicts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satisfies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satisfies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e6e6e6"/>
                    </a:solidFill>
                  </a:tcPr>
                </a:tc>
              </a:tr>
              <a:tr h="476640">
                <a:tc>
                  <a:txBody>
                    <a:bodyPr lIns="90000" rIns="90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Scenario 5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satisfies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de-DE" sz="1800" spc="-1" strike="noStrike">
                          <a:solidFill>
                            <a:srgbClr val="000000"/>
                          </a:solidFill>
                          <a:latin typeface="DejaVu Sans"/>
                          <a:ea typeface="DejaVu Sans"/>
                        </a:rPr>
                        <a:t>based_on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  <a:tc>
                  <a:txBody>
                    <a:bodyPr lIns="90000" rIns="9000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0000" marR="90000">
                    <a:lnL w="720">
                      <a:solidFill>
                        <a:srgbClr val="ffffff"/>
                      </a:solidFill>
                    </a:lnL>
                    <a:lnR w="720">
                      <a:solidFill>
                        <a:srgbClr val="ffffff"/>
                      </a:solidFill>
                    </a:lnR>
                    <a:lnT w="720">
                      <a:solidFill>
                        <a:srgbClr val="ffffff"/>
                      </a:solidFill>
                    </a:lnT>
                    <a:lnB w="720">
                      <a:solidFill>
                        <a:srgbClr val="ffffff"/>
                      </a:solidFill>
                    </a:lnB>
                    <a:solidFill>
                      <a:srgbClr val="cccccc"/>
                    </a:solidFill>
                  </a:tcPr>
                </a:tc>
              </a:tr>
            </a:tbl>
          </a:graphicData>
        </a:graphic>
      </p:graphicFrame>
      <p:sp>
        <p:nvSpPr>
          <p:cNvPr id="319" name="Eckige Klammer links 2"/>
          <p:cNvSpPr/>
          <p:nvPr/>
        </p:nvSpPr>
        <p:spPr>
          <a:xfrm>
            <a:off x="1456200" y="2734200"/>
            <a:ext cx="231120" cy="2850480"/>
          </a:xfrm>
          <a:prstGeom prst="leftBracket">
            <a:avLst>
              <a:gd name="adj" fmla="val 8333"/>
            </a:avLst>
          </a:prstGeom>
          <a:noFill/>
          <a:ln w="28575">
            <a:solidFill>
              <a:srgbClr val="4a7e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0" name="Eckige Klammer links 10"/>
          <p:cNvSpPr/>
          <p:nvPr/>
        </p:nvSpPr>
        <p:spPr>
          <a:xfrm rot="5400000">
            <a:off x="6972840" y="-1235160"/>
            <a:ext cx="231120" cy="7416720"/>
          </a:xfrm>
          <a:prstGeom prst="leftBracket">
            <a:avLst>
              <a:gd name="adj" fmla="val 8333"/>
            </a:avLst>
          </a:prstGeom>
          <a:noFill/>
          <a:ln w="28575">
            <a:solidFill>
              <a:srgbClr val="4a7eb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1" name="Textfeld 4"/>
          <p:cNvSpPr/>
          <p:nvPr/>
        </p:nvSpPr>
        <p:spPr>
          <a:xfrm>
            <a:off x="5811480" y="1957680"/>
            <a:ext cx="224280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Target artefacts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Textfeld 12"/>
          <p:cNvSpPr/>
          <p:nvPr/>
        </p:nvSpPr>
        <p:spPr>
          <a:xfrm>
            <a:off x="0" y="3736080"/>
            <a:ext cx="157932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de-DE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Source artefacts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Traceability Matrix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6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5080" cy="485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Documents traceability in a matrix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Rows represent the initial artefact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Columns represent the target artefact</a:t>
            </a: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	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Sources of 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Development artefacts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Traceability Matrix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0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5080" cy="485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Advantages: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Good overview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Separation → One matrix per traceability aspect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Disadvantages: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Difficult to maintain (might be very large)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Multiple matrices required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3" name="Rechteck 10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Traceability Graph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34" name="Grafik 2" descr=""/>
          <p:cNvPicPr/>
          <p:nvPr/>
        </p:nvPicPr>
        <p:blipFill>
          <a:blip r:embed="rId1"/>
          <a:stretch/>
        </p:blipFill>
        <p:spPr>
          <a:xfrm>
            <a:off x="4218120" y="871560"/>
            <a:ext cx="6679440" cy="5417280"/>
          </a:xfrm>
          <a:prstGeom prst="rect">
            <a:avLst/>
          </a:prstGeom>
          <a:ln w="0">
            <a:noFill/>
          </a:ln>
        </p:spPr>
      </p:pic>
      <p:sp>
        <p:nvSpPr>
          <p:cNvPr id="335" name="CustomShape 5"/>
          <p:cNvSpPr/>
          <p:nvPr/>
        </p:nvSpPr>
        <p:spPr>
          <a:xfrm>
            <a:off x="263520" y="6411600"/>
            <a:ext cx="10917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6a6a6"/>
                </a:solidFill>
                <a:latin typeface="Roboto"/>
                <a:ea typeface="Roboto"/>
              </a:rPr>
              <a:t>Based on K. Pohl, C. Rupp (2011) – </a:t>
            </a:r>
            <a:r>
              <a:rPr b="0" lang="en-US" sz="900" spc="-1" strike="noStrike">
                <a:solidFill>
                  <a:srgbClr val="a6a6a6"/>
                </a:solidFill>
                <a:latin typeface="Roboto"/>
                <a:ea typeface="Roboto"/>
              </a:rPr>
              <a:t>Requirements Engineering Fundamentals: A study guide for Requirements Engineering Foundation Level</a:t>
            </a:r>
            <a:endParaRPr b="0" lang="en-GB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Documentation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Rechteck 209"/>
          <p:cNvSpPr/>
          <p:nvPr/>
        </p:nvSpPr>
        <p:spPr>
          <a:xfrm>
            <a:off x="542880" y="12672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666666"/>
                </a:solidFill>
                <a:latin typeface="DejaVu Sans"/>
                <a:ea typeface="DejaVu Sans"/>
              </a:rPr>
              <a:t>Traceability Graph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9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5080" cy="485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Graphical notation for traceability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Nodes represent development artefacts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Edges represent traceability relations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Infeasible to create and maintain manually → Requires tool support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CustomShape 1"/>
          <p:cNvSpPr/>
          <p:nvPr/>
        </p:nvSpPr>
        <p:spPr>
          <a:xfrm>
            <a:off x="335520" y="4406760"/>
            <a:ext cx="10746360" cy="13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n-US" sz="3000" spc="-1" strike="noStrike" cap="all">
                <a:solidFill>
                  <a:srgbClr val="008c4f"/>
                </a:solidFill>
                <a:latin typeface="DejaVu Sans"/>
                <a:ea typeface="DejaVu Sans"/>
              </a:rPr>
              <a:t>Summary</a:t>
            </a:r>
            <a:endParaRPr b="0" lang="en-GB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CustomShape 2"/>
          <p:cNvSpPr/>
          <p:nvPr/>
        </p:nvSpPr>
        <p:spPr>
          <a:xfrm>
            <a:off x="335520" y="2906640"/>
            <a:ext cx="10746360" cy="14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7"/>
          <p:cNvSpPr/>
          <p:nvPr/>
        </p:nvSpPr>
        <p:spPr>
          <a:xfrm>
            <a:off x="542880" y="721800"/>
            <a:ext cx="10354680" cy="49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en-US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Summary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HSN-Hierarchy 6"/>
          <p:cNvSpPr/>
          <p:nvPr/>
        </p:nvSpPr>
        <p:spPr>
          <a:xfrm>
            <a:off x="451800" y="1709280"/>
            <a:ext cx="8222040" cy="435024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4" name="PlaceHolder 1"/>
          <p:cNvSpPr>
            <a:spLocks noGrp="1"/>
          </p:cNvSpPr>
          <p:nvPr>
            <p:ph/>
          </p:nvPr>
        </p:nvSpPr>
        <p:spPr>
          <a:xfrm>
            <a:off x="609480" y="1769400"/>
            <a:ext cx="10585080" cy="4853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Analysis and understanding of the relations among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Requirements sources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Development artefacts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Supports other activities 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Especially useful for maintenance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E.g., analyze impact of (requirement) changes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80000"/>
              <a:buFont typeface="Wingdings 2" charset="2"/>
              <a:buChar char="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  <a:ea typeface="DejaVu Sans"/>
              </a:rPr>
              <a:t>Good traceability is difficult to maintain 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417"/>
              </a:spcBef>
              <a:buClr>
                <a:srgbClr val="008c4f"/>
              </a:buClr>
              <a:buSzPct val="45000"/>
              <a:buFont typeface="OpenSymbol"/>
              <a:buChar char="—"/>
            </a:pPr>
            <a:r>
              <a:rPr b="0" lang="en-US" sz="1800" spc="-1" strike="noStrike">
                <a:solidFill>
                  <a:srgbClr val="000000"/>
                </a:solidFill>
                <a:latin typeface="DejaVu Sans"/>
                <a:ea typeface="DejaVu Sans"/>
              </a:rPr>
              <a:t>Tool support might help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CustomShape 1"/>
          <p:cNvSpPr/>
          <p:nvPr/>
        </p:nvSpPr>
        <p:spPr>
          <a:xfrm>
            <a:off x="335520" y="1268640"/>
            <a:ext cx="10743120" cy="50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spcBef>
                <a:spcPts val="799"/>
              </a:spcBef>
              <a:tabLst>
                <a:tab algn="l" pos="0"/>
              </a:tabLst>
            </a:pPr>
            <a:r>
              <a:rPr b="1" lang="en-US" sz="4000" spc="-1" strike="noStrike">
                <a:solidFill>
                  <a:srgbClr val="000000"/>
                </a:solidFill>
                <a:latin typeface="DejaVu Sans"/>
                <a:ea typeface="DejaVu Sans"/>
              </a:rPr>
              <a:t>Questions?</a:t>
            </a:r>
            <a:endParaRPr b="0" lang="en-GB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CustomShape 3"/>
          <p:cNvSpPr/>
          <p:nvPr/>
        </p:nvSpPr>
        <p:spPr>
          <a:xfrm>
            <a:off x="335520" y="764640"/>
            <a:ext cx="10743120" cy="49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GB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PlaceHolder 1"/>
          <p:cNvSpPr>
            <a:spLocks noGrp="1"/>
          </p:cNvSpPr>
          <p:nvPr>
            <p:ph type="title"/>
          </p:nvPr>
        </p:nvSpPr>
        <p:spPr>
          <a:xfrm>
            <a:off x="542880" y="685800"/>
            <a:ext cx="10354680" cy="49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de-DE" sz="2200" spc="-1" strike="noStrike">
                <a:solidFill>
                  <a:srgbClr val="000000"/>
                </a:solidFill>
                <a:latin typeface="DejaVu Sans"/>
                <a:ea typeface="DejaVu Sans"/>
              </a:rPr>
              <a:t>References</a:t>
            </a:r>
            <a:endParaRPr b="0" lang="en-GB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</TotalTime>
  <Application>LibreOffice/7.4.7.2$Linux_X86_64 LibreOffice_project/40$Build-2</Application>
  <AppVersion>15.0000</AppVersion>
  <Words>1347</Words>
  <Paragraphs>246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2013-05-21T09:22:36Z</dcterms:created>
  <dc:creator>Hooby</dc:creator>
  <dc:description/>
  <dc:language>en-US</dc:language>
  <cp:lastModifiedBy/>
  <dcterms:modified xsi:type="dcterms:W3CDTF">2025-11-03T12:26:45Z</dcterms:modified>
  <cp:revision>3331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</vt:i4>
  </property>
  <property fmtid="{D5CDD505-2E9C-101B-9397-08002B2CF9AE}" pid="3" name="PresentationFormat">
    <vt:lpwstr>Breitbild</vt:lpwstr>
  </property>
  <property fmtid="{D5CDD505-2E9C-101B-9397-08002B2CF9AE}" pid="4" name="Slides">
    <vt:i4>36</vt:i4>
  </property>
</Properties>
</file>