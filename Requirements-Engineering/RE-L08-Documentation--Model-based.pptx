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_rels/notesSlide35.xml.rels" ContentType="application/vnd.openxmlformats-package.relationships+xml"/>
  <Override PartName="/ppt/notesSlides/_rels/notesSlide9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4.xml.rels" ContentType="application/vnd.openxmlformats-package.relationships+xml"/>
  <Override PartName="/ppt/notesSlides/notesSlide3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5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9.png" ContentType="image/png"/>
  <Override PartName="/ppt/slideLayouts/_rels/slideLayout5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3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41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54.xml.rels" ContentType="application/vnd.openxmlformats-package.relationships+xml"/>
  <Override PartName="/ppt/slides/_rels/slide4.xml.rels" ContentType="application/vnd.openxmlformats-package.relationships+xml"/>
  <Override PartName="/ppt/slides/_rels/slide8.xml.rels" ContentType="application/vnd.openxmlformats-package.relationships+xml"/>
  <Override PartName="/ppt/slides/_rels/slide43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4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8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49.xml.rels" ContentType="application/vnd.openxmlformats-package.relationships+xml"/>
  <Override PartName="/ppt/slides/_rels/slide41.xml.rels" ContentType="application/vnd.openxmlformats-package.relationships+xml"/>
  <Override PartName="/ppt/slides/_rels/slide6.xml.rels" ContentType="application/vnd.openxmlformats-package.relationships+xml"/>
  <Override PartName="/ppt/slides/_rels/slide52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38.xml.rels" ContentType="application/vnd.openxmlformats-package.relationships+xml"/>
  <Override PartName="/ppt/slides/_rels/slide23.xml.rels" ContentType="application/vnd.openxmlformats-package.relationships+xml"/>
  <Override PartName="/ppt/slides/_rels/slide46.xml.rels" ContentType="application/vnd.openxmlformats-package.relationships+xml"/>
  <Override PartName="/ppt/slides/_rels/slide53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51.xml.rels" ContentType="application/vnd.openxmlformats-package.relationships+xml"/>
  <Override PartName="/ppt/slides/_rels/slide35.xml.rels" ContentType="application/vnd.openxmlformats-package.relationships+xml"/>
  <Override PartName="/ppt/slides/_rels/slide42.xml.rels" ContentType="application/vnd.openxmlformats-package.relationships+xml"/>
  <Override PartName="/ppt/slides/_rels/slide40.xml.rels" ContentType="application/vnd.openxmlformats-package.relationships+xml"/>
  <Override PartName="/ppt/slides/_rels/slide55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48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comments/comment47.xml" ContentType="application/vnd.openxmlformats-officedocument.presentationml.comments+xml"/>
  <Override PartName="/ppt/comments/comment48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presProps" Target="presProps.xml"/><Relationship Id="rId64" Type="http://schemas.openxmlformats.org/officeDocument/2006/relationships/commentAuthors" Target="commentAuthors.xml"/>
</Relationships>
</file>

<file path=ppt/comments/comment47.xml><?xml version="1.0" encoding="utf-8"?>
<p:cmLst xmlns:p="http://schemas.openxmlformats.org/presentationml/2006/main">
  <p:cm authorId="0" dt="2022-02-14T16:30:33.000000000" idx="1">
    <p:pos x="0" y="0"/>
    <p:text/>
  </p:cm>
</p:cmLst>
</file>

<file path=ppt/comments/comment48.xml><?xml version="1.0" encoding="utf-8"?>
<p:cmLst xmlns:p="http://schemas.openxmlformats.org/presentationml/2006/main">
  <p:cm authorId="0" dt="2022-02-11T16:45:33.000000000" idx="2">
    <p:pos x="0" y="0"/>
    <p:text/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B4621B0-F02D-4B97-B308-6765114BDB93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Num" idx="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83159D-5CC8-4367-950A-67FBACFCF937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Num" idx="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19065E-B3FD-474F-9E81-384233086362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Num" idx="6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AAA3E2-52FF-4BB9-9C5B-843F65F9854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Num" idx="7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432BBB-4F8A-4303-A8F2-A4310F18845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Num" idx="8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9631B9-1307-4815-9544-F5A1921CEE47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Num" idx="9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6170F8-3153-49B7-8353-90E6F8673D79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Num" idx="10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2B7D06-9659-4A62-AE3B-19BA479C6E34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Num" idx="11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6BBA0B-FE42-45FE-A4A4-7C6F139E56D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Num" idx="12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18E3FA-1695-492F-9E2F-EE55F5EB66F6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Num" idx="13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65A7A7-1E0C-4117-90C0-043862295C2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Num" idx="1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ABA7E0-69E1-4214-8465-1EB40F80E05E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Num" idx="1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29BFEE-3DEC-491A-9FC0-121EE5A4BE2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Num" idx="16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5CAC09-0EE6-407A-AE52-52124F70C259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Num" idx="17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7B5511-0310-4224-A7FD-B902D5A47997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Num" idx="18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439BFA-7503-4666-A271-965100994403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Num" idx="19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CED8EF-5011-4E37-B0AF-140B24A52FBB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53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Num" idx="20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63B4EB-8210-418D-8AC5-9D090ADDEDF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Num" idx="21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15C08F-9C97-4A3D-9F71-1C797BD47EDF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Num" idx="22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E8DFC6-9719-4086-B7A6-0F0D23FD165B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Num" idx="23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8C6255-02F3-4662-8E8C-387CBB74F381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Num" idx="2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22B1E3-EC4A-4CA9-A8DD-4C6B6147ABA1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Num" idx="2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D5AD24-3D68-46A0-8696-323AF83ACBA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Num" idx="26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914229-F4DD-4C32-9EF8-34F4F5C1F1D2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Num" idx="27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290DF3-FDEC-43EC-BA72-B592602E809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Num" idx="28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BC555B-F860-456D-AF08-B6455B153B20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04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Num" idx="29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E28A53-7466-4BE6-A9ED-CD830C418843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07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Num" idx="30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D98762-CEF1-41A0-97F4-9DE4F1275C8F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10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Num" idx="31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683CD8-99C6-417B-BFCB-7FF9A238D7F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13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Num" idx="32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6F7CEE-83FA-4103-9BD8-D2729E0453E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16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Num" idx="33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E83CFF-33DD-4F83-91D8-4BD188F1ABB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19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Num" idx="3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9D3D3D-6B7C-4D20-BA3B-E7CF050637D7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52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6A5F114-1E88-4C7D-AD28-991DF3FA504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1B20080-3A99-46E5-8D92-17FA7D67A39F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E4CA92D-ABB3-4797-8FDC-871095B691A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5278FB9-CF19-4FD7-9222-AC69CD04DAE0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472409B-30CF-4FF9-8FAE-D8BB477E5C53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5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0A272F9-68B1-43CB-A18E-CD2EA6BECB29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18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189" name="CustomShape 4"/>
          <p:cNvSpPr/>
          <p:nvPr/>
        </p:nvSpPr>
        <p:spPr>
          <a:xfrm>
            <a:off x="11444760" y="144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0" name="CustomShape 5"/>
          <p:cNvSpPr/>
          <p:nvPr/>
        </p:nvSpPr>
        <p:spPr>
          <a:xfrm>
            <a:off x="1142748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E4EC4B8-8E9D-4345-AB6B-4EFF990BC3E6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comments" Target="../comments/comment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5.xml"/><Relationship Id="rId3" Type="http://schemas.openxmlformats.org/officeDocument/2006/relationships/comments" Target="../comments/comment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5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CustomShape 1"/>
          <p:cNvSpPr/>
          <p:nvPr/>
        </p:nvSpPr>
        <p:spPr>
          <a:xfrm>
            <a:off x="527400" y="1412640"/>
            <a:ext cx="10361520" cy="11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527400" y="2852640"/>
            <a:ext cx="10361520" cy="236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4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hteck 186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0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101240" cy="2078640"/>
          </a:xfrm>
          <a:prstGeom prst="rect">
            <a:avLst/>
          </a:prstGeom>
          <a:ln w="0">
            <a:noFill/>
          </a:ln>
        </p:spPr>
      </p:pic>
      <p:sp>
        <p:nvSpPr>
          <p:cNvPr id="241" name="Rahmen 6"/>
          <p:cNvSpPr/>
          <p:nvPr/>
        </p:nvSpPr>
        <p:spPr>
          <a:xfrm>
            <a:off x="3846240" y="2297880"/>
            <a:ext cx="1817280" cy="225756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| Functional | Behavioral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are frequently used for system design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Design Models”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architectural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Considerable difference between requirements models and design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models depict aspects of the underlying problem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Design models document solutions chosen during system development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Requirements Model vs. Design 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According to Merriam-Webster: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Structural design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 usually miniature representation of something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 system of postulates, data, and inferences presented as a mathematical description of an entity or state of affairs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1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Rechteck 1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The Term “Model”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6"/>
          <p:cNvSpPr/>
          <p:nvPr/>
        </p:nvSpPr>
        <p:spPr>
          <a:xfrm>
            <a:off x="411480" y="4416840"/>
            <a:ext cx="9610200" cy="10652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 use the following definition in this lecture: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 model is an abstract representation of an existing reality or a reality to be created.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Mapping of reality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Aspects of the observed reality are mapped onto model elements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Descriptive model creation → Model documents the existing reality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Prescriptive model creation → Model prototypes fictious reality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can be both descriptive and prescriptive at the same time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Describes a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Prescribes a use case of a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Properties of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Reduction of Reality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do not capture the complete reality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Instead, the models reduce the captured reality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particular aspects of the system are modeled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Subject matter is summarized during compression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Pragmatic Property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serve a special purpose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are within a special context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general purpose!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 affects the construction of models and the reduction of the reality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Ideally contains only information pertaining to its purpose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Properties of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Defined through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syntax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and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semantics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Syntax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the modeling elements to be used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Specifies their valid combinations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Semantics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the meaning of the individual model elements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Foundation for the interpretation of the models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,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informal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, and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semiformal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Depends on the magnitude of formal definitions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Properties of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Humans handle graphically depicted information better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Perceived faster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Memorized faster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Also true for requirements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Strictly defined focus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Everything not part of the focus of the model is removed </a:t>
            </a:r>
            <a:r>
              <a:rPr b="0" lang="en-US" sz="18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Removal of noise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Harmonized level of abstraction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Modeling elements dictate the level of abstraction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Advantages of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Complexity is reduced by abstraction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Three main mechanisms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Selects a particular aspect to be depicted by the model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 aspects are ignored completely, i.e., not part of the model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Aggregation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Combines aspects into aggregated aspects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Condenses information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Classification/generalization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Identifies common features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Suppresses differences between the common features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Commonalities are represented as generalized information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Suppression of Details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/>
          </p:nvPr>
        </p:nvSpPr>
        <p:spPr>
          <a:xfrm>
            <a:off x="465840" y="1600200"/>
            <a:ext cx="10502640" cy="4796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 Management Group (OMG) standard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Current version UML 2.5.1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Graphical notation for the analysis, design, and documentation of object-oriented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is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 development process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specialized for a certain topic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complete &amp; formal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Cannot be complied without additional information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Semiformal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Capable of semantics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only provides a syntax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Semantics depend on the reader of the document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 in General – UML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Goals are the stakeholders description of system properties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What they want from the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Effort for goal considerations usually minimal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Positive impact of goal modeling is high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concerning the comprehensiveness and quality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Models – Goals in General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8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echteck 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HSN-Hierarchy 10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| Functional | Behavioral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 hierarchical decompositions of goals into sub-goals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types of decompositions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AND → All sub-goals must be fulfilled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OR → At least one sub-goal must be fulfilled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Models – AND / OR Trees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Models – AND / OR Trees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6" name="Picture 5" descr=""/>
          <p:cNvPicPr/>
          <p:nvPr/>
        </p:nvPicPr>
        <p:blipFill>
          <a:blip r:embed="rId1"/>
          <a:stretch/>
        </p:blipFill>
        <p:spPr>
          <a:xfrm>
            <a:off x="393840" y="2492280"/>
            <a:ext cx="10640880" cy="3300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7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hteck 3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HSN-Hierarchy 9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| Functional | Behavioral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Method to document functionalities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Planned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 existing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Relatively simple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concepts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 specification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Both should be used in conjunction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1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echteck 6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to schematically depict: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Functions from a user’s point of 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Interrelations of functions of a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Relations between functions and their environment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 do not cover all concepts of use case diagrams in this lecture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Additional information can be found in the literature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36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hteck 7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UML Use Case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40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Rechteck 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UML Use Case Diagram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CustomShape 10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4" descr=""/>
          <p:cNvPicPr/>
          <p:nvPr/>
        </p:nvPicPr>
        <p:blipFill>
          <a:blip r:embed="rId1"/>
          <a:stretch/>
        </p:blipFill>
        <p:spPr>
          <a:xfrm>
            <a:off x="1028520" y="2062440"/>
            <a:ext cx="8910720" cy="432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Diagrams do not contain details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Very high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Very abstract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 for open questions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does the driver communicate with the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Navigate to destination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use case?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Is there an order in the inclusion of the use cases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Retrieve current location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and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Input destination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5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echteck 9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Issues of UML Use Case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 specifications provide details to the diagrams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Specifications documented textually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simple prose, but in form of templates (usually tabular)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template defines the concrete information contained in the use case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50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Rechteck 10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Use Case Specifications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1240" cy="5285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Template prescribes the following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Attributes for unique identification of 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Management attributes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Attributes for the description of the use case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Specific use case attributes, e.g.,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trigger event,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actors,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pre- and post-conditions,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result of the use case,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main scenario,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alternative and exception scenarios,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cross references,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55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hteck 11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Use Case Specification Template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59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echteck 12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Use Case Specification Template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11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2" name="Table 5"/>
          <p:cNvGraphicFramePr/>
          <p:nvPr/>
        </p:nvGraphicFramePr>
        <p:xfrm>
          <a:off x="900360" y="1916640"/>
          <a:ext cx="9646200" cy="4348440"/>
        </p:xfrm>
        <a:graphic>
          <a:graphicData uri="http://schemas.openxmlformats.org/drawingml/2006/table">
            <a:tbl>
              <a:tblPr/>
              <a:tblGrid>
                <a:gridCol w="2917440"/>
                <a:gridCol w="672912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6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Section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6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Content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Designation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UC-12-37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Name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Navigate to destination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Authors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John Smith, Sandra Miller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Priority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Importance for system success : high Technological risk : high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Criticality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High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Source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C. Warner (domain expert for navigation systems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Person Responsible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J. Smith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404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Description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The driver of the vehicle types the name of the destination. The navigation system guides the drive to the desired destination.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 event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The driver wishes to navigate to his destination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Actors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Driver, traffic information system, GPS satellite system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313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63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echteck 13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Use Case Specification Template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12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7" name="Table 6"/>
          <p:cNvGraphicFramePr/>
          <p:nvPr/>
        </p:nvGraphicFramePr>
        <p:xfrm>
          <a:off x="902880" y="1932840"/>
          <a:ext cx="9655560" cy="4318200"/>
        </p:xfrm>
        <a:graphic>
          <a:graphicData uri="http://schemas.openxmlformats.org/drawingml/2006/table">
            <a:tbl>
              <a:tblPr/>
              <a:tblGrid>
                <a:gridCol w="2920320"/>
                <a:gridCol w="673560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6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Section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6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Content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Pre-conditions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The navigation system is activated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Post-conditions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The driver has reached his destination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Result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Route guidance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8350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Main scenario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1. The navigation system asks for the desired destination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2. The driver enters the desired destination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3. The navigation system pinpoints the destination in its maps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4. On the basis of the current position and the desired destination, the navigation system calculates a suitable route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5. The navigation system compiles a list of waypoints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6. The navigation system shows a map of the current position and shows the route to the next waypoint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7. When the last waypoint is reached, the navigation system shows “destination reached” on the screen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318" name="Stern: 5 Zacken 2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67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echteck 14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Use Cases – Use Case Specification Template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13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22" name="Table 7"/>
          <p:cNvGraphicFramePr/>
          <p:nvPr/>
        </p:nvGraphicFramePr>
        <p:xfrm>
          <a:off x="857160" y="2565360"/>
          <a:ext cx="9655560" cy="3389400"/>
        </p:xfrm>
        <a:graphic>
          <a:graphicData uri="http://schemas.openxmlformats.org/drawingml/2006/table">
            <a:tbl>
              <a:tblPr/>
              <a:tblGrid>
                <a:gridCol w="2920320"/>
                <a:gridCol w="673560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Section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Content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Alternative scenario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4a.   Calculation of the route must honor traffic information and avoid traffic congestions.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4a1. The navigation system queries the server for updated traffic information.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4a2. The navigation system calculates a route that does not contain any traffic congestions.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Exception scenarios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 event: The navigation system does not receive GPS signal from the GPS satellite system.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Qualities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→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QR.04 (reaction time upon user input)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→ 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QR.15 (operating comfort) 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23" name="Stern: 5 Zacken 3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7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echteck 16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HSN-Hierarchy 14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| Functional | Behavioral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0731240" cy="5057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perspective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→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Different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Entity-relationship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class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flow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activity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Behavioral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Statecharts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state machine diagrams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Modelling Requirements in the Three Perspectives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1240" cy="5057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Concept from the world of databases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Used to model data (entities) and their relationships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Extensions of entity-relationship diagrams developed over the years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Min/max notations for cardinalities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Inheritance mechanism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(Extensions out of scope in this lecture)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Data Perspective – Entity-relationship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Data Perspective – Entity-relationship Diagrams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Picture 2" descr=""/>
          <p:cNvPicPr/>
          <p:nvPr/>
        </p:nvPicPr>
        <p:blipFill>
          <a:blip r:embed="rId1"/>
          <a:stretch/>
        </p:blipFill>
        <p:spPr>
          <a:xfrm>
            <a:off x="3404520" y="1936080"/>
            <a:ext cx="5378040" cy="4304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/>
          </p:nvPr>
        </p:nvSpPr>
        <p:spPr>
          <a:xfrm>
            <a:off x="542880" y="1339200"/>
            <a:ext cx="106574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Consists of classes and their associations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principle, similar to entity-relationship diagrams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Classes ~ entity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Associations ~ relation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 diagrams more powerful than entity-relationship diagrams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Data Perspective – UML Class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Data Perspective – UML Class Diagrams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Picture 2" descr=""/>
          <p:cNvPicPr/>
          <p:nvPr/>
        </p:nvPicPr>
        <p:blipFill>
          <a:blip r:embed="rId1"/>
          <a:stretch/>
        </p:blipFill>
        <p:spPr>
          <a:xfrm>
            <a:off x="2171520" y="1954080"/>
            <a:ext cx="7844040" cy="431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 the flow of the data through the system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Input/Output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Recipients of the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applied on different levels of abstraction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on different levels of abstraction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Functional Perspective – Data Flow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Functional Perspective – Data Flow Diagrams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0" name="Picture 2" descr=""/>
          <p:cNvPicPr/>
          <p:nvPr/>
        </p:nvPicPr>
        <p:blipFill>
          <a:blip r:embed="rId1"/>
          <a:stretch/>
        </p:blipFill>
        <p:spPr>
          <a:xfrm>
            <a:off x="2437560" y="1884960"/>
            <a:ext cx="6567840" cy="4407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Method to model action sequences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Depict the control flow between activities and actions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include the data flow (optional!)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Functional Perspective – UML Activity Diagrams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Functional Perspective – UML Activity Diagrams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7" name="Picture 2" descr=""/>
          <p:cNvPicPr/>
          <p:nvPr/>
        </p:nvPicPr>
        <p:blipFill>
          <a:blip r:embed="rId1"/>
          <a:stretch/>
        </p:blipFill>
        <p:spPr>
          <a:xfrm>
            <a:off x="4466520" y="1715040"/>
            <a:ext cx="2510280" cy="4648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Extension of finite automata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hierarchization of states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 concurrent behavior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Behavioural Perspective – Statecharts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Model-based Requirements Documentation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Behavioural Perspective – Statechart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4" name="Picture 2" descr=""/>
          <p:cNvPicPr/>
          <p:nvPr/>
        </p:nvPicPr>
        <p:blipFill>
          <a:blip r:embed="rId1"/>
          <a:stretch/>
        </p:blipFill>
        <p:spPr>
          <a:xfrm>
            <a:off x="1101960" y="2082960"/>
            <a:ext cx="8825400" cy="401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75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8: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echteck 17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HSN-Hierarchy 15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 | Functional | Behavioral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4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ectangle 2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Concepts and Definitions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HSN-Hierarchy 2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Goal: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situation description that refers to the intended state of the environment. Goals can: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or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non-functional (quality).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have sub-goals.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Goals are expressed by using nouns, verbs, and (optionally) adjectives. The nouns tend to be more of a state, and the verbs more into the activities that are needed to achieve a goal.”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if a </a:t>
            </a:r>
            <a:r>
              <a:rPr b="0" i="1" lang="en-US" sz="2000" spc="-1" strike="noStrike">
                <a:solidFill>
                  <a:srgbClr val="158466"/>
                </a:solidFill>
                <a:latin typeface="DejaVu Sans"/>
                <a:ea typeface="DejaVu Sans"/>
              </a:rPr>
              <a:t>message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needs to be </a:t>
            </a:r>
            <a:r>
              <a:rPr b="0" i="1" lang="en-US" sz="2000" spc="-1" strike="noStrike">
                <a:solidFill>
                  <a:srgbClr val="158466"/>
                </a:solidFill>
                <a:latin typeface="DejaVu Sans"/>
                <a:ea typeface="DejaVu Sans"/>
              </a:rPr>
              <a:t>transmitted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i="1" lang="en-US" sz="2000" spc="-1" strike="noStrike">
                <a:solidFill>
                  <a:srgbClr val="2a6099"/>
                </a:solidFill>
                <a:latin typeface="DejaVu Sans"/>
                <a:ea typeface="DejaVu Sans"/>
              </a:rPr>
              <a:t>securely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, the functional goal ‘</a:t>
            </a:r>
            <a:r>
              <a:rPr b="0" i="1" lang="en-US" sz="2000" spc="-1" strike="noStrike">
                <a:solidFill>
                  <a:srgbClr val="158466"/>
                </a:solidFill>
                <a:latin typeface="DejaVu Sans"/>
                <a:ea typeface="DejaVu Sans"/>
              </a:rPr>
              <a:t>Transmit</a:t>
            </a:r>
            <a:r>
              <a:rPr b="0" lang="en-US" sz="2000" spc="-1" strike="noStrike">
                <a:solidFill>
                  <a:srgbClr val="158466"/>
                </a:solidFill>
                <a:latin typeface="DejaVu Sans"/>
                <a:ea typeface="DejaVu Sans"/>
              </a:rPr>
              <a:t> </a:t>
            </a:r>
            <a:r>
              <a:rPr b="0" i="1" lang="en-US" sz="2000" spc="-1" strike="noStrike">
                <a:solidFill>
                  <a:srgbClr val="158466"/>
                </a:solidFill>
                <a:latin typeface="DejaVu Sans"/>
                <a:ea typeface="DejaVu Sans"/>
              </a:rPr>
              <a:t>Message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’ can be associated with the quality goal ‘</a:t>
            </a:r>
            <a:r>
              <a:rPr b="0" i="1" lang="en-US" sz="2000" spc="-1" strike="noStrike">
                <a:solidFill>
                  <a:srgbClr val="2a6099"/>
                </a:solidFill>
                <a:latin typeface="DejaVu Sans"/>
                <a:ea typeface="DejaVu Sans"/>
              </a:rPr>
              <a:t>Securely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’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CustomShape 4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L. Sterling, K. Taveter (2009)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The Art of Agent-Oriented Modeling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72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Rectangle 11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Motivation: Why AOM?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HSN-Hierarchy 1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Most (if not all) processes in software systems are elicited by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Agents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playing a certain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Role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in the system, to achieve some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is a tool for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“modelling systems with multiple agents, both human and manmade, interacting with a diverse collection of hardware and software in a complex environment”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models are clear and easily understandable for stakeholders → </a:t>
            </a: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useful for Requirements Engineering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CustomShape 14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L. Sterling, K. Taveter (2009)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The Art of Agent-Oriented Modeling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5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ectangle 1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vs. Requirement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HSN-Hierarchy 3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381" name="Table 2"/>
          <p:cNvGraphicFramePr/>
          <p:nvPr/>
        </p:nvGraphicFramePr>
        <p:xfrm>
          <a:off x="685800" y="2024640"/>
          <a:ext cx="10286640" cy="1796400"/>
        </p:xfrm>
        <a:graphic>
          <a:graphicData uri="http://schemas.openxmlformats.org/drawingml/2006/table">
            <a:tbl>
              <a:tblPr/>
              <a:tblGrid>
                <a:gridCol w="5142960"/>
                <a:gridCol w="5144040"/>
              </a:tblGrid>
              <a:tr h="2988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Goal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Requirement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1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Single desired result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Statement of need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1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One goal may consist of several requirements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One requirement may be related to many goals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382" name="PlaceHolder 6"/>
          <p:cNvSpPr/>
          <p:nvPr/>
        </p:nvSpPr>
        <p:spPr>
          <a:xfrm>
            <a:off x="609480" y="3886200"/>
            <a:ext cx="10584360" cy="20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 one to one mapping between goals and requirements is possible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1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ectangle 4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Concepts and Definitions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HSN-Hierarchy 4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5900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does one identify functional and non-functional goals?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 goals usually describe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what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a system must accomplish = Identification depends heavily on the system.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Non-functional goals describe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the system must accomplish those goals, in terms of standards and quality = Identification can depend on functional goals.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However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,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there are many commonalities: Reliability, Availability, Security, …..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CustomShape 7"/>
          <p:cNvSpPr/>
          <p:nvPr/>
        </p:nvSpPr>
        <p:spPr>
          <a:xfrm>
            <a:off x="263520" y="6411600"/>
            <a:ext cx="10916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https://onlinelibrary.wiley.com/doi/pdf/10.1002/9781119202660.app6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9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Rectangle 3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Concepts and Definitions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HSN-Hierarchy 5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Role: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capacity or position that fascilitates the system to achieve it’s goals. Roles express functions, expectations, and obligations of the agents enacting them.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eg. Network Administrator, Firewall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Agent: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An entity that can act in the environment, perceive events, and reason.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human or software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CustomShape 8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L. Sterling, K. Taveter (2009)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The Art of Agent-Oriented Modeling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6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Concepts and Definitions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HSN-Hierarchy 7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5900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Activity</a:t>
            </a:r>
            <a:r>
              <a:rPr b="1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action performed by an agent playing a role in pursuance of a system goal.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Environment: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An abstraction that provides the surrounding conditions for agents to exist and that mediates both the interaction among agents and the access to resources.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CustomShape 9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L. Sterling, K. Taveter (2009)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The Art of Agent-Oriented Modeling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20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ectangle 5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HSN-Hierarchy 8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that we will take a look at: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6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Goal Models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6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Behavioural Interface Models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23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Rectangle 8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HSN-Hierarchy 11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5" name="PlaceHolder 1"/>
          <p:cNvSpPr>
            <a:spLocks noGrp="1"/>
          </p:cNvSpPr>
          <p:nvPr>
            <p:ph/>
          </p:nvPr>
        </p:nvSpPr>
        <p:spPr>
          <a:xfrm>
            <a:off x="539640" y="1769400"/>
            <a:ext cx="487008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Goal models hierarchically express the relationships between goals (functional and non-functional) and the roles played by various agents in pursuit of those goals.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Sterling and Taveter’s AOM Goal models omit AND/OR decomposition for simplicity.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06" name="Table 1"/>
          <p:cNvGraphicFramePr/>
          <p:nvPr/>
        </p:nvGraphicFramePr>
        <p:xfrm>
          <a:off x="5844240" y="1955880"/>
          <a:ext cx="5075280" cy="44208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71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Symbol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Meaning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Goal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Quality Goal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11394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Role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456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Reltionship between goals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5568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Relationship between goals and quality goals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407" name="Freeform: Shape 3"/>
          <p:cNvSpPr/>
          <p:nvPr/>
        </p:nvSpPr>
        <p:spPr>
          <a:xfrm>
            <a:off x="6361200" y="2786400"/>
            <a:ext cx="1364760" cy="450360"/>
          </a:xfrm>
          <a:custGeom>
            <a:avLst/>
            <a:gdLst>
              <a:gd name="textAreaLeft" fmla="*/ 0 w 1364760"/>
              <a:gd name="textAreaRight" fmla="*/ 1367640 w 1364760"/>
              <a:gd name="textAreaTop" fmla="*/ 0 h 450360"/>
              <a:gd name="textAreaBottom" fmla="*/ 453240 h 450360"/>
            </a:gdLst>
            <a:ahLst/>
            <a:rect l="textAreaLeft" t="textAreaTop" r="textAreaRight" b="textAreaBottom"/>
            <a:pathLst>
              <a:path w="3812" h="1272">
                <a:moveTo>
                  <a:pt x="952" y="0"/>
                </a:moveTo>
                <a:lnTo>
                  <a:pt x="3811" y="0"/>
                </a:lnTo>
                <a:lnTo>
                  <a:pt x="2858" y="1271"/>
                </a:lnTo>
                <a:lnTo>
                  <a:pt x="0" y="1271"/>
                </a:lnTo>
                <a:lnTo>
                  <a:pt x="952" y="0"/>
                </a:lnTo>
              </a:path>
            </a:pathLst>
          </a:cu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8" name="Freeform: Shape 4"/>
          <p:cNvSpPr/>
          <p:nvPr/>
        </p:nvSpPr>
        <p:spPr>
          <a:xfrm>
            <a:off x="6458400" y="3513600"/>
            <a:ext cx="1150560" cy="510840"/>
          </a:xfrm>
          <a:custGeom>
            <a:avLst/>
            <a:gdLst>
              <a:gd name="textAreaLeft" fmla="*/ 0 w 1150560"/>
              <a:gd name="textAreaRight" fmla="*/ 1153440 w 1150560"/>
              <a:gd name="textAreaTop" fmla="*/ 0 h 510840"/>
              <a:gd name="textAreaBottom" fmla="*/ 513720 h 510840"/>
            </a:gdLst>
            <a:ahLst/>
            <a:rect l="textAreaLeft" t="textAreaTop" r="textAreaRight" b="textAreaBottom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09" name="Picture 3" descr=""/>
          <p:cNvPicPr/>
          <p:nvPr/>
        </p:nvPicPr>
        <p:blipFill>
          <a:blip r:embed="rId1"/>
          <a:stretch/>
        </p:blipFill>
        <p:spPr>
          <a:xfrm>
            <a:off x="6858000" y="4210560"/>
            <a:ext cx="450360" cy="878760"/>
          </a:xfrm>
          <a:prstGeom prst="rect">
            <a:avLst/>
          </a:prstGeom>
          <a:ln w="0">
            <a:noFill/>
          </a:ln>
        </p:spPr>
      </p:pic>
      <p:sp>
        <p:nvSpPr>
          <p:cNvPr id="410" name="Straight Connector 3"/>
          <p:cNvSpPr/>
          <p:nvPr/>
        </p:nvSpPr>
        <p:spPr>
          <a:xfrm>
            <a:off x="6229800" y="5427000"/>
            <a:ext cx="1828800" cy="360"/>
          </a:xfrm>
          <a:prstGeom prst="line">
            <a:avLst/>
          </a:prstGeom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Straight Connector 4"/>
          <p:cNvSpPr/>
          <p:nvPr/>
        </p:nvSpPr>
        <p:spPr>
          <a:xfrm>
            <a:off x="6229800" y="6111000"/>
            <a:ext cx="1828800" cy="360"/>
          </a:xfrm>
          <a:prstGeom prst="line">
            <a:avLst/>
          </a:prstGeom>
          <a:ln w="0">
            <a:solidFill>
              <a:srgbClr val="00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25"/>
          <p:cNvSpPr/>
          <p:nvPr/>
        </p:nvSpPr>
        <p:spPr>
          <a:xfrm>
            <a:off x="542880" y="7214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ectangle 7"/>
          <p:cNvSpPr/>
          <p:nvPr/>
        </p:nvSpPr>
        <p:spPr>
          <a:xfrm>
            <a:off x="542880" y="12668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Goal Model Example: Automated EV Charging Station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4" name="Picture 1" descr=""/>
          <p:cNvPicPr/>
          <p:nvPr/>
        </p:nvPicPr>
        <p:blipFill>
          <a:blip r:embed="rId1"/>
          <a:stretch/>
        </p:blipFill>
        <p:spPr>
          <a:xfrm>
            <a:off x="457200" y="2057400"/>
            <a:ext cx="10549800" cy="433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26"/>
          <p:cNvSpPr/>
          <p:nvPr/>
        </p:nvSpPr>
        <p:spPr>
          <a:xfrm>
            <a:off x="542880" y="7214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Rectangle 10"/>
          <p:cNvSpPr/>
          <p:nvPr/>
        </p:nvSpPr>
        <p:spPr>
          <a:xfrm>
            <a:off x="542880" y="12668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Behavioural Interface Models (BIM)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1"/>
          <p:cNvSpPr>
            <a:spLocks noGrp="1"/>
          </p:cNvSpPr>
          <p:nvPr>
            <p:ph/>
          </p:nvPr>
        </p:nvSpPr>
        <p:spPr>
          <a:xfrm>
            <a:off x="465480" y="1828800"/>
            <a:ext cx="10585080" cy="227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Behavioral Interface Models model the behaviour of agents playing their roles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Models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Behavioural Units (= Activities)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Represented as a table ↓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18" name="Table 4"/>
          <p:cNvGraphicFramePr/>
          <p:nvPr/>
        </p:nvGraphicFramePr>
        <p:xfrm>
          <a:off x="737640" y="4408560"/>
          <a:ext cx="10006200" cy="2034720"/>
        </p:xfrm>
        <a:graphic>
          <a:graphicData uri="http://schemas.openxmlformats.org/drawingml/2006/table">
            <a:tbl>
              <a:tblPr/>
              <a:tblGrid>
                <a:gridCol w="1900080"/>
                <a:gridCol w="2658600"/>
                <a:gridCol w="2575080"/>
                <a:gridCol w="2872800"/>
              </a:tblGrid>
              <a:tr h="4269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20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 Name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Event(s) that trigger(s) the activity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Conditions for Activity to proceed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i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Conditions for Activity to be considered complete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20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...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...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...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...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28"/>
          <p:cNvSpPr/>
          <p:nvPr/>
        </p:nvSpPr>
        <p:spPr>
          <a:xfrm>
            <a:off x="542880" y="7214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Agent-oriented Modelling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Rectangle 9"/>
          <p:cNvSpPr/>
          <p:nvPr/>
        </p:nvSpPr>
        <p:spPr>
          <a:xfrm>
            <a:off x="542880" y="126684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BIM Example: Automated EV Charging Station (Manage Charging)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21" name="Table 3"/>
          <p:cNvGraphicFramePr/>
          <p:nvPr/>
        </p:nvGraphicFramePr>
        <p:xfrm>
          <a:off x="558000" y="1960920"/>
          <a:ext cx="10643040" cy="4305240"/>
        </p:xfrm>
        <a:graphic>
          <a:graphicData uri="http://schemas.openxmlformats.org/drawingml/2006/table">
            <a:tbl>
              <a:tblPr/>
              <a:tblGrid>
                <a:gridCol w="2431440"/>
                <a:gridCol w="1685160"/>
                <a:gridCol w="4015440"/>
                <a:gridCol w="2511360"/>
              </a:tblGrid>
              <a:tr h="4874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974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Reserve Charging Port(CP)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wants to charge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bought energy, CP is free, EV is ready to charge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5331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Charge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974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Agree on charging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Max CP speed ≥ Min EV speed,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roid Sans Fallback"/>
                        </a:rPr>
                        <a:t>Max EV speed ≥ Min CP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16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Begin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begun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16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End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None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competed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CP is free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Conceptual models as a means for requirements 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Abstraction and good overview vs. learning a modeling language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models for different purposes → Model needs to fit the purpose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provides models for almost anything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We only covered a small part → Other UML models can also be useful for requirements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UML is not the only answer → Other models work fine, too.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CustomShape 1"/>
          <p:cNvSpPr/>
          <p:nvPr/>
        </p:nvSpPr>
        <p:spPr>
          <a:xfrm>
            <a:off x="335520" y="1268640"/>
            <a:ext cx="10745640" cy="50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CustomShape 3"/>
          <p:cNvSpPr/>
          <p:nvPr/>
        </p:nvSpPr>
        <p:spPr>
          <a:xfrm>
            <a:off x="335520" y="764640"/>
            <a:ext cx="1074564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542880" y="685800"/>
            <a:ext cx="10357200" cy="49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1105</TotalTime>
  <Application>LibreOffice/7.4.7.2$Linux_X86_64 LibreOffice_project/40$Build-2</Application>
  <AppVersion>15.0000</AppVersion>
  <Words>8997</Words>
  <Paragraphs>1349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2025-11-03T12:24:25Z</dcterms:modified>
  <cp:revision>3611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53</vt:i4>
  </property>
  <property fmtid="{D5CDD505-2E9C-101B-9397-08002B2CF9AE}" pid="4" name="PresentationFormat">
    <vt:lpwstr>Widescreen</vt:lpwstr>
  </property>
  <property fmtid="{D5CDD505-2E9C-101B-9397-08002B2CF9AE}" pid="5" name="Slides">
    <vt:i4>100</vt:i4>
  </property>
</Properties>
</file>