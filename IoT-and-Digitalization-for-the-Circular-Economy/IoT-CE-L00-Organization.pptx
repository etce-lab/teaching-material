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3.xml" ContentType="application/vnd.openxmlformats-officedocument.presentationml.slideMaster+xml"/>
  <Override PartName="/ppt/presProps.xml" ContentType="application/vnd.openxmlformats-officedocument.presentationml.presProps+xml"/>
  <Override PartName="/ppt/notesMasters/notesMaster1.xml" ContentType="application/vnd.openxmlformats-officedocument.presentationml.notesMaster+xml"/>
  <Override PartName="/ppt/theme/theme10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5.xml" ContentType="application/vnd.openxmlformats-officedocument.theme+xml"/>
  <Override PartName="/ppt/theme/theme9.xml" ContentType="application/vnd.openxmlformats-officedocument.theme+xml"/>
  <Override PartName="/ppt/theme/theme4.xml" ContentType="application/vnd.openxmlformats-officedocument.theme+xml"/>
  <Override PartName="/ppt/theme/theme13.xml" ContentType="application/vnd.openxmlformats-officedocument.theme+xml"/>
  <Override PartName="/ppt/theme/theme3.xml" ContentType="application/vnd.openxmlformats-officedocument.theme+xml"/>
  <Override PartName="/ppt/theme/theme12.xml" ContentType="application/vnd.openxmlformats-officedocument.theme+xml"/>
  <Override PartName="/ppt/theme/theme25.xml" ContentType="application/vnd.openxmlformats-officedocument.theme+xml"/>
  <Override PartName="/ppt/theme/theme24.xml" ContentType="application/vnd.openxmlformats-officedocument.theme+xml"/>
  <Override PartName="/ppt/theme/theme23.xml" ContentType="application/vnd.openxmlformats-officedocument.theme+xml"/>
  <Override PartName="/ppt/theme/theme17.xml" ContentType="application/vnd.openxmlformats-officedocument.theme+xml"/>
  <Override PartName="/ppt/theme/theme22.xml" ContentType="application/vnd.openxmlformats-officedocument.theme+xml"/>
  <Override PartName="/ppt/theme/theme16.xml" ContentType="application/vnd.openxmlformats-officedocument.theme+xml"/>
  <Override PartName="/ppt/theme/theme19.xml" ContentType="application/vnd.openxmlformats-officedocument.theme+xml"/>
  <Override PartName="/ppt/theme/theme21.xml" ContentType="application/vnd.openxmlformats-officedocument.theme+xml"/>
  <Override PartName="/ppt/theme/theme15.xml" ContentType="application/vnd.openxmlformats-officedocument.theme+xml"/>
  <Override PartName="/ppt/theme/theme11.xml" ContentType="application/vnd.openxmlformats-officedocument.them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20.xml" ContentType="application/vnd.openxmlformats-officedocument.theme+xml"/>
  <Override PartName="/ppt/theme/theme18.xml" ContentType="application/vnd.openxmlformats-officedocument.theme+xml"/>
  <Override PartName="/ppt/theme/theme8.xml" ContentType="application/vnd.openxmlformats-officedocument.theme+xml"/>
  <Override PartName="/ppt/theme/theme14.xml" ContentType="application/vnd.openxmlformats-officedocument.theme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94" r:id="rId21"/>
    <p:sldMasterId id="2147483696" r:id="rId22"/>
    <p:sldMasterId id="2147483698" r:id="rId23"/>
    <p:sldMasterId id="2147483700" r:id="rId24"/>
    <p:sldMasterId id="2147483702" r:id="rId25"/>
  </p:sldMasterIdLst>
  <p:notesMasterIdLst>
    <p:notesMasterId r:id="rId26"/>
  </p:notesMasterIdLst>
  <p:sldIdLst>
    <p:sldId id="256" r:id="rId27"/>
    <p:sldId id="257" r:id="rId28"/>
    <p:sldId id="258" r:id="rId29"/>
    <p:sldId id="259" r:id="rId30"/>
    <p:sldId id="260" r:id="rId31"/>
    <p:sldId id="261" r:id="rId32"/>
    <p:sldId id="262" r:id="rId33"/>
    <p:sldId id="263" r:id="rId34"/>
    <p:sldId id="264" r:id="rId35"/>
    <p:sldId id="265" r:id="rId36"/>
    <p:sldId id="266" r:id="rId37"/>
    <p:sldId id="267" r:id="rId38"/>
    <p:sldId id="268" r:id="rId39"/>
    <p:sldId id="269" r:id="rId40"/>
    <p:sldId id="270" r:id="rId41"/>
    <p:sldId id="271" r:id="rId42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slideMaster" Target="slideMasters/slideMaster24.xml"/><Relationship Id="rId26" Type="http://schemas.openxmlformats.org/officeDocument/2006/relationships/notesMaster" Target="notesMasters/notesMaster1.xml"/><Relationship Id="rId27" Type="http://schemas.openxmlformats.org/officeDocument/2006/relationships/slide" Target="slides/slide1.xml"/><Relationship Id="rId28" Type="http://schemas.openxmlformats.org/officeDocument/2006/relationships/slide" Target="slides/slide2.xml"/><Relationship Id="rId29" Type="http://schemas.openxmlformats.org/officeDocument/2006/relationships/slide" Target="slides/slide3.xml"/><Relationship Id="rId30" Type="http://schemas.openxmlformats.org/officeDocument/2006/relationships/slide" Target="slides/slide4.xml"/><Relationship Id="rId31" Type="http://schemas.openxmlformats.org/officeDocument/2006/relationships/slide" Target="slides/slide5.xml"/><Relationship Id="rId32" Type="http://schemas.openxmlformats.org/officeDocument/2006/relationships/slide" Target="slides/slide6.xml"/><Relationship Id="rId33" Type="http://schemas.openxmlformats.org/officeDocument/2006/relationships/slide" Target="slides/slide7.xml"/><Relationship Id="rId34" Type="http://schemas.openxmlformats.org/officeDocument/2006/relationships/slide" Target="slides/slide8.xml"/><Relationship Id="rId35" Type="http://schemas.openxmlformats.org/officeDocument/2006/relationships/slide" Target="slides/slide9.xml"/><Relationship Id="rId36" Type="http://schemas.openxmlformats.org/officeDocument/2006/relationships/slide" Target="slides/slide10.xml"/><Relationship Id="rId37" Type="http://schemas.openxmlformats.org/officeDocument/2006/relationships/slide" Target="slides/slide11.xml"/><Relationship Id="rId38" Type="http://schemas.openxmlformats.org/officeDocument/2006/relationships/slide" Target="slides/slide12.xml"/><Relationship Id="rId39" Type="http://schemas.openxmlformats.org/officeDocument/2006/relationships/slide" Target="slides/slide13.xml"/><Relationship Id="rId40" Type="http://schemas.openxmlformats.org/officeDocument/2006/relationships/slide" Target="slides/slide14.xml"/><Relationship Id="rId41" Type="http://schemas.openxmlformats.org/officeDocument/2006/relationships/slide" Target="slides/slide15.xml"/><Relationship Id="rId42" Type="http://schemas.openxmlformats.org/officeDocument/2006/relationships/slide" Target="slides/slide16.xml"/><Relationship Id="rId4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9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0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1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6E101C87-B4CF-4148-850B-048A21B5769B}" type="slidenum"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3480" cy="3761640"/>
          </a:xfrm>
          <a:prstGeom prst="rect">
            <a:avLst/>
          </a:prstGeom>
          <a:ln w="0">
            <a:noFill/>
          </a:ln>
        </p:spPr>
      </p:sp>
      <p:sp>
        <p:nvSpPr>
          <p:cNvPr id="38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7120" cy="451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Shape 1"/>
          <p:cNvSpPr/>
          <p:nvPr/>
        </p:nvSpPr>
        <p:spPr>
          <a:xfrm>
            <a:off x="4399200" y="9555480"/>
            <a:ext cx="3362400" cy="4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B928AA40-6330-43B6-ACCC-474544F6C444}" type="slidenum"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0600" cy="3758760"/>
          </a:xfrm>
          <a:prstGeom prst="rect">
            <a:avLst/>
          </a:prstGeom>
          <a:ln w="0">
            <a:noFill/>
          </a:ln>
        </p:spPr>
      </p:sp>
      <p:sp>
        <p:nvSpPr>
          <p:cNvPr id="389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4240" cy="451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CustomShape 3"/>
          <p:cNvSpPr/>
          <p:nvPr/>
        </p:nvSpPr>
        <p:spPr>
          <a:xfrm>
            <a:off x="4399200" y="9555480"/>
            <a:ext cx="335952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3837E7EA-ED05-41AC-8464-D1834B854E9C}" type="slidenum"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0600" cy="3758760"/>
          </a:xfrm>
          <a:prstGeom prst="rect">
            <a:avLst/>
          </a:prstGeom>
          <a:ln w="0">
            <a:noFill/>
          </a:ln>
        </p:spPr>
      </p:sp>
      <p:sp>
        <p:nvSpPr>
          <p:cNvPr id="39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4240" cy="451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CustomShape 3"/>
          <p:cNvSpPr/>
          <p:nvPr/>
        </p:nvSpPr>
        <p:spPr>
          <a:xfrm>
            <a:off x="4399200" y="9555480"/>
            <a:ext cx="335952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93F57DC5-8700-4B96-B253-25CCA1DB1BB1}" type="slidenum"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9.xml"/><Relationship Id="rId5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2.xml"/><Relationship Id="rId8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4.xml"/><Relationship Id="rId10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27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28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29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30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31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3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stomShape 1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" name="CustomShape 2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BC9B6962-9691-440F-8467-10E340389BCD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CustomShape 3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480" cy="55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4320" cy="51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" name="CustomShape 4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" name="CustomShape 5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" name="CustomShape 6"/>
          <p:cNvSpPr/>
          <p:nvPr/>
        </p:nvSpPr>
        <p:spPr>
          <a:xfrm>
            <a:off x="0" y="6642720"/>
            <a:ext cx="121806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4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ustomShape 1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" name="CustomShape 2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4EFBBF71-57B4-42B9-911E-A831B4894C6E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CustomShape 3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1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480" cy="55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4320" cy="51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CustomShape 4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" name="CustomShape 5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" name="CustomShape 6"/>
          <p:cNvSpPr/>
          <p:nvPr/>
        </p:nvSpPr>
        <p:spPr>
          <a:xfrm>
            <a:off x="0" y="6642720"/>
            <a:ext cx="121806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4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CustomShape 1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" name="CustomShape 2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12D27C38-6E31-45B8-9661-6D321EFA66D1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CustomShape 3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480" cy="55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4320" cy="51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" name="CustomShape 4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" name="CustomShape 5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1" name="CustomShape 6"/>
          <p:cNvSpPr/>
          <p:nvPr/>
        </p:nvSpPr>
        <p:spPr>
          <a:xfrm>
            <a:off x="0" y="6642720"/>
            <a:ext cx="121806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0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4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CustomShape 1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1" name="CustomShape 2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FA0E09F1-D3ED-48CB-84F2-A927A531267A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CustomShape 3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480" cy="55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4320" cy="51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CustomShape 4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6" name="CustomShape 5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7" name="CustomShape 6"/>
          <p:cNvSpPr/>
          <p:nvPr/>
        </p:nvSpPr>
        <p:spPr>
          <a:xfrm>
            <a:off x="0" y="6642720"/>
            <a:ext cx="121806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0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4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CustomShape 1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5" name="CustomShape 2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2218E89A-36E0-4B4B-AD01-CEABF780675C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CustomShape 3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6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480" cy="55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8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4320" cy="51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" name="CustomShape 4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0" name="CustomShape 5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1" name="CustomShape 6"/>
          <p:cNvSpPr/>
          <p:nvPr/>
        </p:nvSpPr>
        <p:spPr>
          <a:xfrm>
            <a:off x="0" y="6642720"/>
            <a:ext cx="121806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4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CustomShape 1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3" name="CustomShape 2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47B7397E-6F92-4C4F-AE5E-C725B7C18144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CustomShape 3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8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480" cy="55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6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4320" cy="51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" name="CustomShape 4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8" name="CustomShape 5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9" name="CustomShape 6"/>
          <p:cNvSpPr/>
          <p:nvPr/>
        </p:nvSpPr>
        <p:spPr>
          <a:xfrm>
            <a:off x="0" y="6642720"/>
            <a:ext cx="121806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4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CustomShape 1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1" name="CustomShape 2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F35FB5E4-C957-4025-B16B-B0BD8DAF6F14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CustomShape 3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9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480" cy="55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4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4320" cy="51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CustomShape 4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6" name="CustomShape 5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7" name="CustomShape 6"/>
          <p:cNvSpPr/>
          <p:nvPr/>
        </p:nvSpPr>
        <p:spPr>
          <a:xfrm>
            <a:off x="0" y="6642720"/>
            <a:ext cx="121806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4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CustomShape 1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1" name="CustomShape 2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C060DAC0-4721-4F1F-BE3D-7955BEE752E4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CustomShape 3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0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480" cy="55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4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4320" cy="51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" name="CustomShape 4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6" name="CustomShape 5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7" name="CustomShape 6"/>
          <p:cNvSpPr/>
          <p:nvPr/>
        </p:nvSpPr>
        <p:spPr>
          <a:xfrm>
            <a:off x="0" y="6642720"/>
            <a:ext cx="121806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4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CustomShape 1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3" name="CustomShape 2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E9552829-FEBD-4B01-BD6E-08278F0406A5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CustomShape 3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1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480" cy="55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6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4320" cy="51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" name="CustomShape 4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8" name="CustomShape 5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9" name="CustomShape 6"/>
          <p:cNvSpPr/>
          <p:nvPr/>
        </p:nvSpPr>
        <p:spPr>
          <a:xfrm>
            <a:off x="0" y="6642720"/>
            <a:ext cx="121806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4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CustomShape 1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5" name="CustomShape 2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0394A949-EB45-4CC3-A0DD-600B457204BF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CustomShape 3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2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480" cy="55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8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4320" cy="51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" name="CustomShape 4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0" name="CustomShape 5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1" name="CustomShape 6"/>
          <p:cNvSpPr/>
          <p:nvPr/>
        </p:nvSpPr>
        <p:spPr>
          <a:xfrm>
            <a:off x="0" y="6642720"/>
            <a:ext cx="121806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4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CustomShape 1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9" name="CustomShape 2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79D46E8F-42C2-4673-8A44-26CC7C0C8306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CustomShape 3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41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480" cy="55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2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4320" cy="51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3" name="CustomShape 4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4" name="CustomShape 5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5" name="CustomShape 6"/>
          <p:cNvSpPr/>
          <p:nvPr/>
        </p:nvSpPr>
        <p:spPr>
          <a:xfrm>
            <a:off x="0" y="6642720"/>
            <a:ext cx="121806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4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CustomShape 1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9" name="CustomShape 2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47F18335-2B3F-46E9-BB76-137BCB78190B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CustomShape 3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51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480" cy="55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2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4320" cy="51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3" name="CustomShape 4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4" name="CustomShape 5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5" name="CustomShape 6"/>
          <p:cNvSpPr/>
          <p:nvPr/>
        </p:nvSpPr>
        <p:spPr>
          <a:xfrm>
            <a:off x="0" y="6642720"/>
            <a:ext cx="121806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4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CustomShape 1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7" name="CustomShape 2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DFAF5A80-2A0C-4CFB-A943-EBF50F4FFDA5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CustomShape 3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5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480" cy="55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0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4320" cy="51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1" name="CustomShape 4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2" name="CustomShape 5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8F295E97-A2D5-4EA6-9129-3F26B8FD7F5C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CustomShape 6"/>
          <p:cNvSpPr/>
          <p:nvPr/>
        </p:nvSpPr>
        <p:spPr>
          <a:xfrm>
            <a:off x="0" y="6642720"/>
            <a:ext cx="121806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4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CustomShape 1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3" name="CustomShape 2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88EEE9CE-308C-4B46-A667-A93E98F6838C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CustomShape 3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7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480" cy="55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6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4320" cy="51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7" name="CustomShape 4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8" name="CustomShape 5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8EEB67E6-53AF-4B58-A5E1-DC775C776671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CustomShape 6"/>
          <p:cNvSpPr/>
          <p:nvPr/>
        </p:nvSpPr>
        <p:spPr>
          <a:xfrm>
            <a:off x="0" y="6642720"/>
            <a:ext cx="121806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4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CustomShape 1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9" name="CustomShape 2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4DD2D42B-F862-4069-A730-D0588B919BC9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CustomShape 3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91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480" cy="55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2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4320" cy="51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3" name="CustomShape 4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4" name="CustomShape 5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73898A3B-9A78-47BB-8963-7FB15AF27907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CustomShape 6"/>
          <p:cNvSpPr/>
          <p:nvPr/>
        </p:nvSpPr>
        <p:spPr>
          <a:xfrm>
            <a:off x="0" y="6642720"/>
            <a:ext cx="121806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0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4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CustomShape 1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05" name="CustomShape 2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69F97753-B520-4CE3-A50C-F8B46AA3564C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CustomShape 3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0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480" cy="55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8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4320" cy="51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9" name="CustomShape 4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0" name="CustomShape 5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1A48675D-9B6C-4F76-9772-82D8EC168E4A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CustomShape 6"/>
          <p:cNvSpPr/>
          <p:nvPr/>
        </p:nvSpPr>
        <p:spPr>
          <a:xfrm>
            <a:off x="0" y="6642720"/>
            <a:ext cx="121806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0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9" r:id="rId4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CustomShape 1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9" name="CustomShape 2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341529E5-0DAE-4295-AD7B-82C2986B6836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CustomShape 3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21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480" cy="55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2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4320" cy="51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3" name="CustomShape 4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4" name="CustomShape 5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F9F8BB32-7982-4D62-A559-852F11D44B13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CustomShape 6"/>
          <p:cNvSpPr/>
          <p:nvPr/>
        </p:nvSpPr>
        <p:spPr>
          <a:xfrm>
            <a:off x="0" y="6642720"/>
            <a:ext cx="121806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1" r:id="rId4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CustomShape 1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7" name="CustomShape 2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6ED282AC-AC52-4819-85EB-CA558721EE16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CustomShape 3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3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480" cy="55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0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4320" cy="51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1" name="CustomShape 4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2" name="CustomShape 5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9CEDD275-3815-4F03-9168-61C0C0381736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CustomShape 6"/>
          <p:cNvSpPr/>
          <p:nvPr/>
        </p:nvSpPr>
        <p:spPr>
          <a:xfrm>
            <a:off x="0" y="6642720"/>
            <a:ext cx="121806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3" r:id="rId4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CustomShape 1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5" name="CustomShape 2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9C7E71DD-3B29-4900-8DFC-51C4BD1F1DD2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CustomShape 3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4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480" cy="55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8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4320" cy="51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9" name="CustomShape 4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0" name="CustomShape 5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408DDE18-9910-47F9-8F91-F6D4FEC521CF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CustomShape 6"/>
          <p:cNvSpPr/>
          <p:nvPr/>
        </p:nvSpPr>
        <p:spPr>
          <a:xfrm>
            <a:off x="0" y="6642720"/>
            <a:ext cx="121806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4"/>
    <p:sldLayoutId id="2147483686" r:id="rId5"/>
    <p:sldLayoutId id="2147483687" r:id="rId6"/>
    <p:sldLayoutId id="2147483688" r:id="rId7"/>
    <p:sldLayoutId id="2147483689" r:id="rId8"/>
    <p:sldLayoutId id="2147483690" r:id="rId9"/>
    <p:sldLayoutId id="2147483691" r:id="rId10"/>
    <p:sldLayoutId id="2147483692" r:id="rId11"/>
    <p:sldLayoutId id="2147483693" r:id="rId12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CustomShape 1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1" name="CustomShape 2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403CD6EA-CCFE-497C-B734-BA1E5D2E9554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CustomShape 3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8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480" cy="55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4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4320" cy="51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5" name="CustomShape 4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6" name="CustomShape 5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072F472D-04AD-44F3-B3C6-2A38D40D4ED8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CustomShape 6"/>
          <p:cNvSpPr/>
          <p:nvPr/>
        </p:nvSpPr>
        <p:spPr>
          <a:xfrm>
            <a:off x="0" y="6642720"/>
            <a:ext cx="121806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5" r:id="rId4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CustomShape 1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93" name="CustomShape 2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D229824A-930E-4712-8C4A-8AB04390A63A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CustomShape 3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9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480" cy="55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6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4320" cy="51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7" name="CustomShape 4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98" name="CustomShape 5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A484B561-CC6C-49B9-9DD4-F8A8B7A3CE3D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CustomShape 6"/>
          <p:cNvSpPr/>
          <p:nvPr/>
        </p:nvSpPr>
        <p:spPr>
          <a:xfrm>
            <a:off x="0" y="6642720"/>
            <a:ext cx="121806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4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CustomShape 1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05" name="CustomShape 2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3B7822A8-4D76-4B6F-B3CB-0C004298D0A1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CustomShape 3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0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480" cy="55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8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4320" cy="51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9" name="CustomShape 4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10" name="CustomShape 5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CBF64760-227E-4425-A8CD-EADD29205447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CustomShape 6"/>
          <p:cNvSpPr/>
          <p:nvPr/>
        </p:nvSpPr>
        <p:spPr>
          <a:xfrm>
            <a:off x="0" y="6642720"/>
            <a:ext cx="121806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9" r:id="rId4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CustomShape 1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19" name="CustomShape 2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8868AD2A-BDB9-4116-B242-2824799D7C45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CustomShape 3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21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480" cy="55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2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4320" cy="51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3" name="CustomShape 4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24" name="CustomShape 5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C4D75358-B909-440C-B4D1-8B3C113D095C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CustomShape 6"/>
          <p:cNvSpPr/>
          <p:nvPr/>
        </p:nvSpPr>
        <p:spPr>
          <a:xfrm>
            <a:off x="0" y="6642720"/>
            <a:ext cx="121806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4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CustomShape 1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29" name="CustomShape 2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B97538F9-6CD2-41A6-803E-45CF02C34750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CustomShape 3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31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480" cy="55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2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4320" cy="51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3" name="CustomShape 4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34" name="CustomShape 5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FA0C28B0-0883-46F5-B8C0-47F5217C1539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CustomShape 6"/>
          <p:cNvSpPr/>
          <p:nvPr/>
        </p:nvSpPr>
        <p:spPr>
          <a:xfrm>
            <a:off x="0" y="6642720"/>
            <a:ext cx="121806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hyperlink" Target="https://creativecommons.org/licenses/by-sa/4.0/" TargetMode="External"/><Relationship Id="rId2" Type="http://schemas.openxmlformats.org/officeDocument/2006/relationships/hyperlink" Target="https://github.com/ETCE-LAB/teaching-material/tree/master/The-Limits-to-Growth" TargetMode="External"/><Relationship Id="rId3" Type="http://schemas.openxmlformats.org/officeDocument/2006/relationships/slideLayout" Target="../slideLayouts/slideLayout27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slideLayout" Target="../slideLayouts/slideLayout2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hyperlink" Target="https://www.etce-lab.de/" TargetMode="External"/><Relationship Id="rId2" Type="http://schemas.openxmlformats.org/officeDocument/2006/relationships/slideLayout" Target="../slideLayouts/slideLayout27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hyperlink" Target="https://github.com/ETCE-LAB/teaching-material/tree/master/IoT-and-Digitalization-for-Circular-Economy#readme" TargetMode="External"/><Relationship Id="rId2" Type="http://schemas.openxmlformats.org/officeDocument/2006/relationships/slideLayout" Target="../slideLayouts/slideLayout27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hyperlink" Target="https://webconf.tu-clausthal.de/b/ben-rtl-yv4-kkk" TargetMode="External"/><Relationship Id="rId2" Type="http://schemas.openxmlformats.org/officeDocument/2006/relationships/hyperlink" Target="https://webconf.tu-clausthal.de/b/ben-rtl-yv4-kkk" TargetMode="External"/><Relationship Id="rId3" Type="http://schemas.openxmlformats.org/officeDocument/2006/relationships/slideLayout" Target="../slideLayouts/slideLayout27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CustomShape 1"/>
          <p:cNvSpPr/>
          <p:nvPr/>
        </p:nvSpPr>
        <p:spPr>
          <a:xfrm>
            <a:off x="527400" y="1412640"/>
            <a:ext cx="10357560" cy="11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>
              <a:lnSpc>
                <a:spcPct val="100000"/>
              </a:lnSpc>
            </a:pPr>
            <a:r>
              <a:rPr lang="en-US" sz="3200" b="1" u="none" strike="noStrike">
                <a:solidFill>
                  <a:srgbClr val="008c4f"/>
                </a:solidFill>
                <a:effectLst/>
                <a:uFillTx/>
                <a:latin typeface="DejaVu Sans"/>
                <a:ea typeface="DejaVu Sans"/>
              </a:rPr>
              <a:t>IoT and Digitalization for the Circular Economy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CustomShape 2"/>
          <p:cNvSpPr/>
          <p:nvPr/>
        </p:nvSpPr>
        <p:spPr>
          <a:xfrm>
            <a:off x="527400" y="2852640"/>
            <a:ext cx="10357560" cy="23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 0: Organization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241"/>
              </a:spcBef>
              <a:tabLst>
                <a:tab algn="l" pos="0"/>
              </a:tabLst>
            </a:pP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241"/>
              </a:spcBef>
              <a:tabLst>
                <a:tab algn="l" pos="0"/>
              </a:tabLst>
            </a:pP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Prof. Dr. Benjamin Leiding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M.Sc. Anant Sujatanagarjuna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M.Sc Chintan Patel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CustomShape 1"/>
          <p:cNvSpPr/>
          <p:nvPr/>
        </p:nvSpPr>
        <p:spPr>
          <a:xfrm>
            <a:off x="335520" y="764640"/>
            <a:ext cx="10735920" cy="48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License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CustomShape 2"/>
          <p:cNvSpPr/>
          <p:nvPr/>
        </p:nvSpPr>
        <p:spPr>
          <a:xfrm>
            <a:off x="335520" y="1268280"/>
            <a:ext cx="10735920" cy="50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28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This work is licensed under a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Creative Commons Attribution-ShareAlike 4.0 International License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. To view a copy of this license, please refer to </a:t>
            </a:r>
            <a:r>
              <a:rPr lang="en-US" sz="18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https://creativecommons.org/licenses/by-sa/4.0/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28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Updated versions of these slides will be available in our </a:t>
            </a:r>
            <a:r>
              <a:rPr lang="en-US" sz="18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2"/>
              </a:rPr>
              <a:t>Github repository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CustomShape 1"/>
          <p:cNvSpPr/>
          <p:nvPr/>
        </p:nvSpPr>
        <p:spPr>
          <a:xfrm>
            <a:off x="335520" y="764640"/>
            <a:ext cx="10741680" cy="4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Team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7" name="Grafik 2"/>
          <p:cNvPicPr/>
          <p:nvPr/>
        </p:nvPicPr>
        <p:blipFill>
          <a:blip r:embed="rId1"/>
          <a:stretch/>
        </p:blipFill>
        <p:spPr>
          <a:xfrm>
            <a:off x="1784520" y="1710720"/>
            <a:ext cx="1464480" cy="216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8" name="Grafik 11"/>
          <p:cNvPicPr/>
          <p:nvPr/>
        </p:nvPicPr>
        <p:blipFill>
          <a:blip r:embed="rId2"/>
          <a:stretch/>
        </p:blipFill>
        <p:spPr>
          <a:xfrm>
            <a:off x="7395480" y="2082600"/>
            <a:ext cx="1778400" cy="177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9" name="CustomShape 2"/>
          <p:cNvSpPr/>
          <p:nvPr/>
        </p:nvSpPr>
        <p:spPr>
          <a:xfrm>
            <a:off x="720000" y="3826800"/>
            <a:ext cx="3629160" cy="67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60" algn="ctr">
              <a:lnSpc>
                <a:spcPct val="100000"/>
              </a:lnSpc>
              <a:spcBef>
                <a:spcPts val="360"/>
              </a:spcBef>
            </a:pPr>
            <a:r>
              <a:rPr lang="de-DE" sz="1600" b="0" u="none" strike="noStrike">
                <a:solidFill>
                  <a:srgbClr val="595959"/>
                </a:solidFill>
                <a:effectLst/>
                <a:uFillTx/>
                <a:latin typeface="DejaVu Sans"/>
                <a:ea typeface="DejaVu Sans"/>
              </a:rPr>
              <a:t>Prof. Dr. Benjamin Leiding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" algn="ctr">
              <a:lnSpc>
                <a:spcPct val="100000"/>
              </a:lnSpc>
              <a:spcBef>
                <a:spcPts val="360"/>
              </a:spcBef>
            </a:pP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CustomShape 3"/>
          <p:cNvSpPr/>
          <p:nvPr/>
        </p:nvSpPr>
        <p:spPr>
          <a:xfrm>
            <a:off x="6448320" y="3826800"/>
            <a:ext cx="3629160" cy="67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60" algn="ctr">
              <a:lnSpc>
                <a:spcPct val="100000"/>
              </a:lnSpc>
              <a:spcBef>
                <a:spcPts val="360"/>
              </a:spcBef>
            </a:pPr>
            <a:r>
              <a:rPr lang="de-DE" sz="1600" b="0" u="none" strike="noStrike">
                <a:solidFill>
                  <a:srgbClr val="595959"/>
                </a:solidFill>
                <a:effectLst/>
                <a:uFillTx/>
                <a:latin typeface="DejaVu Sans"/>
                <a:ea typeface="DejaVu Sans"/>
              </a:rPr>
              <a:t>M.Sc. Anant Sujatanagarjuna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" algn="ctr">
              <a:lnSpc>
                <a:spcPct val="100000"/>
              </a:lnSpc>
              <a:spcBef>
                <a:spcPts val="360"/>
              </a:spcBef>
            </a:pP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CustomShape 14"/>
          <p:cNvSpPr/>
          <p:nvPr/>
        </p:nvSpPr>
        <p:spPr>
          <a:xfrm>
            <a:off x="3569040" y="5987160"/>
            <a:ext cx="3628440" cy="66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60" algn="ctr">
              <a:lnSpc>
                <a:spcPct val="100000"/>
              </a:lnSpc>
              <a:spcBef>
                <a:spcPts val="360"/>
              </a:spcBef>
            </a:pPr>
            <a:r>
              <a:rPr lang="de-DE" sz="1600" b="0" u="none" strike="noStrike">
                <a:solidFill>
                  <a:srgbClr val="595959"/>
                </a:solidFill>
                <a:effectLst/>
                <a:uFillTx/>
                <a:latin typeface="DejaVu Sans"/>
                <a:ea typeface="DejaVu Sans"/>
              </a:rPr>
              <a:t>M.Sc. Chintan Patel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2" name="Picture 322"/>
          <p:cNvPicPr/>
          <p:nvPr/>
        </p:nvPicPr>
        <p:blipFill>
          <a:blip r:embed="rId3"/>
          <a:srcRect l="0" t="4799" r="0" b="28459"/>
          <a:stretch/>
        </p:blipFill>
        <p:spPr>
          <a:xfrm>
            <a:off x="4500000" y="4320000"/>
            <a:ext cx="1795680" cy="1795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CustomShape 5"/>
          <p:cNvSpPr/>
          <p:nvPr/>
        </p:nvSpPr>
        <p:spPr>
          <a:xfrm>
            <a:off x="542880" y="721800"/>
            <a:ext cx="1035036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lang="en-GB" sz="22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Research Group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CustomShape 6"/>
          <p:cNvSpPr/>
          <p:nvPr/>
        </p:nvSpPr>
        <p:spPr>
          <a:xfrm>
            <a:off x="451800" y="1709280"/>
            <a:ext cx="8217720" cy="434592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5" name="TextShape 2"/>
          <p:cNvSpPr/>
          <p:nvPr/>
        </p:nvSpPr>
        <p:spPr>
          <a:xfrm>
            <a:off x="609480" y="1769400"/>
            <a:ext cx="10580760" cy="48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60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lang="en-GB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</a:t>
            </a: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merging </a:t>
            </a:r>
            <a:r>
              <a:rPr lang="en-GB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</a:t>
            </a: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echnologies for the </a:t>
            </a:r>
            <a:r>
              <a:rPr lang="en-GB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</a:t>
            </a: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ircular </a:t>
            </a:r>
            <a:r>
              <a:rPr lang="en-GB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</a:t>
            </a: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conomy → </a:t>
            </a:r>
            <a:r>
              <a:rPr lang="en-GB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Research focus: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Intersection of IT and sustainability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Circular Economy and Circular Societies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Self-organized, decentralized and distributed systems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Sustinable and resilient food production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Other courses: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Engineering (WS – M.Sc.)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Limits to Growth – Sustainability and the Circular Economy (WS – open for everyone)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CustomShape 1"/>
          <p:cNvSpPr/>
          <p:nvPr/>
        </p:nvSpPr>
        <p:spPr>
          <a:xfrm>
            <a:off x="542880" y="721800"/>
            <a:ext cx="1034748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Research Group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CustomShape 2"/>
          <p:cNvSpPr/>
          <p:nvPr/>
        </p:nvSpPr>
        <p:spPr>
          <a:xfrm>
            <a:off x="451800" y="1709280"/>
            <a:ext cx="8214840" cy="434304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8" name="CustomShape 3"/>
          <p:cNvSpPr/>
          <p:nvPr/>
        </p:nvSpPr>
        <p:spPr>
          <a:xfrm>
            <a:off x="609480" y="1769400"/>
            <a:ext cx="10577880" cy="48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60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 Website – </a:t>
            </a:r>
            <a:r>
              <a:rPr lang="de-DE" sz="20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Link</a:t>
            </a: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material 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Theses/project topics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009"/>
              </a:spcBef>
            </a:pPr>
            <a:r>
              <a:rPr lang="en-GB" sz="2000" b="0" u="none" strike="noStrik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You want join us? Write us an email! 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3200" algn="ctr">
              <a:lnSpc>
                <a:spcPct val="90000"/>
              </a:lnSpc>
              <a:spcBef>
                <a:spcPts val="1009"/>
              </a:spcBef>
              <a:tabLst>
                <a:tab algn="l" pos="0"/>
              </a:tabLst>
            </a:pPr>
            <a:r>
              <a:rPr lang="en-GB" sz="1600" b="0" u="none" strike="noStrik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→ benjamin.leiding@tu-clausthal.de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CustomShape 1"/>
          <p:cNvSpPr/>
          <p:nvPr/>
        </p:nvSpPr>
        <p:spPr>
          <a:xfrm>
            <a:off x="542880" y="721800"/>
            <a:ext cx="1034748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Learning Outcome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CustomShape 2"/>
          <p:cNvSpPr/>
          <p:nvPr/>
        </p:nvSpPr>
        <p:spPr>
          <a:xfrm>
            <a:off x="451800" y="1709280"/>
            <a:ext cx="8214840" cy="434304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1" name="CustomShape 3"/>
          <p:cNvSpPr/>
          <p:nvPr/>
        </p:nvSpPr>
        <p:spPr>
          <a:xfrm>
            <a:off x="609480" y="1769400"/>
            <a:ext cx="10577880" cy="48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Understanding the concept of a circular economy, sustainability, and related concepts (biocapacity, etc.).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Gain a basic understanding of causes, dimensions, and the characterization of climate change, environmental pollution, and dwindling non-renewable resources. 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Introduction to IoT and cyberphysical systems in the circular economy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Sensors and actuators for IoT, control and process systems of the circular economy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Experience in prototyping IoT applications and systems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ability to critically assess upcoming technological solutions enabling/facilitating sustainability and the circular economy.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CustomShape 15"/>
          <p:cNvSpPr/>
          <p:nvPr/>
        </p:nvSpPr>
        <p:spPr>
          <a:xfrm>
            <a:off x="335520" y="764640"/>
            <a:ext cx="10740960" cy="49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Lectures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CustomShape 16"/>
          <p:cNvSpPr/>
          <p:nvPr/>
        </p:nvSpPr>
        <p:spPr>
          <a:xfrm>
            <a:off x="335520" y="1268640"/>
            <a:ext cx="10740960" cy="50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27.04.2026 → Organization (L00) 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04.05.2026 → Introduction (L01)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11.05.2026 → Circular Economy (L02) 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18.05.2026 → Lifecycle Assessment – LCA I (L03)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01.06.2026 →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Lifecycle Assessment – LCA 2 (L04)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08.06.2026 → Introduction to the Internet of Things (L05)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15.06.2026 → Internet of Things – Communication (L06) + Security and Privacy (L07)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22.06.2026 → Internet of Things – Data Processing and Big Data (L08)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29.06.2026 → IoT in Mining I (L09)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06.07.2026 → IoT in Mining II (L10)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13.07.2026 → Digital Technologies and Greenwashing (L11)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23.07.2026 → Coding Workshop I (Goslar)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24.07.2026 → Coding Workshop II (Goslar)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27.07.2026 → Exam Q&amp;A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CustomShape 7"/>
          <p:cNvSpPr/>
          <p:nvPr/>
        </p:nvSpPr>
        <p:spPr>
          <a:xfrm>
            <a:off x="539640" y="764640"/>
            <a:ext cx="1074456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CustomShape 8"/>
          <p:cNvSpPr/>
          <p:nvPr/>
        </p:nvSpPr>
        <p:spPr>
          <a:xfrm>
            <a:off x="539640" y="1268640"/>
            <a:ext cx="10744560" cy="503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15.04.2024 → Exercise 01 – Carbon Footprint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22.04.2024 → Exercise 02 – Circular Economy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29.04.2024 → Exercise 03 – LCA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03.06.2024 → Exercise 04 – Industrial IoT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17.06.2024 → Exercise 05 – IoT in Mining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"/>
          <p:cNvSpPr/>
          <p:nvPr/>
        </p:nvSpPr>
        <p:spPr>
          <a:xfrm>
            <a:off x="5040360" y="1080360"/>
            <a:ext cx="17996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GB" sz="4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TODO</a:t>
            </a:r>
            <a:endParaRPr lang="en-GB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CustomShape 1"/>
          <p:cNvSpPr/>
          <p:nvPr/>
        </p:nvSpPr>
        <p:spPr>
          <a:xfrm>
            <a:off x="335520" y="764640"/>
            <a:ext cx="10741680" cy="4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Organization  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CustomShape 2"/>
          <p:cNvSpPr/>
          <p:nvPr/>
        </p:nvSpPr>
        <p:spPr>
          <a:xfrm>
            <a:off x="335520" y="1268280"/>
            <a:ext cx="10741680" cy="50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News and updates → StudIP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Organization of the lecture: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Slides are available on Github (</a:t>
            </a:r>
            <a:r>
              <a:rPr lang="en-US" sz="18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Link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Symbol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Please report bugs!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Lectures and exercises as live stream (BBB – next slide)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 recordings will be available on StudIP and on Github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time slots 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= 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Time for questions and eventual tutorials related to the exercises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60"/>
              </a:spcBef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Questions? Write us an email: </a:t>
            </a:r>
            <a:r>
              <a:rPr lang="en-GB" sz="1800" b="0" u="sng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etce-iot@tu-clausthal.de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←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We will </a:t>
            </a:r>
            <a:r>
              <a:rPr lang="en-GB" sz="1800" b="1" u="sng" strike="noStrike">
                <a:solidFill>
                  <a:srgbClr val="c9211e"/>
                </a:solidFill>
                <a:effectLst/>
                <a:uFillTx/>
                <a:latin typeface="DejaVu Sans"/>
                <a:ea typeface="DejaVu Sans"/>
              </a:rPr>
              <a:t>only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respond to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60"/>
              </a:spcBef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emails written to this specific email address!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CustomShape 1"/>
          <p:cNvSpPr/>
          <p:nvPr/>
        </p:nvSpPr>
        <p:spPr>
          <a:xfrm>
            <a:off x="335520" y="764640"/>
            <a:ext cx="10741680" cy="4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Dates/Times/Locations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CustomShape 2"/>
          <p:cNvSpPr/>
          <p:nvPr/>
        </p:nvSpPr>
        <p:spPr>
          <a:xfrm>
            <a:off x="335520" y="1268640"/>
            <a:ext cx="10741680" cy="50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lang="en-GB" sz="1800" b="0" u="sng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Lecture: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Monday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2:15 pm to 3:45 pm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(Berlin time) –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27.04.2026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to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13.07.2026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Location: Goslar Gotec (Am Stollen 19 C, 38640 Goslar, Germany) or via BigBlueButton (</a:t>
            </a:r>
            <a:r>
              <a:rPr lang="en-GB" sz="18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Link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) </a:t>
            </a:r>
            <a:r>
              <a:rPr lang="en-GB" sz="1800" b="1" u="sng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OR video recordings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lang="en-GB" sz="1800" b="0" u="sng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/ Q&amp;A: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Monday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4 pm to 4:45 pm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(Berlin time) –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27.04.2026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to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13.07.2026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Location: Goslar Gotec (Am Stollen 19 C, 38640 Goslar, Germany) or via BigBlueButton (</a:t>
            </a:r>
            <a:r>
              <a:rPr lang="en-GB" sz="18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2"/>
              </a:rPr>
              <a:t>Link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lang="en-GB" sz="1800" b="0" u="sng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Practical Coding Workshop: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When: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23.07.2026 and 24.07.2026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from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10 am – 5 pm (Berlin time)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Location: Goslar (DIGIT – Wallstr. 6, 38640 Goslar)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CustomShape 1"/>
          <p:cNvSpPr/>
          <p:nvPr/>
        </p:nvSpPr>
        <p:spPr>
          <a:xfrm>
            <a:off x="335520" y="764640"/>
            <a:ext cx="10741680" cy="4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 and Practical Workshop 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CustomShape 2"/>
          <p:cNvSpPr/>
          <p:nvPr/>
        </p:nvSpPr>
        <p:spPr>
          <a:xfrm>
            <a:off x="335520" y="1268280"/>
            <a:ext cx="10741680" cy="50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Individual work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no group submissions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Submission of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each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is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mandatory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 pass by submitting an exercise – </a:t>
            </a:r>
            <a:r>
              <a:rPr lang="en-GB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even if it is an empty page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 will receive feedback on your submission (during Q&amp;A session)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= learning feedback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Practical workshop → You pass the workshop if you score 50% (or more)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" algn="ctr"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" algn="ctr"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" algn="ctr">
              <a:lnSpc>
                <a:spcPct val="100000"/>
              </a:lnSpc>
              <a:spcBef>
                <a:spcPts val="360"/>
              </a:spcBef>
            </a:pPr>
            <a:r>
              <a:rPr lang="en-GB" sz="1800" b="1" u="none" strike="noStrik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More info on points, percentages, etc. follow on the next slides (Examination)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CustomShape 1"/>
          <p:cNvSpPr/>
          <p:nvPr/>
        </p:nvSpPr>
        <p:spPr>
          <a:xfrm>
            <a:off x="335520" y="764640"/>
            <a:ext cx="10741680" cy="4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Examination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CustomShape 2"/>
          <p:cNvSpPr/>
          <p:nvPr/>
        </p:nvSpPr>
        <p:spPr>
          <a:xfrm>
            <a:off x="335520" y="1268640"/>
            <a:ext cx="10741680" cy="50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Prerequisite for admission to the final exam (all criteria have to be fulfilled):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4120" lvl="1" indent="-2804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albaum Heading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Submit all exercises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4120" lvl="1" indent="-2804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albaum Heading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Pass the practical workshop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Final exam: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4120" lvl="1" indent="-2804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albaum Text"/>
              <a:buChar char="—"/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Most likely 12.08.2026 and 13.08.2026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4120" lvl="1" indent="-2804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albaum Text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Oral examination (20min)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4120" lvl="1" indent="-2804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albaum Text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Online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CustomShape 1"/>
          <p:cNvSpPr/>
          <p:nvPr/>
        </p:nvSpPr>
        <p:spPr>
          <a:xfrm>
            <a:off x="335520" y="764640"/>
            <a:ext cx="10741680" cy="4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Self-Study Star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CustomShape 2"/>
          <p:cNvSpPr/>
          <p:nvPr/>
        </p:nvSpPr>
        <p:spPr>
          <a:xfrm>
            <a:off x="335520" y="1268280"/>
            <a:ext cx="10741680" cy="50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Slides with the self-study star indicate optional/additional study material that is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not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mandatory but could be helpful or interesting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CustomShape 3"/>
          <p:cNvSpPr/>
          <p:nvPr/>
        </p:nvSpPr>
        <p:spPr>
          <a:xfrm>
            <a:off x="6285600" y="2132640"/>
            <a:ext cx="511200" cy="49104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8" name="CustomShape 4"/>
          <p:cNvSpPr/>
          <p:nvPr/>
        </p:nvSpPr>
        <p:spPr>
          <a:xfrm>
            <a:off x="4089960" y="2247480"/>
            <a:ext cx="2279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Self-Study Star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CustomShape 1"/>
          <p:cNvSpPr/>
          <p:nvPr/>
        </p:nvSpPr>
        <p:spPr>
          <a:xfrm>
            <a:off x="335520" y="764640"/>
            <a:ext cx="10741680" cy="4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Literature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CustomShape 2"/>
          <p:cNvSpPr/>
          <p:nvPr/>
        </p:nvSpPr>
        <p:spPr>
          <a:xfrm>
            <a:off x="335520" y="1268640"/>
            <a:ext cx="10741680" cy="50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This course is not based on a single book and you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 not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need to buy a book to pass the exam.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Donella H. Meadows, Jorgen Randers, and Dennis L. Meadows.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Limits to Growth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(1972).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Donella H. Meadows, Jorgen Randers, and Dennis L. Meadows.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Limits To Growth: The 30-Year Update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(2004).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Baccini et al.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Metabolism of the Anthroposphere: Analysis, Evaluation, Design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(2012).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Walter R. Stahel.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Circular Economy: A User's Guide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(2019).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W. Brian Arthur.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Nature of Technology: What It Is and How it Evolves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(2011)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2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David Wallace-Wells.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Uninhabitable Earth, Annotated Edition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(2017).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2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(German) Stefan Rahmstorf, Hans Joachim Schellnhuber.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Der Klimawandel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(2019).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CustomShape 9"/>
          <p:cNvSpPr/>
          <p:nvPr/>
        </p:nvSpPr>
        <p:spPr>
          <a:xfrm>
            <a:off x="335520" y="764640"/>
            <a:ext cx="10739880" cy="4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Literature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CustomShape 10"/>
          <p:cNvSpPr/>
          <p:nvPr/>
        </p:nvSpPr>
        <p:spPr>
          <a:xfrm>
            <a:off x="335520" y="1268640"/>
            <a:ext cx="10739880" cy="502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Perry Lea. Internet of Things for Architects: Architecting IoT solutions by implementing sensors, communication infrastructure, edge computing, analytics, and security (2018).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M.A. Khan, M.T. Quasim, F. Algarni, A. Alharthi. </a:t>
            </a:r>
            <a:r>
              <a:rPr lang="de-DE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Decentralised Internet of Things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(2020).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Dimitrios Serpanos und Marilyn Claire Wolf. </a:t>
            </a:r>
            <a:r>
              <a:rPr lang="de-DE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Internet-of-Things (IoT) Systems Architectures, Algorithms, Methodologies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(2018).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CustomShape 1"/>
          <p:cNvSpPr/>
          <p:nvPr/>
        </p:nvSpPr>
        <p:spPr>
          <a:xfrm>
            <a:off x="335520" y="1268640"/>
            <a:ext cx="10741680" cy="50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spcBef>
                <a:spcPts val="799"/>
              </a:spcBef>
              <a:tabLst>
                <a:tab algn="l" pos="0"/>
              </a:tabLst>
            </a:pP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Questions?</a:t>
            </a:r>
            <a:endParaRPr lang="en-GB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CustomShape 2"/>
          <p:cNvSpPr/>
          <p:nvPr/>
        </p:nvSpPr>
        <p:spPr>
          <a:xfrm>
            <a:off x="335520" y="764640"/>
            <a:ext cx="10741680" cy="4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1034</TotalTime>
  <Application>LibreOffice/25.8.5.2$Linux_X86_64 LibreOffice_project/580$Build-2</Application>
  <AppVersion>15.0000</AppVersion>
  <Words>1010</Words>
  <Paragraphs>159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2013-05-21T09:22:36Z</dcterms:created>
  <dc:creator>Hooby</dc:creator>
  <dc:description/>
  <dc:language>en-US</dc:language>
  <cp:lastModifiedBy>Benjamin Leiding</cp:lastModifiedBy>
  <dcterms:modified xsi:type="dcterms:W3CDTF">2026-04-26T19:15:54Z</dcterms:modified>
  <cp:revision>3241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0</vt:i4>
  </property>
  <property fmtid="{D5CDD505-2E9C-101B-9397-08002B2CF9AE}" pid="3" name="HyperlinksChanged">
    <vt:bool>0</vt:bool>
  </property>
  <property fmtid="{D5CDD505-2E9C-101B-9397-08002B2CF9AE}" pid="4" name="LinksUpToDate">
    <vt:bool>0</vt:bool>
  </property>
  <property fmtid="{D5CDD505-2E9C-101B-9397-08002B2CF9AE}" pid="5" name="MMClips">
    <vt:i4>0</vt:i4>
  </property>
  <property fmtid="{D5CDD505-2E9C-101B-9397-08002B2CF9AE}" pid="6" name="Notes">
    <vt:i4>5</vt:i4>
  </property>
  <property fmtid="{D5CDD505-2E9C-101B-9397-08002B2CF9AE}" pid="7" name="PresentationFormat">
    <vt:lpwstr>Widescreen</vt:lpwstr>
  </property>
  <property fmtid="{D5CDD505-2E9C-101B-9397-08002B2CF9AE}" pid="8" name="ScaleCrop">
    <vt:bool>0</vt:bool>
  </property>
  <property fmtid="{D5CDD505-2E9C-101B-9397-08002B2CF9AE}" pid="9" name="ShareDoc">
    <vt:bool>0</vt:bool>
  </property>
  <property fmtid="{D5CDD505-2E9C-101B-9397-08002B2CF9AE}" pid="10" name="Slides">
    <vt:i4>20</vt:i4>
  </property>
</Properties>
</file>