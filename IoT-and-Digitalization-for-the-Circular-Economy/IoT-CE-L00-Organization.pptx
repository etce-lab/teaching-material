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theme/theme10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5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25.xml" ContentType="application/vnd.openxmlformats-officedocument.theme+xml"/>
  <Override PartName="/ppt/theme/theme9.xml" ContentType="application/vnd.openxmlformats-officedocument.theme+xml"/>
  <Override PartName="/ppt/theme/theme4.xml" ContentType="application/vnd.openxmlformats-officedocument.theme+xml"/>
  <Override PartName="/ppt/theme/theme58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17.xml" ContentType="application/vnd.openxmlformats-officedocument.theme+xml"/>
  <Override PartName="/ppt/theme/theme22.xml" ContentType="application/vnd.openxmlformats-officedocument.theme+xml"/>
  <Override PartName="/ppt/theme/theme16.xml" ContentType="application/vnd.openxmlformats-officedocument.theme+xml"/>
  <Override PartName="/ppt/theme/theme19.xml" ContentType="application/vnd.openxmlformats-officedocument.theme+xml"/>
  <Override PartName="/ppt/theme/theme21.xml" ContentType="application/vnd.openxmlformats-officedocument.theme+xml"/>
  <Override PartName="/ppt/theme/theme15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8.xml" ContentType="application/vnd.openxmlformats-officedocument.theme+xml"/>
  <Override PartName="/ppt/theme/theme14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726" r:id="rId21"/>
    <p:sldMasterId id="2147483728" r:id="rId22"/>
    <p:sldMasterId id="2147483730" r:id="rId23"/>
    <p:sldMasterId id="2147483732" r:id="rId24"/>
    <p:sldMasterId id="2147483734" r:id="rId25"/>
    <p:sldMasterId id="2147483736" r:id="rId26"/>
  </p:sldMasterIdLst>
  <p:notesMasterIdLst>
    <p:notesMasterId r:id="rId27"/>
  </p:notesMasterIdLst>
  <p:sldIdLst>
    <p:sldId id="256" r:id="rId28"/>
    <p:sldId id="257" r:id="rId29"/>
    <p:sldId id="258" r:id="rId30"/>
    <p:sldId id="259" r:id="rId31"/>
    <p:sldId id="260" r:id="rId32"/>
    <p:sldId id="261" r:id="rId33"/>
    <p:sldId id="262" r:id="rId34"/>
    <p:sldId id="263" r:id="rId35"/>
    <p:sldId id="264" r:id="rId36"/>
    <p:sldId id="265" r:id="rId37"/>
    <p:sldId id="266" r:id="rId38"/>
    <p:sldId id="267" r:id="rId39"/>
    <p:sldId id="268" r:id="rId40"/>
    <p:sldId id="269" r:id="rId41"/>
    <p:sldId id="270" r:id="rId42"/>
    <p:sldId id="271" r:id="rId43"/>
    <p:sldId id="272" r:id="rId44"/>
    <p:sldId id="273" r:id="rId45"/>
    <p:sldId id="274" r:id="rId46"/>
    <p:sldId id="275" r:id="rId47"/>
    <p:sldId id="276" r:id="rId48"/>
    <p:sldId id="277" r:id="rId49"/>
    <p:sldId id="278" r:id="rId50"/>
    <p:sldId id="279" r:id="rId51"/>
    <p:sldId id="280" r:id="rId52"/>
    <p:sldId id="281" r:id="rId53"/>
    <p:sldId id="282" r:id="rId54"/>
    <p:sldId id="283" r:id="rId55"/>
    <p:sldId id="284" r:id="rId56"/>
    <p:sldId id="285" r:id="rId57"/>
    <p:sldId id="286" r:id="rId58"/>
    <p:sldId id="287" r:id="rId59"/>
    <p:sldId id="288" r:id="rId6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52.xml"/><Relationship Id="rId22" Type="http://schemas.openxmlformats.org/officeDocument/2006/relationships/slideMaster" Target="slideMasters/slideMaster53.xml"/><Relationship Id="rId23" Type="http://schemas.openxmlformats.org/officeDocument/2006/relationships/slideMaster" Target="slideMasters/slideMaster54.xml"/><Relationship Id="rId24" Type="http://schemas.openxmlformats.org/officeDocument/2006/relationships/slideMaster" Target="slideMasters/slideMaster55.xml"/><Relationship Id="rId25" Type="http://schemas.openxmlformats.org/officeDocument/2006/relationships/slideMaster" Target="slideMasters/slideMaster56.xml"/><Relationship Id="rId26" Type="http://schemas.openxmlformats.org/officeDocument/2006/relationships/slideMaster" Target="slideMasters/slideMaster57.xml"/><Relationship Id="rId27" Type="http://schemas.openxmlformats.org/officeDocument/2006/relationships/notesMaster" Target="notesMasters/notesMaster1.xml"/><Relationship Id="rId28" Type="http://schemas.openxmlformats.org/officeDocument/2006/relationships/slide" Target="slides/slide1.xml"/><Relationship Id="rId29" Type="http://schemas.openxmlformats.org/officeDocument/2006/relationships/slide" Target="slides/slide2.xml"/><Relationship Id="rId30" Type="http://schemas.openxmlformats.org/officeDocument/2006/relationships/slide" Target="slides/slide3.xml"/><Relationship Id="rId31" Type="http://schemas.openxmlformats.org/officeDocument/2006/relationships/slide" Target="slides/slide4.xml"/><Relationship Id="rId32" Type="http://schemas.openxmlformats.org/officeDocument/2006/relationships/slide" Target="slides/slide5.xml"/><Relationship Id="rId33" Type="http://schemas.openxmlformats.org/officeDocument/2006/relationships/slide" Target="slides/slide6.xml"/><Relationship Id="rId34" Type="http://schemas.openxmlformats.org/officeDocument/2006/relationships/slide" Target="slides/slide7.xml"/><Relationship Id="rId35" Type="http://schemas.openxmlformats.org/officeDocument/2006/relationships/slide" Target="slides/slide8.xml"/><Relationship Id="rId36" Type="http://schemas.openxmlformats.org/officeDocument/2006/relationships/slide" Target="slides/slide9.xml"/><Relationship Id="rId37" Type="http://schemas.openxmlformats.org/officeDocument/2006/relationships/slide" Target="slides/slide10.xml"/><Relationship Id="rId38" Type="http://schemas.openxmlformats.org/officeDocument/2006/relationships/slide" Target="slides/slide11.xml"/><Relationship Id="rId39" Type="http://schemas.openxmlformats.org/officeDocument/2006/relationships/slide" Target="slides/slide12.xml"/><Relationship Id="rId40" Type="http://schemas.openxmlformats.org/officeDocument/2006/relationships/slide" Target="slides/slide13.xml"/><Relationship Id="rId41" Type="http://schemas.openxmlformats.org/officeDocument/2006/relationships/slide" Target="slides/slide14.xml"/><Relationship Id="rId42" Type="http://schemas.openxmlformats.org/officeDocument/2006/relationships/slide" Target="slides/slide15.xml"/><Relationship Id="rId43" Type="http://schemas.openxmlformats.org/officeDocument/2006/relationships/slide" Target="slides/slide16.xml"/><Relationship Id="rId44" Type="http://schemas.openxmlformats.org/officeDocument/2006/relationships/slide" Target="slides/slide17.xml"/><Relationship Id="rId45" Type="http://schemas.openxmlformats.org/officeDocument/2006/relationships/slide" Target="slides/slide18.xml"/><Relationship Id="rId46" Type="http://schemas.openxmlformats.org/officeDocument/2006/relationships/slide" Target="slides/slide19.xml"/><Relationship Id="rId47" Type="http://schemas.openxmlformats.org/officeDocument/2006/relationships/slide" Target="slides/slide20.xml"/><Relationship Id="rId48" Type="http://schemas.openxmlformats.org/officeDocument/2006/relationships/slide" Target="slides/slide21.xml"/><Relationship Id="rId49" Type="http://schemas.openxmlformats.org/officeDocument/2006/relationships/slide" Target="slides/slide22.xml"/><Relationship Id="rId50" Type="http://schemas.openxmlformats.org/officeDocument/2006/relationships/slide" Target="slides/slide23.xml"/><Relationship Id="rId51" Type="http://schemas.openxmlformats.org/officeDocument/2006/relationships/slide" Target="slides/slide24.xml"/><Relationship Id="rId52" Type="http://schemas.openxmlformats.org/officeDocument/2006/relationships/slide" Target="slides/slide25.xml"/><Relationship Id="rId53" Type="http://schemas.openxmlformats.org/officeDocument/2006/relationships/slide" Target="slides/slide26.xml"/><Relationship Id="rId54" Type="http://schemas.openxmlformats.org/officeDocument/2006/relationships/slide" Target="slides/slide27.xml"/><Relationship Id="rId55" Type="http://schemas.openxmlformats.org/officeDocument/2006/relationships/slide" Target="slides/slide28.xml"/><Relationship Id="rId56" Type="http://schemas.openxmlformats.org/officeDocument/2006/relationships/slide" Target="slides/slide29.xml"/><Relationship Id="rId57" Type="http://schemas.openxmlformats.org/officeDocument/2006/relationships/slide" Target="slides/slide30.xml"/><Relationship Id="rId58" Type="http://schemas.openxmlformats.org/officeDocument/2006/relationships/slide" Target="slides/slide31.xml"/><Relationship Id="rId59" Type="http://schemas.openxmlformats.org/officeDocument/2006/relationships/slide" Target="slides/slide32.xml"/><Relationship Id="rId60" Type="http://schemas.openxmlformats.org/officeDocument/2006/relationships/slide" Target="slides/slide33.xml"/><Relationship Id="rId6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457AAB2-2D58-479B-B007-7350FCF57A5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PlaceHolder 1"/>
          <p:cNvSpPr>
            <a:spLocks noGrp="1"/>
          </p:cNvSpPr>
          <p:nvPr>
            <p:ph type="sldImg"/>
          </p:nvPr>
        </p:nvSpPr>
        <p:spPr>
          <a:xfrm>
            <a:off x="533520" y="763560"/>
            <a:ext cx="6692040" cy="3760200"/>
          </a:xfrm>
          <a:prstGeom prst="rect">
            <a:avLst/>
          </a:prstGeom>
          <a:ln w="0">
            <a:noFill/>
          </a:ln>
        </p:spPr>
      </p:sp>
      <p:sp>
        <p:nvSpPr>
          <p:cNvPr id="79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05680" cy="451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TextShape 1"/>
          <p:cNvSpPr/>
          <p:nvPr/>
        </p:nvSpPr>
        <p:spPr>
          <a:xfrm>
            <a:off x="4399200" y="9555480"/>
            <a:ext cx="3360960" cy="49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FFD7E650-5852-4030-88EE-CEAD4F02CB15}" type="slidenum"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PlaceHolder 1"/>
          <p:cNvSpPr>
            <a:spLocks noGrp="1"/>
          </p:cNvSpPr>
          <p:nvPr>
            <p:ph type="sldImg"/>
          </p:nvPr>
        </p:nvSpPr>
        <p:spPr>
          <a:xfrm>
            <a:off x="533520" y="763560"/>
            <a:ext cx="6689160" cy="3757320"/>
          </a:xfrm>
          <a:prstGeom prst="rect">
            <a:avLst/>
          </a:prstGeom>
          <a:ln w="0">
            <a:noFill/>
          </a:ln>
        </p:spPr>
      </p:sp>
      <p:sp>
        <p:nvSpPr>
          <p:cNvPr id="79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02800" cy="451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CustomShape 3"/>
          <p:cNvSpPr/>
          <p:nvPr/>
        </p:nvSpPr>
        <p:spPr>
          <a:xfrm>
            <a:off x="4399200" y="9555480"/>
            <a:ext cx="335808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F6ACD356-E17E-4650-A351-6B6D1CDC1AD7}" type="slidenum"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PlaceHolder 1"/>
          <p:cNvSpPr>
            <a:spLocks noGrp="1"/>
          </p:cNvSpPr>
          <p:nvPr>
            <p:ph type="sldImg"/>
          </p:nvPr>
        </p:nvSpPr>
        <p:spPr>
          <a:xfrm>
            <a:off x="533520" y="763560"/>
            <a:ext cx="6689160" cy="3757320"/>
          </a:xfrm>
          <a:prstGeom prst="rect">
            <a:avLst/>
          </a:prstGeom>
          <a:ln w="0">
            <a:noFill/>
          </a:ln>
        </p:spPr>
      </p:sp>
      <p:sp>
        <p:nvSpPr>
          <p:cNvPr id="79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02800" cy="451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CustomShape 3"/>
          <p:cNvSpPr/>
          <p:nvPr/>
        </p:nvSpPr>
        <p:spPr>
          <a:xfrm>
            <a:off x="4399200" y="9555480"/>
            <a:ext cx="335808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71FE7379-2B61-49B2-941A-179A7FEFD141}" type="slidenum"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5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17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231600" y="36817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/>
          </p:nvPr>
        </p:nvSpPr>
        <p:spPr>
          <a:xfrm>
            <a:off x="609480" y="3681720"/>
            <a:ext cx="1097136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36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09480" y="3681720"/>
            <a:ext cx="1097136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609480" y="36817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6231600" y="36817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/>
          </p:nvPr>
        </p:nvSpPr>
        <p:spPr>
          <a:xfrm>
            <a:off x="609480" y="36817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/>
          </p:nvPr>
        </p:nvSpPr>
        <p:spPr>
          <a:xfrm>
            <a:off x="6231600" y="36817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/>
          </p:nvPr>
        </p:nvSpPr>
        <p:spPr>
          <a:xfrm>
            <a:off x="609480" y="3681720"/>
            <a:ext cx="1097136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36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/>
          </p:nvPr>
        </p:nvSpPr>
        <p:spPr>
          <a:xfrm>
            <a:off x="609480" y="3681720"/>
            <a:ext cx="1097136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4"/>
          <p:cNvSpPr>
            <a:spLocks noGrp="1"/>
          </p:cNvSpPr>
          <p:nvPr>
            <p:ph/>
          </p:nvPr>
        </p:nvSpPr>
        <p:spPr>
          <a:xfrm>
            <a:off x="609480" y="36817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5"/>
          <p:cNvSpPr>
            <a:spLocks noGrp="1"/>
          </p:cNvSpPr>
          <p:nvPr>
            <p:ph/>
          </p:nvPr>
        </p:nvSpPr>
        <p:spPr>
          <a:xfrm>
            <a:off x="6231600" y="36817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43D4546E-A194-4880-AAB0-347F8F210C18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7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8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9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6AE85127-72F7-41DA-A8A8-36E3B5C8C232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71E75EBF-DDF8-4167-9D19-911351D716D2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7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8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27AD2F7C-275E-44E9-BA35-7A54984890C3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D83A27B5-9602-4019-A992-2DB7BD2B5435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8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9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223E3D22-13B8-4AA1-939A-D57245DD0313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FB012C30-5BD5-48F0-9D88-83F8EF56BD03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4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5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2ECC126C-F069-4E91-AF38-D4205814CCEE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04EA8066-A774-4603-95CF-F0381E9A5639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7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8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D0D1EA45-F0AA-4641-9D05-3B66622711A0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C789091D-5A9A-473B-8573-09131B7ABEB5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2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3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8C784590-B58C-4856-A626-4A420AD46466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71E03CFE-752D-4972-A1A0-49CD41E75BF4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4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5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1E2E5E61-F80C-4873-8CCD-283F8F39D6D8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CF91D04A-160D-413E-8197-608B81435DCD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0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1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053D8B8C-E781-444A-9A22-79E1557373F3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9BBF718F-36C3-43F1-BE08-ED1A099DDD88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8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9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B598DB79-F26F-4D47-B365-F54B63EA7EC3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495C52F5-B8FC-4DCB-B5FB-3264A849544F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6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7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C13AC9B0-60FC-460A-94D4-F78BF82AB23F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12CBD670-0605-420B-965C-37BE05273821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2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3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B799664A-7E1C-4B96-B26E-FB7D9D9BCDBF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F79B5495-0DEB-4FD7-A2F3-ABF968B85751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0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1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0108E86A-B47C-4F2F-A2A1-3E95A31DC6F3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100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84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284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94FD19F1-2301-4AF7-8239-71C5FFD7677A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0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1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2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5D57DA9A-DF0D-45F6-AA0E-CC17A18C5C0D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100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000" cy="18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98C64160-4468-4209-87D4-63D41ED6D4E2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2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3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9CE10FD1-BB59-45F7-B6FD-B24D8244FCFE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100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18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000" cy="18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497A52FD-06E0-43F9-83A1-39770BD84550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3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4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A0268755-80FA-4914-9D34-751D1D7874B7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100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130CDD98-48F4-4F62-9248-DE44DE18BE59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3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4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AEFD47B8-974D-4F89-9F32-8B5C494DB7B4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100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84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BC12AC17-4EC0-4FCB-88F3-63BF9CF41264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5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6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7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D7A570D7-6634-4113-9B4B-E7E4FF8C2587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100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284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A89B5249-EB56-474C-82E4-9BA3A240C078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7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8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9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91061789-2AFF-4224-9660-4F68CA5EB4DE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100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3624AA29-E2BC-4CEE-A8C5-7822037591AB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6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7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8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7BD39B2D-E879-41C6-B5B7-57AA480BAA2A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5A329B68-BF96-4E0B-A529-6C1F5DEBABA3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6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7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8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5486B123-E2C2-4EB9-8F2A-69752A8EB83A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C3798B09-D757-42B7-B60D-318303A34B32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6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7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8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B7047C1E-2928-4048-A44C-F9AE62F3E196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100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2840" cy="18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5091C711-0D24-4D5C-B71E-6F17486D36C9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0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1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F3724978-9FE0-428A-85F0-620DD4426F06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C7F7FCD6-9170-4066-A9E8-107EB95E63C8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0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1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27546C7B-37D3-4E37-865D-99D240A9AE0E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3105ECA4-C3B7-4A09-A1AF-724F6D80DB6D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0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1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38F661FB-B814-403A-A815-55201508F702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25B60E4D-289D-4EB5-9483-CD2A8A0AB044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0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1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6500F8EB-53B3-4BBD-840A-ED42A0B6C471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4263D3D5-FA97-4180-BC3B-90FF5767B236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0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1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AF989CBB-676A-4D5F-95A0-1B50C48CE9E9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1CC29E77-710E-44FC-A840-2A062AB4ACBA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0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1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27A3D928-B194-4894-ACE0-30F47A896C0E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CD3F4BDD-C9E3-40F5-8DD6-9F88C0775380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0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1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24717365-9A4C-4E30-90AC-8643C3699129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58B9CD07-05D6-418E-A621-9030A0A82CB4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0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1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A030F64A-8356-43E0-A5B0-BB9EBA38140A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CC266443-D5BB-4D31-9B60-8988E5E146C1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0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1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B2A2348B-38F9-4C89-920E-BE11391EE995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2DFF4805-4C6E-45F8-870E-87159ECAC7EE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0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1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48D4EBDB-3F1B-497D-A749-FE09031CB6E1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A00DB31B-2106-49C5-B448-FFA2C7D2AAC1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0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1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3FD0E09E-5B20-4B52-9A0D-1A9AB5492CE7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15615801-F11A-48B7-860E-F7F3D4C37E1F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0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1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0C6A2AD4-558D-43DE-B633-D965D37CDE4C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AB81425B-E8DD-414C-8EE6-819BEDF48A0B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0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1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5745E06C-7EF8-40A7-8A6D-15843318BDCD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D800A839-78C5-46AA-92CD-40EDB41E1BDF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0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1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C4032D5A-1665-4FBC-8F5B-00C79670FDAB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9DA27FD4-C982-47AC-AC9D-58E1B8917F53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0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1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360CC1A5-4F08-4C00-86BD-75C2E8E53098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A546AE61-3332-4626-93F5-D70DEB946094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0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1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8C099D75-5694-4801-96B2-204B21ED01B8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302350DB-A2D3-4884-90C9-E9417100CD99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0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1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D4299EAF-836E-4D1F-83F4-3D8333DB94F9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4F1CBA52-C09C-43F4-A539-6C569024D0EE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0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1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CD9876F3-72D4-45BD-AA4C-EC74C921A0B4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CCCB1C53-A51B-45EC-935D-6A64CB8FA69B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0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1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EC6EE03E-4F56-444F-9D76-07923BB777F1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E43DDAA0-BF98-4C8A-96DA-4B27ADC6F1A0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0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1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9E5AD948-59E9-4FE7-8F60-D67660551C8B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0.xml"/><Relationship Id="rId24" Type="http://schemas.openxmlformats.org/officeDocument/2006/relationships/slideLayout" Target="../slideLayouts/slideLayout41.xml"/><Relationship Id="rId25" Type="http://schemas.openxmlformats.org/officeDocument/2006/relationships/slideLayout" Target="../slideLayouts/slideLayout42.xml"/><Relationship Id="rId26" Type="http://schemas.openxmlformats.org/officeDocument/2006/relationships/slideLayout" Target="../slideLayouts/slideLayout43.xml"/><Relationship Id="rId27" Type="http://schemas.openxmlformats.org/officeDocument/2006/relationships/slideLayout" Target="../slideLayouts/slideLayout44.xml"/><Relationship Id="rId28" Type="http://schemas.openxmlformats.org/officeDocument/2006/relationships/slideLayout" Target="../slideLayouts/slideLayout45.xml"/><Relationship Id="rId29" Type="http://schemas.openxmlformats.org/officeDocument/2006/relationships/slideLayout" Target="../slideLayouts/slideLayout46.xml"/><Relationship Id="rId30" Type="http://schemas.openxmlformats.org/officeDocument/2006/relationships/slideLayout" Target="../slideLayouts/slideLayout47.xml"/><Relationship Id="rId31" Type="http://schemas.openxmlformats.org/officeDocument/2006/relationships/slideLayout" Target="../slideLayouts/slideLayout48.xml"/><Relationship Id="rId32" Type="http://schemas.openxmlformats.org/officeDocument/2006/relationships/slideLayout" Target="../slideLayouts/slideLayout49.xml"/><Relationship Id="rId33" Type="http://schemas.openxmlformats.org/officeDocument/2006/relationships/slideLayout" Target="../slideLayouts/slideLayout50.xml"/><Relationship Id="rId34" Type="http://schemas.openxmlformats.org/officeDocument/2006/relationships/slideLayout" Target="../slideLayouts/slideLayout51.xml"/><Relationship Id="rId35" Type="http://schemas.openxmlformats.org/officeDocument/2006/relationships/slideLayout" Target="../slideLayouts/slideLayout52.xml"/><Relationship Id="rId36" Type="http://schemas.openxmlformats.org/officeDocument/2006/relationships/slideLayout" Target="../slideLayouts/slideLayout53.xml"/><Relationship Id="rId37" Type="http://schemas.openxmlformats.org/officeDocument/2006/relationships/slideLayout" Target="../slideLayouts/slideLayout54.xml"/><Relationship Id="rId38" Type="http://schemas.openxmlformats.org/officeDocument/2006/relationships/slideLayout" Target="../slideLayouts/slideLayout55.xml"/><Relationship Id="rId39" Type="http://schemas.openxmlformats.org/officeDocument/2006/relationships/slideLayout" Target="../slideLayouts/slideLayout56.xml"/><Relationship Id="rId40" Type="http://schemas.openxmlformats.org/officeDocument/2006/relationships/slideLayout" Target="../slideLayouts/slideLayout57.xml"/><Relationship Id="rId41" Type="http://schemas.openxmlformats.org/officeDocument/2006/relationships/slideLayout" Target="../slideLayouts/slideLayout58.xml"/><Relationship Id="rId42" Type="http://schemas.openxmlformats.org/officeDocument/2006/relationships/slideLayout" Target="../slideLayouts/slideLayout59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0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1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2.xml"/>
</Relationships>
</file>

<file path=ppt/slideMasters/_rels/slideMaster55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3.xml"/>
</Relationships>
</file>

<file path=ppt/slideMasters/_rels/slideMaster56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4.xml"/>
</Relationships>
</file>

<file path=ppt/slideMasters/_rels/slideMaster57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1E48CE8E-F005-488D-A0B0-AE84E493FCCB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CustomShape 4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CustomShape 5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6231600" y="1604520"/>
            <a:ext cx="53535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609480" y="36817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32BA4D71-0EFF-436A-86CA-DD933AE5C1D3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CustomShape 4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CustomShape 5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60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231600" y="36817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9498E9D3-2DED-4501-B0B4-A89CD8A48C43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CustomShape 4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CustomShape 5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23160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609480" y="3681720"/>
            <a:ext cx="109713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4A762CA9-8F2B-4600-B4CC-6ED9E9F7DBDA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CustomShape 4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CustomShape 5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609480" y="3681720"/>
            <a:ext cx="109713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56012743-DCFE-40DE-B3B8-B40816F8EC7B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CustomShape 4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CustomShape 5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623160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609480" y="36817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6231600" y="36817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58160C99-6089-45DF-8A23-5DECF48D2810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CustomShape 4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CustomShape 5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6E011221-8A3F-4F73-81E6-63B88067FD5D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CustomShape 4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CustomShape 5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32D50D1A-ED04-463E-84DA-49FAA555C3ED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CustomShape 4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CustomShape 5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73628DDC-34B2-4C70-B780-05FD19CDCE24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CustomShape 4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CustomShape 5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FDA8F556-5370-40F7-93A4-B1D80949C240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CustomShape 4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CustomShape 5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6231600" y="1604520"/>
            <a:ext cx="53535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43DE36E2-88F5-42A0-9456-1D63AD58EC45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1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CustomShape 4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CustomShape 5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7D24EC75-B654-414D-A257-4EB028D9EDE8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CustomShape 4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CustomShape 5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305B0E59-3299-48A9-ADFD-FBDD941270E0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1D9D1D96-742B-4275-A564-A3666F0C188B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body"/>
          </p:nvPr>
        </p:nvSpPr>
        <p:spPr>
          <a:xfrm>
            <a:off x="6231600" y="1604520"/>
            <a:ext cx="53535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body"/>
          </p:nvPr>
        </p:nvSpPr>
        <p:spPr>
          <a:xfrm>
            <a:off x="609480" y="36817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4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A220B6B3-C1D4-4CD8-859C-C970767ECB08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5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2942563C-6188-4DC8-8660-FBC08898B8F9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body"/>
          </p:nvPr>
        </p:nvSpPr>
        <p:spPr>
          <a:xfrm>
            <a:off x="623160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 type="body"/>
          </p:nvPr>
        </p:nvSpPr>
        <p:spPr>
          <a:xfrm>
            <a:off x="6231600" y="36817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80683B3F-0454-4571-AABF-E82A16750B91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1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BD4F7EF9-7022-4A02-A810-DB4D00FC1CB7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body"/>
          </p:nvPr>
        </p:nvSpPr>
        <p:spPr>
          <a:xfrm>
            <a:off x="623160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 type="body"/>
          </p:nvPr>
        </p:nvSpPr>
        <p:spPr>
          <a:xfrm>
            <a:off x="609480" y="3681720"/>
            <a:ext cx="109713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6351B6AC-210D-41AD-9B73-A9A8A87E1418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7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8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78D62494-082F-4F54-A8FB-DD15B253A945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body"/>
          </p:nvPr>
        </p:nvSpPr>
        <p:spPr>
          <a:xfrm>
            <a:off x="609480" y="3681720"/>
            <a:ext cx="109713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4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B10644C7-FD21-4799-8AFF-789D0AA850B1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1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2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E77C1F26-1B75-45FC-B62E-B9D38D5A3F19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body"/>
          </p:nvPr>
        </p:nvSpPr>
        <p:spPr>
          <a:xfrm>
            <a:off x="623160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 type="body"/>
          </p:nvPr>
        </p:nvSpPr>
        <p:spPr>
          <a:xfrm>
            <a:off x="609480" y="36817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5"/>
          <p:cNvSpPr>
            <a:spLocks noGrp="1"/>
          </p:cNvSpPr>
          <p:nvPr>
            <p:ph type="body"/>
          </p:nvPr>
        </p:nvSpPr>
        <p:spPr>
          <a:xfrm>
            <a:off x="6231600" y="36817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4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944EA699-2054-435F-A700-7B3AB11B5CE7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0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FA80336B-EF2B-482B-82EB-82521577ACB8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4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  <p:sldLayoutId id="2147483710" r:id="rId27"/>
    <p:sldLayoutId id="2147483711" r:id="rId28"/>
    <p:sldLayoutId id="2147483712" r:id="rId29"/>
    <p:sldLayoutId id="2147483713" r:id="rId30"/>
    <p:sldLayoutId id="2147483714" r:id="rId31"/>
    <p:sldLayoutId id="2147483715" r:id="rId32"/>
    <p:sldLayoutId id="2147483716" r:id="rId33"/>
    <p:sldLayoutId id="2147483717" r:id="rId34"/>
    <p:sldLayoutId id="2147483718" r:id="rId35"/>
    <p:sldLayoutId id="2147483719" r:id="rId36"/>
    <p:sldLayoutId id="2147483720" r:id="rId37"/>
    <p:sldLayoutId id="2147483721" r:id="rId38"/>
    <p:sldLayoutId id="2147483722" r:id="rId39"/>
    <p:sldLayoutId id="2147483723" r:id="rId40"/>
    <p:sldLayoutId id="2147483724" r:id="rId41"/>
    <p:sldLayoutId id="2147483725" r:id="rId42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19D32E66-5848-4C3F-AE43-C56437F68F9D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0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1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B09E126F-6226-4CDB-A0A9-D98F156CAB98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4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B6F2427E-6C78-4F7F-94D9-27DA56AB0D84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1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2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3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AB6E1FDA-88D9-4461-8170-7EA05E554897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4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89791E07-6620-479A-9C12-09986FDE53FE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3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4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5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6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7264D6D6-C9D1-4E87-B737-77E108A1B4BB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PlaceHolder 3"/>
          <p:cNvSpPr>
            <a:spLocks noGrp="1"/>
          </p:cNvSpPr>
          <p:nvPr>
            <p:ph type="body"/>
          </p:nvPr>
        </p:nvSpPr>
        <p:spPr>
          <a:xfrm>
            <a:off x="6231600" y="1604520"/>
            <a:ext cx="53535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4"/>
  </p:sldLayoutIdLst>
</p:sldMaster>
</file>

<file path=ppt/slideMasters/slideMaster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5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C476CEBD-F656-49E8-9D97-1B56B14BEF36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7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8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9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0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1577BEAB-57D4-4B15-8969-F4C5B45E7ADF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4"/>
  </p:sldLayoutIdLst>
</p:sldMaster>
</file>

<file path=ppt/slideMasters/slideMaster5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CustomShape 1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5" name="CustomShape 2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46D8A84A-2E95-4B10-AB06-23E60F9E7C7D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CustomShape 3"/>
          <p:cNvSpPr/>
          <p:nvPr/>
        </p:nvSpPr>
        <p:spPr>
          <a:xfrm>
            <a:off x="912240" y="1268280"/>
            <a:ext cx="9203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7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7040" cy="5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8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2880" cy="50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9" name="CustomShape 4"/>
          <p:cNvSpPr/>
          <p:nvPr/>
        </p:nvSpPr>
        <p:spPr>
          <a:xfrm>
            <a:off x="11444760" y="0"/>
            <a:ext cx="736200" cy="684504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0" name="CustomShape 5"/>
          <p:cNvSpPr/>
          <p:nvPr/>
        </p:nvSpPr>
        <p:spPr>
          <a:xfrm>
            <a:off x="11438640" y="6453360"/>
            <a:ext cx="75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AA5AABED-7D8A-40F7-8A2A-24E37C8A2EA4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CustomShape 6"/>
          <p:cNvSpPr/>
          <p:nvPr/>
        </p:nvSpPr>
        <p:spPr>
          <a:xfrm>
            <a:off x="0" y="6642720"/>
            <a:ext cx="12179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4"/>
  </p:sldLayoutIdLst>
</p:sldMaster>
</file>

<file path=ppt/slideMasters/slideMaster5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CustomShape 1"/>
          <p:cNvSpPr/>
          <p:nvPr/>
        </p:nvSpPr>
        <p:spPr>
          <a:xfrm>
            <a:off x="11444760" y="0"/>
            <a:ext cx="733680" cy="68425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3" name="CustomShape 2"/>
          <p:cNvSpPr/>
          <p:nvPr/>
        </p:nvSpPr>
        <p:spPr>
          <a:xfrm>
            <a:off x="11438640" y="6453360"/>
            <a:ext cx="750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608B1C9C-6CB2-4741-875D-0624209A15F7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CustomShape 3"/>
          <p:cNvSpPr/>
          <p:nvPr/>
        </p:nvSpPr>
        <p:spPr>
          <a:xfrm>
            <a:off x="912240" y="1268280"/>
            <a:ext cx="92005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5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44520" cy="55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6" name="Grafik 2"/>
          <p:cNvPicPr/>
          <p:nvPr/>
        </p:nvPicPr>
        <p:blipFill>
          <a:blip r:embed="rId3"/>
          <a:stretch/>
        </p:blipFill>
        <p:spPr>
          <a:xfrm>
            <a:off x="7430400" y="134640"/>
            <a:ext cx="3690360" cy="50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7" name="CustomShape 4"/>
          <p:cNvSpPr/>
          <p:nvPr/>
        </p:nvSpPr>
        <p:spPr>
          <a:xfrm>
            <a:off x="11444760" y="0"/>
            <a:ext cx="733680" cy="68425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8" name="CustomShape 5"/>
          <p:cNvSpPr/>
          <p:nvPr/>
        </p:nvSpPr>
        <p:spPr>
          <a:xfrm>
            <a:off x="11438640" y="6453360"/>
            <a:ext cx="750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fld id="{8420CA83-6C49-421B-87E0-60359269ED85}" type="slidenum">
              <a:rPr lang="en-US" sz="1800" b="0" u="none" strike="noStrik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CustomShape 6"/>
          <p:cNvSpPr/>
          <p:nvPr/>
        </p:nvSpPr>
        <p:spPr>
          <a:xfrm>
            <a:off x="0" y="6642720"/>
            <a:ext cx="121766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800" b="0" u="none" strike="noStrik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Emerging Technologies for the Circular Economy – TU Clausthal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creativecommons.org/licenses/by-sa/4.0/" TargetMode="External"/><Relationship Id="rId2" Type="http://schemas.openxmlformats.org/officeDocument/2006/relationships/hyperlink" Target="https://github.com/ETCE-LAB/teaching-material/tree/master/The-Limits-to-Growth" TargetMode="External"/><Relationship Id="rId3" Type="http://schemas.openxmlformats.org/officeDocument/2006/relationships/slideLayout" Target="../slideLayouts/slideLayout2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slideLayout" Target="../slideLayouts/slideLayout2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s://www.etce-lab.de/" TargetMode="External"/><Relationship Id="rId2" Type="http://schemas.openxmlformats.org/officeDocument/2006/relationships/slideLayout" Target="../slideLayouts/slideLayout29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s://github.com/ETCE-LAB/teaching-material/tree/master/IoT-and-Digitalization-for-Circular-Economy#readme" TargetMode="External"/><Relationship Id="rId2" Type="http://schemas.openxmlformats.org/officeDocument/2006/relationships/slideLayout" Target="../slideLayouts/slideLayout2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s://webconf.tu-clausthal.de/b/ben-rtl-yv4-kkk" TargetMode="External"/><Relationship Id="rId2" Type="http://schemas.openxmlformats.org/officeDocument/2006/relationships/hyperlink" Target="https://webconf.tu-clausthal.de/b/ben-rtl-yv4-kkk" TargetMode="External"/><Relationship Id="rId3" Type="http://schemas.openxmlformats.org/officeDocument/2006/relationships/slideLayout" Target="../slideLayouts/slideLayout2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hyperlink" Target="https://cocalc.gwdg.de/" TargetMode="External"/><Relationship Id="rId2" Type="http://schemas.openxmlformats.org/officeDocument/2006/relationships/hyperlink" Target="https://github.com/ETCE-LAB/teaching-material/tree/master/IoT-and-Digitalization-for-the-Circular-Economy#exercises" TargetMode="External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6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6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6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6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6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6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6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6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6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6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6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65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65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CustomShape 1"/>
          <p:cNvSpPr/>
          <p:nvPr/>
        </p:nvSpPr>
        <p:spPr>
          <a:xfrm>
            <a:off x="527400" y="1412640"/>
            <a:ext cx="103561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>
              <a:lnSpc>
                <a:spcPct val="100000"/>
              </a:lnSpc>
            </a:pPr>
            <a:r>
              <a:rPr lang="en-US" sz="3200" b="1" u="none" strike="noStrike">
                <a:solidFill>
                  <a:srgbClr val="008C4F"/>
                </a:solidFill>
                <a:effectLst/>
                <a:uFillTx/>
                <a:latin typeface="DejaVu Sans"/>
                <a:ea typeface="DejaVu Sans"/>
              </a:rPr>
              <a:t>IoT and Digitalization for the Circular Economy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CustomShape 2"/>
          <p:cNvSpPr/>
          <p:nvPr/>
        </p:nvSpPr>
        <p:spPr>
          <a:xfrm>
            <a:off x="527400" y="2852640"/>
            <a:ext cx="10356120" cy="236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Lecture 0: Organization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41"/>
              </a:spcBef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41"/>
              </a:spcBef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Prof. Dr. Benjamin Leiding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M.Sc. Anant Sujatanagarjuna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M.Sc Chintan Patel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CustomShape 1"/>
          <p:cNvSpPr/>
          <p:nvPr/>
        </p:nvSpPr>
        <p:spPr>
          <a:xfrm>
            <a:off x="335520" y="764640"/>
            <a:ext cx="1073448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License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CustomShape 2"/>
          <p:cNvSpPr/>
          <p:nvPr/>
        </p:nvSpPr>
        <p:spPr>
          <a:xfrm>
            <a:off x="335520" y="1268280"/>
            <a:ext cx="10734480" cy="50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288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This work is licensed under a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Creative Commons Attribution-ShareAlike 4.0 International License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. To view a copy of this license, please refer to </a:t>
            </a:r>
            <a:r>
              <a:rPr lang="en-US" sz="1800" b="0" u="sng" strike="noStrike">
                <a:solidFill>
                  <a:srgbClr val="0000FF"/>
                </a:solidFill>
                <a:effectLst/>
                <a:uFillTx/>
                <a:latin typeface="DejaVu Sans"/>
                <a:ea typeface="DejaVu Sans"/>
                <a:hlinkClick r:id="rId1"/>
              </a:rPr>
              <a:t>https://creativecommons.org/licenses/by-sa/4.0/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288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Updated versions of these slides will be available in our </a:t>
            </a:r>
            <a:r>
              <a:rPr lang="en-US" sz="1800" b="0" u="sng" strike="noStrike">
                <a:solidFill>
                  <a:srgbClr val="0000FF"/>
                </a:solidFill>
                <a:effectLst/>
                <a:uFillTx/>
                <a:latin typeface="DejaVu Sans"/>
                <a:ea typeface="DejaVu Sans"/>
                <a:hlinkClick r:id="rId2"/>
              </a:rPr>
              <a:t>Github repository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CustomShape 1"/>
          <p:cNvSpPr/>
          <p:nvPr/>
        </p:nvSpPr>
        <p:spPr>
          <a:xfrm>
            <a:off x="335520" y="764640"/>
            <a:ext cx="1074024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Team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3" name="Grafik 2"/>
          <p:cNvPicPr/>
          <p:nvPr/>
        </p:nvPicPr>
        <p:blipFill>
          <a:blip r:embed="rId1"/>
          <a:stretch/>
        </p:blipFill>
        <p:spPr>
          <a:xfrm>
            <a:off x="1784520" y="1710720"/>
            <a:ext cx="1463040" cy="216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4" name="Grafik 11"/>
          <p:cNvPicPr/>
          <p:nvPr/>
        </p:nvPicPr>
        <p:blipFill>
          <a:blip r:embed="rId2"/>
          <a:stretch/>
        </p:blipFill>
        <p:spPr>
          <a:xfrm>
            <a:off x="7395480" y="2082600"/>
            <a:ext cx="1776960" cy="176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5" name="CustomShape 2"/>
          <p:cNvSpPr/>
          <p:nvPr/>
        </p:nvSpPr>
        <p:spPr>
          <a:xfrm>
            <a:off x="720000" y="3826800"/>
            <a:ext cx="3627720" cy="6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60" algn="ctr">
              <a:lnSpc>
                <a:spcPct val="100000"/>
              </a:lnSpc>
              <a:spcBef>
                <a:spcPts val="360"/>
              </a:spcBef>
            </a:pPr>
            <a:r>
              <a:rPr lang="de-DE" sz="1600" b="0" u="none" strike="noStrike">
                <a:solidFill>
                  <a:srgbClr val="595959"/>
                </a:solidFill>
                <a:effectLst/>
                <a:uFillTx/>
                <a:latin typeface="DejaVu Sans"/>
                <a:ea typeface="DejaVu Sans"/>
              </a:rPr>
              <a:t>Prof. Dr. Benjamin Leiding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" algn="ctr">
              <a:lnSpc>
                <a:spcPct val="100000"/>
              </a:lnSpc>
              <a:spcBef>
                <a:spcPts val="360"/>
              </a:spcBef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CustomShape 3"/>
          <p:cNvSpPr/>
          <p:nvPr/>
        </p:nvSpPr>
        <p:spPr>
          <a:xfrm>
            <a:off x="6448320" y="3826800"/>
            <a:ext cx="3627720" cy="6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60" algn="ctr">
              <a:lnSpc>
                <a:spcPct val="100000"/>
              </a:lnSpc>
              <a:spcBef>
                <a:spcPts val="360"/>
              </a:spcBef>
            </a:pPr>
            <a:r>
              <a:rPr lang="de-DE" sz="1600" b="0" u="none" strike="noStrike">
                <a:solidFill>
                  <a:srgbClr val="595959"/>
                </a:solidFill>
                <a:effectLst/>
                <a:uFillTx/>
                <a:latin typeface="DejaVu Sans"/>
                <a:ea typeface="DejaVu Sans"/>
              </a:rPr>
              <a:t>M.Sc. Anant Sujatanagarjuna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" algn="ctr">
              <a:lnSpc>
                <a:spcPct val="100000"/>
              </a:lnSpc>
              <a:spcBef>
                <a:spcPts val="360"/>
              </a:spcBef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CustomShape 14"/>
          <p:cNvSpPr/>
          <p:nvPr/>
        </p:nvSpPr>
        <p:spPr>
          <a:xfrm>
            <a:off x="3569040" y="5987160"/>
            <a:ext cx="362700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60" algn="ctr">
              <a:lnSpc>
                <a:spcPct val="100000"/>
              </a:lnSpc>
              <a:spcBef>
                <a:spcPts val="360"/>
              </a:spcBef>
            </a:pPr>
            <a:r>
              <a:rPr lang="de-DE" sz="1600" b="0" u="none" strike="noStrike">
                <a:solidFill>
                  <a:srgbClr val="595959"/>
                </a:solidFill>
                <a:effectLst/>
                <a:uFillTx/>
                <a:latin typeface="DejaVu Sans"/>
                <a:ea typeface="DejaVu Sans"/>
              </a:rPr>
              <a:t>M.Sc. Chintan Patel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8" name="Picture 322"/>
          <p:cNvPicPr/>
          <p:nvPr/>
        </p:nvPicPr>
        <p:blipFill>
          <a:blip r:embed="rId3"/>
          <a:srcRect l="0" t="4799" r="0" b="28459"/>
          <a:stretch/>
        </p:blipFill>
        <p:spPr>
          <a:xfrm>
            <a:off x="4500000" y="4320000"/>
            <a:ext cx="1794240" cy="179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CustomShape 5"/>
          <p:cNvSpPr/>
          <p:nvPr/>
        </p:nvSpPr>
        <p:spPr>
          <a:xfrm>
            <a:off x="542880" y="721800"/>
            <a:ext cx="10348920" cy="4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GB" sz="22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Research Group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CustomShape 6"/>
          <p:cNvSpPr/>
          <p:nvPr/>
        </p:nvSpPr>
        <p:spPr>
          <a:xfrm>
            <a:off x="451800" y="1709280"/>
            <a:ext cx="8216280" cy="43444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Shape 2"/>
          <p:cNvSpPr/>
          <p:nvPr/>
        </p:nvSpPr>
        <p:spPr>
          <a:xfrm>
            <a:off x="609480" y="1769400"/>
            <a:ext cx="10579320" cy="48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marL="216000" indent="-216000">
              <a:lnSpc>
                <a:spcPct val="90000"/>
              </a:lnSpc>
              <a:spcBef>
                <a:spcPts val="1009"/>
              </a:spcBef>
              <a:buClr>
                <a:srgbClr val="008C4F"/>
              </a:buClr>
              <a:buSzPct val="45000"/>
              <a:buFont typeface="DejaVu Sans"/>
              <a:buChar char="◾"/>
            </a:pPr>
            <a:r>
              <a:rPr lang="en-GB" sz="20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</a:t>
            </a: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merging </a:t>
            </a:r>
            <a:r>
              <a:rPr lang="en-GB" sz="20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</a:t>
            </a: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echnologies for the </a:t>
            </a:r>
            <a:r>
              <a:rPr lang="en-GB" sz="20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</a:t>
            </a: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ircular </a:t>
            </a:r>
            <a:r>
              <a:rPr lang="en-GB" sz="20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</a:t>
            </a: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conomy → </a:t>
            </a:r>
            <a:r>
              <a:rPr lang="en-GB" sz="20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ETCE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009"/>
              </a:spcBef>
              <a:buClr>
                <a:srgbClr val="008C4F"/>
              </a:buClr>
              <a:buSzPct val="45000"/>
              <a:buFont typeface="DejaVu Sans"/>
              <a:buChar char="◾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Research focus: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1009"/>
              </a:spcBef>
              <a:buClr>
                <a:srgbClr val="008C4F"/>
              </a:buClr>
              <a:buSzPct val="60000"/>
              <a:buFont typeface="DejaVu Sans"/>
              <a:buChar char="—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Intersection of IT and sustainability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1009"/>
              </a:spcBef>
              <a:buClr>
                <a:srgbClr val="008C4F"/>
              </a:buClr>
              <a:buSzPct val="60000"/>
              <a:buFont typeface="DejaVu Sans"/>
              <a:buChar char="—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Circular Economy and Circular Societies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1009"/>
              </a:spcBef>
              <a:buClr>
                <a:srgbClr val="008C4F"/>
              </a:buClr>
              <a:buSzPct val="60000"/>
              <a:buFont typeface="DejaVu Sans"/>
              <a:buChar char="—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Self-organized, decentralized and distributed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1009"/>
              </a:spcBef>
              <a:buClr>
                <a:srgbClr val="008C4F"/>
              </a:buClr>
              <a:buSzPct val="60000"/>
              <a:buFont typeface="DejaVu Sans"/>
              <a:buChar char="—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Sustainable and resilient food production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009"/>
              </a:spcBef>
              <a:buClr>
                <a:srgbClr val="008C4F"/>
              </a:buClr>
              <a:buSzPct val="45000"/>
              <a:buFont typeface="DejaVu Sans"/>
              <a:buChar char="◾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Other courses: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1009"/>
              </a:spcBef>
              <a:buClr>
                <a:srgbClr val="008C4F"/>
              </a:buClr>
              <a:buSzPct val="60000"/>
              <a:buFont typeface="DejaVu Sans"/>
              <a:buChar char="—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Requirements Engineering (WS – M.Sc.)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1009"/>
              </a:spcBef>
              <a:buClr>
                <a:srgbClr val="008C4F"/>
              </a:buClr>
              <a:buSzPct val="60000"/>
              <a:buFont typeface="DejaVu Sans"/>
              <a:buChar char="—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The Limits to Growth – Sustainability and the Circular Economy (WS – open for everyone)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CustomShape 1"/>
          <p:cNvSpPr/>
          <p:nvPr/>
        </p:nvSpPr>
        <p:spPr>
          <a:xfrm>
            <a:off x="542880" y="721800"/>
            <a:ext cx="1034604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Research Group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CustomShape 2"/>
          <p:cNvSpPr/>
          <p:nvPr/>
        </p:nvSpPr>
        <p:spPr>
          <a:xfrm>
            <a:off x="451800" y="1709280"/>
            <a:ext cx="8213400" cy="4341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CustomShape 3"/>
          <p:cNvSpPr/>
          <p:nvPr/>
        </p:nvSpPr>
        <p:spPr>
          <a:xfrm>
            <a:off x="609480" y="1769400"/>
            <a:ext cx="10576440" cy="48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marL="216000" indent="-216000">
              <a:lnSpc>
                <a:spcPct val="90000"/>
              </a:lnSpc>
              <a:spcBef>
                <a:spcPts val="1009"/>
              </a:spcBef>
              <a:buClr>
                <a:srgbClr val="008C4F"/>
              </a:buClr>
              <a:buSzPct val="45000"/>
              <a:buFont typeface="DejaVu Sans"/>
              <a:buChar char="◾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ETCE Website – </a:t>
            </a:r>
            <a:r>
              <a:rPr lang="de-DE" sz="2000" b="0" u="sng" strike="noStrike">
                <a:solidFill>
                  <a:srgbClr val="0000FF"/>
                </a:solidFill>
                <a:effectLst/>
                <a:uFillTx/>
                <a:latin typeface="DejaVu Sans"/>
                <a:ea typeface="DejaVu Sans"/>
                <a:hlinkClick r:id="rId1"/>
              </a:rPr>
              <a:t>Link</a:t>
            </a: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1009"/>
              </a:spcBef>
              <a:buClr>
                <a:srgbClr val="008C4F"/>
              </a:buClr>
              <a:buSzPct val="60000"/>
              <a:buFont typeface="DejaVu Sans"/>
              <a:buChar char="—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Course material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1009"/>
              </a:spcBef>
              <a:buClr>
                <a:srgbClr val="008C4F"/>
              </a:buClr>
              <a:buSzPct val="60000"/>
              <a:buFont typeface="DejaVu Sans"/>
              <a:buChar char="—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Theses/project topics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9"/>
              </a:spcBef>
            </a:pPr>
            <a:r>
              <a:rPr lang="en-GB" sz="2000" b="0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You want join us? Write us an email!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3200" algn="ctr">
              <a:lnSpc>
                <a:spcPct val="90000"/>
              </a:lnSpc>
              <a:spcBef>
                <a:spcPts val="1009"/>
              </a:spcBef>
              <a:tabLst>
                <a:tab pos="0" algn="l"/>
              </a:tabLst>
            </a:pPr>
            <a:r>
              <a:rPr lang="en-GB" sz="1600" b="0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→ benjamin.leiding@tu-clausthal.de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CustomShape 1"/>
          <p:cNvSpPr/>
          <p:nvPr/>
        </p:nvSpPr>
        <p:spPr>
          <a:xfrm>
            <a:off x="542880" y="721800"/>
            <a:ext cx="1034604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Learning Outcome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CustomShape 2"/>
          <p:cNvSpPr/>
          <p:nvPr/>
        </p:nvSpPr>
        <p:spPr>
          <a:xfrm>
            <a:off x="451800" y="1709280"/>
            <a:ext cx="8213400" cy="4341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CustomShape 3"/>
          <p:cNvSpPr/>
          <p:nvPr/>
        </p:nvSpPr>
        <p:spPr>
          <a:xfrm>
            <a:off x="609480" y="1769400"/>
            <a:ext cx="10576440" cy="48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marL="216000" indent="-210600">
              <a:lnSpc>
                <a:spcPct val="90000"/>
              </a:lnSpc>
              <a:spcBef>
                <a:spcPts val="1009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Understanding the concept of a circular economy, sustainability, and related concepts (biocapacity, etc.).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0600">
              <a:lnSpc>
                <a:spcPct val="90000"/>
              </a:lnSpc>
              <a:spcBef>
                <a:spcPts val="1009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Gain a basic understanding of causes, dimensions, and the characterization of climate change, environmental pollution, and dwindling non-renewable resources.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0600">
              <a:lnSpc>
                <a:spcPct val="90000"/>
              </a:lnSpc>
              <a:spcBef>
                <a:spcPts val="1009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Introduction to IoT and cyberphysical systems in the circular economy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0600">
              <a:lnSpc>
                <a:spcPct val="90000"/>
              </a:lnSpc>
              <a:spcBef>
                <a:spcPts val="1009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Sensors and actuators for IoT, control and process systems of the circular economy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0600">
              <a:lnSpc>
                <a:spcPct val="90000"/>
              </a:lnSpc>
              <a:spcBef>
                <a:spcPts val="1009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Experience in prototyping IoT applications and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0600">
              <a:lnSpc>
                <a:spcPct val="90000"/>
              </a:lnSpc>
              <a:spcBef>
                <a:spcPts val="1009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The ability to critically assess upcoming technological solutions enabling/facilitating sustainability and the circular economy.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CustomShape 15"/>
          <p:cNvSpPr/>
          <p:nvPr/>
        </p:nvSpPr>
        <p:spPr>
          <a:xfrm>
            <a:off x="335520" y="764640"/>
            <a:ext cx="107395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Lectures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CustomShape 16"/>
          <p:cNvSpPr/>
          <p:nvPr/>
        </p:nvSpPr>
        <p:spPr>
          <a:xfrm>
            <a:off x="335520" y="1268640"/>
            <a:ext cx="10739520" cy="50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27.04.2026 → Organization (L00)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04.05.2026 → Introduction (L01)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11.05.2026 → Circular Economy (L02)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18.05.2026 → Lifecycle Assessment – LCA I (L03)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01.06.2026 → Lifecycle Assessment – LCA II (L04)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08.06.2026 → Introduction to the Internet of Things (L05)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15.06.2026 → Internet of Things – Communication (L06) + Security and Privacy (L07)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22.06.2026 → Internet of Things – Data Processing and Big Data (L08)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29.06.2026 → IoT in Mining I (L09)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06.07.2026 → IoT in Mining II (L10)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13.07.2026 → Digital Technologies and Greenwashing (L11)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23.07.2026 → Coding Workshop I (Goslar)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24.07.2026 → Coding Workshop II (Goslar)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27.07.2026 → Exam Q&amp;A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CustomShape 7"/>
          <p:cNvSpPr/>
          <p:nvPr/>
        </p:nvSpPr>
        <p:spPr>
          <a:xfrm>
            <a:off x="539640" y="764640"/>
            <a:ext cx="1074312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Exercises (Deadlines)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CustomShape 8"/>
          <p:cNvSpPr/>
          <p:nvPr/>
        </p:nvSpPr>
        <p:spPr>
          <a:xfrm>
            <a:off x="539640" y="1268640"/>
            <a:ext cx="10743120" cy="50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18.05.2026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→</a:t>
            </a: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Exercise 01 – Circular Economy (MC)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01.06.2026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→</a:t>
            </a: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Exercise 02 – Lifecycle Assessment (LCA) – Part 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9368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08.06.2026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→</a:t>
            </a: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Exercise 03 – Lifecycle Assessment (LCA) – Part 2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9368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13.07.2026 → Exercise 04 – IoT in Mining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20.07.2026 → Exercise 05 – TBA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CustomShape 1"/>
          <p:cNvSpPr/>
          <p:nvPr/>
        </p:nvSpPr>
        <p:spPr>
          <a:xfrm>
            <a:off x="335520" y="764640"/>
            <a:ext cx="1074024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Course Organization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CustomShape 2"/>
          <p:cNvSpPr/>
          <p:nvPr/>
        </p:nvSpPr>
        <p:spPr>
          <a:xfrm>
            <a:off x="335520" y="1268280"/>
            <a:ext cx="10740240" cy="50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86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News and updates → StudIP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86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Organization of the lecture: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Slides are available on Github (</a:t>
            </a:r>
            <a:r>
              <a:rPr lang="en-US" sz="1800" b="0" u="sng" strike="noStrike">
                <a:solidFill>
                  <a:srgbClr val="0000FF"/>
                </a:solidFill>
                <a:effectLst/>
                <a:uFillTx/>
                <a:latin typeface="DejaVu Sans"/>
                <a:ea typeface="DejaVu Sans"/>
                <a:hlinkClick r:id="rId1"/>
              </a:rPr>
              <a:t>Link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Symbol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Please report bugs!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Lectures and exercises as live stream (BBB – next slide)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Lecture recordings will be available on StudIP and on Github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Exercise time slots </a:t>
            </a: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=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Time for questions and eventual tutorials related to the exercises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Questions? Write us an email: </a:t>
            </a:r>
            <a:r>
              <a:rPr lang="en-GB" sz="1800" b="0" u="sng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etce-iot@tu-clausthal.de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← 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We will </a:t>
            </a:r>
            <a:r>
              <a:rPr lang="en-GB" sz="1800" b="1" u="sng" strike="noStrike">
                <a:solidFill>
                  <a:srgbClr val="C9211E"/>
                </a:solidFill>
                <a:effectLst/>
                <a:uFillTx/>
                <a:latin typeface="DejaVu Sans"/>
                <a:ea typeface="DejaVu Sans"/>
              </a:rPr>
              <a:t>only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respond to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emails written to this specific email address!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CustomShape 1"/>
          <p:cNvSpPr/>
          <p:nvPr/>
        </p:nvSpPr>
        <p:spPr>
          <a:xfrm>
            <a:off x="335520" y="764640"/>
            <a:ext cx="1074024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Dates/Times/Locations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CustomShape 2"/>
          <p:cNvSpPr/>
          <p:nvPr/>
        </p:nvSpPr>
        <p:spPr>
          <a:xfrm>
            <a:off x="335520" y="1268640"/>
            <a:ext cx="10740240" cy="50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DejaVu Sans"/>
              <a:buChar char="◾"/>
            </a:pPr>
            <a:r>
              <a:rPr lang="en-GB" sz="1800" b="0" u="sng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Lecture: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60000"/>
              <a:buFont typeface="DejaVu Sans"/>
              <a:buChar char="—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Monday 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2:15 pm to 3:45 pm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(Berlin time) – 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27.04.2026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to 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13.07.2026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60000"/>
              <a:buFont typeface="DejaVu Sans"/>
              <a:buChar char="—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Location: Goslar Gotec (Am Stollen 19 C, 38640 Goslar, Germany) or via BigBlueButton (</a:t>
            </a:r>
            <a:r>
              <a:rPr lang="en-GB" sz="1800" b="0" u="sng" strike="noStrike">
                <a:solidFill>
                  <a:srgbClr val="0000FF"/>
                </a:solidFill>
                <a:effectLst/>
                <a:uFillTx/>
                <a:latin typeface="DejaVu Sans"/>
                <a:ea typeface="DejaVu Sans"/>
                <a:hlinkClick r:id="rId1"/>
              </a:rPr>
              <a:t>Link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) </a:t>
            </a:r>
            <a:r>
              <a:rPr lang="en-GB" sz="1800" b="1" u="sng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OR video recordings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DejaVu Sans"/>
              <a:buChar char="◾"/>
            </a:pPr>
            <a:r>
              <a:rPr lang="en-GB" sz="1800" b="0" u="sng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Exercise / Q&amp;A: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60000"/>
              <a:buFont typeface="DejaVu Sans"/>
              <a:buChar char="—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Monday 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4 pm to 4:45 pm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(Berlin time) – 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27.04.2026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to 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13.07.2026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60000"/>
              <a:buFont typeface="DejaVu Sans"/>
              <a:buChar char="—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Location: Goslar Gotec (Am Stollen 19 C, 38640 Goslar, Germany) or via BigBlueButton (</a:t>
            </a:r>
            <a:r>
              <a:rPr lang="en-GB" sz="1800" b="0" u="sng" strike="noStrike">
                <a:solidFill>
                  <a:srgbClr val="0000FF"/>
                </a:solidFill>
                <a:effectLst/>
                <a:uFillTx/>
                <a:latin typeface="DejaVu Sans"/>
                <a:ea typeface="DejaVu Sans"/>
                <a:hlinkClick r:id="rId2"/>
              </a:rPr>
              <a:t>Link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DejaVu Sans"/>
              <a:buChar char="◾"/>
            </a:pPr>
            <a:r>
              <a:rPr lang="en-GB" sz="1800" b="0" u="sng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Practical Coding Workshop: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60000"/>
              <a:buFont typeface="DejaVu Sans"/>
              <a:buChar char="—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When: 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23.07.2026 and 24.07.2026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from 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10 am – 5 pm (Berlin time)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60000"/>
              <a:buFont typeface="DejaVu Sans"/>
              <a:buChar char="—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Location: Goslar (DIGIT – Wallstr. 6, 38640 Goslar)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CustomShape 1"/>
          <p:cNvSpPr/>
          <p:nvPr/>
        </p:nvSpPr>
        <p:spPr>
          <a:xfrm>
            <a:off x="335520" y="764640"/>
            <a:ext cx="1074024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Exercises and Practical Workshop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CustomShape 2"/>
          <p:cNvSpPr/>
          <p:nvPr/>
        </p:nvSpPr>
        <p:spPr>
          <a:xfrm>
            <a:off x="335520" y="1268280"/>
            <a:ext cx="10740240" cy="50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86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Individual work</a:t>
            </a: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→</a:t>
            </a: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no group submissions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86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Multiple-Choice or written exercises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86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Multiple-Choice exercises are considered “self-evaluations” and are not submitted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86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Submission of 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each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written exercise is 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mandatory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en-GB" sz="1800" b="1" u="sng" strike="noStrike">
                <a:solidFill>
                  <a:srgbClr val="C9211E"/>
                </a:solidFill>
                <a:effectLst/>
                <a:uFillTx/>
                <a:latin typeface="DejaVu Sans"/>
                <a:ea typeface="DejaVu Sans"/>
              </a:rPr>
              <a:t>You pass by receiving a grade greater than 0.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86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You will receive feedback on your submission (during Q&amp;A session)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86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Exercise = learning feedback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86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Practical workshop → You pass the workshop if you score 50% (or more)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" algn="ctr">
              <a:lnSpc>
                <a:spcPct val="100000"/>
              </a:lnSpc>
              <a:spcBef>
                <a:spcPts val="360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" algn="ctr">
              <a:lnSpc>
                <a:spcPct val="100000"/>
              </a:lnSpc>
              <a:spcBef>
                <a:spcPts val="360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" algn="ctr">
              <a:lnSpc>
                <a:spcPct val="100000"/>
              </a:lnSpc>
              <a:spcBef>
                <a:spcPts val="360"/>
              </a:spcBef>
            </a:pPr>
            <a:r>
              <a:rPr lang="en-GB" sz="1800" b="1" u="none" strike="noStrik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More info on points, percentages, etc. follow on the next slides (Examination)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CustomShape 13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Exercise Submission and Grading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CustomShape 17"/>
          <p:cNvSpPr/>
          <p:nvPr/>
        </p:nvSpPr>
        <p:spPr>
          <a:xfrm>
            <a:off x="335520" y="1600200"/>
            <a:ext cx="4464000" cy="46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 2" charset="2"/>
              <a:buChar char="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Exercises are graded semi-automatically. Due to this it is highly important that you follow the required submission format. Otherwise the grading process will fail and you will receive 0 points.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 2" charset="2"/>
              <a:buChar char="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Exercises will be provided to you via Cocalc </a:t>
            </a:r>
            <a:r>
              <a:rPr lang="de-DE" sz="1800" b="0" u="sng" strike="noStrike">
                <a:solidFill>
                  <a:srgbClr val="0000FF"/>
                </a:solidFill>
                <a:effectLst/>
                <a:uFillTx/>
                <a:latin typeface="DejaVu Sans"/>
                <a:ea typeface="DejaVu Sans"/>
                <a:hlinkClick r:id="rId1"/>
              </a:rPr>
              <a:t>https://cocalc.gwdg.de/</a:t>
            </a:r>
            <a:r>
              <a:rPr lang="de-DE" sz="1800" b="0" u="sng" strike="noStrike">
                <a:solidFill>
                  <a:srgbClr val="0000FF"/>
                </a:solidFill>
                <a:effectLst/>
                <a:uFillTx/>
                <a:latin typeface="DejaVu Sans"/>
                <a:ea typeface="DejaVu Sans"/>
              </a:rPr>
              <a:t> </a:t>
            </a: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with additional instructions provided via </a:t>
            </a:r>
            <a:r>
              <a:rPr lang="de-DE" sz="1800" b="0" u="sng" strike="noStrike">
                <a:solidFill>
                  <a:srgbClr val="0000FF"/>
                </a:solidFill>
                <a:effectLst/>
                <a:uFillTx/>
                <a:latin typeface="DejaVu Sans"/>
                <a:ea typeface="DejaVu Sans"/>
                <a:hlinkClick r:id="rId2"/>
              </a:rPr>
              <a:t>GitHub</a:t>
            </a: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CustomShape 18"/>
          <p:cNvSpPr/>
          <p:nvPr/>
        </p:nvSpPr>
        <p:spPr>
          <a:xfrm>
            <a:off x="4655880" y="476640"/>
            <a:ext cx="242388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1" name=""/>
          <p:cNvPicPr/>
          <p:nvPr/>
        </p:nvPicPr>
        <p:blipFill>
          <a:blip r:embed="rId3"/>
          <a:stretch/>
        </p:blipFill>
        <p:spPr>
          <a:xfrm>
            <a:off x="5715000" y="1448280"/>
            <a:ext cx="4856400" cy="4759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CustomShape 19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Coding Exercise Submission and Grading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CustomShape 20"/>
          <p:cNvSpPr/>
          <p:nvPr/>
        </p:nvSpPr>
        <p:spPr>
          <a:xfrm>
            <a:off x="335520" y="1600200"/>
            <a:ext cx="4464000" cy="46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 2" charset="2"/>
              <a:buChar char="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Sign-in using your university credentials.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Click on the “Academic ID” Logo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CustomShape 21"/>
          <p:cNvSpPr/>
          <p:nvPr/>
        </p:nvSpPr>
        <p:spPr>
          <a:xfrm>
            <a:off x="4655880" y="476640"/>
            <a:ext cx="242388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5" name=""/>
          <p:cNvPicPr/>
          <p:nvPr/>
        </p:nvPicPr>
        <p:blipFill>
          <a:blip r:embed="rId1"/>
          <a:stretch/>
        </p:blipFill>
        <p:spPr>
          <a:xfrm>
            <a:off x="5715000" y="1448280"/>
            <a:ext cx="4856400" cy="475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6" name=""/>
          <p:cNvSpPr/>
          <p:nvPr/>
        </p:nvSpPr>
        <p:spPr>
          <a:xfrm>
            <a:off x="5943600" y="5535000"/>
            <a:ext cx="456120" cy="227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8C4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CustomShape 22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Coding Exercise Submission and Grading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CustomShape 23"/>
          <p:cNvSpPr/>
          <p:nvPr/>
        </p:nvSpPr>
        <p:spPr>
          <a:xfrm>
            <a:off x="335520" y="1600200"/>
            <a:ext cx="4464000" cy="46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 2" charset="2"/>
              <a:buChar char="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Sign-in using your university credentials.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on the “Academic ID” Logo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Enter your university email address.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CustomShape 24"/>
          <p:cNvSpPr/>
          <p:nvPr/>
        </p:nvSpPr>
        <p:spPr>
          <a:xfrm>
            <a:off x="4655880" y="476640"/>
            <a:ext cx="242388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0" name=""/>
          <p:cNvPicPr/>
          <p:nvPr/>
        </p:nvPicPr>
        <p:blipFill>
          <a:blip r:embed="rId1"/>
          <a:srcRect l="0" t="0" r="0" b="39009"/>
          <a:stretch/>
        </p:blipFill>
        <p:spPr>
          <a:xfrm>
            <a:off x="5785920" y="1484280"/>
            <a:ext cx="5292360" cy="400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1" name=""/>
          <p:cNvSpPr/>
          <p:nvPr/>
        </p:nvSpPr>
        <p:spPr>
          <a:xfrm>
            <a:off x="5680800" y="4343400"/>
            <a:ext cx="456120" cy="227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8C4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CustomShape 25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Coding Exercise Submission and Grading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CustomShape 26"/>
          <p:cNvSpPr/>
          <p:nvPr/>
        </p:nvSpPr>
        <p:spPr>
          <a:xfrm>
            <a:off x="335520" y="1600200"/>
            <a:ext cx="4464000" cy="46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 2" charset="2"/>
              <a:buChar char="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Sign-in using your university credentials.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on the “Academic ID” Logo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Enter your university email address.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Choose “Technische Universität Clausthal” from the drop-down box.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CustomShape 27"/>
          <p:cNvSpPr/>
          <p:nvPr/>
        </p:nvSpPr>
        <p:spPr>
          <a:xfrm>
            <a:off x="4655880" y="476640"/>
            <a:ext cx="242388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5" name=""/>
          <p:cNvPicPr/>
          <p:nvPr/>
        </p:nvPicPr>
        <p:blipFill>
          <a:blip r:embed="rId1"/>
          <a:srcRect l="0" t="0" r="0" b="26231"/>
          <a:stretch/>
        </p:blipFill>
        <p:spPr>
          <a:xfrm>
            <a:off x="6172200" y="1600200"/>
            <a:ext cx="4875480" cy="426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6" name=""/>
          <p:cNvSpPr/>
          <p:nvPr/>
        </p:nvSpPr>
        <p:spPr>
          <a:xfrm>
            <a:off x="6172200" y="4716000"/>
            <a:ext cx="456120" cy="227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8C4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CustomShape 28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Coding Exercise Submission and Grading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CustomShape 29"/>
          <p:cNvSpPr/>
          <p:nvPr/>
        </p:nvSpPr>
        <p:spPr>
          <a:xfrm>
            <a:off x="335520" y="1600200"/>
            <a:ext cx="4464000" cy="46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 2" charset="2"/>
              <a:buChar char="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Sign-in using your university credentials.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on the “Academic ID” Logo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Enter your university email address.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Choose “Technische Universität Clausthal” from the drop-down box.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Login with your usual TU-Clausthal credentials.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CustomShape 30"/>
          <p:cNvSpPr/>
          <p:nvPr/>
        </p:nvSpPr>
        <p:spPr>
          <a:xfrm>
            <a:off x="4655880" y="476640"/>
            <a:ext cx="242388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0" name=""/>
          <p:cNvPicPr/>
          <p:nvPr/>
        </p:nvPicPr>
        <p:blipFill>
          <a:blip r:embed="rId1"/>
          <a:stretch/>
        </p:blipFill>
        <p:spPr>
          <a:xfrm>
            <a:off x="6172200" y="1600200"/>
            <a:ext cx="4342320" cy="4619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CustomShape 31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Coding Exercise Submission and Grading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CustomShape 32"/>
          <p:cNvSpPr/>
          <p:nvPr/>
        </p:nvSpPr>
        <p:spPr>
          <a:xfrm>
            <a:off x="335520" y="1600200"/>
            <a:ext cx="1040760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 2" charset="2"/>
              <a:buChar char="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Submitting Assignments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on “IoT Mining SoSe26”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CustomShape 33"/>
          <p:cNvSpPr/>
          <p:nvPr/>
        </p:nvSpPr>
        <p:spPr>
          <a:xfrm>
            <a:off x="4655880" y="476640"/>
            <a:ext cx="242388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4" name=""/>
          <p:cNvPicPr/>
          <p:nvPr/>
        </p:nvPicPr>
        <p:blipFill>
          <a:blip r:embed="rId1"/>
          <a:srcRect l="0" t="0" r="16549" b="0"/>
          <a:stretch/>
        </p:blipFill>
        <p:spPr>
          <a:xfrm>
            <a:off x="1067400" y="4343400"/>
            <a:ext cx="9218520" cy="1961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CustomShape 34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Coding Exercise Submission and Grading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CustomShape 35"/>
          <p:cNvSpPr/>
          <p:nvPr/>
        </p:nvSpPr>
        <p:spPr>
          <a:xfrm>
            <a:off x="335520" y="1600200"/>
            <a:ext cx="1040760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 2" charset="2"/>
              <a:buChar char="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Submitting Assignments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on “IoT Mining SoSe26”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Open the folder of the exercise you want to work 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CustomShape 36"/>
          <p:cNvSpPr/>
          <p:nvPr/>
        </p:nvSpPr>
        <p:spPr>
          <a:xfrm>
            <a:off x="4655880" y="476640"/>
            <a:ext cx="242388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8" name=""/>
          <p:cNvPicPr/>
          <p:nvPr/>
        </p:nvPicPr>
        <p:blipFill>
          <a:blip r:embed="rId1"/>
          <a:stretch/>
        </p:blipFill>
        <p:spPr>
          <a:xfrm>
            <a:off x="2057400" y="3657600"/>
            <a:ext cx="6494760" cy="2684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CustomShape 37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Coding Exercise Submission and Grading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CustomShape 38"/>
          <p:cNvSpPr/>
          <p:nvPr/>
        </p:nvSpPr>
        <p:spPr>
          <a:xfrm>
            <a:off x="335520" y="1600200"/>
            <a:ext cx="1040760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 2" charset="2"/>
              <a:buChar char="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Submitting Assignments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on “IoT Mining SoSe26”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Open the folder of the exercise you want to work 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Edit the file in the exercise folder as indicated in the exercise handout PDFs.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CustomShape 39"/>
          <p:cNvSpPr/>
          <p:nvPr/>
        </p:nvSpPr>
        <p:spPr>
          <a:xfrm>
            <a:off x="4655880" y="476640"/>
            <a:ext cx="242388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2" name=""/>
          <p:cNvPicPr/>
          <p:nvPr/>
        </p:nvPicPr>
        <p:blipFill>
          <a:blip r:embed="rId1"/>
          <a:stretch/>
        </p:blipFill>
        <p:spPr>
          <a:xfrm>
            <a:off x="2124360" y="3706200"/>
            <a:ext cx="5875560" cy="2693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CustomShape 40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Coding Exercise Submission and Grading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CustomShape 41"/>
          <p:cNvSpPr/>
          <p:nvPr/>
        </p:nvSpPr>
        <p:spPr>
          <a:xfrm>
            <a:off x="335520" y="1600200"/>
            <a:ext cx="1040760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 2" charset="2"/>
              <a:buChar char="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Submitting Assignments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on “IoT Mining SoSe26”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Open the folder of the exercise you want to work 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Edit the file in the exercise folder as indicated in the exercise handout PDFs.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CustomShape 42"/>
          <p:cNvSpPr/>
          <p:nvPr/>
        </p:nvSpPr>
        <p:spPr>
          <a:xfrm>
            <a:off x="4655880" y="476640"/>
            <a:ext cx="242388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6" name=""/>
          <p:cNvPicPr/>
          <p:nvPr/>
        </p:nvPicPr>
        <p:blipFill>
          <a:blip r:embed="rId1"/>
          <a:srcRect l="0" t="24687" r="0" b="0"/>
          <a:stretch/>
        </p:blipFill>
        <p:spPr>
          <a:xfrm>
            <a:off x="5063400" y="3056400"/>
            <a:ext cx="5655600" cy="3656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CustomShape 43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Coding Exercise Submission and Grading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CustomShape 44"/>
          <p:cNvSpPr/>
          <p:nvPr/>
        </p:nvSpPr>
        <p:spPr>
          <a:xfrm>
            <a:off x="335520" y="1600200"/>
            <a:ext cx="1040760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 2" charset="2"/>
              <a:buChar char="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Exercise Grades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We will collect your exercises after the deadline has elapsed.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Please ensure to save all changes to the exercise folder BEFORE the deadline.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DO NOT submit your assignments via email/other means.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CustomShape 45"/>
          <p:cNvSpPr/>
          <p:nvPr/>
        </p:nvSpPr>
        <p:spPr>
          <a:xfrm>
            <a:off x="4655880" y="476640"/>
            <a:ext cx="242388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CustomShape 46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Coding Exercise Submission and Grading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CustomShape 47"/>
          <p:cNvSpPr/>
          <p:nvPr/>
        </p:nvSpPr>
        <p:spPr>
          <a:xfrm>
            <a:off x="335520" y="1600200"/>
            <a:ext cx="1040760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 2" charset="2"/>
              <a:buChar char="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Exercise Grades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We will collect your exercises after the deadline has elapsed.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Please ensure to save all changes to the exercise folder BEFORE the deadline.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DO NOT submit your assignments via email/other means.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Exercises, once graded will be released back to you.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CustomShape 48"/>
          <p:cNvSpPr/>
          <p:nvPr/>
        </p:nvSpPr>
        <p:spPr>
          <a:xfrm>
            <a:off x="4655880" y="476640"/>
            <a:ext cx="242388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3" name=""/>
          <p:cNvPicPr/>
          <p:nvPr/>
        </p:nvPicPr>
        <p:blipFill>
          <a:blip r:embed="rId1"/>
          <a:stretch/>
        </p:blipFill>
        <p:spPr>
          <a:xfrm>
            <a:off x="2372040" y="3657600"/>
            <a:ext cx="7228080" cy="2856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CustomShape 49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Coding Exercise Submission and Grading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CustomShape 50"/>
          <p:cNvSpPr/>
          <p:nvPr/>
        </p:nvSpPr>
        <p:spPr>
          <a:xfrm>
            <a:off x="335520" y="1600200"/>
            <a:ext cx="1040760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 2" charset="2"/>
              <a:buChar char="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Exercise Grades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We will collect your exercises after the deadline has elapsed.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Please ensure to save all changes to the exercise folder BEFORE the deadline.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DO NOT submit your assignments via email/other means.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Exercises, once graded will be released back to you.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Your grade is provided inside the “GRADE.md” file.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CustomShape 51"/>
          <p:cNvSpPr/>
          <p:nvPr/>
        </p:nvSpPr>
        <p:spPr>
          <a:xfrm>
            <a:off x="4655880" y="476640"/>
            <a:ext cx="242388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7" name=""/>
          <p:cNvPicPr/>
          <p:nvPr/>
        </p:nvPicPr>
        <p:blipFill>
          <a:blip r:embed="rId1"/>
          <a:stretch/>
        </p:blipFill>
        <p:spPr>
          <a:xfrm>
            <a:off x="2971800" y="3777480"/>
            <a:ext cx="6171120" cy="2622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CustomShape 52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Coding Exercise Submission and Grading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CustomShape 53"/>
          <p:cNvSpPr/>
          <p:nvPr/>
        </p:nvSpPr>
        <p:spPr>
          <a:xfrm>
            <a:off x="335520" y="1600200"/>
            <a:ext cx="1040760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38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 2" charset="2"/>
              <a:buChar char="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Exercise Grades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We will collect your exercises after the deadline has elapsed.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Please ensure to save all changes to the exercise folder BEFORE the deadline.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DO NOT submit your assignments via email/other means.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Exercises, once graded will be released back to you.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Your grade is provided inside the “GRADE.md” file.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Receiving a grade of 0 = FAIL.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CustomShape 54"/>
          <p:cNvSpPr/>
          <p:nvPr/>
        </p:nvSpPr>
        <p:spPr>
          <a:xfrm>
            <a:off x="4655880" y="476640"/>
            <a:ext cx="242388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CustomShape 55"/>
          <p:cNvSpPr/>
          <p:nvPr/>
        </p:nvSpPr>
        <p:spPr>
          <a:xfrm>
            <a:off x="335520" y="7682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Multiple-Choice Exercises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CustomShape 56"/>
          <p:cNvSpPr/>
          <p:nvPr/>
        </p:nvSpPr>
        <p:spPr>
          <a:xfrm>
            <a:off x="388800" y="1488600"/>
            <a:ext cx="10711440" cy="30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400" b="1" u="none" strike="noStrike">
                <a:solidFill>
                  <a:srgbClr val="008C4F"/>
                </a:solidFill>
                <a:effectLst/>
                <a:uFillTx/>
                <a:latin typeface="DejaVu Sans"/>
                <a:ea typeface="Arial"/>
              </a:rPr>
              <a:t>Every student enrolled in this course is advised to take the knowledge quiz in the second week of the course.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lang="de-DE" sz="1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Arial Unicode MS"/>
              </a:rPr>
              <a:t>Goal of the test: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Arial Unicode MS"/>
              </a:rPr>
              <a:t>To check the knowledge level of the student that is relevant to this course of study.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lang="de-DE" sz="1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Arial Unicode MS"/>
              </a:rPr>
              <a:t>Preparation: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Arial Unicode MS"/>
              </a:rPr>
              <a:t>A review of basic concepts of the Circular Economy is recommended for Week 2.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lang="de-DE" sz="1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Arial Unicode MS"/>
              </a:rPr>
              <a:t>THE TEST IS JUST FOR YOU → WE CANNOT CHECK THE TEST RESULTS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CustomShape 57"/>
          <p:cNvSpPr/>
          <p:nvPr/>
        </p:nvSpPr>
        <p:spPr>
          <a:xfrm>
            <a:off x="335520" y="7682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Multiple-Choice Exercises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CustomShape 11"/>
          <p:cNvSpPr/>
          <p:nvPr/>
        </p:nvSpPr>
        <p:spPr>
          <a:xfrm>
            <a:off x="388800" y="1488960"/>
            <a:ext cx="10711440" cy="39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400" b="1" u="none" strike="noStrike">
                <a:solidFill>
                  <a:srgbClr val="008C4F"/>
                </a:solidFill>
                <a:effectLst/>
                <a:uFillTx/>
                <a:latin typeface="DejaVu Sans"/>
                <a:ea typeface="Arial"/>
              </a:rPr>
              <a:t>Every student enrolled in this course is advised to take the knowledge quiz in the second week of the course.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lang="de-DE" sz="1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Arial Unicode MS"/>
              </a:rPr>
              <a:t>Goal of the test: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Arial Unicode MS"/>
              </a:rPr>
              <a:t>To check the knowledge level of the student that is relevant to this course of study.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lang="de-DE" sz="1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Arial Unicode MS"/>
              </a:rPr>
              <a:t>Preparation: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Arial Unicode MS"/>
              </a:rPr>
              <a:t>A review of basic concepts of the Circular Economy is recommended for Week 2.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lang="de-DE" sz="1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Arial Unicode MS"/>
              </a:rPr>
              <a:t>THE TEST IS JUST FOR YOU → WE CANNOT CHECK THE TEST RESULTS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de-DE" sz="1400" b="1" u="none" strike="noStrike">
                <a:solidFill>
                  <a:srgbClr val="FF0000"/>
                </a:solidFill>
                <a:effectLst/>
                <a:uFillTx/>
                <a:latin typeface="DejaVu Sans"/>
                <a:ea typeface="Arial Unicode MS"/>
              </a:rPr>
              <a:t>Link for all multiple-choice exercises → etce.etce-lab.de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CustomShape 59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Multiple-Choice Exercises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6" name=""/>
          <p:cNvPicPr/>
          <p:nvPr/>
        </p:nvPicPr>
        <p:blipFill>
          <a:blip r:embed="rId1"/>
          <a:stretch/>
        </p:blipFill>
        <p:spPr>
          <a:xfrm>
            <a:off x="3200400" y="685800"/>
            <a:ext cx="5272560" cy="5997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CustomShape 60"/>
          <p:cNvSpPr/>
          <p:nvPr/>
        </p:nvSpPr>
        <p:spPr>
          <a:xfrm>
            <a:off x="335520" y="764640"/>
            <a:ext cx="107377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Multiple-Choice Exercises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8" name=""/>
          <p:cNvPicPr/>
          <p:nvPr/>
        </p:nvPicPr>
        <p:blipFill>
          <a:blip r:embed="rId1"/>
          <a:stretch/>
        </p:blipFill>
        <p:spPr>
          <a:xfrm>
            <a:off x="1600200" y="1600200"/>
            <a:ext cx="8358840" cy="4627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CustomShape 1"/>
          <p:cNvSpPr/>
          <p:nvPr/>
        </p:nvSpPr>
        <p:spPr>
          <a:xfrm>
            <a:off x="335520" y="764640"/>
            <a:ext cx="1074024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Examination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CustomShape 2"/>
          <p:cNvSpPr/>
          <p:nvPr/>
        </p:nvSpPr>
        <p:spPr>
          <a:xfrm>
            <a:off x="335520" y="1268640"/>
            <a:ext cx="10740240" cy="50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195120" indent="-1886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Prerequisite for admission to the final exam (all criteria have to be fulfilled):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4120" lvl="1" indent="-2804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albaum Heading"/>
              <a:buChar char="—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Submit all exercises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4120" lvl="1" indent="-2804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albaum Heading"/>
              <a:buChar char="—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Pass the practical workshop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86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Final exam: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4120" lvl="1" indent="-2804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albaum Text"/>
              <a:buChar char="—"/>
            </a:pP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Most likely 12.08.2026 and 13.08.2026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4120" lvl="1" indent="-2804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albaum Text"/>
              <a:buChar char="—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Oral examination (20min)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4120" lvl="1" indent="-2804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albaum Text"/>
              <a:buChar char="—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Online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CustomShape 1"/>
          <p:cNvSpPr/>
          <p:nvPr/>
        </p:nvSpPr>
        <p:spPr>
          <a:xfrm>
            <a:off x="335520" y="764640"/>
            <a:ext cx="1074024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Self-Study Star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CustomShape 2"/>
          <p:cNvSpPr/>
          <p:nvPr/>
        </p:nvSpPr>
        <p:spPr>
          <a:xfrm>
            <a:off x="335520" y="1268280"/>
            <a:ext cx="10740240" cy="50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8640">
              <a:lnSpc>
                <a:spcPct val="100000"/>
              </a:lnSpc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Slides with the self-study star indicate optional/additional study material that is 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not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mandatory but could be helpful or interesting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CustomShape 3"/>
          <p:cNvSpPr/>
          <p:nvPr/>
        </p:nvSpPr>
        <p:spPr>
          <a:xfrm>
            <a:off x="6285600" y="2132640"/>
            <a:ext cx="509760" cy="4896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92D050"/>
          </a:solidFill>
          <a:ln>
            <a:solidFill>
              <a:srgbClr val="0D0D0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CustomShape 4"/>
          <p:cNvSpPr/>
          <p:nvPr/>
        </p:nvSpPr>
        <p:spPr>
          <a:xfrm>
            <a:off x="4089960" y="2247480"/>
            <a:ext cx="2278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Self-Study Star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→</a:t>
            </a: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CustomShape 1"/>
          <p:cNvSpPr/>
          <p:nvPr/>
        </p:nvSpPr>
        <p:spPr>
          <a:xfrm>
            <a:off x="335520" y="764640"/>
            <a:ext cx="1074024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Literature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CustomShape 2"/>
          <p:cNvSpPr/>
          <p:nvPr/>
        </p:nvSpPr>
        <p:spPr>
          <a:xfrm>
            <a:off x="335520" y="1268640"/>
            <a:ext cx="10740240" cy="50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195120" indent="-1886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This course is not based on a single book and you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do not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need to buy a book to pass the exam.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86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Donella H. Meadows, Jorgen Randers, and Dennis L. Meadows.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The Limits to Growth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(1972).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86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Donella H. Meadows, Jorgen Randers, and Dennis L. Meadows.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Limits To Growth: The 30-Year Update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(2004).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86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Baccini et al.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Metabolism of the Anthroposphere: Analysis, Evaluation, Design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(2012).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86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Walter R. Stahel.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The Circular Economy: A User's Guide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(2019).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864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W. Brian Arthur.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The Nature of Technology: What It Is and How it Evolves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(2011)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828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David Wallace-Wells.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The Uninhabitable Earth, Annotated Edition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(2017).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828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(German) Stefan Rahmstorf, Hans Joachim Schellnhuber.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Der Klimawandel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(2019).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CustomShape 9"/>
          <p:cNvSpPr/>
          <p:nvPr/>
        </p:nvSpPr>
        <p:spPr>
          <a:xfrm>
            <a:off x="335520" y="764640"/>
            <a:ext cx="10738440" cy="48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de-DE" sz="24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Literature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CustomShape 10"/>
          <p:cNvSpPr/>
          <p:nvPr/>
        </p:nvSpPr>
        <p:spPr>
          <a:xfrm>
            <a:off x="335520" y="1268640"/>
            <a:ext cx="10738440" cy="50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Perry Lea. Internet of Things for Architects: Architecting IoT solutions by implementing sensors, communication infrastructure, edge computing, analytics, and security (2018).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M.A. Khan, M.T. Quasim, F. Algarni, A. Alharthi. </a:t>
            </a:r>
            <a:r>
              <a:rPr lang="de-DE" sz="1800" b="0" i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Decentralised Internet of Things</a:t>
            </a: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(2020).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972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Dimitrios Serpanos und Marilyn Claire Wolf. </a:t>
            </a:r>
            <a:r>
              <a:rPr lang="de-DE" sz="1800" b="0" i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Internet-of-Things (IoT) Systems Architectures, Algorithms, Methodologies</a:t>
            </a: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(2018).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CustomShape 1"/>
          <p:cNvSpPr/>
          <p:nvPr/>
        </p:nvSpPr>
        <p:spPr>
          <a:xfrm>
            <a:off x="335520" y="1268640"/>
            <a:ext cx="10740240" cy="50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799"/>
              </a:spcBef>
              <a:tabLst>
                <a:tab pos="0" algn="l"/>
              </a:tabLst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Questions?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CustomShape 2"/>
          <p:cNvSpPr/>
          <p:nvPr/>
        </p:nvSpPr>
        <p:spPr>
          <a:xfrm>
            <a:off x="335520" y="764640"/>
            <a:ext cx="1074024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1069</TotalTime>
  <Application>LibreOffice/26.2.3.2$Linux_X86_64 LibreOffice_project/620$Build-2</Application>
  <AppVersion>15.0000</AppVersion>
  <Words>1010</Words>
  <Paragraphs>159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2013-05-21T09:22:36Z</dcterms:created>
  <dc:creator>Hooby</dc:creator>
  <dc:description/>
  <dc:language>en-US</dc:language>
  <cp:lastModifiedBy/>
  <dcterms:modified xsi:type="dcterms:W3CDTF">2026-05-01T18:40:10Z</dcterms:modified>
  <cp:revision>3259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LinksUpToDate">
    <vt:bool>0</vt:bool>
  </property>
  <property fmtid="{D5CDD505-2E9C-101B-9397-08002B2CF9AE}" pid="5" name="MMClips">
    <vt:i4>0</vt:i4>
  </property>
  <property fmtid="{D5CDD505-2E9C-101B-9397-08002B2CF9AE}" pid="6" name="Notes">
    <vt:i4>5</vt:i4>
  </property>
  <property fmtid="{D5CDD505-2E9C-101B-9397-08002B2CF9AE}" pid="7" name="PresentationFormat">
    <vt:lpwstr>Widescreen</vt:lpwstr>
  </property>
  <property fmtid="{D5CDD505-2E9C-101B-9397-08002B2CF9AE}" pid="8" name="ScaleCrop">
    <vt:bool>0</vt:bool>
  </property>
  <property fmtid="{D5CDD505-2E9C-101B-9397-08002B2CF9AE}" pid="9" name="ShareDoc">
    <vt:bool>0</vt:bool>
  </property>
  <property fmtid="{D5CDD505-2E9C-101B-9397-08002B2CF9AE}" pid="10" name="Slides">
    <vt:i4>20</vt:i4>
  </property>
</Properties>
</file>