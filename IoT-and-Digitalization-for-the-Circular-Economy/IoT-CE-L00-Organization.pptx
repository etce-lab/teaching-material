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9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3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41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39.xml" ContentType="application/vnd.openxmlformats-officedocument.presentationml.slideMaster+xml"/>
  <Override PartName="/ppt/slideMasters/slideMaster38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slideMaster40.xml" ContentType="application/vnd.openxmlformats-officedocument.presentationml.slideMaster+xml"/>
  <Override PartName="/ppt/slideMasters/slideMaster17.xml" ContentType="application/vnd.openxmlformats-officedocument.presentationml.slideMaster+xml"/>
  <Override PartName="/ppt/slideMasters/slideMaster37.xml" ContentType="application/vnd.openxmlformats-officedocument.presentationml.slideMaster+xml"/>
  <Override PartName="/ppt/slideMasters/slideMaster18.xml" ContentType="application/vnd.openxmlformats-officedocument.presentationml.slideMaster+xml"/>
  <Override PartName="/ppt/slideMasters/slideMaster14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slideMaster19.xml" ContentType="application/vnd.openxmlformats-officedocument.presentationml.slideMaster+xml"/>
  <Override PartName="/ppt/slideMasters/slideMaster16.xml" ContentType="application/vnd.openxmlformats-officedocument.presentationml.slideMaster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notesMasters/notesMaster1.xml" ContentType="application/vnd.openxmlformats-officedocument.presentationml.notesMaster+xml"/>
  <Override PartName="/ppt/theme/theme6.xml" ContentType="application/vnd.openxmlformats-officedocument.theme+xml"/>
  <Override PartName="/ppt/theme/theme10.xml" ContentType="application/vnd.openxmlformats-officedocument.theme+xml"/>
  <Override PartName="/ppt/theme/theme42.xml" ContentType="application/vnd.openxmlformats-officedocument.theme+xml"/>
  <Override PartName="/ppt/theme/theme7.xml" ContentType="application/vnd.openxmlformats-officedocument.theme+xml"/>
  <Override PartName="/ppt/theme/theme5.xml" ContentType="application/vnd.openxmlformats-officedocument.theme+xml"/>
  <Override PartName="/ppt/theme/theme9.xml" ContentType="application/vnd.openxmlformats-officedocument.theme+xml"/>
  <Override PartName="/ppt/theme/theme4.xml" ContentType="application/vnd.openxmlformats-officedocument.theme+xml"/>
  <Override PartName="/ppt/theme/theme13.xml" ContentType="application/vnd.openxmlformats-officedocument.theme+xml"/>
  <Override PartName="/ppt/theme/theme3.xml" ContentType="application/vnd.openxmlformats-officedocument.theme+xml"/>
  <Override PartName="/ppt/theme/theme12.xml" ContentType="application/vnd.openxmlformats-officedocument.theme+xml"/>
  <Override PartName="/ppt/theme/theme25.xml" ContentType="application/vnd.openxmlformats-officedocument.theme+xml"/>
  <Override PartName="/ppt/theme/theme24.xml" ContentType="application/vnd.openxmlformats-officedocument.theme+xml"/>
  <Override PartName="/ppt/theme/theme23.xml" ContentType="application/vnd.openxmlformats-officedocument.theme+xml"/>
  <Override PartName="/ppt/theme/theme17.xml" ContentType="application/vnd.openxmlformats-officedocument.theme+xml"/>
  <Override PartName="/ppt/theme/theme22.xml" ContentType="application/vnd.openxmlformats-officedocument.theme+xml"/>
  <Override PartName="/ppt/theme/theme16.xml" ContentType="application/vnd.openxmlformats-officedocument.theme+xml"/>
  <Override PartName="/ppt/theme/theme19.xml" ContentType="application/vnd.openxmlformats-officedocument.theme+xml"/>
  <Override PartName="/ppt/theme/theme21.xml" ContentType="application/vnd.openxmlformats-officedocument.theme+xml"/>
  <Override PartName="/ppt/theme/theme15.xml" ContentType="application/vnd.openxmlformats-officedocument.theme+xml"/>
  <Override PartName="/ppt/theme/theme11.xml" ContentType="application/vnd.openxmlformats-officedocument.theme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20.xml" ContentType="application/vnd.openxmlformats-officedocument.theme+xml"/>
  <Override PartName="/ppt/theme/theme18.xml" ContentType="application/vnd.openxmlformats-officedocument.theme+xml"/>
  <Override PartName="/ppt/theme/theme8.xml" ContentType="application/vnd.openxmlformats-officedocument.theme+xml"/>
  <Override PartName="/ppt/theme/theme14.xml" ContentType="application/vnd.openxmlformats-officedocument.theme+xml"/>
  <Override PartName="/ppt/slideLayouts/slideLayout21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s/slide29.xml" ContentType="application/vnd.openxmlformats-officedocument.presentationml.slide+xml"/>
  <Override PartName="/ppt/slides/slide27.xml" ContentType="application/vnd.openxmlformats-officedocument.presentationml.slide+xml"/>
  <Override PartName="/ppt/slides/slide26.xml" ContentType="application/vnd.openxmlformats-officedocument.presentationml.slide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22.xml" ContentType="application/vnd.openxmlformats-officedocument.presentationml.slide+xml"/>
  <Override PartName="/ppt/slides/slide25.xml" ContentType="application/vnd.openxmlformats-officedocument.presentationml.slide+xml"/>
  <Override PartName="/ppt/slides/slide21.xml" ContentType="application/vnd.openxmlformats-officedocument.presentationml.slide+xml"/>
  <Override PartName="/ppt/slides/slide28.xml" ContentType="application/vnd.openxmlformats-officedocument.presentationml.slide+xml"/>
  <Override PartName="/ppt/slides/slide12.xml" ContentType="application/vnd.openxmlformats-officedocument.presentationml.slide+xml"/>
  <Override PartName="/ppt/slides/slide30.xml" ContentType="application/vnd.openxmlformats-officedocument.presentationml.slide+xml"/>
  <Override PartName="/ppt/slides/slide11.xml" ContentType="application/vnd.openxmlformats-officedocument.presentationml.slide+xml"/>
  <Override PartName="/ppt/slides/slide13.xml" ContentType="application/vnd.openxmlformats-officedocument.presentationml.slide+xml"/>
  <Override PartName="/ppt/slides/slide4.xml" ContentType="application/vnd.openxmlformats-officedocument.presentationml.slide+xml"/>
  <Override PartName="/ppt/slides/slide9.xml" ContentType="application/vnd.openxmlformats-officedocument.presentationml.slide+xml"/>
  <Override PartName="/ppt/slides/slide31.xml" ContentType="application/vnd.openxmlformats-officedocument.presentationml.slide+xml"/>
  <Override PartName="/ppt/slides/slide24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1.xml" ContentType="application/vnd.openxmlformats-officedocument.presentationml.slide+xml"/>
  <Override PartName="/ppt/slides/slide18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10.xml" ContentType="application/vnd.openxmlformats-officedocument.presentationml.slide+xml"/>
  <Override PartName="/ppt/slides/slide23.xml" ContentType="application/vnd.openxmlformats-officedocument.presentationml.slide+xml"/>
  <Override PartName="/ppt/slides/slide2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16.xml" ContentType="application/vnd.openxmlformats-officedocument.presentationml.slide+xml"/>
  <Override PartName="/ppt/slides/slide15.xml" ContentType="application/vnd.openxmlformats-officedocument.presentationml.slide+xml"/>
  <Override PartName="/ppt/slides/slide6.xml" ContentType="application/vnd.openxmlformats-officedocument.presentationml.slide+xml"/>
  <Override PartName="/ppt/slides/slide14.xml" ContentType="application/vnd.openxmlformats-officedocument.presentationml.slide+xml"/>
  <Override PartName="/ppt/notesSlides/notesSlide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6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  <p:sldMasterId id="2147483670" r:id="rId13"/>
    <p:sldMasterId id="2147483672" r:id="rId14"/>
    <p:sldMasterId id="2147483674" r:id="rId15"/>
    <p:sldMasterId id="2147483676" r:id="rId16"/>
    <p:sldMasterId id="2147483678" r:id="rId17"/>
    <p:sldMasterId id="2147483680" r:id="rId18"/>
    <p:sldMasterId id="2147483682" r:id="rId19"/>
    <p:sldMasterId id="2147483684" r:id="rId20"/>
    <p:sldMasterId id="2147483710" r:id="rId21"/>
    <p:sldMasterId id="2147483712" r:id="rId22"/>
    <p:sldMasterId id="2147483714" r:id="rId23"/>
    <p:sldMasterId id="2147483716" r:id="rId24"/>
    <p:sldMasterId id="2147483718" r:id="rId25"/>
    <p:sldMasterId id="2147483720" r:id="rId26"/>
  </p:sldMasterIdLst>
  <p:notesMasterIdLst>
    <p:notesMasterId r:id="rId27"/>
  </p:notesMasterIdLst>
  <p:sldIdLst>
    <p:sldId id="256" r:id="rId28"/>
    <p:sldId id="257" r:id="rId29"/>
    <p:sldId id="258" r:id="rId30"/>
    <p:sldId id="259" r:id="rId31"/>
    <p:sldId id="260" r:id="rId32"/>
    <p:sldId id="261" r:id="rId33"/>
    <p:sldId id="262" r:id="rId34"/>
    <p:sldId id="263" r:id="rId35"/>
    <p:sldId id="264" r:id="rId36"/>
    <p:sldId id="265" r:id="rId37"/>
    <p:sldId id="266" r:id="rId38"/>
    <p:sldId id="267" r:id="rId39"/>
    <p:sldId id="268" r:id="rId40"/>
    <p:sldId id="269" r:id="rId41"/>
    <p:sldId id="270" r:id="rId42"/>
    <p:sldId id="271" r:id="rId43"/>
    <p:sldId id="272" r:id="rId44"/>
    <p:sldId id="273" r:id="rId45"/>
    <p:sldId id="274" r:id="rId46"/>
    <p:sldId id="275" r:id="rId47"/>
    <p:sldId id="276" r:id="rId48"/>
    <p:sldId id="277" r:id="rId49"/>
    <p:sldId id="278" r:id="rId50"/>
    <p:sldId id="279" r:id="rId51"/>
    <p:sldId id="280" r:id="rId52"/>
    <p:sldId id="281" r:id="rId53"/>
    <p:sldId id="282" r:id="rId54"/>
    <p:sldId id="283" r:id="rId55"/>
    <p:sldId id="284" r:id="rId56"/>
    <p:sldId id="285" r:id="rId57"/>
    <p:sldId id="286" r:id="rId58"/>
    <p:sldId id="287" r:id="rId59"/>
    <p:sldId id="288" r:id="rId60"/>
  </p:sldIdLst>
  <p:sldSz cx="12192000" cy="68580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Master" Target="slideMasters/slideMaster12.xml"/><Relationship Id="rId14" Type="http://schemas.openxmlformats.org/officeDocument/2006/relationships/slideMaster" Target="slideMasters/slideMaster13.xml"/><Relationship Id="rId15" Type="http://schemas.openxmlformats.org/officeDocument/2006/relationships/slideMaster" Target="slideMasters/slideMaster14.xml"/><Relationship Id="rId16" Type="http://schemas.openxmlformats.org/officeDocument/2006/relationships/slideMaster" Target="slideMasters/slideMaster15.xml"/><Relationship Id="rId17" Type="http://schemas.openxmlformats.org/officeDocument/2006/relationships/slideMaster" Target="slideMasters/slideMaster16.xml"/><Relationship Id="rId18" Type="http://schemas.openxmlformats.org/officeDocument/2006/relationships/slideMaster" Target="slideMasters/slideMaster17.xml"/><Relationship Id="rId19" Type="http://schemas.openxmlformats.org/officeDocument/2006/relationships/slideMaster" Target="slideMasters/slideMaster18.xml"/><Relationship Id="rId20" Type="http://schemas.openxmlformats.org/officeDocument/2006/relationships/slideMaster" Target="slideMasters/slideMaster19.xml"/><Relationship Id="rId21" Type="http://schemas.openxmlformats.org/officeDocument/2006/relationships/slideMaster" Target="slideMasters/slideMaster36.xml"/><Relationship Id="rId22" Type="http://schemas.openxmlformats.org/officeDocument/2006/relationships/slideMaster" Target="slideMasters/slideMaster37.xml"/><Relationship Id="rId23" Type="http://schemas.openxmlformats.org/officeDocument/2006/relationships/slideMaster" Target="slideMasters/slideMaster38.xml"/><Relationship Id="rId24" Type="http://schemas.openxmlformats.org/officeDocument/2006/relationships/slideMaster" Target="slideMasters/slideMaster39.xml"/><Relationship Id="rId25" Type="http://schemas.openxmlformats.org/officeDocument/2006/relationships/slideMaster" Target="slideMasters/slideMaster40.xml"/><Relationship Id="rId26" Type="http://schemas.openxmlformats.org/officeDocument/2006/relationships/slideMaster" Target="slideMasters/slideMaster41.xml"/><Relationship Id="rId27" Type="http://schemas.openxmlformats.org/officeDocument/2006/relationships/notesMaster" Target="notesMasters/notesMaster1.xml"/><Relationship Id="rId28" Type="http://schemas.openxmlformats.org/officeDocument/2006/relationships/slide" Target="slides/slide1.xml"/><Relationship Id="rId29" Type="http://schemas.openxmlformats.org/officeDocument/2006/relationships/slide" Target="slides/slide2.xml"/><Relationship Id="rId30" Type="http://schemas.openxmlformats.org/officeDocument/2006/relationships/slide" Target="slides/slide3.xml"/><Relationship Id="rId31" Type="http://schemas.openxmlformats.org/officeDocument/2006/relationships/slide" Target="slides/slide4.xml"/><Relationship Id="rId32" Type="http://schemas.openxmlformats.org/officeDocument/2006/relationships/slide" Target="slides/slide5.xml"/><Relationship Id="rId33" Type="http://schemas.openxmlformats.org/officeDocument/2006/relationships/slide" Target="slides/slide6.xml"/><Relationship Id="rId34" Type="http://schemas.openxmlformats.org/officeDocument/2006/relationships/slide" Target="slides/slide7.xml"/><Relationship Id="rId35" Type="http://schemas.openxmlformats.org/officeDocument/2006/relationships/slide" Target="slides/slide8.xml"/><Relationship Id="rId36" Type="http://schemas.openxmlformats.org/officeDocument/2006/relationships/slide" Target="slides/slide9.xml"/><Relationship Id="rId37" Type="http://schemas.openxmlformats.org/officeDocument/2006/relationships/slide" Target="slides/slide10.xml"/><Relationship Id="rId38" Type="http://schemas.openxmlformats.org/officeDocument/2006/relationships/slide" Target="slides/slide11.xml"/><Relationship Id="rId39" Type="http://schemas.openxmlformats.org/officeDocument/2006/relationships/slide" Target="slides/slide12.xml"/><Relationship Id="rId40" Type="http://schemas.openxmlformats.org/officeDocument/2006/relationships/slide" Target="slides/slide13.xml"/><Relationship Id="rId41" Type="http://schemas.openxmlformats.org/officeDocument/2006/relationships/slide" Target="slides/slide14.xml"/><Relationship Id="rId42" Type="http://schemas.openxmlformats.org/officeDocument/2006/relationships/slide" Target="slides/slide15.xml"/><Relationship Id="rId43" Type="http://schemas.openxmlformats.org/officeDocument/2006/relationships/slide" Target="slides/slide16.xml"/><Relationship Id="rId44" Type="http://schemas.openxmlformats.org/officeDocument/2006/relationships/slide" Target="slides/slide17.xml"/><Relationship Id="rId45" Type="http://schemas.openxmlformats.org/officeDocument/2006/relationships/slide" Target="slides/slide18.xml"/><Relationship Id="rId46" Type="http://schemas.openxmlformats.org/officeDocument/2006/relationships/slide" Target="slides/slide19.xml"/><Relationship Id="rId47" Type="http://schemas.openxmlformats.org/officeDocument/2006/relationships/slide" Target="slides/slide20.xml"/><Relationship Id="rId48" Type="http://schemas.openxmlformats.org/officeDocument/2006/relationships/slide" Target="slides/slide21.xml"/><Relationship Id="rId49" Type="http://schemas.openxmlformats.org/officeDocument/2006/relationships/slide" Target="slides/slide22.xml"/><Relationship Id="rId50" Type="http://schemas.openxmlformats.org/officeDocument/2006/relationships/slide" Target="slides/slide23.xml"/><Relationship Id="rId51" Type="http://schemas.openxmlformats.org/officeDocument/2006/relationships/slide" Target="slides/slide24.xml"/><Relationship Id="rId52" Type="http://schemas.openxmlformats.org/officeDocument/2006/relationships/slide" Target="slides/slide25.xml"/><Relationship Id="rId53" Type="http://schemas.openxmlformats.org/officeDocument/2006/relationships/slide" Target="slides/slide26.xml"/><Relationship Id="rId54" Type="http://schemas.openxmlformats.org/officeDocument/2006/relationships/slide" Target="slides/slide27.xml"/><Relationship Id="rId55" Type="http://schemas.openxmlformats.org/officeDocument/2006/relationships/slide" Target="slides/slide28.xml"/><Relationship Id="rId56" Type="http://schemas.openxmlformats.org/officeDocument/2006/relationships/slide" Target="slides/slide29.xml"/><Relationship Id="rId57" Type="http://schemas.openxmlformats.org/officeDocument/2006/relationships/slide" Target="slides/slide30.xml"/><Relationship Id="rId58" Type="http://schemas.openxmlformats.org/officeDocument/2006/relationships/slide" Target="slides/slide31.xml"/><Relationship Id="rId59" Type="http://schemas.openxmlformats.org/officeDocument/2006/relationships/slide" Target="slides/slide32.xml"/><Relationship Id="rId60" Type="http://schemas.openxmlformats.org/officeDocument/2006/relationships/slide" Target="slides/slide33.xml"/><Relationship Id="rId61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4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lang="en-GB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move the slide</a:t>
            </a: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5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6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7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355475C6-9733-43F6-B1F0-6A41A5F282E5}" type="slidenum"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GB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2760" cy="3760920"/>
          </a:xfrm>
          <a:prstGeom prst="rect">
            <a:avLst/>
          </a:prstGeom>
          <a:ln w="0">
            <a:noFill/>
          </a:ln>
        </p:spPr>
      </p:sp>
      <p:sp>
        <p:nvSpPr>
          <p:cNvPr id="632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06400" cy="4514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3" name="TextShape 1"/>
          <p:cNvSpPr/>
          <p:nvPr/>
        </p:nvSpPr>
        <p:spPr>
          <a:xfrm>
            <a:off x="4399200" y="9555480"/>
            <a:ext cx="3361680" cy="49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algn="r">
              <a:lnSpc>
                <a:spcPct val="100000"/>
              </a:lnSpc>
            </a:pPr>
            <a:fld id="{3EF7DC05-5AB7-4DD1-93BD-CAB9A828D220}" type="slidenum"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89880" cy="3758040"/>
          </a:xfrm>
          <a:prstGeom prst="rect">
            <a:avLst/>
          </a:prstGeom>
          <a:ln w="0">
            <a:noFill/>
          </a:ln>
        </p:spPr>
      </p:sp>
      <p:sp>
        <p:nvSpPr>
          <p:cNvPr id="635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03520" cy="4511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6" name="CustomShape 3"/>
          <p:cNvSpPr/>
          <p:nvPr/>
        </p:nvSpPr>
        <p:spPr>
          <a:xfrm>
            <a:off x="4399200" y="9555480"/>
            <a:ext cx="3358800" cy="48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algn="r">
              <a:lnSpc>
                <a:spcPct val="100000"/>
              </a:lnSpc>
            </a:pPr>
            <a:fld id="{B347AEF0-A15C-4A95-A45E-AD4EB1E3047D}" type="slidenum"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7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89880" cy="3758040"/>
          </a:xfrm>
          <a:prstGeom prst="rect">
            <a:avLst/>
          </a:prstGeom>
          <a:ln w="0">
            <a:noFill/>
          </a:ln>
        </p:spPr>
      </p:sp>
      <p:sp>
        <p:nvSpPr>
          <p:cNvPr id="638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03520" cy="4511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9" name="CustomShape 3"/>
          <p:cNvSpPr/>
          <p:nvPr/>
        </p:nvSpPr>
        <p:spPr>
          <a:xfrm>
            <a:off x="4399200" y="9555480"/>
            <a:ext cx="3358800" cy="48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algn="r">
              <a:lnSpc>
                <a:spcPct val="100000"/>
              </a:lnSpc>
            </a:pPr>
            <a:fld id="{41DD88AA-3480-468D-896A-AA68F0F4C390}" type="slidenum"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8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4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6.xml"/>
</Relationships>
</file>

<file path=ppt/slideLayouts/_rels/slideLayout4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
</Relationships>
</file>

<file path=ppt/slideLayouts/_rels/slideLayout4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8.xml"/>
</Relationships>
</file>

<file path=ppt/slideLayouts/_rels/slideLayout4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9.xml"/>
</Relationships>
</file>

<file path=ppt/slideLayouts/_rels/slideLayout4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0.xml"/>
</Relationships>
</file>

<file path=ppt/slideLayouts/_rels/slideLayout4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0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0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0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08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08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Defaul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Defaul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0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Defaul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0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0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Defaul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CustomShape 1"/>
          <p:cNvSpPr/>
          <p:nvPr/>
        </p:nvSpPr>
        <p:spPr>
          <a:xfrm>
            <a:off x="11444760" y="0"/>
            <a:ext cx="736920" cy="684576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45" name="CustomShape 2"/>
          <p:cNvSpPr/>
          <p:nvPr/>
        </p:nvSpPr>
        <p:spPr>
          <a:xfrm>
            <a:off x="11438640" y="6453360"/>
            <a:ext cx="7538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A2783B8E-03F5-4F81-9CF8-1C63A6773B73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CustomShape 3"/>
          <p:cNvSpPr/>
          <p:nvPr/>
        </p:nvSpPr>
        <p:spPr>
          <a:xfrm>
            <a:off x="912240" y="1268280"/>
            <a:ext cx="9203760" cy="35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247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7760" cy="557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48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3600" cy="509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9" name="CustomShape 4"/>
          <p:cNvSpPr/>
          <p:nvPr/>
        </p:nvSpPr>
        <p:spPr>
          <a:xfrm>
            <a:off x="11444760" y="0"/>
            <a:ext cx="736920" cy="684576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50" name="CustomShape 5"/>
          <p:cNvSpPr/>
          <p:nvPr/>
        </p:nvSpPr>
        <p:spPr>
          <a:xfrm>
            <a:off x="11438640" y="6453360"/>
            <a:ext cx="7538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4D67D025-FF18-4CC2-B6D3-CC0D8AD8D3B3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CustomShape 6"/>
          <p:cNvSpPr/>
          <p:nvPr/>
        </p:nvSpPr>
        <p:spPr>
          <a:xfrm>
            <a:off x="0" y="6642720"/>
            <a:ext cx="1217988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IoT and Digitalization for the Circular Economy – TU Clausthal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GB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Default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CustomShape 1"/>
          <p:cNvSpPr/>
          <p:nvPr/>
        </p:nvSpPr>
        <p:spPr>
          <a:xfrm>
            <a:off x="11444760" y="0"/>
            <a:ext cx="736920" cy="684576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55" name="CustomShape 2"/>
          <p:cNvSpPr/>
          <p:nvPr/>
        </p:nvSpPr>
        <p:spPr>
          <a:xfrm>
            <a:off x="11438640" y="6453360"/>
            <a:ext cx="7538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674880B4-D3B8-4415-B29C-C98DFB9C01D1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" name="CustomShape 3"/>
          <p:cNvSpPr/>
          <p:nvPr/>
        </p:nvSpPr>
        <p:spPr>
          <a:xfrm>
            <a:off x="912240" y="1268280"/>
            <a:ext cx="9203760" cy="35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257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7760" cy="557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58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3600" cy="509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9" name="CustomShape 4"/>
          <p:cNvSpPr/>
          <p:nvPr/>
        </p:nvSpPr>
        <p:spPr>
          <a:xfrm>
            <a:off x="11444760" y="0"/>
            <a:ext cx="736920" cy="684576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60" name="CustomShape 5"/>
          <p:cNvSpPr/>
          <p:nvPr/>
        </p:nvSpPr>
        <p:spPr>
          <a:xfrm>
            <a:off x="11438640" y="6453360"/>
            <a:ext cx="7538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769D79A7-0286-4DBD-A460-0C6B673A78D3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CustomShape 6"/>
          <p:cNvSpPr/>
          <p:nvPr/>
        </p:nvSpPr>
        <p:spPr>
          <a:xfrm>
            <a:off x="0" y="6642720"/>
            <a:ext cx="1217988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IoT and Digitalization for the Circular Economy – TU Clausthal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GB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Default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CustomShape 1"/>
          <p:cNvSpPr/>
          <p:nvPr/>
        </p:nvSpPr>
        <p:spPr>
          <a:xfrm>
            <a:off x="11444760" y="0"/>
            <a:ext cx="736920" cy="684576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65" name="CustomShape 2"/>
          <p:cNvSpPr/>
          <p:nvPr/>
        </p:nvSpPr>
        <p:spPr>
          <a:xfrm>
            <a:off x="11438640" y="6453360"/>
            <a:ext cx="7538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CD561BE8-EE5D-41F8-A5AD-D9923E3DE7F7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CustomShape 3"/>
          <p:cNvSpPr/>
          <p:nvPr/>
        </p:nvSpPr>
        <p:spPr>
          <a:xfrm>
            <a:off x="912240" y="1268280"/>
            <a:ext cx="9203760" cy="35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298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7760" cy="557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99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3600" cy="509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9" name="CustomShape 4"/>
          <p:cNvSpPr/>
          <p:nvPr/>
        </p:nvSpPr>
        <p:spPr>
          <a:xfrm>
            <a:off x="11444760" y="0"/>
            <a:ext cx="736920" cy="684576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70" name="CustomShape 5"/>
          <p:cNvSpPr/>
          <p:nvPr/>
        </p:nvSpPr>
        <p:spPr>
          <a:xfrm>
            <a:off x="11438640" y="6453360"/>
            <a:ext cx="7538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F87C2C9C-C7E2-4767-AE23-8A34F6DCDDE5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CustomShape 6"/>
          <p:cNvSpPr/>
          <p:nvPr/>
        </p:nvSpPr>
        <p:spPr>
          <a:xfrm>
            <a:off x="0" y="6642720"/>
            <a:ext cx="1217988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IoT and Digitalization for the Circular Economy – TU Clausthal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GB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Default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CustomShape 1"/>
          <p:cNvSpPr/>
          <p:nvPr/>
        </p:nvSpPr>
        <p:spPr>
          <a:xfrm>
            <a:off x="11444760" y="0"/>
            <a:ext cx="736920" cy="684576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65" name="CustomShape 2"/>
          <p:cNvSpPr/>
          <p:nvPr/>
        </p:nvSpPr>
        <p:spPr>
          <a:xfrm>
            <a:off x="11438640" y="6453360"/>
            <a:ext cx="7538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1AEB1C34-7AA1-44DC-8957-4021FEAB59A2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CustomShape 3"/>
          <p:cNvSpPr/>
          <p:nvPr/>
        </p:nvSpPr>
        <p:spPr>
          <a:xfrm>
            <a:off x="912240" y="1268280"/>
            <a:ext cx="9203760" cy="35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294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7760" cy="557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95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3600" cy="509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9" name="CustomShape 4"/>
          <p:cNvSpPr/>
          <p:nvPr/>
        </p:nvSpPr>
        <p:spPr>
          <a:xfrm>
            <a:off x="11444760" y="0"/>
            <a:ext cx="736920" cy="684576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70" name="CustomShape 5"/>
          <p:cNvSpPr/>
          <p:nvPr/>
        </p:nvSpPr>
        <p:spPr>
          <a:xfrm>
            <a:off x="11438640" y="6453360"/>
            <a:ext cx="7538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70BFEFFB-E0DB-424B-985E-86D0DF518F1E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CustomShape 6"/>
          <p:cNvSpPr/>
          <p:nvPr/>
        </p:nvSpPr>
        <p:spPr>
          <a:xfrm>
            <a:off x="0" y="6642720"/>
            <a:ext cx="1217988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IoT and Digitalization for the Circular Economy – TU Clausthal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GB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CustomShape 1"/>
          <p:cNvSpPr/>
          <p:nvPr/>
        </p:nvSpPr>
        <p:spPr>
          <a:xfrm>
            <a:off x="11444760" y="0"/>
            <a:ext cx="736920" cy="684576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65" name="CustomShape 2"/>
          <p:cNvSpPr/>
          <p:nvPr/>
        </p:nvSpPr>
        <p:spPr>
          <a:xfrm>
            <a:off x="11438640" y="6453360"/>
            <a:ext cx="7538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82EE4667-53F2-4213-B56A-2CB9171C06E2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CustomShape 3"/>
          <p:cNvSpPr/>
          <p:nvPr/>
        </p:nvSpPr>
        <p:spPr>
          <a:xfrm>
            <a:off x="912240" y="1268280"/>
            <a:ext cx="9203760" cy="35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267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7760" cy="557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68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3600" cy="509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9" name="CustomShape 4"/>
          <p:cNvSpPr/>
          <p:nvPr/>
        </p:nvSpPr>
        <p:spPr>
          <a:xfrm>
            <a:off x="11444760" y="0"/>
            <a:ext cx="736920" cy="684576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70" name="CustomShape 5"/>
          <p:cNvSpPr/>
          <p:nvPr/>
        </p:nvSpPr>
        <p:spPr>
          <a:xfrm>
            <a:off x="11438640" y="6453360"/>
            <a:ext cx="7538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846075E8-CEC7-4273-9A5B-A796AF98F67B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CustomShape 6"/>
          <p:cNvSpPr/>
          <p:nvPr/>
        </p:nvSpPr>
        <p:spPr>
          <a:xfrm>
            <a:off x="0" y="6642720"/>
            <a:ext cx="1217988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IoT and Digitalization for the Circular Economy – TU Clausthal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GB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Default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CustomShape 1"/>
          <p:cNvSpPr/>
          <p:nvPr/>
        </p:nvSpPr>
        <p:spPr>
          <a:xfrm>
            <a:off x="11444760" y="0"/>
            <a:ext cx="736920" cy="684576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65" name="CustomShape 2"/>
          <p:cNvSpPr/>
          <p:nvPr/>
        </p:nvSpPr>
        <p:spPr>
          <a:xfrm>
            <a:off x="11438640" y="6453360"/>
            <a:ext cx="7538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61FEF569-3434-421A-9B0E-5BFBF4A157AF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CustomShape 3"/>
          <p:cNvSpPr/>
          <p:nvPr/>
        </p:nvSpPr>
        <p:spPr>
          <a:xfrm>
            <a:off x="912240" y="1268280"/>
            <a:ext cx="9203760" cy="35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282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7760" cy="557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83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3600" cy="509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9" name="CustomShape 4"/>
          <p:cNvSpPr/>
          <p:nvPr/>
        </p:nvSpPr>
        <p:spPr>
          <a:xfrm>
            <a:off x="11444760" y="0"/>
            <a:ext cx="736920" cy="684576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70" name="CustomShape 5"/>
          <p:cNvSpPr/>
          <p:nvPr/>
        </p:nvSpPr>
        <p:spPr>
          <a:xfrm>
            <a:off x="11438640" y="6453360"/>
            <a:ext cx="7538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2105AF9E-5FB3-4659-A4FD-B775974A0A0D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CustomShape 6"/>
          <p:cNvSpPr/>
          <p:nvPr/>
        </p:nvSpPr>
        <p:spPr>
          <a:xfrm>
            <a:off x="0" y="6642720"/>
            <a:ext cx="1217988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IoT and Digitalization for the Circular Economy – TU Clausthal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GB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Default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CustomShape 1"/>
          <p:cNvSpPr/>
          <p:nvPr/>
        </p:nvSpPr>
        <p:spPr>
          <a:xfrm>
            <a:off x="11444760" y="0"/>
            <a:ext cx="736920" cy="684576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65" name="CustomShape 2"/>
          <p:cNvSpPr/>
          <p:nvPr/>
        </p:nvSpPr>
        <p:spPr>
          <a:xfrm>
            <a:off x="11438640" y="6453360"/>
            <a:ext cx="7538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34ED7193-3C78-4018-8794-F61193D97EDD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CustomShape 3"/>
          <p:cNvSpPr/>
          <p:nvPr/>
        </p:nvSpPr>
        <p:spPr>
          <a:xfrm>
            <a:off x="912240" y="1268280"/>
            <a:ext cx="9203760" cy="35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274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7760" cy="557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75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3600" cy="509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9" name="CustomShape 4"/>
          <p:cNvSpPr/>
          <p:nvPr/>
        </p:nvSpPr>
        <p:spPr>
          <a:xfrm>
            <a:off x="11444760" y="0"/>
            <a:ext cx="736920" cy="684576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70" name="CustomShape 5"/>
          <p:cNvSpPr/>
          <p:nvPr/>
        </p:nvSpPr>
        <p:spPr>
          <a:xfrm>
            <a:off x="11438640" y="6453360"/>
            <a:ext cx="7538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7886E933-601C-478D-AD45-9FD4E371D6C1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CustomShape 6"/>
          <p:cNvSpPr/>
          <p:nvPr/>
        </p:nvSpPr>
        <p:spPr>
          <a:xfrm>
            <a:off x="0" y="6642720"/>
            <a:ext cx="1217988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IoT and Digitalization for the Circular Economy – TU Clausthal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GB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Default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CustomShape 1"/>
          <p:cNvSpPr/>
          <p:nvPr/>
        </p:nvSpPr>
        <p:spPr>
          <a:xfrm>
            <a:off x="11444760" y="0"/>
            <a:ext cx="736920" cy="684576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65" name="CustomShape 2"/>
          <p:cNvSpPr/>
          <p:nvPr/>
        </p:nvSpPr>
        <p:spPr>
          <a:xfrm>
            <a:off x="11438640" y="6453360"/>
            <a:ext cx="7538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6A6CFBCA-8CF3-46D6-82C4-A3D417F0F006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CustomShape 3"/>
          <p:cNvSpPr/>
          <p:nvPr/>
        </p:nvSpPr>
        <p:spPr>
          <a:xfrm>
            <a:off x="912240" y="1268280"/>
            <a:ext cx="9203760" cy="35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290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7760" cy="557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91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3600" cy="509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9" name="CustomShape 4"/>
          <p:cNvSpPr/>
          <p:nvPr/>
        </p:nvSpPr>
        <p:spPr>
          <a:xfrm>
            <a:off x="11444760" y="0"/>
            <a:ext cx="736920" cy="684576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70" name="CustomShape 5"/>
          <p:cNvSpPr/>
          <p:nvPr/>
        </p:nvSpPr>
        <p:spPr>
          <a:xfrm>
            <a:off x="11438640" y="6453360"/>
            <a:ext cx="7538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07F042E5-FB3F-43E0-975C-85D00195347E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CustomShape 6"/>
          <p:cNvSpPr/>
          <p:nvPr/>
        </p:nvSpPr>
        <p:spPr>
          <a:xfrm>
            <a:off x="0" y="6642720"/>
            <a:ext cx="1217988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IoT and Digitalization for the Circular Economy – TU Clausthal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GB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Default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CustomShape 1"/>
          <p:cNvSpPr/>
          <p:nvPr/>
        </p:nvSpPr>
        <p:spPr>
          <a:xfrm>
            <a:off x="11444760" y="0"/>
            <a:ext cx="736920" cy="684576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65" name="CustomShape 2"/>
          <p:cNvSpPr/>
          <p:nvPr/>
        </p:nvSpPr>
        <p:spPr>
          <a:xfrm>
            <a:off x="11438640" y="6453360"/>
            <a:ext cx="7538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977FED5F-79B4-4002-9B63-EE90F70576B0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CustomShape 3"/>
          <p:cNvSpPr/>
          <p:nvPr/>
        </p:nvSpPr>
        <p:spPr>
          <a:xfrm>
            <a:off x="912240" y="1268280"/>
            <a:ext cx="9203760" cy="35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278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7760" cy="557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79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3600" cy="509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9" name="CustomShape 4"/>
          <p:cNvSpPr/>
          <p:nvPr/>
        </p:nvSpPr>
        <p:spPr>
          <a:xfrm>
            <a:off x="11444760" y="0"/>
            <a:ext cx="736920" cy="684576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70" name="CustomShape 5"/>
          <p:cNvSpPr/>
          <p:nvPr/>
        </p:nvSpPr>
        <p:spPr>
          <a:xfrm>
            <a:off x="11438640" y="6453360"/>
            <a:ext cx="7538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FC13138C-7EDF-448F-B867-475CF31DBA90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CustomShape 6"/>
          <p:cNvSpPr/>
          <p:nvPr/>
        </p:nvSpPr>
        <p:spPr>
          <a:xfrm>
            <a:off x="0" y="6642720"/>
            <a:ext cx="1217988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IoT and Digitalization for the Circular Economy – TU Clausthal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GB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Default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CustomShape 1"/>
          <p:cNvSpPr/>
          <p:nvPr/>
        </p:nvSpPr>
        <p:spPr>
          <a:xfrm>
            <a:off x="11444760" y="0"/>
            <a:ext cx="736920" cy="684576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65" name="CustomShape 2"/>
          <p:cNvSpPr/>
          <p:nvPr/>
        </p:nvSpPr>
        <p:spPr>
          <a:xfrm>
            <a:off x="11438640" y="6453360"/>
            <a:ext cx="7538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A8C1B386-7773-47D9-AE23-326E7326923D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CustomShape 3"/>
          <p:cNvSpPr/>
          <p:nvPr/>
        </p:nvSpPr>
        <p:spPr>
          <a:xfrm>
            <a:off x="912240" y="1268280"/>
            <a:ext cx="9203760" cy="35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286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7760" cy="557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87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3600" cy="509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9" name="CustomShape 4"/>
          <p:cNvSpPr/>
          <p:nvPr/>
        </p:nvSpPr>
        <p:spPr>
          <a:xfrm>
            <a:off x="11444760" y="0"/>
            <a:ext cx="736920" cy="684576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70" name="CustomShape 5"/>
          <p:cNvSpPr/>
          <p:nvPr/>
        </p:nvSpPr>
        <p:spPr>
          <a:xfrm>
            <a:off x="11438640" y="6453360"/>
            <a:ext cx="7538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FF254E15-7DC1-457F-832C-5D3000BBCEFD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CustomShape 6"/>
          <p:cNvSpPr/>
          <p:nvPr/>
        </p:nvSpPr>
        <p:spPr>
          <a:xfrm>
            <a:off x="0" y="6642720"/>
            <a:ext cx="1217988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IoT and Digitalization for the Circular Economy – TU Clausthal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GB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9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CustomShape 1"/>
          <p:cNvSpPr/>
          <p:nvPr/>
        </p:nvSpPr>
        <p:spPr>
          <a:xfrm>
            <a:off x="11444760" y="0"/>
            <a:ext cx="736920" cy="684576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65" name="CustomShape 2"/>
          <p:cNvSpPr/>
          <p:nvPr/>
        </p:nvSpPr>
        <p:spPr>
          <a:xfrm>
            <a:off x="11438640" y="6453360"/>
            <a:ext cx="7538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4FA69395-E40B-4D57-A918-3B8F2B20E7B8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CustomShape 3"/>
          <p:cNvSpPr/>
          <p:nvPr/>
        </p:nvSpPr>
        <p:spPr>
          <a:xfrm>
            <a:off x="912240" y="1268280"/>
            <a:ext cx="9203760" cy="35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302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7760" cy="557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03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3600" cy="509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9" name="CustomShape 4"/>
          <p:cNvSpPr/>
          <p:nvPr/>
        </p:nvSpPr>
        <p:spPr>
          <a:xfrm>
            <a:off x="11444760" y="0"/>
            <a:ext cx="736920" cy="684576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70" name="CustomShape 5"/>
          <p:cNvSpPr/>
          <p:nvPr/>
        </p:nvSpPr>
        <p:spPr>
          <a:xfrm>
            <a:off x="11438640" y="6453360"/>
            <a:ext cx="7538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472DFB07-54CF-4DFF-A86B-155A7F814EB1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CustomShape 6"/>
          <p:cNvSpPr/>
          <p:nvPr/>
        </p:nvSpPr>
        <p:spPr>
          <a:xfrm>
            <a:off x="0" y="6642720"/>
            <a:ext cx="1217988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IoT and Digitalization for the Circular Economy – TU Clausthal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GB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Default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CustomShape 1"/>
          <p:cNvSpPr/>
          <p:nvPr/>
        </p:nvSpPr>
        <p:spPr>
          <a:xfrm>
            <a:off x="11444760" y="0"/>
            <a:ext cx="736920" cy="684576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07" name="CustomShape 2"/>
          <p:cNvSpPr/>
          <p:nvPr/>
        </p:nvSpPr>
        <p:spPr>
          <a:xfrm>
            <a:off x="11438640" y="6453360"/>
            <a:ext cx="7538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22EBD81B-F62A-4E86-AA37-CDA1DBA56D6E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8" name="CustomShape 3"/>
          <p:cNvSpPr/>
          <p:nvPr/>
        </p:nvSpPr>
        <p:spPr>
          <a:xfrm>
            <a:off x="912240" y="1268280"/>
            <a:ext cx="9203760" cy="35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309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7760" cy="557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10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3600" cy="509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1" name="CustomShape 4"/>
          <p:cNvSpPr/>
          <p:nvPr/>
        </p:nvSpPr>
        <p:spPr>
          <a:xfrm>
            <a:off x="11444760" y="0"/>
            <a:ext cx="736920" cy="684576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12" name="CustomShape 5"/>
          <p:cNvSpPr/>
          <p:nvPr/>
        </p:nvSpPr>
        <p:spPr>
          <a:xfrm>
            <a:off x="11438640" y="6453360"/>
            <a:ext cx="7538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864D6A2C-9796-4907-ACDB-1DE0DD8A2CCA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3" name="CustomShape 6"/>
          <p:cNvSpPr/>
          <p:nvPr/>
        </p:nvSpPr>
        <p:spPr>
          <a:xfrm>
            <a:off x="0" y="6642720"/>
            <a:ext cx="1217988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IoT and Digitalization for the Circular Economy – TU Clausthal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4" name="PlaceHolder 1"/>
          <p:cNvSpPr>
            <a:spLocks noGrp="1"/>
          </p:cNvSpPr>
          <p:nvPr>
            <p:ph type="title"/>
          </p:nvPr>
        </p:nvSpPr>
        <p:spPr>
          <a:xfrm>
            <a:off x="609480" y="708480"/>
            <a:ext cx="1097172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3560" cy="3976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6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3560" cy="3976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Default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CustomShape 1"/>
          <p:cNvSpPr/>
          <p:nvPr/>
        </p:nvSpPr>
        <p:spPr>
          <a:xfrm>
            <a:off x="11444760" y="0"/>
            <a:ext cx="736920" cy="684576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18" name="CustomShape 2"/>
          <p:cNvSpPr/>
          <p:nvPr/>
        </p:nvSpPr>
        <p:spPr>
          <a:xfrm>
            <a:off x="11438640" y="6453360"/>
            <a:ext cx="7538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A094FC5D-974D-4254-BCC1-F19F36BA774D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9" name="CustomShape 3"/>
          <p:cNvSpPr/>
          <p:nvPr/>
        </p:nvSpPr>
        <p:spPr>
          <a:xfrm>
            <a:off x="912240" y="1268280"/>
            <a:ext cx="9203760" cy="35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320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7760" cy="557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21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3600" cy="509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2" name="CustomShape 4"/>
          <p:cNvSpPr/>
          <p:nvPr/>
        </p:nvSpPr>
        <p:spPr>
          <a:xfrm>
            <a:off x="11444760" y="0"/>
            <a:ext cx="736920" cy="684576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23" name="CustomShape 5"/>
          <p:cNvSpPr/>
          <p:nvPr/>
        </p:nvSpPr>
        <p:spPr>
          <a:xfrm>
            <a:off x="11438640" y="6453360"/>
            <a:ext cx="7538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A24AC7AA-64BA-42AF-A3C4-338CF0984541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4" name="CustomShape 6"/>
          <p:cNvSpPr/>
          <p:nvPr/>
        </p:nvSpPr>
        <p:spPr>
          <a:xfrm>
            <a:off x="0" y="6642720"/>
            <a:ext cx="1217988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IoT and Digitalization for the Circular Economy – TU Clausthal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5" name="PlaceHolder 1"/>
          <p:cNvSpPr>
            <a:spLocks noGrp="1"/>
          </p:cNvSpPr>
          <p:nvPr>
            <p:ph type="title"/>
          </p:nvPr>
        </p:nvSpPr>
        <p:spPr>
          <a:xfrm>
            <a:off x="609480" y="708480"/>
            <a:ext cx="1097172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6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3560" cy="189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7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3560" cy="189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8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1720" cy="189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Default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CustomShape 1"/>
          <p:cNvSpPr/>
          <p:nvPr/>
        </p:nvSpPr>
        <p:spPr>
          <a:xfrm>
            <a:off x="11444760" y="0"/>
            <a:ext cx="736920" cy="684576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30" name="CustomShape 2"/>
          <p:cNvSpPr/>
          <p:nvPr/>
        </p:nvSpPr>
        <p:spPr>
          <a:xfrm>
            <a:off x="11438640" y="6453360"/>
            <a:ext cx="7538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0BB181A9-F334-4EFA-9147-CAF833BA0234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1" name="CustomShape 3"/>
          <p:cNvSpPr/>
          <p:nvPr/>
        </p:nvSpPr>
        <p:spPr>
          <a:xfrm>
            <a:off x="912240" y="1268280"/>
            <a:ext cx="9203760" cy="35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332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7760" cy="557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33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3600" cy="509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4" name="CustomShape 4"/>
          <p:cNvSpPr/>
          <p:nvPr/>
        </p:nvSpPr>
        <p:spPr>
          <a:xfrm>
            <a:off x="11444760" y="0"/>
            <a:ext cx="736920" cy="684576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35" name="CustomShape 5"/>
          <p:cNvSpPr/>
          <p:nvPr/>
        </p:nvSpPr>
        <p:spPr>
          <a:xfrm>
            <a:off x="11438640" y="6453360"/>
            <a:ext cx="7538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857432D7-A1C8-41C0-ABE0-0915306C9899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6" name="CustomShape 6"/>
          <p:cNvSpPr/>
          <p:nvPr/>
        </p:nvSpPr>
        <p:spPr>
          <a:xfrm>
            <a:off x="0" y="6642720"/>
            <a:ext cx="1217988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IoT and Digitalization for the Circular Economy – TU Clausthal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7" name="PlaceHolder 1"/>
          <p:cNvSpPr>
            <a:spLocks noGrp="1"/>
          </p:cNvSpPr>
          <p:nvPr>
            <p:ph type="title"/>
          </p:nvPr>
        </p:nvSpPr>
        <p:spPr>
          <a:xfrm>
            <a:off x="609480" y="708480"/>
            <a:ext cx="1097172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8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720" cy="189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9" name="PlaceHolder 3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1720" cy="189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CustomShape 1"/>
          <p:cNvSpPr/>
          <p:nvPr/>
        </p:nvSpPr>
        <p:spPr>
          <a:xfrm>
            <a:off x="11444760" y="0"/>
            <a:ext cx="736920" cy="684576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41" name="CustomShape 2"/>
          <p:cNvSpPr/>
          <p:nvPr/>
        </p:nvSpPr>
        <p:spPr>
          <a:xfrm>
            <a:off x="11438640" y="6453360"/>
            <a:ext cx="7538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3B5410BC-48BF-4FBB-8253-3461125AF656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2" name="CustomShape 3"/>
          <p:cNvSpPr/>
          <p:nvPr/>
        </p:nvSpPr>
        <p:spPr>
          <a:xfrm>
            <a:off x="912240" y="1268280"/>
            <a:ext cx="9203760" cy="35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343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7760" cy="557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44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3600" cy="509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5" name="CustomShape 4"/>
          <p:cNvSpPr/>
          <p:nvPr/>
        </p:nvSpPr>
        <p:spPr>
          <a:xfrm>
            <a:off x="11444760" y="0"/>
            <a:ext cx="736920" cy="684576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46" name="CustomShape 5"/>
          <p:cNvSpPr/>
          <p:nvPr/>
        </p:nvSpPr>
        <p:spPr>
          <a:xfrm>
            <a:off x="11438640" y="6453360"/>
            <a:ext cx="7538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2E529E48-44B9-449C-B75F-C9B3FF07555C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7" name="CustomShape 6"/>
          <p:cNvSpPr/>
          <p:nvPr/>
        </p:nvSpPr>
        <p:spPr>
          <a:xfrm>
            <a:off x="0" y="6642720"/>
            <a:ext cx="1217988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IoT and Digitalization for the Circular Economy – TU Clausthal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8" name="PlaceHolder 1"/>
          <p:cNvSpPr>
            <a:spLocks noGrp="1"/>
          </p:cNvSpPr>
          <p:nvPr>
            <p:ph type="title"/>
          </p:nvPr>
        </p:nvSpPr>
        <p:spPr>
          <a:xfrm>
            <a:off x="609480" y="708480"/>
            <a:ext cx="1097172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9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720" cy="3976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Default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CustomShape 1"/>
          <p:cNvSpPr/>
          <p:nvPr/>
        </p:nvSpPr>
        <p:spPr>
          <a:xfrm>
            <a:off x="11444760" y="0"/>
            <a:ext cx="736920" cy="684576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51" name="CustomShape 2"/>
          <p:cNvSpPr/>
          <p:nvPr/>
        </p:nvSpPr>
        <p:spPr>
          <a:xfrm>
            <a:off x="11438640" y="6453360"/>
            <a:ext cx="7538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C7FCBC20-9186-4181-9AE3-4C956BA3783A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2" name="CustomShape 3"/>
          <p:cNvSpPr/>
          <p:nvPr/>
        </p:nvSpPr>
        <p:spPr>
          <a:xfrm>
            <a:off x="912240" y="1268280"/>
            <a:ext cx="9203760" cy="35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353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7760" cy="557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54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3600" cy="509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5" name="CustomShape 4"/>
          <p:cNvSpPr/>
          <p:nvPr/>
        </p:nvSpPr>
        <p:spPr>
          <a:xfrm>
            <a:off x="11444760" y="0"/>
            <a:ext cx="736920" cy="684576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56" name="CustomShape 5"/>
          <p:cNvSpPr/>
          <p:nvPr/>
        </p:nvSpPr>
        <p:spPr>
          <a:xfrm>
            <a:off x="11438640" y="6453360"/>
            <a:ext cx="7538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4C6106D2-4CF7-411E-990B-2316F388EA45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7" name="CustomShape 6"/>
          <p:cNvSpPr/>
          <p:nvPr/>
        </p:nvSpPr>
        <p:spPr>
          <a:xfrm>
            <a:off x="0" y="6642720"/>
            <a:ext cx="1217988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IoT and Digitalization for the Circular Economy – TU Clausthal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8" name="PlaceHolder 1"/>
          <p:cNvSpPr>
            <a:spLocks noGrp="1"/>
          </p:cNvSpPr>
          <p:nvPr>
            <p:ph type="title"/>
          </p:nvPr>
        </p:nvSpPr>
        <p:spPr>
          <a:xfrm>
            <a:off x="609480" y="708480"/>
            <a:ext cx="1097172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9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3560" cy="3976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0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3560" cy="189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1" name="PlaceHolder 4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3560" cy="189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Default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CustomShape 1"/>
          <p:cNvSpPr/>
          <p:nvPr/>
        </p:nvSpPr>
        <p:spPr>
          <a:xfrm>
            <a:off x="11444760" y="0"/>
            <a:ext cx="736920" cy="684576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63" name="CustomShape 2"/>
          <p:cNvSpPr/>
          <p:nvPr/>
        </p:nvSpPr>
        <p:spPr>
          <a:xfrm>
            <a:off x="11438640" y="6453360"/>
            <a:ext cx="7538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D406536F-AA8F-47DC-90AA-9FBB42FD76A2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4" name="CustomShape 3"/>
          <p:cNvSpPr/>
          <p:nvPr/>
        </p:nvSpPr>
        <p:spPr>
          <a:xfrm>
            <a:off x="912240" y="1268280"/>
            <a:ext cx="9203760" cy="35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365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7760" cy="557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66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3600" cy="509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7" name="CustomShape 4"/>
          <p:cNvSpPr/>
          <p:nvPr/>
        </p:nvSpPr>
        <p:spPr>
          <a:xfrm>
            <a:off x="11444760" y="0"/>
            <a:ext cx="736920" cy="684576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68" name="CustomShape 5"/>
          <p:cNvSpPr/>
          <p:nvPr/>
        </p:nvSpPr>
        <p:spPr>
          <a:xfrm>
            <a:off x="11438640" y="6453360"/>
            <a:ext cx="7538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33AB1DDA-5B21-4889-86D1-6A37CD6D2E49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9" name="CustomShape 6"/>
          <p:cNvSpPr/>
          <p:nvPr/>
        </p:nvSpPr>
        <p:spPr>
          <a:xfrm>
            <a:off x="0" y="6642720"/>
            <a:ext cx="1217988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IoT and Digitalization for the Circular Economy – TU Clausthal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0" name="PlaceHolder 1"/>
          <p:cNvSpPr>
            <a:spLocks noGrp="1"/>
          </p:cNvSpPr>
          <p:nvPr>
            <p:ph type="title"/>
          </p:nvPr>
        </p:nvSpPr>
        <p:spPr>
          <a:xfrm>
            <a:off x="609480" y="708480"/>
            <a:ext cx="1097172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3560" cy="189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2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3560" cy="3976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3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3560" cy="189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Default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CustomShape 1"/>
          <p:cNvSpPr/>
          <p:nvPr/>
        </p:nvSpPr>
        <p:spPr>
          <a:xfrm>
            <a:off x="11444760" y="0"/>
            <a:ext cx="736920" cy="684576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75" name="CustomShape 2"/>
          <p:cNvSpPr/>
          <p:nvPr/>
        </p:nvSpPr>
        <p:spPr>
          <a:xfrm>
            <a:off x="11438640" y="6453360"/>
            <a:ext cx="7538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50913C9F-9640-4A96-9F8B-FCC13544B2CE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6" name="CustomShape 3"/>
          <p:cNvSpPr/>
          <p:nvPr/>
        </p:nvSpPr>
        <p:spPr>
          <a:xfrm>
            <a:off x="912240" y="1268280"/>
            <a:ext cx="9203760" cy="35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377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7760" cy="557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78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3600" cy="509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9" name="CustomShape 4"/>
          <p:cNvSpPr/>
          <p:nvPr/>
        </p:nvSpPr>
        <p:spPr>
          <a:xfrm>
            <a:off x="11444760" y="0"/>
            <a:ext cx="736920" cy="684576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80" name="CustomShape 5"/>
          <p:cNvSpPr/>
          <p:nvPr/>
        </p:nvSpPr>
        <p:spPr>
          <a:xfrm>
            <a:off x="11438640" y="6453360"/>
            <a:ext cx="7538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8AB516AC-CD91-451A-B570-8CDA461FF9A4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1" name="CustomShape 6"/>
          <p:cNvSpPr/>
          <p:nvPr/>
        </p:nvSpPr>
        <p:spPr>
          <a:xfrm>
            <a:off x="0" y="6642720"/>
            <a:ext cx="1217988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IoT and Digitalization for the Circular Economy – TU Clausthal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2" name="PlaceHolder 1"/>
          <p:cNvSpPr>
            <a:spLocks noGrp="1"/>
          </p:cNvSpPr>
          <p:nvPr>
            <p:ph type="title"/>
          </p:nvPr>
        </p:nvSpPr>
        <p:spPr>
          <a:xfrm>
            <a:off x="609480" y="708480"/>
            <a:ext cx="1097172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Default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CustomShape 1"/>
          <p:cNvSpPr/>
          <p:nvPr/>
        </p:nvSpPr>
        <p:spPr>
          <a:xfrm>
            <a:off x="11444760" y="0"/>
            <a:ext cx="736920" cy="684576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84" name="CustomShape 2"/>
          <p:cNvSpPr/>
          <p:nvPr/>
        </p:nvSpPr>
        <p:spPr>
          <a:xfrm>
            <a:off x="11438640" y="6453360"/>
            <a:ext cx="7538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ABE91593-9734-4C8B-BEFC-CA87CCB0BD7D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5" name="CustomShape 3"/>
          <p:cNvSpPr/>
          <p:nvPr/>
        </p:nvSpPr>
        <p:spPr>
          <a:xfrm>
            <a:off x="912240" y="1268280"/>
            <a:ext cx="9203760" cy="35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386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7760" cy="557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87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3600" cy="509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8" name="CustomShape 4"/>
          <p:cNvSpPr/>
          <p:nvPr/>
        </p:nvSpPr>
        <p:spPr>
          <a:xfrm>
            <a:off x="11444760" y="0"/>
            <a:ext cx="736920" cy="684576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89" name="CustomShape 5"/>
          <p:cNvSpPr/>
          <p:nvPr/>
        </p:nvSpPr>
        <p:spPr>
          <a:xfrm>
            <a:off x="11438640" y="6453360"/>
            <a:ext cx="7538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4B49F572-C5B1-4920-A9DC-9461CCA258CB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0" name="CustomShape 6"/>
          <p:cNvSpPr/>
          <p:nvPr/>
        </p:nvSpPr>
        <p:spPr>
          <a:xfrm>
            <a:off x="0" y="6642720"/>
            <a:ext cx="1217988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IoT and Digitalization for the Circular Economy – TU Clausthal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1" name="PlaceHolder 1"/>
          <p:cNvSpPr>
            <a:spLocks noGrp="1"/>
          </p:cNvSpPr>
          <p:nvPr>
            <p:ph type="title"/>
          </p:nvPr>
        </p:nvSpPr>
        <p:spPr>
          <a:xfrm>
            <a:off x="609480" y="708480"/>
            <a:ext cx="1097172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3560" cy="189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3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3560" cy="189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4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3560" cy="189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5" name="PlaceHolder 5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3560" cy="189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Default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CustomShape 1"/>
          <p:cNvSpPr/>
          <p:nvPr/>
        </p:nvSpPr>
        <p:spPr>
          <a:xfrm>
            <a:off x="11444760" y="0"/>
            <a:ext cx="736920" cy="684576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97" name="CustomShape 2"/>
          <p:cNvSpPr/>
          <p:nvPr/>
        </p:nvSpPr>
        <p:spPr>
          <a:xfrm>
            <a:off x="11438640" y="6453360"/>
            <a:ext cx="7538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2F17E45F-C3D8-4FD2-BA87-EBB5AE66ADF6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8" name="CustomShape 3"/>
          <p:cNvSpPr/>
          <p:nvPr/>
        </p:nvSpPr>
        <p:spPr>
          <a:xfrm>
            <a:off x="912240" y="1268280"/>
            <a:ext cx="9203760" cy="35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399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7760" cy="557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00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3600" cy="509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1" name="CustomShape 4"/>
          <p:cNvSpPr/>
          <p:nvPr/>
        </p:nvSpPr>
        <p:spPr>
          <a:xfrm>
            <a:off x="11444760" y="0"/>
            <a:ext cx="736920" cy="684576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02" name="CustomShape 5"/>
          <p:cNvSpPr/>
          <p:nvPr/>
        </p:nvSpPr>
        <p:spPr>
          <a:xfrm>
            <a:off x="11438640" y="6453360"/>
            <a:ext cx="7538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59006F28-5F03-43B1-A0F3-BEDE8B8E6555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3" name="CustomShape 6"/>
          <p:cNvSpPr/>
          <p:nvPr/>
        </p:nvSpPr>
        <p:spPr>
          <a:xfrm>
            <a:off x="0" y="6642720"/>
            <a:ext cx="1217988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IoT and Digitalization for the Circular Economy – TU Clausthal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GB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Default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CustomShape 1"/>
          <p:cNvSpPr/>
          <p:nvPr/>
        </p:nvSpPr>
        <p:spPr>
          <a:xfrm>
            <a:off x="11444760" y="0"/>
            <a:ext cx="736920" cy="684576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07" name="CustomShape 2"/>
          <p:cNvSpPr/>
          <p:nvPr/>
        </p:nvSpPr>
        <p:spPr>
          <a:xfrm>
            <a:off x="11438640" y="6453360"/>
            <a:ext cx="7538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C9FAD3F5-1FA1-4E43-9F7D-5E04F01A8595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8" name="CustomShape 3"/>
          <p:cNvSpPr/>
          <p:nvPr/>
        </p:nvSpPr>
        <p:spPr>
          <a:xfrm>
            <a:off x="912240" y="1268280"/>
            <a:ext cx="9203760" cy="35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409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7760" cy="557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10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3600" cy="509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1" name="CustomShape 4"/>
          <p:cNvSpPr/>
          <p:nvPr/>
        </p:nvSpPr>
        <p:spPr>
          <a:xfrm>
            <a:off x="11444760" y="0"/>
            <a:ext cx="736920" cy="684576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12" name="CustomShape 5"/>
          <p:cNvSpPr/>
          <p:nvPr/>
        </p:nvSpPr>
        <p:spPr>
          <a:xfrm>
            <a:off x="11438640" y="6453360"/>
            <a:ext cx="7538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4626F5DC-207D-4BA9-B45F-5E71AB667FCB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3" name="CustomShape 6"/>
          <p:cNvSpPr/>
          <p:nvPr/>
        </p:nvSpPr>
        <p:spPr>
          <a:xfrm>
            <a:off x="0" y="6642720"/>
            <a:ext cx="1217988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IoT and Digitalization for the Circular Economy – TU Clausthal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GB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Default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CustomShape 1"/>
          <p:cNvSpPr/>
          <p:nvPr/>
        </p:nvSpPr>
        <p:spPr>
          <a:xfrm>
            <a:off x="11444760" y="0"/>
            <a:ext cx="736920" cy="684576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17" name="CustomShape 2"/>
          <p:cNvSpPr/>
          <p:nvPr/>
        </p:nvSpPr>
        <p:spPr>
          <a:xfrm>
            <a:off x="11438640" y="6453360"/>
            <a:ext cx="7538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6B6B96AF-4597-46BD-97AC-3A83ECBB5D45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8" name="CustomShape 3"/>
          <p:cNvSpPr/>
          <p:nvPr/>
        </p:nvSpPr>
        <p:spPr>
          <a:xfrm>
            <a:off x="912240" y="1268280"/>
            <a:ext cx="9203760" cy="35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419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7760" cy="557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20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3600" cy="509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21" name="CustomShape 4"/>
          <p:cNvSpPr/>
          <p:nvPr/>
        </p:nvSpPr>
        <p:spPr>
          <a:xfrm>
            <a:off x="11444760" y="0"/>
            <a:ext cx="736920" cy="684576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22" name="CustomShape 5"/>
          <p:cNvSpPr/>
          <p:nvPr/>
        </p:nvSpPr>
        <p:spPr>
          <a:xfrm>
            <a:off x="11438640" y="6453360"/>
            <a:ext cx="7538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507F76FB-C1A6-4051-B427-5AE45136328A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3" name="CustomShape 6"/>
          <p:cNvSpPr/>
          <p:nvPr/>
        </p:nvSpPr>
        <p:spPr>
          <a:xfrm>
            <a:off x="0" y="6642720"/>
            <a:ext cx="1217988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IoT and Digitalization for the Circular Economy – TU Clausthal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GB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Default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CustomShape 1"/>
          <p:cNvSpPr/>
          <p:nvPr/>
        </p:nvSpPr>
        <p:spPr>
          <a:xfrm>
            <a:off x="11444760" y="0"/>
            <a:ext cx="736920" cy="684576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27" name="CustomShape 2"/>
          <p:cNvSpPr/>
          <p:nvPr/>
        </p:nvSpPr>
        <p:spPr>
          <a:xfrm>
            <a:off x="11438640" y="6453360"/>
            <a:ext cx="7538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436629DF-4B81-40EB-B329-2621E8F4EC7F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8" name="CustomShape 3"/>
          <p:cNvSpPr/>
          <p:nvPr/>
        </p:nvSpPr>
        <p:spPr>
          <a:xfrm>
            <a:off x="912240" y="1268280"/>
            <a:ext cx="9203760" cy="35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429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7760" cy="557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30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3600" cy="509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31" name="CustomShape 4"/>
          <p:cNvSpPr/>
          <p:nvPr/>
        </p:nvSpPr>
        <p:spPr>
          <a:xfrm>
            <a:off x="11444760" y="0"/>
            <a:ext cx="736920" cy="684576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32" name="CustomShape 5"/>
          <p:cNvSpPr/>
          <p:nvPr/>
        </p:nvSpPr>
        <p:spPr>
          <a:xfrm>
            <a:off x="11438640" y="6453360"/>
            <a:ext cx="7538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32C41F5E-923D-4738-A34A-2B47E88FD5B6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3" name="CustomShape 6"/>
          <p:cNvSpPr/>
          <p:nvPr/>
        </p:nvSpPr>
        <p:spPr>
          <a:xfrm>
            <a:off x="0" y="6642720"/>
            <a:ext cx="1217988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IoT and Digitalization for the Circular Economy – TU Clausthal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GB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Default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CustomShape 1"/>
          <p:cNvSpPr/>
          <p:nvPr/>
        </p:nvSpPr>
        <p:spPr>
          <a:xfrm>
            <a:off x="11444760" y="0"/>
            <a:ext cx="736920" cy="684576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37" name="CustomShape 2"/>
          <p:cNvSpPr/>
          <p:nvPr/>
        </p:nvSpPr>
        <p:spPr>
          <a:xfrm>
            <a:off x="11438640" y="6453360"/>
            <a:ext cx="7538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A6DF61A2-62B2-4EE7-B325-0479DEDE1882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8" name="CustomShape 3"/>
          <p:cNvSpPr/>
          <p:nvPr/>
        </p:nvSpPr>
        <p:spPr>
          <a:xfrm>
            <a:off x="912240" y="1268280"/>
            <a:ext cx="9203760" cy="35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439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7760" cy="557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40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3600" cy="509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41" name="CustomShape 4"/>
          <p:cNvSpPr/>
          <p:nvPr/>
        </p:nvSpPr>
        <p:spPr>
          <a:xfrm>
            <a:off x="11444760" y="0"/>
            <a:ext cx="736920" cy="684576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42" name="CustomShape 5"/>
          <p:cNvSpPr/>
          <p:nvPr/>
        </p:nvSpPr>
        <p:spPr>
          <a:xfrm>
            <a:off x="11438640" y="6453360"/>
            <a:ext cx="7538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646552C7-6380-4127-87EA-69F5638C6675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3" name="CustomShape 6"/>
          <p:cNvSpPr/>
          <p:nvPr/>
        </p:nvSpPr>
        <p:spPr>
          <a:xfrm>
            <a:off x="0" y="6642720"/>
            <a:ext cx="1217988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IoT and Digitalization for the Circular Economy – TU Clausthal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GB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Default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CustomShape 1"/>
          <p:cNvSpPr/>
          <p:nvPr/>
        </p:nvSpPr>
        <p:spPr>
          <a:xfrm>
            <a:off x="11444760" y="0"/>
            <a:ext cx="736920" cy="684576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47" name="CustomShape 2"/>
          <p:cNvSpPr/>
          <p:nvPr/>
        </p:nvSpPr>
        <p:spPr>
          <a:xfrm>
            <a:off x="11438640" y="6453360"/>
            <a:ext cx="7538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52B8E4B2-C5BB-4A3B-BCA5-53D1968751DB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8" name="CustomShape 3"/>
          <p:cNvSpPr/>
          <p:nvPr/>
        </p:nvSpPr>
        <p:spPr>
          <a:xfrm>
            <a:off x="912240" y="1268280"/>
            <a:ext cx="9203760" cy="35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449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7760" cy="557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50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3600" cy="509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51" name="CustomShape 4"/>
          <p:cNvSpPr/>
          <p:nvPr/>
        </p:nvSpPr>
        <p:spPr>
          <a:xfrm>
            <a:off x="11444760" y="0"/>
            <a:ext cx="736920" cy="684576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52" name="CustomShape 5"/>
          <p:cNvSpPr/>
          <p:nvPr/>
        </p:nvSpPr>
        <p:spPr>
          <a:xfrm>
            <a:off x="11438640" y="6453360"/>
            <a:ext cx="7538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866A2555-472F-4158-AA8D-AEA9E12770B9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3" name="CustomShape 6"/>
          <p:cNvSpPr/>
          <p:nvPr/>
        </p:nvSpPr>
        <p:spPr>
          <a:xfrm>
            <a:off x="0" y="6642720"/>
            <a:ext cx="1217988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IoT and Digitalization for the Circular Economy – TU Clausthal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GB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08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Default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08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Default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3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Default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4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Defaul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11.xml"/>
</Relationships>
</file>

<file path=ppt/slideMasters/_rels/slideMaster12.xml.rels><?xml version="1.0" encoding="UTF-8"?>
<Relationships xmlns="http://schemas.openxmlformats.org/package/2006/relationships"><Relationship Id="rId1" Type="http://schemas.openxmlformats.org/officeDocument/2006/relationships/theme" Target="../theme/theme12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12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13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13.xml"/>
</Relationships>
</file>

<file path=ppt/slideMasters/_rels/slideMaster14.xml.rels><?xml version="1.0" encoding="UTF-8"?>
<Relationships xmlns="http://schemas.openxmlformats.org/package/2006/relationships"><Relationship Id="rId1" Type="http://schemas.openxmlformats.org/officeDocument/2006/relationships/theme" Target="../theme/theme14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14.xml"/>
</Relationships>
</file>

<file path=ppt/slideMasters/_rels/slideMaster15.xml.rels><?xml version="1.0" encoding="UTF-8"?>
<Relationships xmlns="http://schemas.openxmlformats.org/package/2006/relationships"><Relationship Id="rId1" Type="http://schemas.openxmlformats.org/officeDocument/2006/relationships/theme" Target="../theme/theme15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15.xml"/>
</Relationships>
</file>

<file path=ppt/slideMasters/_rels/slideMaster16.xml.rels><?xml version="1.0" encoding="UTF-8"?>
<Relationships xmlns="http://schemas.openxmlformats.org/package/2006/relationships"><Relationship Id="rId1" Type="http://schemas.openxmlformats.org/officeDocument/2006/relationships/theme" Target="../theme/theme16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16.xml"/>
</Relationships>
</file>

<file path=ppt/slideMasters/_rels/slideMaster17.xml.rels><?xml version="1.0" encoding="UTF-8"?>
<Relationships xmlns="http://schemas.openxmlformats.org/package/2006/relationships"><Relationship Id="rId1" Type="http://schemas.openxmlformats.org/officeDocument/2006/relationships/theme" Target="../theme/theme1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17.xml"/>
</Relationships>
</file>

<file path=ppt/slideMasters/_rels/slideMaster18.xml.rels><?xml version="1.0" encoding="UTF-8"?>
<Relationships xmlns="http://schemas.openxmlformats.org/package/2006/relationships"><Relationship Id="rId1" Type="http://schemas.openxmlformats.org/officeDocument/2006/relationships/theme" Target="../theme/theme18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18.xml"/>
</Relationships>
</file>

<file path=ppt/slideMasters/_rels/slideMaster19.xml.rels><?xml version="1.0" encoding="UTF-8"?>
<Relationships xmlns="http://schemas.openxmlformats.org/package/2006/relationships"><Relationship Id="rId1" Type="http://schemas.openxmlformats.org/officeDocument/2006/relationships/theme" Target="../theme/theme19.xml"/><Relationship Id="rId2" Type="http://schemas.openxmlformats.org/officeDocument/2006/relationships/slideLayout" Target="../slideLayouts/slideLayout19.xml"/><Relationship Id="rId3" Type="http://schemas.openxmlformats.org/officeDocument/2006/relationships/slideLayout" Target="../slideLayouts/slideLayout20.xml"/><Relationship Id="rId4" Type="http://schemas.openxmlformats.org/officeDocument/2006/relationships/slideLayout" Target="../slideLayouts/slideLayout21.xml"/><Relationship Id="rId5" Type="http://schemas.openxmlformats.org/officeDocument/2006/relationships/slideLayout" Target="../slideLayouts/slideLayout22.xml"/><Relationship Id="rId6" Type="http://schemas.openxmlformats.org/officeDocument/2006/relationships/slideLayout" Target="../slideLayouts/slideLayout23.xml"/><Relationship Id="rId7" Type="http://schemas.openxmlformats.org/officeDocument/2006/relationships/slideLayout" Target="../slideLayouts/slideLayout24.xml"/><Relationship Id="rId8" Type="http://schemas.openxmlformats.org/officeDocument/2006/relationships/slideLayout" Target="../slideLayouts/slideLayout25.xml"/><Relationship Id="rId9" Type="http://schemas.openxmlformats.org/officeDocument/2006/relationships/slideLayout" Target="../slideLayouts/slideLayout26.xml"/><Relationship Id="rId10" Type="http://schemas.openxmlformats.org/officeDocument/2006/relationships/slideLayout" Target="../slideLayouts/slideLayout27.xml"/><Relationship Id="rId11" Type="http://schemas.openxmlformats.org/officeDocument/2006/relationships/slideLayout" Target="../slideLayouts/slideLayout28.xml"/><Relationship Id="rId12" Type="http://schemas.openxmlformats.org/officeDocument/2006/relationships/slideLayout" Target="../slideLayouts/slideLayout29.xml"/><Relationship Id="rId13" Type="http://schemas.openxmlformats.org/officeDocument/2006/relationships/slideLayout" Target="../slideLayouts/slideLayout30.xml"/><Relationship Id="rId14" Type="http://schemas.openxmlformats.org/officeDocument/2006/relationships/slideLayout" Target="../slideLayouts/slideLayout31.xml"/><Relationship Id="rId15" Type="http://schemas.openxmlformats.org/officeDocument/2006/relationships/slideLayout" Target="../slideLayouts/slideLayout32.xml"/><Relationship Id="rId16" Type="http://schemas.openxmlformats.org/officeDocument/2006/relationships/slideLayout" Target="../slideLayouts/slideLayout33.xml"/><Relationship Id="rId17" Type="http://schemas.openxmlformats.org/officeDocument/2006/relationships/slideLayout" Target="../slideLayouts/slideLayout34.xml"/><Relationship Id="rId18" Type="http://schemas.openxmlformats.org/officeDocument/2006/relationships/slideLayout" Target="../slideLayouts/slideLayout35.xml"/><Relationship Id="rId19" Type="http://schemas.openxmlformats.org/officeDocument/2006/relationships/slideLayout" Target="../slideLayouts/slideLayout36.xml"/><Relationship Id="rId20" Type="http://schemas.openxmlformats.org/officeDocument/2006/relationships/slideLayout" Target="../slideLayouts/slideLayout37.xml"/><Relationship Id="rId21" Type="http://schemas.openxmlformats.org/officeDocument/2006/relationships/slideLayout" Target="../slideLayouts/slideLayout38.xml"/><Relationship Id="rId22" Type="http://schemas.openxmlformats.org/officeDocument/2006/relationships/slideLayout" Target="../slideLayouts/slideLayout39.xml"/><Relationship Id="rId23" Type="http://schemas.openxmlformats.org/officeDocument/2006/relationships/slideLayout" Target="../slideLayouts/slideLayout40.xml"/><Relationship Id="rId24" Type="http://schemas.openxmlformats.org/officeDocument/2006/relationships/slideLayout" Target="../slideLayouts/slideLayout41.xml"/><Relationship Id="rId25" Type="http://schemas.openxmlformats.org/officeDocument/2006/relationships/slideLayout" Target="../slideLayouts/slideLayout42.xml"/><Relationship Id="rId26" Type="http://schemas.openxmlformats.org/officeDocument/2006/relationships/slideLayout" Target="../slideLayouts/slideLayout43.xml"/>
</Relationships>
</file>

<file path=ppt/slideMasters/_rels/slideMaster36.xml.rels><?xml version="1.0" encoding="UTF-8"?>
<Relationships xmlns="http://schemas.openxmlformats.org/package/2006/relationships"><Relationship Id="rId1" Type="http://schemas.openxmlformats.org/officeDocument/2006/relationships/theme" Target="../theme/theme20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44.xml"/>
</Relationships>
</file>

<file path=ppt/slideMasters/_rels/slideMaster37.xml.rels><?xml version="1.0" encoding="UTF-8"?>
<Relationships xmlns="http://schemas.openxmlformats.org/package/2006/relationships"><Relationship Id="rId1" Type="http://schemas.openxmlformats.org/officeDocument/2006/relationships/theme" Target="../theme/theme2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45.xml"/>
</Relationships>
</file>

<file path=ppt/slideMasters/_rels/slideMaster38.xml.rels><?xml version="1.0" encoding="UTF-8"?>
<Relationships xmlns="http://schemas.openxmlformats.org/package/2006/relationships"><Relationship Id="rId1" Type="http://schemas.openxmlformats.org/officeDocument/2006/relationships/theme" Target="../theme/theme22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46.xml"/>
</Relationships>
</file>

<file path=ppt/slideMasters/_rels/slideMaster39.xml.rels><?xml version="1.0" encoding="UTF-8"?>
<Relationships xmlns="http://schemas.openxmlformats.org/package/2006/relationships"><Relationship Id="rId1" Type="http://schemas.openxmlformats.org/officeDocument/2006/relationships/theme" Target="../theme/theme23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47.xml"/>
</Relationships>
</file>

<file path=ppt/slideMasters/_rels/slideMaster40.xml.rels><?xml version="1.0" encoding="UTF-8"?>
<Relationships xmlns="http://schemas.openxmlformats.org/package/2006/relationships"><Relationship Id="rId1" Type="http://schemas.openxmlformats.org/officeDocument/2006/relationships/theme" Target="../theme/theme24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48.xml"/>
</Relationships>
</file>

<file path=ppt/slideMasters/_rels/slideMaster41.xml.rels><?xml version="1.0" encoding="UTF-8"?>
<Relationships xmlns="http://schemas.openxmlformats.org/package/2006/relationships"><Relationship Id="rId1" Type="http://schemas.openxmlformats.org/officeDocument/2006/relationships/theme" Target="../theme/theme25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49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stomShape 1"/>
          <p:cNvSpPr/>
          <p:nvPr/>
        </p:nvSpPr>
        <p:spPr>
          <a:xfrm>
            <a:off x="11444760" y="0"/>
            <a:ext cx="736920" cy="684576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" name="CustomShape 2"/>
          <p:cNvSpPr/>
          <p:nvPr/>
        </p:nvSpPr>
        <p:spPr>
          <a:xfrm>
            <a:off x="11438640" y="6453360"/>
            <a:ext cx="7538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1960E1D9-90C1-46F1-B843-20008BD8D305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CustomShape 3"/>
          <p:cNvSpPr/>
          <p:nvPr/>
        </p:nvSpPr>
        <p:spPr>
          <a:xfrm>
            <a:off x="912240" y="1268280"/>
            <a:ext cx="9203760" cy="35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5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7760" cy="557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3600" cy="509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" name="CustomShape 4"/>
          <p:cNvSpPr/>
          <p:nvPr/>
        </p:nvSpPr>
        <p:spPr>
          <a:xfrm>
            <a:off x="912240" y="1268280"/>
            <a:ext cx="9203760" cy="35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" name="CustomShape 5"/>
          <p:cNvSpPr/>
          <p:nvPr/>
        </p:nvSpPr>
        <p:spPr>
          <a:xfrm>
            <a:off x="11444760" y="0"/>
            <a:ext cx="736920" cy="684576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9" name="CustomShape 6"/>
          <p:cNvSpPr/>
          <p:nvPr/>
        </p:nvSpPr>
        <p:spPr>
          <a:xfrm>
            <a:off x="0" y="6642720"/>
            <a:ext cx="1217988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IoT and Digitalization for the Circular Economy – TU Clausthal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609480" y="708480"/>
            <a:ext cx="1097208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3920" cy="18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392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3920" cy="18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4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CustomShape 1"/>
          <p:cNvSpPr/>
          <p:nvPr/>
        </p:nvSpPr>
        <p:spPr>
          <a:xfrm>
            <a:off x="11444760" y="0"/>
            <a:ext cx="736920" cy="684576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9" name="CustomShape 2"/>
          <p:cNvSpPr/>
          <p:nvPr/>
        </p:nvSpPr>
        <p:spPr>
          <a:xfrm>
            <a:off x="11438640" y="6453360"/>
            <a:ext cx="7538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56B939E2-1608-44C5-8A15-255D1B3AA781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CustomShape 3"/>
          <p:cNvSpPr/>
          <p:nvPr/>
        </p:nvSpPr>
        <p:spPr>
          <a:xfrm>
            <a:off x="912240" y="1268280"/>
            <a:ext cx="9203760" cy="35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21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7760" cy="557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2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3600" cy="509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" name="CustomShape 4"/>
          <p:cNvSpPr/>
          <p:nvPr/>
        </p:nvSpPr>
        <p:spPr>
          <a:xfrm>
            <a:off x="912240" y="1268280"/>
            <a:ext cx="9203760" cy="35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4" name="CustomShape 5"/>
          <p:cNvSpPr/>
          <p:nvPr/>
        </p:nvSpPr>
        <p:spPr>
          <a:xfrm>
            <a:off x="11444760" y="0"/>
            <a:ext cx="736920" cy="684576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5" name="CustomShape 6"/>
          <p:cNvSpPr/>
          <p:nvPr/>
        </p:nvSpPr>
        <p:spPr>
          <a:xfrm>
            <a:off x="0" y="6642720"/>
            <a:ext cx="1217988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IoT and Digitalization for the Circular Economy – TU Clausthal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09480" y="708480"/>
            <a:ext cx="1097208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392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3920" cy="18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3920" cy="18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4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CustomShape 1"/>
          <p:cNvSpPr/>
          <p:nvPr/>
        </p:nvSpPr>
        <p:spPr>
          <a:xfrm>
            <a:off x="11444760" y="0"/>
            <a:ext cx="736920" cy="684576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5" name="CustomShape 2"/>
          <p:cNvSpPr/>
          <p:nvPr/>
        </p:nvSpPr>
        <p:spPr>
          <a:xfrm>
            <a:off x="11438640" y="6453360"/>
            <a:ext cx="7538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57940AA4-0D36-47FC-B0DC-94819B8C6FA0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CustomShape 3"/>
          <p:cNvSpPr/>
          <p:nvPr/>
        </p:nvSpPr>
        <p:spPr>
          <a:xfrm>
            <a:off x="912240" y="1268280"/>
            <a:ext cx="9203760" cy="35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37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7760" cy="557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8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3600" cy="509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" name="CustomShape 4"/>
          <p:cNvSpPr/>
          <p:nvPr/>
        </p:nvSpPr>
        <p:spPr>
          <a:xfrm>
            <a:off x="912240" y="1268280"/>
            <a:ext cx="9203760" cy="35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0" name="CustomShape 5"/>
          <p:cNvSpPr/>
          <p:nvPr/>
        </p:nvSpPr>
        <p:spPr>
          <a:xfrm>
            <a:off x="11444760" y="0"/>
            <a:ext cx="736920" cy="684576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1" name="CustomShape 6"/>
          <p:cNvSpPr/>
          <p:nvPr/>
        </p:nvSpPr>
        <p:spPr>
          <a:xfrm>
            <a:off x="0" y="6642720"/>
            <a:ext cx="1217988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IoT and Digitalization for the Circular Economy – TU Clausthal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1"/>
          <p:cNvSpPr>
            <a:spLocks noGrp="1"/>
          </p:cNvSpPr>
          <p:nvPr>
            <p:ph type="title"/>
          </p:nvPr>
        </p:nvSpPr>
        <p:spPr>
          <a:xfrm>
            <a:off x="609480" y="708480"/>
            <a:ext cx="1097208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3920" cy="18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3920" cy="18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080" cy="18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3" r:id="rId4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CustomShape 1"/>
          <p:cNvSpPr/>
          <p:nvPr/>
        </p:nvSpPr>
        <p:spPr>
          <a:xfrm>
            <a:off x="11444760" y="0"/>
            <a:ext cx="736920" cy="684576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1" name="CustomShape 2"/>
          <p:cNvSpPr/>
          <p:nvPr/>
        </p:nvSpPr>
        <p:spPr>
          <a:xfrm>
            <a:off x="11438640" y="6453360"/>
            <a:ext cx="7538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BFA768B1-2321-4B6A-920E-117ED7380613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CustomShape 3"/>
          <p:cNvSpPr/>
          <p:nvPr/>
        </p:nvSpPr>
        <p:spPr>
          <a:xfrm>
            <a:off x="912240" y="1268280"/>
            <a:ext cx="9203760" cy="35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53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7760" cy="557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4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3600" cy="509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" name="CustomShape 4"/>
          <p:cNvSpPr/>
          <p:nvPr/>
        </p:nvSpPr>
        <p:spPr>
          <a:xfrm>
            <a:off x="912240" y="1268280"/>
            <a:ext cx="9203760" cy="35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6" name="CustomShape 5"/>
          <p:cNvSpPr/>
          <p:nvPr/>
        </p:nvSpPr>
        <p:spPr>
          <a:xfrm>
            <a:off x="11444760" y="0"/>
            <a:ext cx="736920" cy="684576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7" name="CustomShape 6"/>
          <p:cNvSpPr/>
          <p:nvPr/>
        </p:nvSpPr>
        <p:spPr>
          <a:xfrm>
            <a:off x="0" y="6642720"/>
            <a:ext cx="1217988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IoT and Digitalization for the Circular Economy – TU Clausthal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PlaceHolder 1"/>
          <p:cNvSpPr>
            <a:spLocks noGrp="1"/>
          </p:cNvSpPr>
          <p:nvPr>
            <p:ph type="title"/>
          </p:nvPr>
        </p:nvSpPr>
        <p:spPr>
          <a:xfrm>
            <a:off x="609480" y="708480"/>
            <a:ext cx="1097208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18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PlaceHolder 3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080" cy="18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4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CustomShape 1"/>
          <p:cNvSpPr/>
          <p:nvPr/>
        </p:nvSpPr>
        <p:spPr>
          <a:xfrm>
            <a:off x="11444760" y="0"/>
            <a:ext cx="736920" cy="684576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5" name="CustomShape 2"/>
          <p:cNvSpPr/>
          <p:nvPr/>
        </p:nvSpPr>
        <p:spPr>
          <a:xfrm>
            <a:off x="11438640" y="6453360"/>
            <a:ext cx="7538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3D7A07CC-AC4B-47C4-AEB6-DEA5B08D46CB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CustomShape 3"/>
          <p:cNvSpPr/>
          <p:nvPr/>
        </p:nvSpPr>
        <p:spPr>
          <a:xfrm>
            <a:off x="912240" y="1268280"/>
            <a:ext cx="9203760" cy="35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67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7760" cy="557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8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3600" cy="509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9" name="CustomShape 4"/>
          <p:cNvSpPr/>
          <p:nvPr/>
        </p:nvSpPr>
        <p:spPr>
          <a:xfrm>
            <a:off x="912240" y="1268280"/>
            <a:ext cx="9203760" cy="35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0" name="CustomShape 5"/>
          <p:cNvSpPr/>
          <p:nvPr/>
        </p:nvSpPr>
        <p:spPr>
          <a:xfrm>
            <a:off x="11444760" y="0"/>
            <a:ext cx="736920" cy="684576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1" name="CustomShape 6"/>
          <p:cNvSpPr/>
          <p:nvPr/>
        </p:nvSpPr>
        <p:spPr>
          <a:xfrm>
            <a:off x="0" y="6642720"/>
            <a:ext cx="1217988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IoT and Digitalization for the Circular Economy – TU Clausthal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PlaceHolder 1"/>
          <p:cNvSpPr>
            <a:spLocks noGrp="1"/>
          </p:cNvSpPr>
          <p:nvPr>
            <p:ph type="title"/>
          </p:nvPr>
        </p:nvSpPr>
        <p:spPr>
          <a:xfrm>
            <a:off x="609480" y="708480"/>
            <a:ext cx="1097208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3920" cy="18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3920" cy="18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3920" cy="18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PlaceHolder 5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3920" cy="18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7" r:id="rId4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CustomShape 1"/>
          <p:cNvSpPr/>
          <p:nvPr/>
        </p:nvSpPr>
        <p:spPr>
          <a:xfrm>
            <a:off x="11444760" y="0"/>
            <a:ext cx="736920" cy="684576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3" name="CustomShape 2"/>
          <p:cNvSpPr/>
          <p:nvPr/>
        </p:nvSpPr>
        <p:spPr>
          <a:xfrm>
            <a:off x="11438640" y="6453360"/>
            <a:ext cx="7538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54AB2011-059D-4331-969A-6456A466EEC7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CustomShape 3"/>
          <p:cNvSpPr/>
          <p:nvPr/>
        </p:nvSpPr>
        <p:spPr>
          <a:xfrm>
            <a:off x="912240" y="1268280"/>
            <a:ext cx="9203760" cy="35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85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7760" cy="557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6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3600" cy="509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7" name="CustomShape 4"/>
          <p:cNvSpPr/>
          <p:nvPr/>
        </p:nvSpPr>
        <p:spPr>
          <a:xfrm>
            <a:off x="912240" y="1268280"/>
            <a:ext cx="9203760" cy="35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8" name="CustomShape 5"/>
          <p:cNvSpPr/>
          <p:nvPr/>
        </p:nvSpPr>
        <p:spPr>
          <a:xfrm>
            <a:off x="11444760" y="0"/>
            <a:ext cx="736920" cy="684576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9" name="CustomShape 6"/>
          <p:cNvSpPr/>
          <p:nvPr/>
        </p:nvSpPr>
        <p:spPr>
          <a:xfrm>
            <a:off x="0" y="6642720"/>
            <a:ext cx="1217988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IoT and Digitalization for the Circular Economy – TU Clausthal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4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CustomShape 1"/>
          <p:cNvSpPr/>
          <p:nvPr/>
        </p:nvSpPr>
        <p:spPr>
          <a:xfrm>
            <a:off x="11444760" y="0"/>
            <a:ext cx="736920" cy="684576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91" name="CustomShape 2"/>
          <p:cNvSpPr/>
          <p:nvPr/>
        </p:nvSpPr>
        <p:spPr>
          <a:xfrm>
            <a:off x="11438640" y="6453360"/>
            <a:ext cx="7538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E7808F9B-71EE-487D-8BBB-A1AC3356BB3F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CustomShape 3"/>
          <p:cNvSpPr/>
          <p:nvPr/>
        </p:nvSpPr>
        <p:spPr>
          <a:xfrm>
            <a:off x="912240" y="1268280"/>
            <a:ext cx="9203760" cy="35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93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7760" cy="557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4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3600" cy="509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5" name="CustomShape 4"/>
          <p:cNvSpPr/>
          <p:nvPr/>
        </p:nvSpPr>
        <p:spPr>
          <a:xfrm>
            <a:off x="912240" y="1268280"/>
            <a:ext cx="9203760" cy="35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96" name="CustomShape 5"/>
          <p:cNvSpPr/>
          <p:nvPr/>
        </p:nvSpPr>
        <p:spPr>
          <a:xfrm>
            <a:off x="11444760" y="0"/>
            <a:ext cx="736920" cy="684576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97" name="CustomShape 6"/>
          <p:cNvSpPr/>
          <p:nvPr/>
        </p:nvSpPr>
        <p:spPr>
          <a:xfrm>
            <a:off x="0" y="6642720"/>
            <a:ext cx="1217988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IoT and Digitalization for the Circular Economy – TU Clausthal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lang="en-GB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4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CustomShape 1"/>
          <p:cNvSpPr/>
          <p:nvPr/>
        </p:nvSpPr>
        <p:spPr>
          <a:xfrm>
            <a:off x="11444760" y="0"/>
            <a:ext cx="736920" cy="684576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01" name="CustomShape 2"/>
          <p:cNvSpPr/>
          <p:nvPr/>
        </p:nvSpPr>
        <p:spPr>
          <a:xfrm>
            <a:off x="11438640" y="6453360"/>
            <a:ext cx="7538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84E1F301-4475-4507-BABF-C148EC24B056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CustomShape 3"/>
          <p:cNvSpPr/>
          <p:nvPr/>
        </p:nvSpPr>
        <p:spPr>
          <a:xfrm>
            <a:off x="912240" y="1268280"/>
            <a:ext cx="9203760" cy="35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103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7760" cy="557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04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3600" cy="509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5" name="CustomShape 4"/>
          <p:cNvSpPr/>
          <p:nvPr/>
        </p:nvSpPr>
        <p:spPr>
          <a:xfrm>
            <a:off x="912240" y="1268280"/>
            <a:ext cx="9203760" cy="35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06" name="CustomShape 5"/>
          <p:cNvSpPr/>
          <p:nvPr/>
        </p:nvSpPr>
        <p:spPr>
          <a:xfrm>
            <a:off x="11444760" y="0"/>
            <a:ext cx="736920" cy="684576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07" name="CustomShape 6"/>
          <p:cNvSpPr/>
          <p:nvPr/>
        </p:nvSpPr>
        <p:spPr>
          <a:xfrm>
            <a:off x="0" y="6642720"/>
            <a:ext cx="1217988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IoT and Digitalization for the Circular Economy – TU Clausthal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PlaceHolder 1"/>
          <p:cNvSpPr>
            <a:spLocks noGrp="1"/>
          </p:cNvSpPr>
          <p:nvPr>
            <p:ph type="title"/>
          </p:nvPr>
        </p:nvSpPr>
        <p:spPr>
          <a:xfrm>
            <a:off x="609480" y="708480"/>
            <a:ext cx="1097208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3" r:id="rId4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CustomShape 1"/>
          <p:cNvSpPr/>
          <p:nvPr/>
        </p:nvSpPr>
        <p:spPr>
          <a:xfrm>
            <a:off x="11444760" y="0"/>
            <a:ext cx="736920" cy="684576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13" name="CustomShape 2"/>
          <p:cNvSpPr/>
          <p:nvPr/>
        </p:nvSpPr>
        <p:spPr>
          <a:xfrm>
            <a:off x="11438640" y="6453360"/>
            <a:ext cx="7538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05354F18-7785-4E0A-AFD2-00BA4C415B19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CustomShape 3"/>
          <p:cNvSpPr/>
          <p:nvPr/>
        </p:nvSpPr>
        <p:spPr>
          <a:xfrm>
            <a:off x="912240" y="1268280"/>
            <a:ext cx="9203760" cy="35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115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7760" cy="557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6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3600" cy="509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7" name="CustomShape 4"/>
          <p:cNvSpPr/>
          <p:nvPr/>
        </p:nvSpPr>
        <p:spPr>
          <a:xfrm>
            <a:off x="912240" y="1268280"/>
            <a:ext cx="9203760" cy="35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18" name="CustomShape 5"/>
          <p:cNvSpPr/>
          <p:nvPr/>
        </p:nvSpPr>
        <p:spPr>
          <a:xfrm>
            <a:off x="11444760" y="0"/>
            <a:ext cx="736920" cy="684576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19" name="CustomShape 6"/>
          <p:cNvSpPr/>
          <p:nvPr/>
        </p:nvSpPr>
        <p:spPr>
          <a:xfrm>
            <a:off x="0" y="6642720"/>
            <a:ext cx="1217988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IoT and Digitalization for the Circular Economy – TU Clausthal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PlaceHolder 1"/>
          <p:cNvSpPr>
            <a:spLocks noGrp="1"/>
          </p:cNvSpPr>
          <p:nvPr>
            <p:ph type="title"/>
          </p:nvPr>
        </p:nvSpPr>
        <p:spPr>
          <a:xfrm>
            <a:off x="609480" y="708480"/>
            <a:ext cx="1097208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5" r:id="rId4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CustomShape 1"/>
          <p:cNvSpPr/>
          <p:nvPr/>
        </p:nvSpPr>
        <p:spPr>
          <a:xfrm>
            <a:off x="11444760" y="0"/>
            <a:ext cx="736920" cy="684576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25" name="CustomShape 2"/>
          <p:cNvSpPr/>
          <p:nvPr/>
        </p:nvSpPr>
        <p:spPr>
          <a:xfrm>
            <a:off x="11438640" y="6453360"/>
            <a:ext cx="7538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C55F04E4-83E0-4D86-84E4-FC9D05402EC8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CustomShape 3"/>
          <p:cNvSpPr/>
          <p:nvPr/>
        </p:nvSpPr>
        <p:spPr>
          <a:xfrm>
            <a:off x="912240" y="1268280"/>
            <a:ext cx="9203760" cy="35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127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7760" cy="557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8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3600" cy="509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9" name="CustomShape 4"/>
          <p:cNvSpPr/>
          <p:nvPr/>
        </p:nvSpPr>
        <p:spPr>
          <a:xfrm>
            <a:off x="912240" y="1268280"/>
            <a:ext cx="9203760" cy="35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30" name="CustomShape 5"/>
          <p:cNvSpPr/>
          <p:nvPr/>
        </p:nvSpPr>
        <p:spPr>
          <a:xfrm>
            <a:off x="11444760" y="0"/>
            <a:ext cx="736920" cy="684576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31" name="CustomShape 6"/>
          <p:cNvSpPr/>
          <p:nvPr/>
        </p:nvSpPr>
        <p:spPr>
          <a:xfrm>
            <a:off x="0" y="6642720"/>
            <a:ext cx="1217988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IoT and Digitalization for the Circular Economy – TU Clausthal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PlaceHolder 1"/>
          <p:cNvSpPr>
            <a:spLocks noGrp="1"/>
          </p:cNvSpPr>
          <p:nvPr>
            <p:ph type="title"/>
          </p:nvPr>
        </p:nvSpPr>
        <p:spPr>
          <a:xfrm>
            <a:off x="609480" y="708480"/>
            <a:ext cx="1097208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392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392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7" r:id="rId4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CustomShape 1"/>
          <p:cNvSpPr/>
          <p:nvPr/>
        </p:nvSpPr>
        <p:spPr>
          <a:xfrm>
            <a:off x="11444760" y="0"/>
            <a:ext cx="736920" cy="684576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39" name="CustomShape 2"/>
          <p:cNvSpPr/>
          <p:nvPr/>
        </p:nvSpPr>
        <p:spPr>
          <a:xfrm>
            <a:off x="11438640" y="6453360"/>
            <a:ext cx="7538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FF51B76E-95EC-4990-924A-22FAB390F123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CustomShape 3"/>
          <p:cNvSpPr/>
          <p:nvPr/>
        </p:nvSpPr>
        <p:spPr>
          <a:xfrm>
            <a:off x="912240" y="1268280"/>
            <a:ext cx="9203760" cy="35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141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7760" cy="557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42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3600" cy="509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3" name="CustomShape 4"/>
          <p:cNvSpPr/>
          <p:nvPr/>
        </p:nvSpPr>
        <p:spPr>
          <a:xfrm>
            <a:off x="912240" y="1268280"/>
            <a:ext cx="9203760" cy="35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44" name="CustomShape 5"/>
          <p:cNvSpPr/>
          <p:nvPr/>
        </p:nvSpPr>
        <p:spPr>
          <a:xfrm>
            <a:off x="11444760" y="0"/>
            <a:ext cx="736920" cy="684576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45" name="CustomShape 6"/>
          <p:cNvSpPr/>
          <p:nvPr/>
        </p:nvSpPr>
        <p:spPr>
          <a:xfrm>
            <a:off x="0" y="6642720"/>
            <a:ext cx="1217988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IoT and Digitalization for the Circular Economy – TU Clausthal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PlaceHolder 1"/>
          <p:cNvSpPr>
            <a:spLocks noGrp="1"/>
          </p:cNvSpPr>
          <p:nvPr>
            <p:ph type="title"/>
          </p:nvPr>
        </p:nvSpPr>
        <p:spPr>
          <a:xfrm>
            <a:off x="609480" y="708480"/>
            <a:ext cx="1097208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9" r:id="rId4"/>
  </p:sldLayoutIdLst>
</p:sldMaster>
</file>

<file path=ppt/slideMasters/slideMaster1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CustomShape 1"/>
          <p:cNvSpPr/>
          <p:nvPr/>
        </p:nvSpPr>
        <p:spPr>
          <a:xfrm>
            <a:off x="11444760" y="0"/>
            <a:ext cx="736920" cy="684576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49" name="CustomShape 2"/>
          <p:cNvSpPr/>
          <p:nvPr/>
        </p:nvSpPr>
        <p:spPr>
          <a:xfrm>
            <a:off x="11438640" y="6453360"/>
            <a:ext cx="7538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F40C8CA7-D8F6-477C-A860-B2D87DCF497C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CustomShape 3"/>
          <p:cNvSpPr/>
          <p:nvPr/>
        </p:nvSpPr>
        <p:spPr>
          <a:xfrm>
            <a:off x="912240" y="1268280"/>
            <a:ext cx="9203760" cy="35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151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7760" cy="557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52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3600" cy="509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3" name="CustomShape 4"/>
          <p:cNvSpPr/>
          <p:nvPr/>
        </p:nvSpPr>
        <p:spPr>
          <a:xfrm>
            <a:off x="912240" y="1268280"/>
            <a:ext cx="9203760" cy="35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54" name="CustomShape 5"/>
          <p:cNvSpPr/>
          <p:nvPr/>
        </p:nvSpPr>
        <p:spPr>
          <a:xfrm>
            <a:off x="11444760" y="0"/>
            <a:ext cx="736920" cy="684576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55" name="CustomShape 6"/>
          <p:cNvSpPr/>
          <p:nvPr/>
        </p:nvSpPr>
        <p:spPr>
          <a:xfrm>
            <a:off x="0" y="6642720"/>
            <a:ext cx="1217988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IoT and Digitalization for the Circular Economy – TU Clausthal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1" r:id="rId4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CustomShape 1"/>
          <p:cNvSpPr/>
          <p:nvPr/>
        </p:nvSpPr>
        <p:spPr>
          <a:xfrm>
            <a:off x="11444760" y="0"/>
            <a:ext cx="736920" cy="684576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57" name="CustomShape 2"/>
          <p:cNvSpPr/>
          <p:nvPr/>
        </p:nvSpPr>
        <p:spPr>
          <a:xfrm>
            <a:off x="11438640" y="6453360"/>
            <a:ext cx="7538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F6775D7F-EE79-4EAB-9B71-4A92390A87F6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CustomShape 3"/>
          <p:cNvSpPr/>
          <p:nvPr/>
        </p:nvSpPr>
        <p:spPr>
          <a:xfrm>
            <a:off x="912240" y="1268280"/>
            <a:ext cx="9203760" cy="35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159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7760" cy="557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60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3600" cy="509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1" name="CustomShape 4"/>
          <p:cNvSpPr/>
          <p:nvPr/>
        </p:nvSpPr>
        <p:spPr>
          <a:xfrm>
            <a:off x="11444760" y="0"/>
            <a:ext cx="736920" cy="684576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62" name="CustomShape 5"/>
          <p:cNvSpPr/>
          <p:nvPr/>
        </p:nvSpPr>
        <p:spPr>
          <a:xfrm>
            <a:off x="11438640" y="6453360"/>
            <a:ext cx="7538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3AF6777F-258B-4D34-939C-93234114CBB1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CustomShape 6"/>
          <p:cNvSpPr/>
          <p:nvPr/>
        </p:nvSpPr>
        <p:spPr>
          <a:xfrm>
            <a:off x="0" y="6642720"/>
            <a:ext cx="1217988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IoT and Digitalization for the Circular Economy – TU Clausthal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PlaceHolder 1"/>
          <p:cNvSpPr>
            <a:spLocks noGrp="1"/>
          </p:cNvSpPr>
          <p:nvPr>
            <p:ph type="title"/>
          </p:nvPr>
        </p:nvSpPr>
        <p:spPr>
          <a:xfrm>
            <a:off x="609480" y="708480"/>
            <a:ext cx="1097208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3920" cy="18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392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3920" cy="18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3" r:id="rId4"/>
  </p:sldLayoutIdLst>
</p:sldMaster>
</file>

<file path=ppt/slideMasters/slideMaster1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CustomShape 1"/>
          <p:cNvSpPr/>
          <p:nvPr/>
        </p:nvSpPr>
        <p:spPr>
          <a:xfrm>
            <a:off x="11444760" y="0"/>
            <a:ext cx="736920" cy="684576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73" name="CustomShape 2"/>
          <p:cNvSpPr/>
          <p:nvPr/>
        </p:nvSpPr>
        <p:spPr>
          <a:xfrm>
            <a:off x="11438640" y="6453360"/>
            <a:ext cx="7538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D4B0BC66-0FEF-4002-BE70-9862CD4B80F5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CustomShape 3"/>
          <p:cNvSpPr/>
          <p:nvPr/>
        </p:nvSpPr>
        <p:spPr>
          <a:xfrm>
            <a:off x="912240" y="1268280"/>
            <a:ext cx="9203760" cy="35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175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7760" cy="557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76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3600" cy="509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7" name="CustomShape 4"/>
          <p:cNvSpPr/>
          <p:nvPr/>
        </p:nvSpPr>
        <p:spPr>
          <a:xfrm>
            <a:off x="11444760" y="0"/>
            <a:ext cx="736920" cy="684576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78" name="CustomShape 5"/>
          <p:cNvSpPr/>
          <p:nvPr/>
        </p:nvSpPr>
        <p:spPr>
          <a:xfrm>
            <a:off x="11438640" y="6453360"/>
            <a:ext cx="7538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6C8B1F10-0B96-41AF-84CF-D9F095A58CCA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CustomShape 6"/>
          <p:cNvSpPr/>
          <p:nvPr/>
        </p:nvSpPr>
        <p:spPr>
          <a:xfrm>
            <a:off x="0" y="6642720"/>
            <a:ext cx="1217988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IoT and Digitalization for the Circular Economy – TU Clausthal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PlaceHolder 1"/>
          <p:cNvSpPr>
            <a:spLocks noGrp="1"/>
          </p:cNvSpPr>
          <p:nvPr>
            <p:ph type="title"/>
          </p:nvPr>
        </p:nvSpPr>
        <p:spPr>
          <a:xfrm>
            <a:off x="609480" y="708480"/>
            <a:ext cx="1097208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392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3920" cy="18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PlaceHolder 4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3920" cy="18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5" r:id="rId4"/>
  </p:sldLayoutIdLst>
</p:sldMaster>
</file>

<file path=ppt/slideMasters/slideMaster1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CustomShape 1"/>
          <p:cNvSpPr/>
          <p:nvPr/>
        </p:nvSpPr>
        <p:spPr>
          <a:xfrm>
            <a:off x="11444760" y="0"/>
            <a:ext cx="736920" cy="684576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89" name="CustomShape 2"/>
          <p:cNvSpPr/>
          <p:nvPr/>
        </p:nvSpPr>
        <p:spPr>
          <a:xfrm>
            <a:off x="11438640" y="6453360"/>
            <a:ext cx="7538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4BB7A5D2-BD80-4183-9104-5D0D6312957C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CustomShape 3"/>
          <p:cNvSpPr/>
          <p:nvPr/>
        </p:nvSpPr>
        <p:spPr>
          <a:xfrm>
            <a:off x="912240" y="1268280"/>
            <a:ext cx="9203760" cy="35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191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7760" cy="557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92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3600" cy="509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3" name="CustomShape 4"/>
          <p:cNvSpPr/>
          <p:nvPr/>
        </p:nvSpPr>
        <p:spPr>
          <a:xfrm>
            <a:off x="11444760" y="0"/>
            <a:ext cx="736920" cy="684576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94" name="CustomShape 5"/>
          <p:cNvSpPr/>
          <p:nvPr/>
        </p:nvSpPr>
        <p:spPr>
          <a:xfrm>
            <a:off x="11438640" y="6453360"/>
            <a:ext cx="7538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4551E324-5245-4651-B079-65ED6ED94CC9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CustomShape 6"/>
          <p:cNvSpPr/>
          <p:nvPr/>
        </p:nvSpPr>
        <p:spPr>
          <a:xfrm>
            <a:off x="0" y="6642720"/>
            <a:ext cx="1217988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IoT and Digitalization for the Circular Economy – TU Clausthal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PlaceHolder 1"/>
          <p:cNvSpPr>
            <a:spLocks noGrp="1"/>
          </p:cNvSpPr>
          <p:nvPr>
            <p:ph type="title"/>
          </p:nvPr>
        </p:nvSpPr>
        <p:spPr>
          <a:xfrm>
            <a:off x="609480" y="708480"/>
            <a:ext cx="1097208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3920" cy="18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3920" cy="18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080" cy="18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7" r:id="rId4"/>
  </p:sldLayoutIdLst>
</p:sldMaster>
</file>

<file path=ppt/slideMasters/slideMaster1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CustomShape 1"/>
          <p:cNvSpPr/>
          <p:nvPr/>
        </p:nvSpPr>
        <p:spPr>
          <a:xfrm>
            <a:off x="11444760" y="0"/>
            <a:ext cx="736920" cy="684576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05" name="CustomShape 2"/>
          <p:cNvSpPr/>
          <p:nvPr/>
        </p:nvSpPr>
        <p:spPr>
          <a:xfrm>
            <a:off x="11438640" y="6453360"/>
            <a:ext cx="7538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64B8F483-468B-4C70-A75B-D31E82DC3A53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CustomShape 3"/>
          <p:cNvSpPr/>
          <p:nvPr/>
        </p:nvSpPr>
        <p:spPr>
          <a:xfrm>
            <a:off x="912240" y="1268280"/>
            <a:ext cx="9203760" cy="35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207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7760" cy="557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08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3600" cy="509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9" name="CustomShape 4"/>
          <p:cNvSpPr/>
          <p:nvPr/>
        </p:nvSpPr>
        <p:spPr>
          <a:xfrm>
            <a:off x="11444760" y="0"/>
            <a:ext cx="736920" cy="684576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10" name="CustomShape 5"/>
          <p:cNvSpPr/>
          <p:nvPr/>
        </p:nvSpPr>
        <p:spPr>
          <a:xfrm>
            <a:off x="11438640" y="6453360"/>
            <a:ext cx="7538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A47D4B18-AA6E-41AE-995C-07C9D7BCAE30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CustomShape 6"/>
          <p:cNvSpPr/>
          <p:nvPr/>
        </p:nvSpPr>
        <p:spPr>
          <a:xfrm>
            <a:off x="0" y="6642720"/>
            <a:ext cx="1217988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IoT and Digitalization for the Circular Economy – TU Clausthal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PlaceHolder 1"/>
          <p:cNvSpPr>
            <a:spLocks noGrp="1"/>
          </p:cNvSpPr>
          <p:nvPr>
            <p:ph type="title"/>
          </p:nvPr>
        </p:nvSpPr>
        <p:spPr>
          <a:xfrm>
            <a:off x="609480" y="708480"/>
            <a:ext cx="1097208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18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PlaceHolder 3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080" cy="18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9" r:id="rId4"/>
  </p:sldLayoutIdLst>
</p:sldMaster>
</file>

<file path=ppt/slideMasters/slideMaster1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CustomShape 1"/>
          <p:cNvSpPr/>
          <p:nvPr/>
        </p:nvSpPr>
        <p:spPr>
          <a:xfrm>
            <a:off x="11444760" y="0"/>
            <a:ext cx="736920" cy="684576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19" name="CustomShape 2"/>
          <p:cNvSpPr/>
          <p:nvPr/>
        </p:nvSpPr>
        <p:spPr>
          <a:xfrm>
            <a:off x="11438640" y="6453360"/>
            <a:ext cx="7538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EF84709E-029B-48BF-B8EC-2A8C536E728E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CustomShape 3"/>
          <p:cNvSpPr/>
          <p:nvPr/>
        </p:nvSpPr>
        <p:spPr>
          <a:xfrm>
            <a:off x="912240" y="1268280"/>
            <a:ext cx="9203760" cy="35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221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7760" cy="557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22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3600" cy="509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3" name="CustomShape 4"/>
          <p:cNvSpPr/>
          <p:nvPr/>
        </p:nvSpPr>
        <p:spPr>
          <a:xfrm>
            <a:off x="11444760" y="0"/>
            <a:ext cx="736920" cy="684576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24" name="CustomShape 5"/>
          <p:cNvSpPr/>
          <p:nvPr/>
        </p:nvSpPr>
        <p:spPr>
          <a:xfrm>
            <a:off x="11438640" y="6453360"/>
            <a:ext cx="7538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DBA037E4-0445-44DA-93A9-D256F12DFFFE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CustomShape 6"/>
          <p:cNvSpPr/>
          <p:nvPr/>
        </p:nvSpPr>
        <p:spPr>
          <a:xfrm>
            <a:off x="0" y="6642720"/>
            <a:ext cx="1217988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IoT and Digitalization for the Circular Economy – TU Clausthal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PlaceHolder 1"/>
          <p:cNvSpPr>
            <a:spLocks noGrp="1"/>
          </p:cNvSpPr>
          <p:nvPr>
            <p:ph type="title"/>
          </p:nvPr>
        </p:nvSpPr>
        <p:spPr>
          <a:xfrm>
            <a:off x="609480" y="708480"/>
            <a:ext cx="1097208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3920" cy="18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3920" cy="18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3920" cy="18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PlaceHolder 5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3920" cy="18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1" r:id="rId4"/>
  </p:sldLayoutIdLst>
</p:sldMaster>
</file>

<file path=ppt/slideMasters/slideMaster1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CustomShape 1"/>
          <p:cNvSpPr/>
          <p:nvPr/>
        </p:nvSpPr>
        <p:spPr>
          <a:xfrm>
            <a:off x="11444760" y="0"/>
            <a:ext cx="736920" cy="684576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37" name="CustomShape 2"/>
          <p:cNvSpPr/>
          <p:nvPr/>
        </p:nvSpPr>
        <p:spPr>
          <a:xfrm>
            <a:off x="11438640" y="6453360"/>
            <a:ext cx="7538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556580C7-44F4-45A4-AF1C-E1FECC7D1DE3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CustomShape 3"/>
          <p:cNvSpPr/>
          <p:nvPr/>
        </p:nvSpPr>
        <p:spPr>
          <a:xfrm>
            <a:off x="912240" y="1268280"/>
            <a:ext cx="9203760" cy="35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239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7760" cy="557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40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3600" cy="509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1" name="CustomShape 4"/>
          <p:cNvSpPr/>
          <p:nvPr/>
        </p:nvSpPr>
        <p:spPr>
          <a:xfrm>
            <a:off x="11444760" y="0"/>
            <a:ext cx="736920" cy="684576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42" name="CustomShape 5"/>
          <p:cNvSpPr/>
          <p:nvPr/>
        </p:nvSpPr>
        <p:spPr>
          <a:xfrm>
            <a:off x="11438640" y="6453360"/>
            <a:ext cx="7538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5E70E95E-1091-4765-991F-B334E594E46A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CustomShape 6"/>
          <p:cNvSpPr/>
          <p:nvPr/>
        </p:nvSpPr>
        <p:spPr>
          <a:xfrm>
            <a:off x="0" y="6642720"/>
            <a:ext cx="1217988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IoT and Digitalization for the Circular Economy – TU Clausthal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3" r:id="rId4"/>
  </p:sldLayoutIdLst>
</p:sldMaster>
</file>

<file path=ppt/slideMasters/slideMaster1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85" r:id="rId2"/>
    <p:sldLayoutId id="2147483686" r:id="rId3"/>
    <p:sldLayoutId id="2147483687" r:id="rId4"/>
    <p:sldLayoutId id="2147483688" r:id="rId5"/>
    <p:sldLayoutId id="2147483689" r:id="rId6"/>
    <p:sldLayoutId id="2147483690" r:id="rId7"/>
    <p:sldLayoutId id="2147483691" r:id="rId8"/>
    <p:sldLayoutId id="2147483692" r:id="rId9"/>
    <p:sldLayoutId id="2147483693" r:id="rId10"/>
    <p:sldLayoutId id="2147483694" r:id="rId11"/>
    <p:sldLayoutId id="2147483695" r:id="rId12"/>
    <p:sldLayoutId id="2147483696" r:id="rId13"/>
    <p:sldLayoutId id="2147483697" r:id="rId14"/>
    <p:sldLayoutId id="2147483698" r:id="rId15"/>
    <p:sldLayoutId id="2147483699" r:id="rId16"/>
    <p:sldLayoutId id="2147483700" r:id="rId17"/>
    <p:sldLayoutId id="2147483701" r:id="rId18"/>
    <p:sldLayoutId id="2147483702" r:id="rId19"/>
    <p:sldLayoutId id="2147483703" r:id="rId20"/>
    <p:sldLayoutId id="2147483704" r:id="rId21"/>
    <p:sldLayoutId id="2147483705" r:id="rId22"/>
    <p:sldLayoutId id="2147483706" r:id="rId23"/>
    <p:sldLayoutId id="2147483707" r:id="rId24"/>
    <p:sldLayoutId id="2147483708" r:id="rId25"/>
    <p:sldLayoutId id="2147483709" r:id="rId26"/>
  </p:sldLayoutIdLst>
</p:sldMaster>
</file>

<file path=ppt/slideMasters/slideMaster3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CustomShape 1"/>
          <p:cNvSpPr/>
          <p:nvPr/>
        </p:nvSpPr>
        <p:spPr>
          <a:xfrm>
            <a:off x="11444760" y="0"/>
            <a:ext cx="736920" cy="684576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57" name="CustomShape 2"/>
          <p:cNvSpPr/>
          <p:nvPr/>
        </p:nvSpPr>
        <p:spPr>
          <a:xfrm>
            <a:off x="11438640" y="6453360"/>
            <a:ext cx="7538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F793C1D2-39A7-41F0-922F-112C82B70BD1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8" name="CustomShape 3"/>
          <p:cNvSpPr/>
          <p:nvPr/>
        </p:nvSpPr>
        <p:spPr>
          <a:xfrm>
            <a:off x="912240" y="1268280"/>
            <a:ext cx="9203760" cy="35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459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7760" cy="557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60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3600" cy="509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1" name="CustomShape 4"/>
          <p:cNvSpPr/>
          <p:nvPr/>
        </p:nvSpPr>
        <p:spPr>
          <a:xfrm>
            <a:off x="11444760" y="0"/>
            <a:ext cx="736920" cy="684576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62" name="CustomShape 5"/>
          <p:cNvSpPr/>
          <p:nvPr/>
        </p:nvSpPr>
        <p:spPr>
          <a:xfrm>
            <a:off x="11438640" y="6453360"/>
            <a:ext cx="7538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DC50D2F3-D5E6-4285-BDB6-72AA80A8C6E4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3" name="CustomShape 6"/>
          <p:cNvSpPr/>
          <p:nvPr/>
        </p:nvSpPr>
        <p:spPr>
          <a:xfrm>
            <a:off x="0" y="6642720"/>
            <a:ext cx="1217988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IoT and Digitalization for the Circular Economy – TU Clausthal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4" name="PlaceHolder 1"/>
          <p:cNvSpPr>
            <a:spLocks noGrp="1"/>
          </p:cNvSpPr>
          <p:nvPr>
            <p:ph type="title"/>
          </p:nvPr>
        </p:nvSpPr>
        <p:spPr>
          <a:xfrm>
            <a:off x="609480" y="708480"/>
            <a:ext cx="1097208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11" r:id="rId4"/>
  </p:sldLayoutIdLst>
</p:sldMaster>
</file>

<file path=ppt/slideMasters/slideMaster3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CustomShape 1"/>
          <p:cNvSpPr/>
          <p:nvPr/>
        </p:nvSpPr>
        <p:spPr>
          <a:xfrm>
            <a:off x="11444760" y="0"/>
            <a:ext cx="736920" cy="684576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69" name="CustomShape 2"/>
          <p:cNvSpPr/>
          <p:nvPr/>
        </p:nvSpPr>
        <p:spPr>
          <a:xfrm>
            <a:off x="11438640" y="6453360"/>
            <a:ext cx="7538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18442ED7-4584-42B2-B3CD-19C379A6BB97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0" name="CustomShape 3"/>
          <p:cNvSpPr/>
          <p:nvPr/>
        </p:nvSpPr>
        <p:spPr>
          <a:xfrm>
            <a:off x="912240" y="1268280"/>
            <a:ext cx="9203760" cy="35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471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7760" cy="557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72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3600" cy="509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73" name="CustomShape 4"/>
          <p:cNvSpPr/>
          <p:nvPr/>
        </p:nvSpPr>
        <p:spPr>
          <a:xfrm>
            <a:off x="11444760" y="0"/>
            <a:ext cx="736920" cy="684576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74" name="CustomShape 5"/>
          <p:cNvSpPr/>
          <p:nvPr/>
        </p:nvSpPr>
        <p:spPr>
          <a:xfrm>
            <a:off x="11438640" y="6453360"/>
            <a:ext cx="7538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46089EA4-275D-41EA-9716-5CDEE56A63F0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5" name="CustomShape 6"/>
          <p:cNvSpPr/>
          <p:nvPr/>
        </p:nvSpPr>
        <p:spPr>
          <a:xfrm>
            <a:off x="0" y="6642720"/>
            <a:ext cx="1217988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IoT and Digitalization for the Circular Economy – TU Clausthal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6" name="PlaceHolder 1"/>
          <p:cNvSpPr>
            <a:spLocks noGrp="1"/>
          </p:cNvSpPr>
          <p:nvPr>
            <p:ph type="title"/>
          </p:nvPr>
        </p:nvSpPr>
        <p:spPr>
          <a:xfrm>
            <a:off x="609480" y="708480"/>
            <a:ext cx="1097208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13" r:id="rId4"/>
  </p:sldLayoutIdLst>
</p:sldMaster>
</file>

<file path=ppt/slideMasters/slideMaster3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CustomShape 1"/>
          <p:cNvSpPr/>
          <p:nvPr/>
        </p:nvSpPr>
        <p:spPr>
          <a:xfrm>
            <a:off x="11444760" y="0"/>
            <a:ext cx="736920" cy="684576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81" name="CustomShape 2"/>
          <p:cNvSpPr/>
          <p:nvPr/>
        </p:nvSpPr>
        <p:spPr>
          <a:xfrm>
            <a:off x="11438640" y="6453360"/>
            <a:ext cx="7538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8A93FD1A-49EF-4041-9941-77DC1ABC9C7C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2" name="CustomShape 3"/>
          <p:cNvSpPr/>
          <p:nvPr/>
        </p:nvSpPr>
        <p:spPr>
          <a:xfrm>
            <a:off x="912240" y="1268280"/>
            <a:ext cx="9203760" cy="35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483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7760" cy="557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84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3600" cy="509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85" name="CustomShape 4"/>
          <p:cNvSpPr/>
          <p:nvPr/>
        </p:nvSpPr>
        <p:spPr>
          <a:xfrm>
            <a:off x="11444760" y="0"/>
            <a:ext cx="736920" cy="684576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86" name="CustomShape 5"/>
          <p:cNvSpPr/>
          <p:nvPr/>
        </p:nvSpPr>
        <p:spPr>
          <a:xfrm>
            <a:off x="11438640" y="6453360"/>
            <a:ext cx="7538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AA90B078-47FF-45AA-9AAD-7475D93FE07D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7" name="CustomShape 6"/>
          <p:cNvSpPr/>
          <p:nvPr/>
        </p:nvSpPr>
        <p:spPr>
          <a:xfrm>
            <a:off x="0" y="6642720"/>
            <a:ext cx="1217988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IoT and Digitalization for the Circular Economy – TU Clausthal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8" name="PlaceHolder 1"/>
          <p:cNvSpPr>
            <a:spLocks noGrp="1"/>
          </p:cNvSpPr>
          <p:nvPr>
            <p:ph type="title"/>
          </p:nvPr>
        </p:nvSpPr>
        <p:spPr>
          <a:xfrm>
            <a:off x="609480" y="708480"/>
            <a:ext cx="1097208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9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392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0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392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15" r:id="rId4"/>
  </p:sldLayoutIdLst>
</p:sldMaster>
</file>

<file path=ppt/slideMasters/slideMaster3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CustomShape 1"/>
          <p:cNvSpPr/>
          <p:nvPr/>
        </p:nvSpPr>
        <p:spPr>
          <a:xfrm>
            <a:off x="11444760" y="0"/>
            <a:ext cx="736920" cy="684576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95" name="CustomShape 2"/>
          <p:cNvSpPr/>
          <p:nvPr/>
        </p:nvSpPr>
        <p:spPr>
          <a:xfrm>
            <a:off x="11438640" y="6453360"/>
            <a:ext cx="7538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6FC89D8B-AB98-41D9-9ECD-6BC045C1C56C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6" name="CustomShape 3"/>
          <p:cNvSpPr/>
          <p:nvPr/>
        </p:nvSpPr>
        <p:spPr>
          <a:xfrm>
            <a:off x="912240" y="1268280"/>
            <a:ext cx="9203760" cy="35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497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7760" cy="557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98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3600" cy="509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9" name="CustomShape 4"/>
          <p:cNvSpPr/>
          <p:nvPr/>
        </p:nvSpPr>
        <p:spPr>
          <a:xfrm>
            <a:off x="11444760" y="0"/>
            <a:ext cx="736920" cy="684576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00" name="CustomShape 5"/>
          <p:cNvSpPr/>
          <p:nvPr/>
        </p:nvSpPr>
        <p:spPr>
          <a:xfrm>
            <a:off x="11438640" y="6453360"/>
            <a:ext cx="7538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648AA934-08F8-44B7-B473-B622C83ED40E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1" name="CustomShape 6"/>
          <p:cNvSpPr/>
          <p:nvPr/>
        </p:nvSpPr>
        <p:spPr>
          <a:xfrm>
            <a:off x="0" y="6642720"/>
            <a:ext cx="1217988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IoT and Digitalization for the Circular Economy – TU Clausthal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2" name="PlaceHolder 1"/>
          <p:cNvSpPr>
            <a:spLocks noGrp="1"/>
          </p:cNvSpPr>
          <p:nvPr>
            <p:ph type="title"/>
          </p:nvPr>
        </p:nvSpPr>
        <p:spPr>
          <a:xfrm>
            <a:off x="609480" y="708480"/>
            <a:ext cx="1097208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17" r:id="rId4"/>
  </p:sldLayoutIdLst>
</p:sldMaster>
</file>

<file path=ppt/slideMasters/slideMaster4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CustomShape 1"/>
          <p:cNvSpPr/>
          <p:nvPr/>
        </p:nvSpPr>
        <p:spPr>
          <a:xfrm>
            <a:off x="11444760" y="0"/>
            <a:ext cx="736920" cy="684576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05" name="CustomShape 2"/>
          <p:cNvSpPr/>
          <p:nvPr/>
        </p:nvSpPr>
        <p:spPr>
          <a:xfrm>
            <a:off x="11438640" y="6453360"/>
            <a:ext cx="7538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C58A5DBC-8647-4C79-83D0-1BF229F72CCF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6" name="CustomShape 3"/>
          <p:cNvSpPr/>
          <p:nvPr/>
        </p:nvSpPr>
        <p:spPr>
          <a:xfrm>
            <a:off x="912240" y="1268280"/>
            <a:ext cx="9203760" cy="35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507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7760" cy="557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08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3600" cy="509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9" name="CustomShape 4"/>
          <p:cNvSpPr/>
          <p:nvPr/>
        </p:nvSpPr>
        <p:spPr>
          <a:xfrm>
            <a:off x="11444760" y="0"/>
            <a:ext cx="736920" cy="684576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10" name="CustomShape 5"/>
          <p:cNvSpPr/>
          <p:nvPr/>
        </p:nvSpPr>
        <p:spPr>
          <a:xfrm>
            <a:off x="11438640" y="6453360"/>
            <a:ext cx="7538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C5557505-5D86-4EDA-A619-D366AAD350FC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1" name="CustomShape 6"/>
          <p:cNvSpPr/>
          <p:nvPr/>
        </p:nvSpPr>
        <p:spPr>
          <a:xfrm>
            <a:off x="0" y="6642720"/>
            <a:ext cx="1217988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IoT and Digitalization for the Circular Economy – TU Clausthal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19" r:id="rId4"/>
  </p:sldLayoutIdLst>
</p:sldMaster>
</file>

<file path=ppt/slideMasters/slideMaster4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CustomShape 1"/>
          <p:cNvSpPr/>
          <p:nvPr/>
        </p:nvSpPr>
        <p:spPr>
          <a:xfrm>
            <a:off x="11444760" y="0"/>
            <a:ext cx="734400" cy="684324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13" name="CustomShape 2"/>
          <p:cNvSpPr/>
          <p:nvPr/>
        </p:nvSpPr>
        <p:spPr>
          <a:xfrm>
            <a:off x="11438640" y="6453360"/>
            <a:ext cx="7513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34580536-F293-4E43-882F-3AC14E798E57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4" name="CustomShape 3"/>
          <p:cNvSpPr/>
          <p:nvPr/>
        </p:nvSpPr>
        <p:spPr>
          <a:xfrm>
            <a:off x="912240" y="1268280"/>
            <a:ext cx="9201240" cy="35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515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5240" cy="555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16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1080" cy="507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17" name="CustomShape 4"/>
          <p:cNvSpPr/>
          <p:nvPr/>
        </p:nvSpPr>
        <p:spPr>
          <a:xfrm>
            <a:off x="11444760" y="0"/>
            <a:ext cx="734400" cy="684324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18" name="CustomShape 5"/>
          <p:cNvSpPr/>
          <p:nvPr/>
        </p:nvSpPr>
        <p:spPr>
          <a:xfrm>
            <a:off x="11438640" y="6453360"/>
            <a:ext cx="7513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EF7CBE52-8F3B-44BE-BC44-FD917372C71F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9" name="CustomShape 6"/>
          <p:cNvSpPr/>
          <p:nvPr/>
        </p:nvSpPr>
        <p:spPr>
          <a:xfrm>
            <a:off x="0" y="6642720"/>
            <a:ext cx="1217736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Emerging Technologies for the Circular Economy – TU Clausthal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lang="en-GB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21" r:id="rId4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hyperlink" Target="https://creativecommons.org/licenses/by-sa/4.0/" TargetMode="External"/><Relationship Id="rId2" Type="http://schemas.openxmlformats.org/officeDocument/2006/relationships/hyperlink" Target="https://github.com/ETCE-LAB/teaching-material/tree/master/The-Limits-to-Growth" TargetMode="External"/><Relationship Id="rId3" Type="http://schemas.openxmlformats.org/officeDocument/2006/relationships/slideLayout" Target="../slideLayouts/slideLayout29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3.jpeg"/><Relationship Id="rId2" Type="http://schemas.openxmlformats.org/officeDocument/2006/relationships/image" Target="../media/image4.jpeg"/><Relationship Id="rId3" Type="http://schemas.openxmlformats.org/officeDocument/2006/relationships/image" Target="../media/image5.jpeg"/><Relationship Id="rId4" Type="http://schemas.openxmlformats.org/officeDocument/2006/relationships/slideLayout" Target="../slideLayouts/slideLayout29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hyperlink" Target="https://www.etce-lab.de/" TargetMode="External"/><Relationship Id="rId2" Type="http://schemas.openxmlformats.org/officeDocument/2006/relationships/slideLayout" Target="../slideLayouts/slideLayout29.xml"/><Relationship Id="rId3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9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9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hyperlink" Target="https://github.com/ETCE-LAB/teaching-material/tree/master/IoT-and-Digitalization-for-Circular-Economy#readme" TargetMode="External"/><Relationship Id="rId2" Type="http://schemas.openxmlformats.org/officeDocument/2006/relationships/slideLayout" Target="../slideLayouts/slideLayout2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hyperlink" Target="https://webconf.tu-clausthal.de/b/ben-rtl-yv4-kkk" TargetMode="External"/><Relationship Id="rId2" Type="http://schemas.openxmlformats.org/officeDocument/2006/relationships/hyperlink" Target="https://webconf.tu-clausthal.de/b/ben-rtl-yv4-kkk" TargetMode="External"/><Relationship Id="rId3" Type="http://schemas.openxmlformats.org/officeDocument/2006/relationships/slideLayout" Target="../slideLayouts/slideLayout29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9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hyperlink" Target="https://cocalc.gwdg.de/" TargetMode="External"/><Relationship Id="rId2" Type="http://schemas.openxmlformats.org/officeDocument/2006/relationships/hyperlink" Target="https://github.com/ETCE-LAB/teaching-material/tree/master/IoT-and-Digitalization-for-the-Circular-Economy#exercises" TargetMode="External"/><Relationship Id="rId3" Type="http://schemas.openxmlformats.org/officeDocument/2006/relationships/image" Target="../media/image6.png"/><Relationship Id="rId4" Type="http://schemas.openxmlformats.org/officeDocument/2006/relationships/slideLayout" Target="../slideLayouts/slideLayout49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49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49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49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49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49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49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slideLayout" Target="../slideLayouts/slideLayout4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49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slideLayout" Target="../slideLayouts/slideLayout49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slideLayout" Target="../slideLayouts/slideLayout49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slideLayout" Target="../slideLayouts/slideLayout49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slideLayout" Target="../slideLayouts/slideLayout49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9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9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9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9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8" name="CustomShape 1"/>
          <p:cNvSpPr/>
          <p:nvPr/>
        </p:nvSpPr>
        <p:spPr>
          <a:xfrm>
            <a:off x="527400" y="1412640"/>
            <a:ext cx="10356840" cy="114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algn="ctr">
              <a:lnSpc>
                <a:spcPct val="100000"/>
              </a:lnSpc>
            </a:pPr>
            <a:r>
              <a:rPr lang="en-US" sz="3200" b="1" u="none" strike="noStrike">
                <a:solidFill>
                  <a:srgbClr val="008c4f"/>
                </a:solidFill>
                <a:effectLst/>
                <a:uFillTx/>
                <a:latin typeface="DejaVu Sans"/>
                <a:ea typeface="DejaVu Sans"/>
              </a:rPr>
              <a:t>IoT and Digitalization for the Circular Economy</a:t>
            </a: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9" name="CustomShape 2"/>
          <p:cNvSpPr/>
          <p:nvPr/>
        </p:nvSpPr>
        <p:spPr>
          <a:xfrm>
            <a:off x="527400" y="2852640"/>
            <a:ext cx="10356840" cy="236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  <a:spcBef>
                <a:spcPts val="479"/>
              </a:spcBef>
              <a:tabLst>
                <a:tab algn="l" pos="0"/>
              </a:tabLst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Lecture 0: Organization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479"/>
              </a:spcBef>
              <a:tabLst>
                <a:tab algn="l" pos="0"/>
              </a:tabLst>
            </a:pP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241"/>
              </a:spcBef>
              <a:tabLst>
                <a:tab algn="l" pos="0"/>
              </a:tabLst>
            </a:pP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241"/>
              </a:spcBef>
              <a:tabLst>
                <a:tab algn="l" pos="0"/>
              </a:tabLst>
            </a:pP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320"/>
              </a:spcBef>
              <a:tabLst>
                <a:tab algn="l" pos="0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Prof. Dr. Benjamin Leiding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320"/>
              </a:spcBef>
              <a:tabLst>
                <a:tab algn="l" pos="0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M.Sc. Anant Sujatanagarjuna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320"/>
              </a:spcBef>
              <a:tabLst>
                <a:tab algn="l" pos="0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M.Sc Chintan Patel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CustomShape 1"/>
          <p:cNvSpPr/>
          <p:nvPr/>
        </p:nvSpPr>
        <p:spPr>
          <a:xfrm>
            <a:off x="335520" y="764640"/>
            <a:ext cx="10735200" cy="48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License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1" name="CustomShape 2"/>
          <p:cNvSpPr/>
          <p:nvPr/>
        </p:nvSpPr>
        <p:spPr>
          <a:xfrm>
            <a:off x="335520" y="1268280"/>
            <a:ext cx="10735200" cy="502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288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This work is licensed under a </a:t>
            </a: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Creative Commons Attribution-ShareAlike 4.0 International License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. To view a copy of this license, please refer to </a:t>
            </a:r>
            <a:r>
              <a:rPr lang="en-US" sz="1800" b="0" u="sng" strike="noStrike">
                <a:solidFill>
                  <a:srgbClr val="0000ff"/>
                </a:solidFill>
                <a:effectLst/>
                <a:uFillTx/>
                <a:latin typeface="DejaVu Sans"/>
                <a:ea typeface="DejaVu Sans"/>
                <a:hlinkClick r:id="rId1"/>
              </a:rPr>
              <a:t>https://creativecommons.org/licenses/by-sa/4.0/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.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60"/>
              </a:spcBef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288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Updated versions of these slides will be available in our </a:t>
            </a:r>
            <a:r>
              <a:rPr lang="en-US" sz="1800" b="0" u="sng" strike="noStrike">
                <a:solidFill>
                  <a:srgbClr val="0000ff"/>
                </a:solidFill>
                <a:effectLst/>
                <a:uFillTx/>
                <a:latin typeface="DejaVu Sans"/>
                <a:ea typeface="DejaVu Sans"/>
                <a:hlinkClick r:id="rId2"/>
              </a:rPr>
              <a:t>Github repository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.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60"/>
              </a:spcBef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CustomShape 1"/>
          <p:cNvSpPr/>
          <p:nvPr/>
        </p:nvSpPr>
        <p:spPr>
          <a:xfrm>
            <a:off x="335520" y="764640"/>
            <a:ext cx="10740960" cy="49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Team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33" name="Grafik 2"/>
          <p:cNvPicPr/>
          <p:nvPr/>
        </p:nvPicPr>
        <p:blipFill>
          <a:blip r:embed="rId1"/>
          <a:stretch/>
        </p:blipFill>
        <p:spPr>
          <a:xfrm>
            <a:off x="1784520" y="1710720"/>
            <a:ext cx="1463760" cy="21650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34" name="Grafik 11"/>
          <p:cNvPicPr/>
          <p:nvPr/>
        </p:nvPicPr>
        <p:blipFill>
          <a:blip r:embed="rId2"/>
          <a:stretch/>
        </p:blipFill>
        <p:spPr>
          <a:xfrm>
            <a:off x="7395480" y="2082600"/>
            <a:ext cx="1777680" cy="1769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35" name="CustomShape 2"/>
          <p:cNvSpPr/>
          <p:nvPr/>
        </p:nvSpPr>
        <p:spPr>
          <a:xfrm>
            <a:off x="720000" y="3826800"/>
            <a:ext cx="3628440" cy="66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360" algn="ctr">
              <a:lnSpc>
                <a:spcPct val="100000"/>
              </a:lnSpc>
              <a:spcBef>
                <a:spcPts val="360"/>
              </a:spcBef>
            </a:pPr>
            <a:r>
              <a:rPr lang="de-DE" sz="1600" b="0" u="none" strike="noStrike">
                <a:solidFill>
                  <a:srgbClr val="595959"/>
                </a:solidFill>
                <a:effectLst/>
                <a:uFillTx/>
                <a:latin typeface="DejaVu Sans"/>
                <a:ea typeface="DejaVu Sans"/>
              </a:rPr>
              <a:t>Prof. Dr. Benjamin Leiding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" algn="ctr">
              <a:lnSpc>
                <a:spcPct val="100000"/>
              </a:lnSpc>
              <a:spcBef>
                <a:spcPts val="360"/>
              </a:spcBef>
            </a:pPr>
            <a:endParaRPr lang="en-GB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6" name="CustomShape 3"/>
          <p:cNvSpPr/>
          <p:nvPr/>
        </p:nvSpPr>
        <p:spPr>
          <a:xfrm>
            <a:off x="6448320" y="3826800"/>
            <a:ext cx="3628440" cy="66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360" algn="ctr">
              <a:lnSpc>
                <a:spcPct val="100000"/>
              </a:lnSpc>
              <a:spcBef>
                <a:spcPts val="360"/>
              </a:spcBef>
            </a:pPr>
            <a:r>
              <a:rPr lang="de-DE" sz="1600" b="0" u="none" strike="noStrike">
                <a:solidFill>
                  <a:srgbClr val="595959"/>
                </a:solidFill>
                <a:effectLst/>
                <a:uFillTx/>
                <a:latin typeface="DejaVu Sans"/>
                <a:ea typeface="DejaVu Sans"/>
              </a:rPr>
              <a:t>M.Sc. Anant Sujatanagarjuna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" algn="ctr">
              <a:lnSpc>
                <a:spcPct val="100000"/>
              </a:lnSpc>
              <a:spcBef>
                <a:spcPts val="360"/>
              </a:spcBef>
            </a:pPr>
            <a:endParaRPr lang="en-GB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7" name="CustomShape 14"/>
          <p:cNvSpPr/>
          <p:nvPr/>
        </p:nvSpPr>
        <p:spPr>
          <a:xfrm>
            <a:off x="3569040" y="5987160"/>
            <a:ext cx="3627720" cy="66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360" algn="ctr">
              <a:lnSpc>
                <a:spcPct val="100000"/>
              </a:lnSpc>
              <a:spcBef>
                <a:spcPts val="360"/>
              </a:spcBef>
            </a:pPr>
            <a:r>
              <a:rPr lang="de-DE" sz="1600" b="0" u="none" strike="noStrike">
                <a:solidFill>
                  <a:srgbClr val="595959"/>
                </a:solidFill>
                <a:effectLst/>
                <a:uFillTx/>
                <a:latin typeface="DejaVu Sans"/>
                <a:ea typeface="DejaVu Sans"/>
              </a:rPr>
              <a:t>M.Sc. Chintan Patel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38" name="Picture 322"/>
          <p:cNvPicPr/>
          <p:nvPr/>
        </p:nvPicPr>
        <p:blipFill>
          <a:blip r:embed="rId3"/>
          <a:srcRect l="0" t="4799" r="0" b="28459"/>
          <a:stretch/>
        </p:blipFill>
        <p:spPr>
          <a:xfrm>
            <a:off x="4500000" y="4320000"/>
            <a:ext cx="1794960" cy="17949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9" name="CustomShape 5"/>
          <p:cNvSpPr/>
          <p:nvPr/>
        </p:nvSpPr>
        <p:spPr>
          <a:xfrm>
            <a:off x="542880" y="721800"/>
            <a:ext cx="1034964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lang="en-GB" sz="22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Research Group</a:t>
            </a:r>
            <a:endParaRPr lang="en-GB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0" name="CustomShape 6"/>
          <p:cNvSpPr/>
          <p:nvPr/>
        </p:nvSpPr>
        <p:spPr>
          <a:xfrm>
            <a:off x="451800" y="1709280"/>
            <a:ext cx="8217000" cy="434520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41" name="TextShape 2"/>
          <p:cNvSpPr/>
          <p:nvPr/>
        </p:nvSpPr>
        <p:spPr>
          <a:xfrm>
            <a:off x="609480" y="1769400"/>
            <a:ext cx="10580040" cy="484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marL="216000" indent="-216000">
              <a:lnSpc>
                <a:spcPct val="90000"/>
              </a:lnSpc>
              <a:spcBef>
                <a:spcPts val="1009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lang="en-GB" sz="20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</a:t>
            </a: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merging </a:t>
            </a:r>
            <a:r>
              <a:rPr lang="en-GB" sz="20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T</a:t>
            </a: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echnologies for the </a:t>
            </a:r>
            <a:r>
              <a:rPr lang="en-GB" sz="20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</a:t>
            </a: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ircular </a:t>
            </a:r>
            <a:r>
              <a:rPr lang="en-GB" sz="20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</a:t>
            </a: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conomy → </a:t>
            </a:r>
            <a:r>
              <a:rPr lang="en-GB" sz="20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ETCE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Research focus: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Intersection of IT and sustainability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Circular Economy and Circular Societies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Self-organized, decentralized and distributed systems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Sustinable and resilient food production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Other courses: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Requirements Engineering (WS – M.Sc.)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The Limits to Growth – Sustainability and the Circular Economy (WS – open for everyone)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" name="CustomShape 1"/>
          <p:cNvSpPr/>
          <p:nvPr/>
        </p:nvSpPr>
        <p:spPr>
          <a:xfrm>
            <a:off x="542880" y="721800"/>
            <a:ext cx="10346760" cy="48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lang="en-US" sz="22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Research Group</a:t>
            </a:r>
            <a:endParaRPr lang="en-GB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3" name="CustomShape 2"/>
          <p:cNvSpPr/>
          <p:nvPr/>
        </p:nvSpPr>
        <p:spPr>
          <a:xfrm>
            <a:off x="451800" y="1709280"/>
            <a:ext cx="8214120" cy="434232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44" name="CustomShape 3"/>
          <p:cNvSpPr/>
          <p:nvPr/>
        </p:nvSpPr>
        <p:spPr>
          <a:xfrm>
            <a:off x="609480" y="1769400"/>
            <a:ext cx="10577160" cy="484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marL="216000" indent="-216000">
              <a:lnSpc>
                <a:spcPct val="90000"/>
              </a:lnSpc>
              <a:spcBef>
                <a:spcPts val="1009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ETCE Website – </a:t>
            </a:r>
            <a:r>
              <a:rPr lang="de-DE" sz="2000" b="0" u="sng" strike="noStrike">
                <a:solidFill>
                  <a:srgbClr val="0000ff"/>
                </a:solidFill>
                <a:effectLst/>
                <a:uFillTx/>
                <a:latin typeface="DejaVu Sans"/>
                <a:ea typeface="DejaVu Sans"/>
                <a:hlinkClick r:id="rId1"/>
              </a:rPr>
              <a:t>Link</a:t>
            </a: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Course material 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Theses/project topics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009"/>
              </a:spcBef>
            </a:pPr>
            <a:r>
              <a:rPr lang="en-GB" sz="2000" b="0" u="none" strike="noStrike">
                <a:solidFill>
                  <a:srgbClr val="ffffff"/>
                </a:solidFill>
                <a:effectLst/>
                <a:uFillTx/>
                <a:latin typeface="DejaVu Sans"/>
                <a:ea typeface="DejaVu Sans"/>
              </a:rPr>
              <a:t>You want join us? Write us an email! 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23200" algn="ctr">
              <a:lnSpc>
                <a:spcPct val="90000"/>
              </a:lnSpc>
              <a:spcBef>
                <a:spcPts val="1009"/>
              </a:spcBef>
              <a:tabLst>
                <a:tab algn="l" pos="0"/>
              </a:tabLst>
            </a:pPr>
            <a:r>
              <a:rPr lang="en-GB" sz="1600" b="0" u="none" strike="noStrike">
                <a:solidFill>
                  <a:srgbClr val="ffffff"/>
                </a:solidFill>
                <a:effectLst/>
                <a:uFillTx/>
                <a:latin typeface="DejaVu Sans"/>
                <a:ea typeface="DejaVu Sans"/>
              </a:rPr>
              <a:t>→ benjamin.leiding@tu-clausthal.de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" name="CustomShape 1"/>
          <p:cNvSpPr/>
          <p:nvPr/>
        </p:nvSpPr>
        <p:spPr>
          <a:xfrm>
            <a:off x="542880" y="721800"/>
            <a:ext cx="10346760" cy="48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lang="en-US" sz="22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Learning Outcome</a:t>
            </a:r>
            <a:endParaRPr lang="en-GB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6" name="CustomShape 2"/>
          <p:cNvSpPr/>
          <p:nvPr/>
        </p:nvSpPr>
        <p:spPr>
          <a:xfrm>
            <a:off x="451800" y="1709280"/>
            <a:ext cx="8214120" cy="434232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47" name="CustomShape 3"/>
          <p:cNvSpPr/>
          <p:nvPr/>
        </p:nvSpPr>
        <p:spPr>
          <a:xfrm>
            <a:off x="609480" y="1769400"/>
            <a:ext cx="10577160" cy="484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marL="216000" indent="-210600">
              <a:lnSpc>
                <a:spcPct val="90000"/>
              </a:lnSpc>
              <a:spcBef>
                <a:spcPts val="1009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Understanding the concept of a circular economy, sustainability, and related concepts (biocapacity, etc.).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0600">
              <a:lnSpc>
                <a:spcPct val="90000"/>
              </a:lnSpc>
              <a:spcBef>
                <a:spcPts val="1009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Gain a basic understanding of causes, dimensions, and the characterization of climate change, environmental pollution, and dwindling non-renewable resources. 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0600">
              <a:lnSpc>
                <a:spcPct val="90000"/>
              </a:lnSpc>
              <a:spcBef>
                <a:spcPts val="1009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Introduction to IoT and cyberphysical systems in the circular economy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0600">
              <a:lnSpc>
                <a:spcPct val="90000"/>
              </a:lnSpc>
              <a:spcBef>
                <a:spcPts val="1009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Sensors and actuators for IoT, control and process systems of the circular economy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0600">
              <a:lnSpc>
                <a:spcPct val="90000"/>
              </a:lnSpc>
              <a:spcBef>
                <a:spcPts val="1009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Experience in prototyping IoT applications and systems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0600">
              <a:lnSpc>
                <a:spcPct val="90000"/>
              </a:lnSpc>
              <a:spcBef>
                <a:spcPts val="1009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The ability to critically assess upcoming technological solutions enabling/facilitating sustainability and the circular economy.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8" name="CustomShape 15"/>
          <p:cNvSpPr/>
          <p:nvPr/>
        </p:nvSpPr>
        <p:spPr>
          <a:xfrm>
            <a:off x="335520" y="764640"/>
            <a:ext cx="10740240" cy="49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de-DE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Lectures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9" name="CustomShape 16"/>
          <p:cNvSpPr/>
          <p:nvPr/>
        </p:nvSpPr>
        <p:spPr>
          <a:xfrm>
            <a:off x="335520" y="1268640"/>
            <a:ext cx="10740240" cy="502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27.04.2026 → Organization (L00) 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04.05.2026 → Introduction (L01)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11.05.2026 → Circular Economy (L02) 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18.05.2026 → Lifecycle Assessment – LCA I (L03)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01.06.2026 → Lifecycle Assessment – LCA II (L04)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08.06.2026 → Introduction to the Internet of Things (L05)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15.06.2026 → Internet of Things – Communication (L06) + Security and Privacy (L07)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22.06.2026 → Internet of Things – Data Processing and Big Data (L08)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29.06.2026 → IoT in Mining I (L09)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06.07.2026 → IoT in Mining II (L10)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13.07.2026 → Digital Technologies and Greenwashing (L11)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23.07.2026 → Coding Workshop I (Goslar)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24.07.2026 → Coding Workshop II (Goslar)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27.07.2026 → Exam Q&amp;A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0" name="CustomShape 7"/>
          <p:cNvSpPr/>
          <p:nvPr/>
        </p:nvSpPr>
        <p:spPr>
          <a:xfrm>
            <a:off x="539640" y="764640"/>
            <a:ext cx="1074384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Exercises (Deadlines)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1" name="CustomShape 8"/>
          <p:cNvSpPr/>
          <p:nvPr/>
        </p:nvSpPr>
        <p:spPr>
          <a:xfrm>
            <a:off x="539640" y="1268640"/>
            <a:ext cx="10743840" cy="503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18.05.2026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→</a:t>
            </a: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Exercise 01 – Circular Economy (MC)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01.06.2026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→</a:t>
            </a: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Exercise 02 – Lifecycle Assessment (LCA) – Part 1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9368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08.08.2026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→</a:t>
            </a: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Exercise 03 – Lifecycle Assessment (LCA) – Part 2</a:t>
            </a: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9368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13.07.2026 → Exercise 04 – IoT in Mining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20.07.2026 → Exercise 05 – TBA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" name="CustomShape 1"/>
          <p:cNvSpPr/>
          <p:nvPr/>
        </p:nvSpPr>
        <p:spPr>
          <a:xfrm>
            <a:off x="335520" y="764640"/>
            <a:ext cx="10740960" cy="49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Course Organization  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3" name="CustomShape 2"/>
          <p:cNvSpPr/>
          <p:nvPr/>
        </p:nvSpPr>
        <p:spPr>
          <a:xfrm>
            <a:off x="335520" y="1268280"/>
            <a:ext cx="10740960" cy="502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spcBef>
                <a:spcPts val="360"/>
              </a:spcBef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60"/>
              </a:spcBef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86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News and updates → StudIP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60"/>
              </a:spcBef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86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Organization of the lecture: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Slides are available on Github (</a:t>
            </a:r>
            <a:r>
              <a:rPr lang="en-US" sz="1800" b="0" u="sng" strike="noStrike">
                <a:solidFill>
                  <a:srgbClr val="0000ff"/>
                </a:solidFill>
                <a:effectLst/>
                <a:uFillTx/>
                <a:latin typeface="DejaVu Sans"/>
                <a:ea typeface="DejaVu Sans"/>
                <a:hlinkClick r:id="rId1"/>
              </a:rPr>
              <a:t>Link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)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48000" lvl="2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Symbol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Please report bugs!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Lectures and exercises as live stream (BBB – next slide)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Lecture recordings will be available on StudIP and on Github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Exercise time slots </a:t>
            </a: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= </a:t>
            </a: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Time for questions and eventual tutorials related to the exercises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360"/>
              </a:spcBef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360"/>
              </a:spcBef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Questions? Write us an email: </a:t>
            </a:r>
            <a:r>
              <a:rPr lang="en-GB" sz="1800" b="0" u="sng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etce-iot@tu-clausthal.de</a:t>
            </a: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← </a:t>
            </a: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We will </a:t>
            </a:r>
            <a:r>
              <a:rPr lang="en-GB" sz="1800" b="1" u="sng" strike="noStrike">
                <a:solidFill>
                  <a:srgbClr val="c9211e"/>
                </a:solidFill>
                <a:effectLst/>
                <a:uFillTx/>
                <a:latin typeface="DejaVu Sans"/>
                <a:ea typeface="DejaVu Sans"/>
              </a:rPr>
              <a:t>only</a:t>
            </a: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respond to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360"/>
              </a:spcBef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emails written to this specific email address!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4" name="CustomShape 1"/>
          <p:cNvSpPr/>
          <p:nvPr/>
        </p:nvSpPr>
        <p:spPr>
          <a:xfrm>
            <a:off x="335520" y="764640"/>
            <a:ext cx="10740960" cy="49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Dates/Times/Locations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5" name="CustomShape 2"/>
          <p:cNvSpPr/>
          <p:nvPr/>
        </p:nvSpPr>
        <p:spPr>
          <a:xfrm>
            <a:off x="335520" y="1268640"/>
            <a:ext cx="10740960" cy="502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spcBef>
                <a:spcPts val="360"/>
              </a:spcBef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lang="en-GB" sz="1800" b="0" u="sng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Lecture: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Monday </a:t>
            </a: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2:15 pm to 3:45 pm</a:t>
            </a: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(Berlin time) – </a:t>
            </a: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27.04.2026</a:t>
            </a: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to </a:t>
            </a: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13.07.2026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Location: Goslar Gotec (Am Stollen 19 C, 38640 Goslar, Germany) or via BigBlueButton (</a:t>
            </a:r>
            <a:r>
              <a:rPr lang="en-GB" sz="1800" b="0" u="sng" strike="noStrike">
                <a:solidFill>
                  <a:srgbClr val="0000ff"/>
                </a:solidFill>
                <a:effectLst/>
                <a:uFillTx/>
                <a:latin typeface="DejaVu Sans"/>
                <a:ea typeface="DejaVu Sans"/>
                <a:hlinkClick r:id="rId1"/>
              </a:rPr>
              <a:t>Link</a:t>
            </a: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) </a:t>
            </a:r>
            <a:r>
              <a:rPr lang="en-GB" sz="1800" b="1" u="sng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OR video recordings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60"/>
              </a:spcBef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lang="en-GB" sz="1800" b="0" u="sng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Exercise / Q&amp;A: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Monday </a:t>
            </a: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4 pm to 4:45 pm</a:t>
            </a: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(Berlin time) – </a:t>
            </a: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27.04.2026</a:t>
            </a: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to </a:t>
            </a: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13.07.2026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Location: Goslar Gotec (Am Stollen 19 C, 38640 Goslar, Germany) or via BigBlueButton (</a:t>
            </a:r>
            <a:r>
              <a:rPr lang="en-GB" sz="1800" b="0" u="sng" strike="noStrike">
                <a:solidFill>
                  <a:srgbClr val="0000ff"/>
                </a:solidFill>
                <a:effectLst/>
                <a:uFillTx/>
                <a:latin typeface="DejaVu Sans"/>
                <a:ea typeface="DejaVu Sans"/>
                <a:hlinkClick r:id="rId2"/>
              </a:rPr>
              <a:t>Link</a:t>
            </a: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)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60"/>
              </a:spcBef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lang="en-GB" sz="1800" b="0" u="sng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Practical Coding Workshop: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When: </a:t>
            </a: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23.07.2026 and 24.07.2026</a:t>
            </a: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from </a:t>
            </a: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10 am – 5 pm (Berlin time)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Location: Goslar (DIGIT – Wallstr. 6, 38640 Goslar)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CustomShape 1"/>
          <p:cNvSpPr/>
          <p:nvPr/>
        </p:nvSpPr>
        <p:spPr>
          <a:xfrm>
            <a:off x="335520" y="764640"/>
            <a:ext cx="10740960" cy="49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Exercises and Practical Workshop 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7" name="CustomShape 2"/>
          <p:cNvSpPr/>
          <p:nvPr/>
        </p:nvSpPr>
        <p:spPr>
          <a:xfrm>
            <a:off x="335520" y="1268280"/>
            <a:ext cx="10740960" cy="502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60"/>
              </a:spcBef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86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Individual work</a:t>
            </a: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→</a:t>
            </a: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</a:t>
            </a: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no group submissions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86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Multiple-Choice or written exercises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86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Multiple-Choice exercises are considered “self-evaluations” and are not submitted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86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Submission of </a:t>
            </a: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each</a:t>
            </a: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written exercise is </a:t>
            </a: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mandatory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GB" sz="1800" b="1" u="sng" strike="noStrike">
                <a:solidFill>
                  <a:srgbClr val="c9211e"/>
                </a:solidFill>
                <a:effectLst/>
                <a:uFillTx/>
                <a:latin typeface="DejaVu Sans"/>
                <a:ea typeface="DejaVu Sans"/>
              </a:rPr>
              <a:t>You pass by receiving a grade greater than 0.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86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You will receive feedback on your submission (during Q&amp;A session)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86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Exercise = learning feedback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86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Practical workshop → You pass the workshop if you score 50% (or more)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" algn="ctr">
              <a:lnSpc>
                <a:spcPct val="100000"/>
              </a:lnSpc>
              <a:spcBef>
                <a:spcPts val="360"/>
              </a:spcBef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" algn="ctr">
              <a:lnSpc>
                <a:spcPct val="100000"/>
              </a:lnSpc>
              <a:spcBef>
                <a:spcPts val="360"/>
              </a:spcBef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" algn="ctr">
              <a:lnSpc>
                <a:spcPct val="100000"/>
              </a:lnSpc>
              <a:spcBef>
                <a:spcPts val="360"/>
              </a:spcBef>
            </a:pPr>
            <a:r>
              <a:rPr lang="en-GB" sz="1800" b="1" u="none" strike="noStrike">
                <a:solidFill>
                  <a:srgbClr val="ffffff"/>
                </a:solidFill>
                <a:effectLst/>
                <a:uFillTx/>
                <a:latin typeface="DejaVu Sans"/>
                <a:ea typeface="DejaVu Sans"/>
              </a:rPr>
              <a:t>More info on points, percentages, etc. follow on the next slides (Examination)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8" name="CustomShape 13"/>
          <p:cNvSpPr/>
          <p:nvPr/>
        </p:nvSpPr>
        <p:spPr>
          <a:xfrm>
            <a:off x="335520" y="764640"/>
            <a:ext cx="1073844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Exercise Submission and Grading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9" name="CustomShape 17"/>
          <p:cNvSpPr/>
          <p:nvPr/>
        </p:nvSpPr>
        <p:spPr>
          <a:xfrm>
            <a:off x="335520" y="1600200"/>
            <a:ext cx="4464720" cy="469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marL="216000" indent="-2138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 2" charset="2"/>
              <a:buChar char="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Exercises are graded semi-automatically. Due to this it is highly important that you follow the required submission format. Otherwise the grading process will fail and you will receive 0 points.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60"/>
              </a:spcBef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38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 2" charset="2"/>
              <a:buChar char="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Exercises will be provided to you via Cocalc </a:t>
            </a:r>
            <a:r>
              <a:rPr lang="de-DE" sz="1800" b="0" u="sng" strike="noStrike">
                <a:solidFill>
                  <a:srgbClr val="0000ff"/>
                </a:solidFill>
                <a:effectLst/>
                <a:uFillTx/>
                <a:latin typeface="DejaVu Sans"/>
                <a:ea typeface="DejaVu Sans"/>
                <a:hlinkClick r:id="rId1"/>
              </a:rPr>
              <a:t>https://cocalc.gwdg.de/</a:t>
            </a:r>
            <a:r>
              <a:rPr lang="de-DE" sz="1800" b="0" u="sng" strike="noStrike">
                <a:solidFill>
                  <a:srgbClr val="0000ff"/>
                </a:solidFill>
                <a:effectLst/>
                <a:uFillTx/>
                <a:latin typeface="DejaVu Sans"/>
                <a:ea typeface="DejaVu Sans"/>
              </a:rPr>
              <a:t> </a:t>
            </a: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with additional instructions provided via </a:t>
            </a:r>
            <a:r>
              <a:rPr lang="de-DE" sz="1800" b="0" u="sng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  <a:hlinkClick r:id="rId2"/>
              </a:rPr>
              <a:t>GitHub</a:t>
            </a: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.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0" name="CustomShape 18"/>
          <p:cNvSpPr/>
          <p:nvPr/>
        </p:nvSpPr>
        <p:spPr>
          <a:xfrm>
            <a:off x="4655880" y="476640"/>
            <a:ext cx="2424600" cy="35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561" name=""/>
          <p:cNvPicPr/>
          <p:nvPr/>
        </p:nvPicPr>
        <p:blipFill>
          <a:blip r:embed="rId3"/>
          <a:stretch/>
        </p:blipFill>
        <p:spPr>
          <a:xfrm>
            <a:off x="5715000" y="1448280"/>
            <a:ext cx="4857120" cy="47599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2" name="CustomShape 19"/>
          <p:cNvSpPr/>
          <p:nvPr/>
        </p:nvSpPr>
        <p:spPr>
          <a:xfrm>
            <a:off x="335520" y="764640"/>
            <a:ext cx="1073844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Coding Exercise Submission and Grading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3" name="CustomShape 20"/>
          <p:cNvSpPr/>
          <p:nvPr/>
        </p:nvSpPr>
        <p:spPr>
          <a:xfrm>
            <a:off x="335520" y="1600200"/>
            <a:ext cx="4464720" cy="469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marL="216000" indent="-2138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 2" charset="2"/>
              <a:buChar char="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Sign-in using your university credentials.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OpenSymbol"/>
              <a:buAutoNum type="arabicPeriod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Click on the “Academic ID” Logo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4" name="CustomShape 21"/>
          <p:cNvSpPr/>
          <p:nvPr/>
        </p:nvSpPr>
        <p:spPr>
          <a:xfrm>
            <a:off x="4655880" y="476640"/>
            <a:ext cx="2424600" cy="35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565" name=""/>
          <p:cNvPicPr/>
          <p:nvPr/>
        </p:nvPicPr>
        <p:blipFill>
          <a:blip r:embed="rId1"/>
          <a:stretch/>
        </p:blipFill>
        <p:spPr>
          <a:xfrm>
            <a:off x="5715000" y="1448280"/>
            <a:ext cx="4857120" cy="4759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66" name=""/>
          <p:cNvSpPr/>
          <p:nvPr/>
        </p:nvSpPr>
        <p:spPr>
          <a:xfrm>
            <a:off x="5943600" y="5535000"/>
            <a:ext cx="456840" cy="22824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008c4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7" name="CustomShape 22"/>
          <p:cNvSpPr/>
          <p:nvPr/>
        </p:nvSpPr>
        <p:spPr>
          <a:xfrm>
            <a:off x="335520" y="764640"/>
            <a:ext cx="1073844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Coding Exercise Submission and Grading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8" name="CustomShape 23"/>
          <p:cNvSpPr/>
          <p:nvPr/>
        </p:nvSpPr>
        <p:spPr>
          <a:xfrm>
            <a:off x="335520" y="1600200"/>
            <a:ext cx="4464720" cy="469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marL="216000" indent="-2138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 2" charset="2"/>
              <a:buChar char="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Sign-in using your university credentials.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OpenSymbol"/>
              <a:buAutoNum type="arabicPeriod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Click on the “Academic ID” Logo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OpenSymbol"/>
              <a:buAutoNum type="arabicPeriod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Enter your university email address.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9" name="CustomShape 24"/>
          <p:cNvSpPr/>
          <p:nvPr/>
        </p:nvSpPr>
        <p:spPr>
          <a:xfrm>
            <a:off x="4655880" y="476640"/>
            <a:ext cx="2424600" cy="35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570" name=""/>
          <p:cNvPicPr/>
          <p:nvPr/>
        </p:nvPicPr>
        <p:blipFill>
          <a:blip r:embed="rId1"/>
          <a:srcRect l="0" t="0" r="0" b="39009"/>
          <a:stretch/>
        </p:blipFill>
        <p:spPr>
          <a:xfrm>
            <a:off x="5785920" y="1484280"/>
            <a:ext cx="5293080" cy="4001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1" name=""/>
          <p:cNvSpPr/>
          <p:nvPr/>
        </p:nvSpPr>
        <p:spPr>
          <a:xfrm>
            <a:off x="5680800" y="4343400"/>
            <a:ext cx="456840" cy="22824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008c4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CustomShape 25"/>
          <p:cNvSpPr/>
          <p:nvPr/>
        </p:nvSpPr>
        <p:spPr>
          <a:xfrm>
            <a:off x="335520" y="764640"/>
            <a:ext cx="1073844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Coding Exercise Submission and Grading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3" name="CustomShape 26"/>
          <p:cNvSpPr/>
          <p:nvPr/>
        </p:nvSpPr>
        <p:spPr>
          <a:xfrm>
            <a:off x="335520" y="1600200"/>
            <a:ext cx="4464720" cy="469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marL="216000" indent="-2138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 2" charset="2"/>
              <a:buChar char="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Sign-in using your university credentials.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OpenSymbol"/>
              <a:buAutoNum type="arabicPeriod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Click on the “Academic ID” Logo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OpenSymbol"/>
              <a:buAutoNum type="arabicPeriod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Enter your university email address.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OpenSymbol"/>
              <a:buAutoNum type="arabicPeriod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Choose “Technische Universität Clausthal” from the drop-down box.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4" name="CustomShape 27"/>
          <p:cNvSpPr/>
          <p:nvPr/>
        </p:nvSpPr>
        <p:spPr>
          <a:xfrm>
            <a:off x="4655880" y="476640"/>
            <a:ext cx="2424600" cy="35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575" name=""/>
          <p:cNvPicPr/>
          <p:nvPr/>
        </p:nvPicPr>
        <p:blipFill>
          <a:blip r:embed="rId1"/>
          <a:srcRect l="0" t="0" r="0" b="26231"/>
          <a:stretch/>
        </p:blipFill>
        <p:spPr>
          <a:xfrm>
            <a:off x="6172200" y="1600200"/>
            <a:ext cx="4876200" cy="4263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6" name=""/>
          <p:cNvSpPr/>
          <p:nvPr/>
        </p:nvSpPr>
        <p:spPr>
          <a:xfrm>
            <a:off x="6172200" y="4716000"/>
            <a:ext cx="456840" cy="22824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008c4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7" name="CustomShape 28"/>
          <p:cNvSpPr/>
          <p:nvPr/>
        </p:nvSpPr>
        <p:spPr>
          <a:xfrm>
            <a:off x="335520" y="764640"/>
            <a:ext cx="1073844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Coding Exercise Submission and Grading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8" name="CustomShape 29"/>
          <p:cNvSpPr/>
          <p:nvPr/>
        </p:nvSpPr>
        <p:spPr>
          <a:xfrm>
            <a:off x="335520" y="1600200"/>
            <a:ext cx="4464720" cy="469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marL="216000" indent="-2138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 2" charset="2"/>
              <a:buChar char="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Sign-in using your university credentials.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OpenSymbol"/>
              <a:buAutoNum type="arabicPeriod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Click on the “Academic ID” Logo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OpenSymbol"/>
              <a:buAutoNum type="arabicPeriod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Enter your university email address.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OpenSymbol"/>
              <a:buAutoNum type="arabicPeriod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Choose “Technische Universität Clausthal” from the drop-down box.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OpenSymbol"/>
              <a:buAutoNum type="arabicPeriod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Login with your usual TU-Clausthal credentials.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9" name="CustomShape 30"/>
          <p:cNvSpPr/>
          <p:nvPr/>
        </p:nvSpPr>
        <p:spPr>
          <a:xfrm>
            <a:off x="4655880" y="476640"/>
            <a:ext cx="2424600" cy="35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580" name=""/>
          <p:cNvPicPr/>
          <p:nvPr/>
        </p:nvPicPr>
        <p:blipFill>
          <a:blip r:embed="rId1"/>
          <a:stretch/>
        </p:blipFill>
        <p:spPr>
          <a:xfrm>
            <a:off x="6172200" y="1600200"/>
            <a:ext cx="4343040" cy="46198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1" name="CustomShape 31"/>
          <p:cNvSpPr/>
          <p:nvPr/>
        </p:nvSpPr>
        <p:spPr>
          <a:xfrm>
            <a:off x="335520" y="764640"/>
            <a:ext cx="1073844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Coding Exercise Submission and Grading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2" name="CustomShape 32"/>
          <p:cNvSpPr/>
          <p:nvPr/>
        </p:nvSpPr>
        <p:spPr>
          <a:xfrm>
            <a:off x="335520" y="1600200"/>
            <a:ext cx="10408320" cy="274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marL="216000" indent="-2138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 2" charset="2"/>
              <a:buChar char="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Submitting Assignments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OpenSymbol"/>
              <a:buAutoNum type="arabicPeriod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Click on “</a:t>
            </a: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IoT Mining SoSe26”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3" name="CustomShape 33"/>
          <p:cNvSpPr/>
          <p:nvPr/>
        </p:nvSpPr>
        <p:spPr>
          <a:xfrm>
            <a:off x="4655880" y="476640"/>
            <a:ext cx="2424600" cy="35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584" name=""/>
          <p:cNvPicPr/>
          <p:nvPr/>
        </p:nvPicPr>
        <p:blipFill>
          <a:blip r:embed="rId1"/>
          <a:srcRect l="0" t="0" r="16554" b="0"/>
          <a:stretch/>
        </p:blipFill>
        <p:spPr>
          <a:xfrm>
            <a:off x="1067400" y="4343400"/>
            <a:ext cx="9219240" cy="19620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5" name="CustomShape 34"/>
          <p:cNvSpPr/>
          <p:nvPr/>
        </p:nvSpPr>
        <p:spPr>
          <a:xfrm>
            <a:off x="335520" y="764640"/>
            <a:ext cx="1073844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Coding Exercise Submission and Grading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6" name="CustomShape 35"/>
          <p:cNvSpPr/>
          <p:nvPr/>
        </p:nvSpPr>
        <p:spPr>
          <a:xfrm>
            <a:off x="335520" y="1600200"/>
            <a:ext cx="10408320" cy="274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marL="216000" indent="-2138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 2" charset="2"/>
              <a:buChar char="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Submitting Assignments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OpenSymbol"/>
              <a:buAutoNum type="arabicPeriod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Click on “IoT Mining SoSe26”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OpenSymbol"/>
              <a:buAutoNum type="arabicPeriod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Open the folder of the exercise you want to work on.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7" name="CustomShape 36"/>
          <p:cNvSpPr/>
          <p:nvPr/>
        </p:nvSpPr>
        <p:spPr>
          <a:xfrm>
            <a:off x="4655880" y="476640"/>
            <a:ext cx="2424600" cy="35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588" name=""/>
          <p:cNvPicPr/>
          <p:nvPr/>
        </p:nvPicPr>
        <p:blipFill>
          <a:blip r:embed="rId1"/>
          <a:stretch/>
        </p:blipFill>
        <p:spPr>
          <a:xfrm>
            <a:off x="2057400" y="3657600"/>
            <a:ext cx="6495480" cy="26852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9" name="CustomShape 37"/>
          <p:cNvSpPr/>
          <p:nvPr/>
        </p:nvSpPr>
        <p:spPr>
          <a:xfrm>
            <a:off x="335520" y="764640"/>
            <a:ext cx="1073844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Coding Exercise Submission and Grading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0" name="CustomShape 38"/>
          <p:cNvSpPr/>
          <p:nvPr/>
        </p:nvSpPr>
        <p:spPr>
          <a:xfrm>
            <a:off x="335520" y="1600200"/>
            <a:ext cx="10408320" cy="274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marL="216000" indent="-2138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 2" charset="2"/>
              <a:buChar char="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Submitting Assignments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OpenSymbol"/>
              <a:buAutoNum type="arabicPeriod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Click on “IoT Mining SoSe26”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OpenSymbol"/>
              <a:buAutoNum type="arabicPeriod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Open the folder of the exercise you want to work on.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OpenSymbol"/>
              <a:buAutoNum type="arabicPeriod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Edit the file in the exercise folder as indicated in the exercise handout PDFs.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1" name="CustomShape 39"/>
          <p:cNvSpPr/>
          <p:nvPr/>
        </p:nvSpPr>
        <p:spPr>
          <a:xfrm>
            <a:off x="4655880" y="476640"/>
            <a:ext cx="2424600" cy="35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592" name=""/>
          <p:cNvPicPr/>
          <p:nvPr/>
        </p:nvPicPr>
        <p:blipFill>
          <a:blip r:embed="rId1"/>
          <a:stretch/>
        </p:blipFill>
        <p:spPr>
          <a:xfrm>
            <a:off x="2124360" y="3706200"/>
            <a:ext cx="5876280" cy="26942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" name="CustomShape 40"/>
          <p:cNvSpPr/>
          <p:nvPr/>
        </p:nvSpPr>
        <p:spPr>
          <a:xfrm>
            <a:off x="335520" y="764640"/>
            <a:ext cx="1073844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Coding Exercise Submission and Grading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4" name="CustomShape 41"/>
          <p:cNvSpPr/>
          <p:nvPr/>
        </p:nvSpPr>
        <p:spPr>
          <a:xfrm>
            <a:off x="335520" y="1600200"/>
            <a:ext cx="10408320" cy="274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marL="216000" indent="-2138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 2" charset="2"/>
              <a:buChar char="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Submitting Assignments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OpenSymbol"/>
              <a:buAutoNum type="arabicPeriod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Click on “IoT Mining SoSe26”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OpenSymbol"/>
              <a:buAutoNum type="arabicPeriod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Open the folder of the exercise you want to work on.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OpenSymbol"/>
              <a:buAutoNum type="arabicPeriod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Edit the file in the exercise folder as indicated in the exercise handout PDFs.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5" name="CustomShape 42"/>
          <p:cNvSpPr/>
          <p:nvPr/>
        </p:nvSpPr>
        <p:spPr>
          <a:xfrm>
            <a:off x="4655880" y="476640"/>
            <a:ext cx="2424600" cy="35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596" name=""/>
          <p:cNvPicPr/>
          <p:nvPr/>
        </p:nvPicPr>
        <p:blipFill>
          <a:blip r:embed="rId1"/>
          <a:srcRect l="0" t="24696" r="0" b="0"/>
          <a:stretch/>
        </p:blipFill>
        <p:spPr>
          <a:xfrm>
            <a:off x="5063400" y="3056400"/>
            <a:ext cx="5656320" cy="36568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CustomShape 43"/>
          <p:cNvSpPr/>
          <p:nvPr/>
        </p:nvSpPr>
        <p:spPr>
          <a:xfrm>
            <a:off x="335520" y="764640"/>
            <a:ext cx="1073844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Coding Exercise Submission and Grading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8" name="CustomShape 44"/>
          <p:cNvSpPr/>
          <p:nvPr/>
        </p:nvSpPr>
        <p:spPr>
          <a:xfrm>
            <a:off x="335520" y="1600200"/>
            <a:ext cx="10408320" cy="274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marL="216000" indent="-2138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 2" charset="2"/>
              <a:buChar char="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Exercise Grades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We will collect your exercises after the deadline has elapsed.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Please ensure to save all changes to the exercise folder BEFORE the deadline.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DO NOT submit your assignments via email/other means.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60"/>
              </a:spcBef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9" name="CustomShape 45"/>
          <p:cNvSpPr/>
          <p:nvPr/>
        </p:nvSpPr>
        <p:spPr>
          <a:xfrm>
            <a:off x="4655880" y="476640"/>
            <a:ext cx="2424600" cy="35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CustomShape 46"/>
          <p:cNvSpPr/>
          <p:nvPr/>
        </p:nvSpPr>
        <p:spPr>
          <a:xfrm>
            <a:off x="335520" y="764640"/>
            <a:ext cx="1073844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Coding Exercise Submission and Grading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1" name="CustomShape 47"/>
          <p:cNvSpPr/>
          <p:nvPr/>
        </p:nvSpPr>
        <p:spPr>
          <a:xfrm>
            <a:off x="335520" y="1600200"/>
            <a:ext cx="10408320" cy="274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marL="216000" indent="-2138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 2" charset="2"/>
              <a:buChar char="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Exercise Grades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We will collect your exercises after the deadline has elapsed.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Please ensure to save all changes to the exercise folder BEFORE the deadline.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DO NOT submit your assignments via email/other means.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Exercises, once graded will be released back to you.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60"/>
              </a:spcBef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2" name="CustomShape 48"/>
          <p:cNvSpPr/>
          <p:nvPr/>
        </p:nvSpPr>
        <p:spPr>
          <a:xfrm>
            <a:off x="4655880" y="476640"/>
            <a:ext cx="2424600" cy="35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603" name=""/>
          <p:cNvPicPr/>
          <p:nvPr/>
        </p:nvPicPr>
        <p:blipFill>
          <a:blip r:embed="rId1"/>
          <a:stretch/>
        </p:blipFill>
        <p:spPr>
          <a:xfrm>
            <a:off x="2372040" y="3657600"/>
            <a:ext cx="7228800" cy="28569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CustomShape 49"/>
          <p:cNvSpPr/>
          <p:nvPr/>
        </p:nvSpPr>
        <p:spPr>
          <a:xfrm>
            <a:off x="335520" y="764640"/>
            <a:ext cx="1073844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Coding Exercise Submission and Grading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5" name="CustomShape 50"/>
          <p:cNvSpPr/>
          <p:nvPr/>
        </p:nvSpPr>
        <p:spPr>
          <a:xfrm>
            <a:off x="335520" y="1600200"/>
            <a:ext cx="10408320" cy="274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marL="216000" indent="-2138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 2" charset="2"/>
              <a:buChar char="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Exercise Grades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We will collect your exercises after the deadline has elapsed.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Please ensure to save all changes to the exercise folder BEFORE the deadline.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DO NOT submit your assignments via email/other means.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Exercises, once graded will be released back to you.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Your grade is provided inside the “GRADE.md” file.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60"/>
              </a:spcBef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6" name="CustomShape 51"/>
          <p:cNvSpPr/>
          <p:nvPr/>
        </p:nvSpPr>
        <p:spPr>
          <a:xfrm>
            <a:off x="4655880" y="476640"/>
            <a:ext cx="2424600" cy="35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607" name=""/>
          <p:cNvPicPr/>
          <p:nvPr/>
        </p:nvPicPr>
        <p:blipFill>
          <a:blip r:embed="rId1"/>
          <a:stretch/>
        </p:blipFill>
        <p:spPr>
          <a:xfrm>
            <a:off x="2971800" y="3777480"/>
            <a:ext cx="6171840" cy="26229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8" name="CustomShape 52"/>
          <p:cNvSpPr/>
          <p:nvPr/>
        </p:nvSpPr>
        <p:spPr>
          <a:xfrm>
            <a:off x="335520" y="764640"/>
            <a:ext cx="1073844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Coding Exercise Submission and Grading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9" name="CustomShape 53"/>
          <p:cNvSpPr/>
          <p:nvPr/>
        </p:nvSpPr>
        <p:spPr>
          <a:xfrm>
            <a:off x="335520" y="1600200"/>
            <a:ext cx="10408320" cy="274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marL="216000" indent="-2138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 2" charset="2"/>
              <a:buChar char="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Exercise Grades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We will collect your exercises after the deadline has elapsed.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Please ensure to save all changes to the exercise folder BEFORE the deadline.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DO NOT submit your assignments via email/other means.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Exercises, once graded will be released back to you.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Your grade is provided inside the “GRADE.md” file.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Receiving a grade of 0 = FAIL.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60"/>
              </a:spcBef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0" name="CustomShape 54"/>
          <p:cNvSpPr/>
          <p:nvPr/>
        </p:nvSpPr>
        <p:spPr>
          <a:xfrm>
            <a:off x="4655880" y="476640"/>
            <a:ext cx="2424600" cy="35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CustomShape 55"/>
          <p:cNvSpPr/>
          <p:nvPr/>
        </p:nvSpPr>
        <p:spPr>
          <a:xfrm>
            <a:off x="335520" y="768240"/>
            <a:ext cx="1073844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Multiple-Choice Exercises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2" name="CustomShape 56"/>
          <p:cNvSpPr/>
          <p:nvPr/>
        </p:nvSpPr>
        <p:spPr>
          <a:xfrm>
            <a:off x="388800" y="1488600"/>
            <a:ext cx="10712160" cy="350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de-DE" sz="1400" b="1" u="none" strike="noStrike">
                <a:solidFill>
                  <a:srgbClr val="008c4f"/>
                </a:solidFill>
                <a:effectLst/>
                <a:uFillTx/>
                <a:latin typeface="DejaVu Sans"/>
                <a:ea typeface="Arial"/>
              </a:rPr>
              <a:t>Every student enrolled in this course is advised to take the knowledge quiz in first two weeks of the course.  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8c4f"/>
              </a:buClr>
              <a:buSzPct val="45000"/>
              <a:buFont typeface="Monotype Sorts" charset="2"/>
              <a:buChar char=""/>
            </a:pPr>
            <a:r>
              <a:rPr lang="de-DE" sz="1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Arial Unicode MS"/>
              </a:rPr>
              <a:t>Goal of the test: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buClr>
                <a:srgbClr val="008c4f"/>
              </a:buClr>
              <a:buSzPct val="45000"/>
              <a:buFont typeface="OpenSymbol"/>
              <a:buChar char="—"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Arial Unicode MS"/>
              </a:rPr>
              <a:t>To check the knowledge level of the student that is relevant to this course of study.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8c4f"/>
              </a:buClr>
              <a:buSzPct val="45000"/>
              <a:buFont typeface="Monotype Sorts" charset="2"/>
              <a:buChar char=""/>
            </a:pPr>
            <a:r>
              <a:rPr lang="de-DE" sz="1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Arial Unicode MS"/>
              </a:rPr>
              <a:t>Preparation: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buClr>
                <a:srgbClr val="008c4f"/>
              </a:buClr>
              <a:buSzPct val="45000"/>
              <a:buFont typeface="OpenSymbol"/>
              <a:buChar char="—"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Arial Unicode MS"/>
              </a:rPr>
              <a:t>A review of basic concepts of Cryptography and Circular Economy is recommended for Week 1 and Week 2 respectively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buClr>
                <a:srgbClr val="008c4f"/>
              </a:buClr>
              <a:buSzPct val="45000"/>
              <a:buFont typeface="OpenSymbol"/>
              <a:buChar char="—"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Arial Unicode MS"/>
              </a:rPr>
              <a:t>Knowledge quiz for Week 1 only tests your existing knowledge.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8c4f"/>
              </a:buClr>
              <a:buSzPct val="45000"/>
              <a:buFont typeface="Monotype Sorts" charset="2"/>
              <a:buChar char=""/>
            </a:pPr>
            <a:r>
              <a:rPr lang="de-DE" sz="1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Arial Unicode MS"/>
              </a:rPr>
              <a:t>THE TEST IS JUST FOR YOU → WE CANNOT CHECK THE TEST RESULTS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CustomShape 57"/>
          <p:cNvSpPr/>
          <p:nvPr/>
        </p:nvSpPr>
        <p:spPr>
          <a:xfrm>
            <a:off x="335520" y="768240"/>
            <a:ext cx="1073844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Multiple-Choice Exercises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4" name="CustomShape 58"/>
          <p:cNvSpPr/>
          <p:nvPr/>
        </p:nvSpPr>
        <p:spPr>
          <a:xfrm>
            <a:off x="388800" y="1488600"/>
            <a:ext cx="10712160" cy="350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de-DE" sz="1400" b="1" u="none" strike="noStrike">
                <a:solidFill>
                  <a:srgbClr val="008c4f"/>
                </a:solidFill>
                <a:effectLst/>
                <a:uFillTx/>
                <a:latin typeface="DejaVu Sans"/>
                <a:ea typeface="Arial"/>
              </a:rPr>
              <a:t>Every student enrolled in this course is advised to take the knowledge quiz in first two weeks of the course.  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8c4f"/>
              </a:buClr>
              <a:buSzPct val="45000"/>
              <a:buFont typeface="Monotype Sorts" charset="2"/>
              <a:buChar char=""/>
            </a:pPr>
            <a:r>
              <a:rPr lang="de-DE" sz="1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Arial Unicode MS"/>
              </a:rPr>
              <a:t>Goal of the test: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buClr>
                <a:srgbClr val="008c4f"/>
              </a:buClr>
              <a:buSzPct val="45000"/>
              <a:buFont typeface="OpenSymbol"/>
              <a:buChar char="—"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Arial Unicode MS"/>
              </a:rPr>
              <a:t>To check the knowledge level of the student that is relevant to this course of study.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8c4f"/>
              </a:buClr>
              <a:buSzPct val="45000"/>
              <a:buFont typeface="Monotype Sorts" charset="2"/>
              <a:buChar char=""/>
            </a:pPr>
            <a:r>
              <a:rPr lang="de-DE" sz="1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Arial Unicode MS"/>
              </a:rPr>
              <a:t>Preparation: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buClr>
                <a:srgbClr val="008c4f"/>
              </a:buClr>
              <a:buSzPct val="45000"/>
              <a:buFont typeface="OpenSymbol"/>
              <a:buChar char="—"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Arial Unicode MS"/>
              </a:rPr>
              <a:t>A review of basic concepts of Cryptography and Circular Economy is recommended for Week 1 and Week 2 respectively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buClr>
                <a:srgbClr val="008c4f"/>
              </a:buClr>
              <a:buSzPct val="45000"/>
              <a:buFont typeface="OpenSymbol"/>
              <a:buChar char="—"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Arial Unicode MS"/>
              </a:rPr>
              <a:t>Knowledge quiz for Week 1 only tests your existing knowledge.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8c4f"/>
              </a:buClr>
              <a:buSzPct val="45000"/>
              <a:buFont typeface="Monotype Sorts" charset="2"/>
              <a:buChar char=""/>
            </a:pPr>
            <a:r>
              <a:rPr lang="de-DE" sz="1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Arial Unicode MS"/>
              </a:rPr>
              <a:t>THE TEST IS JUST FOR YOU → WE CANNOT CHECK THE TEST RESULTS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de-DE" sz="1400" b="1" u="none" strike="noStrike">
                <a:solidFill>
                  <a:srgbClr val="c9211e"/>
                </a:solidFill>
                <a:effectLst/>
                <a:uFillTx/>
                <a:latin typeface="DejaVu Sans"/>
                <a:ea typeface="Arial Unicode MS"/>
              </a:rPr>
              <a:t>Link for all multiple-choice exercises → </a:t>
            </a:r>
            <a:r>
              <a:rPr lang="de-DE" sz="1400" b="0" u="none" strike="noStrike">
                <a:solidFill>
                  <a:srgbClr val="c9211e"/>
                </a:solidFill>
                <a:effectLst/>
                <a:uFillTx/>
                <a:latin typeface="DejaVu Sans"/>
                <a:ea typeface="Arial Unicode MS"/>
              </a:rPr>
              <a:t>etce.etce-lab.de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5" name="CustomShape 59"/>
          <p:cNvSpPr/>
          <p:nvPr/>
        </p:nvSpPr>
        <p:spPr>
          <a:xfrm>
            <a:off x="335520" y="764640"/>
            <a:ext cx="1073844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Multiple-Choice Exercises 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16" name=""/>
          <p:cNvPicPr/>
          <p:nvPr/>
        </p:nvPicPr>
        <p:blipFill>
          <a:blip r:embed="rId1"/>
          <a:stretch/>
        </p:blipFill>
        <p:spPr>
          <a:xfrm>
            <a:off x="3200400" y="685800"/>
            <a:ext cx="5273280" cy="59979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7" name="CustomShape 60"/>
          <p:cNvSpPr/>
          <p:nvPr/>
        </p:nvSpPr>
        <p:spPr>
          <a:xfrm>
            <a:off x="335520" y="764640"/>
            <a:ext cx="1073844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Multiple-Choice Exercises 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18" name=""/>
          <p:cNvPicPr/>
          <p:nvPr/>
        </p:nvPicPr>
        <p:blipFill>
          <a:blip r:embed="rId1"/>
          <a:stretch/>
        </p:blipFill>
        <p:spPr>
          <a:xfrm>
            <a:off x="1600200" y="1600200"/>
            <a:ext cx="8359560" cy="46281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CustomShape 1"/>
          <p:cNvSpPr/>
          <p:nvPr/>
        </p:nvSpPr>
        <p:spPr>
          <a:xfrm>
            <a:off x="335520" y="764640"/>
            <a:ext cx="10740960" cy="49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Examination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0" name="CustomShape 2"/>
          <p:cNvSpPr/>
          <p:nvPr/>
        </p:nvSpPr>
        <p:spPr>
          <a:xfrm>
            <a:off x="335520" y="1268640"/>
            <a:ext cx="10740960" cy="502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195120" indent="-1886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Prerequisite for admission to the final exam (all criteria have to be fulfilled):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4120" lvl="1" indent="-2804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albaum Heading"/>
              <a:buChar char="—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Submit all exercises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4120" lvl="1" indent="-2804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albaum Heading"/>
              <a:buChar char="—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Pass the practical workshop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60"/>
              </a:spcBef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86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Final exam: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4120" lvl="1" indent="-2804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albaum Text"/>
              <a:buChar char="—"/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Most likely 12.08.2026 and 13.08.2026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4120" lvl="1" indent="-2804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albaum Text"/>
              <a:buChar char="—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Oral examination (20min)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4120" lvl="1" indent="-2804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albaum Text"/>
              <a:buChar char="—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Online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CustomShape 1"/>
          <p:cNvSpPr/>
          <p:nvPr/>
        </p:nvSpPr>
        <p:spPr>
          <a:xfrm>
            <a:off x="335520" y="764640"/>
            <a:ext cx="10740960" cy="49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Self-Study Star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2" name="CustomShape 2"/>
          <p:cNvSpPr/>
          <p:nvPr/>
        </p:nvSpPr>
        <p:spPr>
          <a:xfrm>
            <a:off x="335520" y="1268280"/>
            <a:ext cx="10740960" cy="502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spcBef>
                <a:spcPts val="360"/>
              </a:spcBef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8640">
              <a:lnSpc>
                <a:spcPct val="100000"/>
              </a:lnSpc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Slides with the self-study star indicate optional/additional study material that is </a:t>
            </a: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not</a:t>
            </a: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mandatory but could be helpful or interesting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3" name="CustomShape 3"/>
          <p:cNvSpPr/>
          <p:nvPr/>
        </p:nvSpPr>
        <p:spPr>
          <a:xfrm>
            <a:off x="6285600" y="2132640"/>
            <a:ext cx="510480" cy="490320"/>
          </a:xfrm>
          <a:prstGeom prst="star5">
            <a:avLst>
              <a:gd name="adj" fmla="val 19098"/>
              <a:gd name="hf" fmla="val 105146"/>
              <a:gd name="vf" fmla="val 110557"/>
            </a:avLst>
          </a:prstGeom>
          <a:solidFill>
            <a:srgbClr val="92d050"/>
          </a:solidFill>
          <a:ln>
            <a:solidFill>
              <a:srgbClr val="0d0d0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24" name="CustomShape 4"/>
          <p:cNvSpPr/>
          <p:nvPr/>
        </p:nvSpPr>
        <p:spPr>
          <a:xfrm>
            <a:off x="4089960" y="2247480"/>
            <a:ext cx="22788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Self-Study Star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→</a:t>
            </a: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5" name="CustomShape 1"/>
          <p:cNvSpPr/>
          <p:nvPr/>
        </p:nvSpPr>
        <p:spPr>
          <a:xfrm>
            <a:off x="335520" y="764640"/>
            <a:ext cx="10740960" cy="49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Literature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6" name="CustomShape 2"/>
          <p:cNvSpPr/>
          <p:nvPr/>
        </p:nvSpPr>
        <p:spPr>
          <a:xfrm>
            <a:off x="335520" y="1268640"/>
            <a:ext cx="10740960" cy="502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195120" indent="-1886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This course is not based on a single book and you </a:t>
            </a: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do not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need to buy a book to pass the exam.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60"/>
              </a:spcBef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86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Donella H. Meadows, Jorgen Randers, and Dennis L. Meadows. </a:t>
            </a:r>
            <a:r>
              <a:rPr lang="en-US" sz="1800" b="0" i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The Limits to Growth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(1972).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86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Donella H. Meadows, Jorgen Randers, and Dennis L. Meadows. </a:t>
            </a:r>
            <a:r>
              <a:rPr lang="en-US" sz="1800" b="0" i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Limits To Growth: The 30-Year Update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(2004).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86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Baccini et al. </a:t>
            </a:r>
            <a:r>
              <a:rPr lang="en-US" sz="1800" b="0" i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Metabolism of the Anthroposphere: Analysis, Evaluation, Design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(2012).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86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Walter R. Stahel. </a:t>
            </a:r>
            <a:r>
              <a:rPr lang="en-US" sz="1800" b="0" i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The Circular Economy: A User's Guide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(2019).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86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W. Brian Arthur. </a:t>
            </a:r>
            <a:r>
              <a:rPr lang="en-US" sz="1800" b="0" i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The Nature of Technology: What It Is and How it Evolves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(2011)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828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David Wallace-Wells. </a:t>
            </a:r>
            <a:r>
              <a:rPr lang="en-US" sz="1800" b="0" i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The Uninhabitable Earth, Annotated Edition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(2017).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828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(German) Stefan Rahmstorf, Hans Joachim Schellnhuber. </a:t>
            </a:r>
            <a:r>
              <a:rPr lang="en-US" sz="1800" b="0" i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Der Klimawandel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(2019).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CustomShape 9"/>
          <p:cNvSpPr/>
          <p:nvPr/>
        </p:nvSpPr>
        <p:spPr>
          <a:xfrm>
            <a:off x="335520" y="764640"/>
            <a:ext cx="10739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de-DE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Literature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8" name="CustomShape 10"/>
          <p:cNvSpPr/>
          <p:nvPr/>
        </p:nvSpPr>
        <p:spPr>
          <a:xfrm>
            <a:off x="335520" y="1268640"/>
            <a:ext cx="10739160" cy="502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spcBef>
                <a:spcPts val="360"/>
              </a:spcBef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Perry Lea. Internet of Things for Architects: Architecting IoT solutions by implementing sensors, communication infrastructure, edge computing, analytics, and security (2018).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M.A. Khan, M.T. Quasim, F. Algarni, A. Alharthi. </a:t>
            </a:r>
            <a:r>
              <a:rPr lang="de-DE" sz="1800" b="0" i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Decentralised Internet of Things</a:t>
            </a: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(2020).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Dimitrios Serpanos und Marilyn Claire Wolf. </a:t>
            </a:r>
            <a:r>
              <a:rPr lang="de-DE" sz="1800" b="0" i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Internet-of-Things (IoT) Systems Architectures, Algorithms, Methodologies</a:t>
            </a: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(2018).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9" name="CustomShape 1"/>
          <p:cNvSpPr/>
          <p:nvPr/>
        </p:nvSpPr>
        <p:spPr>
          <a:xfrm>
            <a:off x="335520" y="1268640"/>
            <a:ext cx="10740960" cy="502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spcBef>
                <a:spcPts val="799"/>
              </a:spcBef>
              <a:tabLst>
                <a:tab algn="l" pos="0"/>
              </a:tabLst>
            </a:pPr>
            <a:r>
              <a:rPr lang="en-US" sz="40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Questions?</a:t>
            </a:r>
            <a:endParaRPr lang="en-GB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0" name="CustomShape 2"/>
          <p:cNvSpPr/>
          <p:nvPr/>
        </p:nvSpPr>
        <p:spPr>
          <a:xfrm>
            <a:off x="335520" y="764640"/>
            <a:ext cx="10740960" cy="49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1063</TotalTime>
  <Application>LibreOffice/25.8.5.2$Linux_X86_64 LibreOffice_project/580$Build-2</Application>
  <AppVersion>15.0000</AppVersion>
  <Words>1010</Words>
  <Paragraphs>159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2013-05-21T09:22:36Z</dcterms:created>
  <dc:creator>Hooby</dc:creator>
  <dc:description/>
  <dc:language>en-US</dc:language>
  <cp:lastModifiedBy>Benjamin Leiding</cp:lastModifiedBy>
  <dcterms:modified xsi:type="dcterms:W3CDTF">2026-04-27T12:33:50Z</dcterms:modified>
  <cp:revision>3254</cp:revision>
  <dc:subject/>
  <dc:title>PowerPoint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HiddenSlides">
    <vt:i4>0</vt:i4>
  </property>
  <property fmtid="{D5CDD505-2E9C-101B-9397-08002B2CF9AE}" pid="3" name="HyperlinksChanged">
    <vt:bool>0</vt:bool>
  </property>
  <property fmtid="{D5CDD505-2E9C-101B-9397-08002B2CF9AE}" pid="4" name="LinksUpToDate">
    <vt:bool>0</vt:bool>
  </property>
  <property fmtid="{D5CDD505-2E9C-101B-9397-08002B2CF9AE}" pid="5" name="MMClips">
    <vt:i4>0</vt:i4>
  </property>
  <property fmtid="{D5CDD505-2E9C-101B-9397-08002B2CF9AE}" pid="6" name="Notes">
    <vt:i4>5</vt:i4>
  </property>
  <property fmtid="{D5CDD505-2E9C-101B-9397-08002B2CF9AE}" pid="7" name="PresentationFormat">
    <vt:lpwstr>Widescreen</vt:lpwstr>
  </property>
  <property fmtid="{D5CDD505-2E9C-101B-9397-08002B2CF9AE}" pid="8" name="ScaleCrop">
    <vt:bool>0</vt:bool>
  </property>
  <property fmtid="{D5CDD505-2E9C-101B-9397-08002B2CF9AE}" pid="9" name="ShareDoc">
    <vt:bool>0</vt:bool>
  </property>
  <property fmtid="{D5CDD505-2E9C-101B-9397-08002B2CF9AE}" pid="10" name="Slides">
    <vt:i4>20</vt:i4>
  </property>
</Properties>
</file>