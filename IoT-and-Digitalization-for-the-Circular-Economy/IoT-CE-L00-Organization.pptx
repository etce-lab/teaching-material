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theme/theme10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5.xml" ContentType="application/vnd.openxmlformats-officedocument.theme+xml"/>
  <Override PartName="/ppt/theme/theme9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33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7.xml" ContentType="application/vnd.openxmlformats-officedocument.theme+xml"/>
  <Override PartName="/ppt/theme/theme22.xml" ContentType="application/vnd.openxmlformats-officedocument.theme+xml"/>
  <Override PartName="/ppt/theme/theme16.xml" ContentType="application/vnd.openxmlformats-officedocument.theme+xml"/>
  <Override PartName="/ppt/theme/theme19.xml" ContentType="application/vnd.openxmlformats-officedocument.theme+xml"/>
  <Override PartName="/ppt/theme/theme21.xml" ContentType="application/vnd.openxmlformats-officedocument.theme+xml"/>
  <Override PartName="/ppt/theme/theme15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8.xml" ContentType="application/vnd.openxmlformats-officedocument.theme+xml"/>
  <Override PartName="/ppt/theme/theme14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702" r:id="rId21"/>
    <p:sldMasterId id="2147483704" r:id="rId22"/>
    <p:sldMasterId id="2147483706" r:id="rId23"/>
    <p:sldMasterId id="2147483708" r:id="rId24"/>
    <p:sldMasterId id="2147483710" r:id="rId25"/>
  </p:sldMasterIdLst>
  <p:notesMasterIdLst>
    <p:notesMasterId r:id="rId26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37"/>
    <p:sldId id="267" r:id="rId38"/>
    <p:sldId id="268" r:id="rId39"/>
    <p:sldId id="269" r:id="rId40"/>
    <p:sldId id="270" r:id="rId41"/>
    <p:sldId id="271" r:id="rId4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8.xml"/><Relationship Id="rId22" Type="http://schemas.openxmlformats.org/officeDocument/2006/relationships/slideMaster" Target="slideMasters/slideMaster29.xml"/><Relationship Id="rId23" Type="http://schemas.openxmlformats.org/officeDocument/2006/relationships/slideMaster" Target="slideMasters/slideMaster30.xml"/><Relationship Id="rId24" Type="http://schemas.openxmlformats.org/officeDocument/2006/relationships/slideMaster" Target="slideMasters/slideMaster31.xml"/><Relationship Id="rId25" Type="http://schemas.openxmlformats.org/officeDocument/2006/relationships/slideMaster" Target="slideMasters/slideMaster32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F5D4162-5E7E-4B9C-864F-A40996E7A2BA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3120" cy="376128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6760" cy="451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Shape 1"/>
          <p:cNvSpPr/>
          <p:nvPr/>
        </p:nvSpPr>
        <p:spPr>
          <a:xfrm>
            <a:off x="4399200" y="9555480"/>
            <a:ext cx="336204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F3A9F16F-3862-4B2E-BC08-5A8380E09969}" type="slidenum"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240" cy="375840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3880" cy="451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CustomShape 3"/>
          <p:cNvSpPr/>
          <p:nvPr/>
        </p:nvSpPr>
        <p:spPr>
          <a:xfrm>
            <a:off x="4399200" y="9555480"/>
            <a:ext cx="335916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0D356AAE-B990-4A4B-B3E9-05F90B0D511F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240" cy="375840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3880" cy="451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CustomShape 3"/>
          <p:cNvSpPr/>
          <p:nvPr/>
        </p:nvSpPr>
        <p:spPr>
          <a:xfrm>
            <a:off x="4399200" y="9555480"/>
            <a:ext cx="335916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1913B2D5-C345-4D86-AB53-6DF87CA3EBAE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5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F5FD017-A9D1-4444-96A4-70781F5770A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4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0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AC89EA6-DCB6-4C85-9484-61266DCE275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4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26A660F-3CA5-4C92-B967-A347CCCC657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5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7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9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B795D61-4715-4782-B212-60BC3528BCA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F4F19CE-83AC-4702-BC4B-ADFEFE72604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1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2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E08F8F5-F172-4814-8CDA-7CC6FE10A8A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50C2187-1D18-4B13-A11B-5CEC0226C3E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9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2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F5A0204-5711-47C4-AA1E-F5422D15FDE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D383E32-69EF-4BE8-825D-1365C85CAD8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1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2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2F5A9FA-C50F-4969-98E1-D3057394901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2649B1F-C068-4406-925E-B895C284F0D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2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3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2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F12EF93-49BF-4969-A831-74C404390FB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1E4C6C2-1A4D-48BC-843F-2F488EDC8EB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7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7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2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03331D9-70CF-4BC8-8A58-24EDDCAC7F4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DCD87E8-7A8F-484F-99D2-872452D2BCA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7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2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1D50A90-4625-4388-9A4D-08D953FB21C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7F941A5-BDFB-4C5A-B578-E3AF0509EEA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6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2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BEB6B01-BCB9-4D3B-A1B9-0653BE62DC5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EB49F09-34DA-4FB2-81F2-0C8F48C4F22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4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5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2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F4A3203-A96A-4EFE-AD55-CBE20A08DA14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C9A352D-AD80-4498-96B3-33803211371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4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5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2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C28826C-7B6E-487F-B30B-3B8A1127B18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9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CF8CDD7-4DAD-41D9-94F6-0C2EF73AAD3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1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4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26648E4-1BD3-4495-8A78-5AB0B64825F4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0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8CEF4FF-60C3-4E08-8024-1942B5CAF9E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22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3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5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20B103F-98D2-48B4-9041-9380D34FF81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2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096C1A8-E7A1-4FBA-A7E5-3E6D930C63B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4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5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7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7778F0F-1D96-4A80-99EB-FB1ED6954DB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3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457421C-E217-48C1-AB93-5AE3D10B9BA4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4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8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26931E9-B4F8-4290-8767-904127BE919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3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427D3E8-C5C5-4979-97F2-8793481E62F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5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7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8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E6BE58B-6F1D-41C3-AFC9-16363E6D528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5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FD0F7BB-12F9-4223-937D-5F8878252FE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6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0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16EBA36-B9F7-4037-96C4-E472942D2AB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6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7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8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9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8BF5086-6B75-4D70-BF59-91D02CCD5B7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DDFB46F-0AE2-423F-880D-6EF90CB3539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6C3A553-A08E-4E76-AA82-1892BAC5B89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9A53FE1-AE57-4CC0-8EE5-4431E558188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C7A3889-D05F-4A63-A8D1-DF64E5B7EB6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D07311F-A194-4673-9575-12E573EABDC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8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14C4406-49D1-4BB0-81F1-B205DF1573D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6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FDEA121-0196-476A-AA94-F6F1A6BC22C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0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6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7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1FACACC-4657-4D05-A498-38E41010716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1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8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9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D118A04-13A8-4694-8A29-9B2970F2888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0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1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C3AD507-D8E2-499D-8CDC-C2263808C52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4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5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9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2256978-C15B-47BA-BEE1-3AB3E9C3B96D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4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5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7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A368EFC-4C84-4CC0-BF9A-0DE6F78E176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CE2E7CF-146D-4B90-BAE8-2D0810FBF338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3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BA26EFF-0B73-4654-83E3-8725B553AA2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8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3C58979-7471-493B-AAB8-7DD85A4411B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73A8E8B-DD89-450C-9585-6D7E591CF91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9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4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9E4DBE5-A05E-49C2-8FA8-BC6FF4E3FD2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4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5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F7BB9E2-1507-44C1-B016-C7F5CF524B7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0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4D3DE36-FB94-4550-BCD3-07EACEF2BFF8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9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17C913A-52A6-44A6-A41F-54DD869F430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2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4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B3A0ED3-5D35-49DA-A29B-791E0567F6B8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4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7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269A9BC-00E3-4BBB-8C79-DB560096A23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3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2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5F39CF9-9286-4938-833F-597F210A871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4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7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EF6BDF8-A852-4E1F-8CA6-AA79F6B5020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7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2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9358313-A61A-43F1-8A30-BC34A840F81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4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9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1405D57-99C1-4226-9124-A84C9ED7A64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9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3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4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BC32D7C-C01D-43FC-8217-AF35BF5FD0C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4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1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BA97C47-FA25-4A81-8279-396D891A453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0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6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BCFA3A9-377D-4137-AB65-082B9C42D93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4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5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F34412B-6186-4D60-BB94-FB9A297344A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1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0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35AEF54-116B-4D05-802B-B10BE5BE79A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4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5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B27AA66-215B-491D-A2D8-0F75A1430AD4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2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9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0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C54D394-D709-4D07-9009-DBDF698EE32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creativecommons.org/licenses/by-sa/4.0/" TargetMode="External"/><Relationship Id="rId2" Type="http://schemas.openxmlformats.org/officeDocument/2006/relationships/hyperlink" Target="https://github.com/ETCE-LAB/teaching-material/tree/master/The-Limits-to-Growth" TargetMode="External"/><Relationship Id="rId3" Type="http://schemas.openxmlformats.org/officeDocument/2006/relationships/slideLayout" Target="../slideLayouts/slideLayout2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2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slideLayout" Target="../slideLayouts/slideLayout29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github.com/ETCE-LAB/teaching-material/tree/master/IoT-and-Digitalization-for-Circular-Economy#readme" TargetMode="External"/><Relationship Id="rId2" Type="http://schemas.openxmlformats.org/officeDocument/2006/relationships/slideLayout" Target="../slideLayouts/slideLayout2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rtl-yv4-kkk" TargetMode="External"/><Relationship Id="rId2" Type="http://schemas.openxmlformats.org/officeDocument/2006/relationships/hyperlink" Target="https://webconf.tu-clausthal.de/b/ben-rtl-yv4-kkk" TargetMode="External"/><Relationship Id="rId3" Type="http://schemas.openxmlformats.org/officeDocument/2006/relationships/slideLayout" Target="../slideLayouts/slideLayout2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CustomShape 1"/>
          <p:cNvSpPr/>
          <p:nvPr/>
        </p:nvSpPr>
        <p:spPr>
          <a:xfrm>
            <a:off x="527400" y="1412640"/>
            <a:ext cx="10357200" cy="11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CustomShape 2"/>
          <p:cNvSpPr/>
          <p:nvPr/>
        </p:nvSpPr>
        <p:spPr>
          <a:xfrm>
            <a:off x="527400" y="2852640"/>
            <a:ext cx="10357200" cy="23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M.Sc. Anant Sujatanagarjuna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 Chintan Patel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CustomShape 1"/>
          <p:cNvSpPr/>
          <p:nvPr/>
        </p:nvSpPr>
        <p:spPr>
          <a:xfrm>
            <a:off x="335520" y="764640"/>
            <a:ext cx="107355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License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CustomShape 2"/>
          <p:cNvSpPr/>
          <p:nvPr/>
        </p:nvSpPr>
        <p:spPr>
          <a:xfrm>
            <a:off x="335520" y="1268280"/>
            <a:ext cx="10735560" cy="50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28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work is licensed under a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Creative Commons Attribution-ShareAlike 4.0 International License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 To view a copy of this license, please refer to 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https://creativecommons.org/licenses/by-sa/4.0/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28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Updated versions of these slides will be available in our 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 repository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CustomShape 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3" name="Grafik 2"/>
          <p:cNvPicPr/>
          <p:nvPr/>
        </p:nvPicPr>
        <p:blipFill>
          <a:blip r:embed="rId1"/>
          <a:stretch/>
        </p:blipFill>
        <p:spPr>
          <a:xfrm>
            <a:off x="1784520" y="1710720"/>
            <a:ext cx="1464120" cy="216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4" name="Grafik 11"/>
          <p:cNvPicPr/>
          <p:nvPr/>
        </p:nvPicPr>
        <p:blipFill>
          <a:blip r:embed="rId2"/>
          <a:stretch/>
        </p:blipFill>
        <p:spPr>
          <a:xfrm>
            <a:off x="7395480" y="2082600"/>
            <a:ext cx="1778040" cy="177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5" name="CustomShape 2"/>
          <p:cNvSpPr/>
          <p:nvPr/>
        </p:nvSpPr>
        <p:spPr>
          <a:xfrm>
            <a:off x="720000" y="3826800"/>
            <a:ext cx="3628800" cy="6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CustomShape 3"/>
          <p:cNvSpPr/>
          <p:nvPr/>
        </p:nvSpPr>
        <p:spPr>
          <a:xfrm>
            <a:off x="6448320" y="3826800"/>
            <a:ext cx="3628800" cy="6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CustomShape 14"/>
          <p:cNvSpPr/>
          <p:nvPr/>
        </p:nvSpPr>
        <p:spPr>
          <a:xfrm>
            <a:off x="3569040" y="5987160"/>
            <a:ext cx="362808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8" name="Picture 322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4500000" y="4320000"/>
            <a:ext cx="1795320" cy="179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CustomShape 5"/>
          <p:cNvSpPr/>
          <p:nvPr/>
        </p:nvSpPr>
        <p:spPr>
          <a:xfrm>
            <a:off x="542880" y="721800"/>
            <a:ext cx="10350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GB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CustomShape 6"/>
          <p:cNvSpPr/>
          <p:nvPr/>
        </p:nvSpPr>
        <p:spPr>
          <a:xfrm>
            <a:off x="451800" y="1709280"/>
            <a:ext cx="8217360" cy="43455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1" name="TextShape 2"/>
          <p:cNvSpPr/>
          <p:nvPr/>
        </p:nvSpPr>
        <p:spPr>
          <a:xfrm>
            <a:off x="609480" y="1769400"/>
            <a:ext cx="10580400" cy="48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 and Circular Societies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Sustinable and resilient food production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(WS – M.Sc.)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CustomShape 1"/>
          <p:cNvSpPr/>
          <p:nvPr/>
        </p:nvSpPr>
        <p:spPr>
          <a:xfrm>
            <a:off x="542880" y="721800"/>
            <a:ext cx="1034712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CustomShape 2"/>
          <p:cNvSpPr/>
          <p:nvPr/>
        </p:nvSpPr>
        <p:spPr>
          <a:xfrm>
            <a:off x="451800" y="1709280"/>
            <a:ext cx="8214480" cy="43426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4" name="CustomShape 3"/>
          <p:cNvSpPr/>
          <p:nvPr/>
        </p:nvSpPr>
        <p:spPr>
          <a:xfrm>
            <a:off x="609480" y="1769400"/>
            <a:ext cx="10577520" cy="48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lang="de-DE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009"/>
              </a:spcBef>
            </a:pPr>
            <a:r>
              <a:rPr lang="en-GB" sz="20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lang="en-GB" sz="16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CustomShape 1"/>
          <p:cNvSpPr/>
          <p:nvPr/>
        </p:nvSpPr>
        <p:spPr>
          <a:xfrm>
            <a:off x="542880" y="721800"/>
            <a:ext cx="1034712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CustomShape 2"/>
          <p:cNvSpPr/>
          <p:nvPr/>
        </p:nvSpPr>
        <p:spPr>
          <a:xfrm>
            <a:off x="451800" y="1709280"/>
            <a:ext cx="8214480" cy="43426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7" name="CustomShape 3"/>
          <p:cNvSpPr/>
          <p:nvPr/>
        </p:nvSpPr>
        <p:spPr>
          <a:xfrm>
            <a:off x="609480" y="1769400"/>
            <a:ext cx="10577520" cy="48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the concept of a circular economy, sustainability, and related concepts (biocapacity, etc.).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Gain a basic understanding of causes, dimensions, and the characterization of climate change, environmental pollution, and dwindling non-renewable resources.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Introduction to IoT and cyberphysical systems in the circular economy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Sensors and actuators for IoT, control and process systems of the circular economy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Experience in prototyping IoT applications and systems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ability to critically assess upcoming technological solutions enabling/facilitating sustainability and the circular economy.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CustomShape 15"/>
          <p:cNvSpPr/>
          <p:nvPr/>
        </p:nvSpPr>
        <p:spPr>
          <a:xfrm>
            <a:off x="335520" y="764640"/>
            <a:ext cx="1074060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CustomShape 16"/>
          <p:cNvSpPr/>
          <p:nvPr/>
        </p:nvSpPr>
        <p:spPr>
          <a:xfrm>
            <a:off x="335520" y="1268640"/>
            <a:ext cx="107406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 → Organization (L00)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04.05.2026 → Introduction (L01)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11.05.2026 → Circular Economy (L02)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18.05.2026 → Lifecycle Assessment – LCA I (L03)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01.06.2026 → Lifecycle Assessment – LCA II (L04)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08.06.2026 → Introduction to the Internet of Things (L05)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15.06.2026 → Internet of Things – Communication (L06) + Security and Privacy (L07)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22.06.2026 → Internet of Things – Data Processing and Big Data (L08)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29.06.2026 → IoT in Mining I (L09)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06.07.2026 → IoT in Mining II (L10)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 → Digital Technologies and Greenwashing (L11)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23.07.2026 → Coding Workshop I (Goslar)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24.07.2026 → Coding Workshop II (Goslar)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27.07.2026 → Exam Q&amp;A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CustomShape 7"/>
          <p:cNvSpPr/>
          <p:nvPr/>
        </p:nvSpPr>
        <p:spPr>
          <a:xfrm>
            <a:off x="539640" y="764640"/>
            <a:ext cx="1074420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CustomShape 8"/>
          <p:cNvSpPr/>
          <p:nvPr/>
        </p:nvSpPr>
        <p:spPr>
          <a:xfrm>
            <a:off x="539640" y="1268640"/>
            <a:ext cx="10744200" cy="50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ff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180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ff0000"/>
                </a:solidFill>
                <a:effectLst/>
                <a:uFillTx/>
                <a:latin typeface="DejaVu Sans"/>
                <a:ea typeface="DejaVu Sans"/>
              </a:rPr>
              <a:t>22.04.2024 → Exercise 02 – Circular Economy (MC)</a:t>
            </a:r>
            <a:endParaRPr lang="en-GB" sz="180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ff0000"/>
                </a:solidFill>
                <a:effectLst/>
                <a:uFillTx/>
                <a:latin typeface="DejaVu Sans"/>
                <a:ea typeface="DejaVu Sans"/>
              </a:rPr>
              <a:t>29.04.2024 → Exercise 03 – LCA I</a:t>
            </a:r>
            <a:endParaRPr lang="en-GB" sz="180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ff0000"/>
                </a:solidFill>
                <a:effectLst/>
                <a:uFillTx/>
                <a:latin typeface="DejaVu Sans"/>
                <a:ea typeface="DejaVu Sans"/>
              </a:rPr>
              <a:t>LCA II</a:t>
            </a:r>
            <a:endParaRPr lang="en-GB" sz="180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ff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180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ff0000"/>
                </a:solidFill>
                <a:effectLst/>
                <a:uFillTx/>
                <a:latin typeface="DejaVu Sans"/>
                <a:ea typeface="DejaVu Sans"/>
              </a:rPr>
              <a:t>17.06.2024 → Exercise 05 – IoT in Mining</a:t>
            </a:r>
            <a:endParaRPr lang="en-GB" sz="180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ff0000"/>
                </a:solidFill>
                <a:effectLst/>
                <a:uFillTx/>
                <a:latin typeface="DejaVu Sans"/>
                <a:ea typeface="DejaVu Sans"/>
              </a:rPr>
              <a:t>IoT Mining </a:t>
            </a:r>
            <a:endParaRPr lang="en-GB" sz="180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>
            <a:off x="5040360" y="1080360"/>
            <a:ext cx="1799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CustomShape 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 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CustomShape 2"/>
          <p:cNvSpPr/>
          <p:nvPr/>
        </p:nvSpPr>
        <p:spPr>
          <a:xfrm>
            <a:off x="335520" y="126828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News and updates → StudIP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lecture: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are available on Github (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Symbol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report bugs!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 and exercises as live stream (BBB – next slide)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recordings will be available on StudIP and on Github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time slots 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=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Time for questions and eventual tutorials related to the exercises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etce-iot@tu-clausthal.de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emails written to this specific email address!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CustomShape 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CustomShape 2"/>
          <p:cNvSpPr/>
          <p:nvPr/>
        </p:nvSpPr>
        <p:spPr>
          <a:xfrm>
            <a:off x="335520" y="126864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2:15 pm to 3:45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 </a:t>
            </a:r>
            <a:r>
              <a:rPr lang="en-GB" sz="1800" b="1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 video recordings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4 pm to 4:45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Coding Workshop: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When: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23.07.2026 and 24.07.2026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from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10 am – 5 pm (Berlin time)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(DIGIT – Wallstr. 6, 38640 Goslar)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ustomShape 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and Practical Workshop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2"/>
          <p:cNvSpPr/>
          <p:nvPr/>
        </p:nvSpPr>
        <p:spPr>
          <a:xfrm>
            <a:off x="335520" y="126828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 group submissions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each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mandatory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pass by submitting an exercise – </a:t>
            </a:r>
            <a:r>
              <a:rPr lang="en-GB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even if it is an empty page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will receive feedback on your submission (during Q&amp;A session)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= learning feedback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workshop → You pass the workshop if you score 50% (or more)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More info on points, percentages, etc. follow on the next slides (Examination)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"/>
          <p:cNvSpPr/>
          <p:nvPr/>
        </p:nvSpPr>
        <p:spPr>
          <a:xfrm>
            <a:off x="5040360" y="1080720"/>
            <a:ext cx="39596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TODO + MC clarification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CustomShape 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CustomShape 2"/>
          <p:cNvSpPr/>
          <p:nvPr/>
        </p:nvSpPr>
        <p:spPr>
          <a:xfrm>
            <a:off x="335520" y="126864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 for admission to the final exam (all criteria have to be fulfilled):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Heading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 all exercises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Heading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Pass the practical workshop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Text"/>
              <a:buChar char="—"/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Most likely 12.08.2026 and 13.08.2026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Text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Oral examination (20min)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Text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Online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CustomShape 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CustomShape 2"/>
          <p:cNvSpPr/>
          <p:nvPr/>
        </p:nvSpPr>
        <p:spPr>
          <a:xfrm>
            <a:off x="335520" y="126828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or interesting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CustomShape 3"/>
          <p:cNvSpPr/>
          <p:nvPr/>
        </p:nvSpPr>
        <p:spPr>
          <a:xfrm>
            <a:off x="6285600" y="2132640"/>
            <a:ext cx="510840" cy="49068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5" name="CustomShape 4"/>
          <p:cNvSpPr/>
          <p:nvPr/>
        </p:nvSpPr>
        <p:spPr>
          <a:xfrm>
            <a:off x="4089960" y="2247480"/>
            <a:ext cx="2279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CustomShape 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CustomShape 2"/>
          <p:cNvSpPr/>
          <p:nvPr/>
        </p:nvSpPr>
        <p:spPr>
          <a:xfrm>
            <a:off x="335520" y="126864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the exam.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(1972).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Limits To Growth: The 30-Year Update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(2004).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Baccini et al.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Metabolism of the Anthroposphere: Analysis, Evaluation, Design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(2012).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Walter R. Stahel.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Circular Economy: A User's Guide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W. Brian Arthur.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Nature of Technology: What It Is and How it Evolves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(2011)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David Wallace-Wells.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Uninhabitable Earth, Annotated Edition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(2017).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(German) Stefan Rahmstorf, Hans Joachim Schellnhuber.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Der Klimawandel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CustomShape 9"/>
          <p:cNvSpPr/>
          <p:nvPr/>
        </p:nvSpPr>
        <p:spPr>
          <a:xfrm>
            <a:off x="335520" y="7646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CustomShape 10"/>
          <p:cNvSpPr/>
          <p:nvPr/>
        </p:nvSpPr>
        <p:spPr>
          <a:xfrm>
            <a:off x="335520" y="1268640"/>
            <a:ext cx="107395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Perry Lea. Internet of Things for Architects: Architecting IoT solutions by implementing sensors, communication infrastructure, edge computing, analytics, and security (2018).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M.A. Khan, M.T. Quasim, F. Algarni, A. Alharthi.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Decentralised Internet of Things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(2020).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Dimitrios Serpanos und Marilyn Claire Wolf.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Internet-of-Things (IoT) Systems Architectures, Algorithms, Methodologies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(2018).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CustomShape 1"/>
          <p:cNvSpPr/>
          <p:nvPr/>
        </p:nvSpPr>
        <p:spPr>
          <a:xfrm>
            <a:off x="335520" y="126864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CustomShape 2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1045</TotalTime>
  <Application>LibreOffice/25.8.5.2$Linux_X86_64 LibreOffice_project/580$Build-2</Application>
  <AppVersion>15.0000</AppVersion>
  <Words>1010</Words>
  <Paragraphs>159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>Benjamin Leiding</cp:lastModifiedBy>
  <dcterms:modified xsi:type="dcterms:W3CDTF">2026-04-27T10:30:51Z</dcterms:modified>
  <cp:revision>3247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5</vt:i4>
  </property>
  <property fmtid="{D5CDD505-2E9C-101B-9397-08002B2CF9AE}" pid="7" name="PresentationFormat">
    <vt:lpwstr>Widescreen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20</vt:i4>
  </property>
</Properties>
</file>