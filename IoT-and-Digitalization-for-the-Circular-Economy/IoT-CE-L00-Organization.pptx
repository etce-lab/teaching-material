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10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50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7.xml" ContentType="application/vnd.openxmlformats-officedocument.theme+xml"/>
  <Override PartName="/ppt/theme/theme22.xml" ContentType="application/vnd.openxmlformats-officedocument.theme+xml"/>
  <Override PartName="/ppt/theme/theme16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8.xml" ContentType="application/vnd.openxmlformats-officedocument.theme+xml"/>
  <Override PartName="/ppt/theme/theme14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718" r:id="rId21"/>
    <p:sldMasterId id="2147483720" r:id="rId22"/>
    <p:sldMasterId id="2147483722" r:id="rId23"/>
    <p:sldMasterId id="2147483724" r:id="rId24"/>
    <p:sldMasterId id="2147483726" r:id="rId25"/>
    <p:sldMasterId id="2147483728" r:id="rId26"/>
  </p:sldMasterIdLst>
  <p:notesMasterIdLst>
    <p:notesMasterId r:id="rId27"/>
  </p:notesMasterIdLst>
  <p:sldIdLst>
    <p:sldId id="256" r:id="rId28"/>
    <p:sldId id="257" r:id="rId29"/>
    <p:sldId id="258" r:id="rId30"/>
    <p:sldId id="259" r:id="rId31"/>
    <p:sldId id="260" r:id="rId32"/>
    <p:sldId id="261" r:id="rId33"/>
    <p:sldId id="262" r:id="rId34"/>
    <p:sldId id="263" r:id="rId35"/>
    <p:sldId id="264" r:id="rId36"/>
    <p:sldId id="265" r:id="rId37"/>
    <p:sldId id="266" r:id="rId38"/>
    <p:sldId id="267" r:id="rId39"/>
    <p:sldId id="268" r:id="rId40"/>
    <p:sldId id="269" r:id="rId41"/>
    <p:sldId id="270" r:id="rId42"/>
    <p:sldId id="271" r:id="rId43"/>
    <p:sldId id="272" r:id="rId44"/>
    <p:sldId id="273" r:id="rId45"/>
    <p:sldId id="274" r:id="rId46"/>
    <p:sldId id="275" r:id="rId47"/>
    <p:sldId id="276" r:id="rId48"/>
    <p:sldId id="277" r:id="rId49"/>
    <p:sldId id="278" r:id="rId50"/>
    <p:sldId id="279" r:id="rId51"/>
    <p:sldId id="280" r:id="rId52"/>
    <p:sldId id="281" r:id="rId53"/>
    <p:sldId id="282" r:id="rId54"/>
    <p:sldId id="283" r:id="rId55"/>
    <p:sldId id="284" r:id="rId56"/>
    <p:sldId id="285" r:id="rId57"/>
    <p:sldId id="286" r:id="rId58"/>
    <p:sldId id="287" r:id="rId59"/>
    <p:sldId id="288" r:id="rId60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44.xml"/><Relationship Id="rId22" Type="http://schemas.openxmlformats.org/officeDocument/2006/relationships/slideMaster" Target="slideMasters/slideMaster45.xml"/><Relationship Id="rId23" Type="http://schemas.openxmlformats.org/officeDocument/2006/relationships/slideMaster" Target="slideMasters/slideMaster46.xml"/><Relationship Id="rId24" Type="http://schemas.openxmlformats.org/officeDocument/2006/relationships/slideMaster" Target="slideMasters/slideMaster47.xml"/><Relationship Id="rId25" Type="http://schemas.openxmlformats.org/officeDocument/2006/relationships/slideMaster" Target="slideMasters/slideMaster48.xml"/><Relationship Id="rId26" Type="http://schemas.openxmlformats.org/officeDocument/2006/relationships/slideMaster" Target="slideMasters/slideMaster49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1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slide" Target="slides/slide9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2.xml"/><Relationship Id="rId40" Type="http://schemas.openxmlformats.org/officeDocument/2006/relationships/slide" Target="slides/slide13.xml"/><Relationship Id="rId41" Type="http://schemas.openxmlformats.org/officeDocument/2006/relationships/slide" Target="slides/slide14.xml"/><Relationship Id="rId42" Type="http://schemas.openxmlformats.org/officeDocument/2006/relationships/slide" Target="slides/slide15.xml"/><Relationship Id="rId43" Type="http://schemas.openxmlformats.org/officeDocument/2006/relationships/slide" Target="slides/slide16.xml"/><Relationship Id="rId44" Type="http://schemas.openxmlformats.org/officeDocument/2006/relationships/slide" Target="slides/slide17.xml"/><Relationship Id="rId45" Type="http://schemas.openxmlformats.org/officeDocument/2006/relationships/slide" Target="slides/slide18.xml"/><Relationship Id="rId46" Type="http://schemas.openxmlformats.org/officeDocument/2006/relationships/slide" Target="slides/slide19.xml"/><Relationship Id="rId47" Type="http://schemas.openxmlformats.org/officeDocument/2006/relationships/slide" Target="slides/slide20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57" Type="http://schemas.openxmlformats.org/officeDocument/2006/relationships/slide" Target="slides/slide30.xml"/><Relationship Id="rId58" Type="http://schemas.openxmlformats.org/officeDocument/2006/relationships/slide" Target="slides/slide31.xml"/><Relationship Id="rId59" Type="http://schemas.openxmlformats.org/officeDocument/2006/relationships/slide" Target="slides/slide32.xml"/><Relationship Id="rId60" Type="http://schemas.openxmlformats.org/officeDocument/2006/relationships/slide" Target="slides/slide33.xml"/><Relationship Id="rId6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0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899F81F-AB0F-4C4C-BD3D-EC746E67F14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400" cy="376056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040" cy="45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Shape 1"/>
          <p:cNvSpPr/>
          <p:nvPr/>
        </p:nvSpPr>
        <p:spPr>
          <a:xfrm>
            <a:off x="4399200" y="9555480"/>
            <a:ext cx="336132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5B80367C-55A7-4F81-A1EE-57097BA21E3C}" type="slidenum"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9520" cy="375768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160" cy="451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3"/>
          <p:cNvSpPr/>
          <p:nvPr/>
        </p:nvSpPr>
        <p:spPr>
          <a:xfrm>
            <a:off x="4399200" y="9555480"/>
            <a:ext cx="33584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0E46CEDD-2CD2-4DE6-BBCA-822FC858C483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9520" cy="375768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160" cy="451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3"/>
          <p:cNvSpPr/>
          <p:nvPr/>
        </p:nvSpPr>
        <p:spPr>
          <a:xfrm>
            <a:off x="4399200" y="9555480"/>
            <a:ext cx="335844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927E88A3-82B0-4331-B07E-320BD4436861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17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231600" y="36817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/>
          </p:nvPr>
        </p:nvSpPr>
        <p:spPr>
          <a:xfrm>
            <a:off x="609480" y="368172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609480" y="368172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609480" y="36817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/>
          </p:nvPr>
        </p:nvSpPr>
        <p:spPr>
          <a:xfrm>
            <a:off x="6231600" y="36817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/>
          </p:nvPr>
        </p:nvSpPr>
        <p:spPr>
          <a:xfrm>
            <a:off x="609480" y="36817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231600" y="36817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609480" y="368172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609480" y="368172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609480" y="36817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6231600" y="36817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116BEB81-C1A1-4D8F-B793-69C8D606926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CB166740-4F73-433A-92DE-E1D833B9183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D4F9A154-0C08-4CE1-ACBA-BA0BB1866E3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37E631D-7B0E-438D-BCF3-0225BA40FC3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B2C335D-7BCF-4F2A-B14C-8E3D9A778FD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9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CCCB742A-A2E7-4C5C-94F2-C2F9A9E761B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3E3D284D-5DF1-4522-9EB1-4D2AFD4965F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5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ABC63A6F-C662-40B4-872D-290C30F0C9E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84987666-EB99-45B3-9FAB-A1D5EAD6973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18CE10B5-23AE-4B43-B29B-56B3B3EFBC1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188F075D-E8BB-4C76-9FF0-60BFE07F279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9754AEB9-976A-4F82-80AA-68EC9B52F95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FA9EB5D9-1184-45FF-BBA0-C876FFF31C1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5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73D61B50-2AD6-4E72-B30D-5E81393E042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27A53C51-B574-4A0C-BD36-8F761E8151A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FE4874B-7662-4A07-B160-E966169D725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C3C19708-69BC-451B-9424-E1AB62B94D5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9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9F7EBA4-0B28-4A0F-8378-75275FB9158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A0E0F3B3-3492-4953-9BCE-2CD67A3129C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7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B3D8198-2746-4FB1-A3E2-6DE7A932E2A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384925BD-E793-4969-968C-50BA7B7EBB4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3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D25D22B-D67D-43EB-92B0-7C461BFA97C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1A3D1E4-D74B-4B8E-8C6D-E47F20AE174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F1A4C3D6-DB8C-4730-8F32-5542762BE82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CA63E154-476D-4D88-A8BA-77B7251A8B1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7A14B9B-C36C-4A90-88E5-415FA3750A9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A8B6104-53EF-4C23-A0BB-B94CEC23CFE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3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EA380014-0792-4BB3-A0F0-5300A107BF0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97B0C2EF-D171-46DB-B5DD-BEA23D430D4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69D2388-656A-4FE9-9217-AA5C663353C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EB2CAE8F-1D51-4485-B819-B90EA1BEF7F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DDCEC1C-3A66-4404-9658-9675456A4E4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9C1EA0E3-8F59-4309-8511-2EAB8C9C829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109C006-9651-42AC-9BA7-593910DEF54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9F6C0FE-B576-442D-B9A6-26FFD76B97C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2A7CF6A4-B11B-4489-B14A-BB3761CCBC0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9EAFFBE5-9CF0-4112-A4D7-37D44A16ED5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E0C2E476-D0E7-4F55-8D40-1D1154B94BC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9A638F7-6B4C-47C2-BC4E-91C2D318990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7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7B420A24-6DFA-4A01-8D7F-3358C7DC566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88B4B6AC-4021-40E1-A489-26A44D68100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0292C3F-45D9-470C-AA61-F642E1A5E98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13E05E19-DEE3-459B-86CF-D881F113460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F357CAF-D614-42B4-8B1B-C98356B9D65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E3965C1B-F24A-4895-9E1A-738FA9851A5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27B03C2-CBE1-4D41-92AC-3AC7866550E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A4433F2-4E9C-48F2-83B4-6F7F8F44867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5B9A744-B2AE-4ABB-88A4-85A967346BF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B16D744-56D5-4CCD-B2B4-05A11C51B0A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7306A3C-7CF4-429F-8B99-39390B0409B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EBAA08BE-B7D4-4EF1-9AA4-D04588998EF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3CA889DD-BF0B-49A8-B81F-9E6D4820931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FA408FD-8421-4BCB-9BFB-FA171678195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67B8813-C7D7-4F93-B912-9E75AAC69B9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3750116-E161-4E9B-9C7C-8965AD3B392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67CE8A4-8772-449B-B569-A06AEF921A0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A6DF5895-FF29-4B52-B2D1-C019EE5E250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456591F-676F-4474-9978-76AE1F7B122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88696E0D-C892-4615-9C05-04E9C6A7F3A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AC55BF12-4E94-4635-8E31-D6A8631D31A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9BB6BC64-C78B-402E-8289-58024A9B2A0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FA9DD8E6-82BE-4874-B6EA-F850B597344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70D02E9-B57B-4290-98F7-C29703EBD54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1FC98E6-34F3-4896-A955-B0E301C2097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FDC96636-6326-476D-9E44-412D91FD171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39076C94-F8FE-41D7-9876-29958221F6D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/>
          </p:nvPr>
        </p:nvSpPr>
        <p:spPr>
          <a:xfrm>
            <a:off x="623160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2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3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4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5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6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8573C84-07C8-4AF1-8343-40807F56898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A606388-F61D-4A48-9321-351350F9142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34F4CCDA-7CA4-4316-AC17-98744712FEA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A2D0097B-AE83-4DD6-A6B0-57AD2BF311E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C21AB203-2FA8-468A-8E9E-3D174B45531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040F6C1-F4DB-4F8E-BCDC-F544A8D35DD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F2CF6C2-F486-4E30-AB37-505BBED3F1E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13E404A8-40FA-4017-B190-F30965D4108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E045B51-E41A-471C-842D-D27A204FB67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38CCE188-8B6F-46F9-AB93-7C1596F0DCC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2AED7E9-69A8-47A3-9BF0-EA9E3410E21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CFD24E7-4DF4-4ECB-8097-0C3ADAB49A0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CustomShape 4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ustomShape 5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47DE9A6-E44A-4142-8C78-4C5F9D9F496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A48DA779-76C7-4BAC-A316-99319AC91C8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8885395-40BD-4AB6-AC55-FA78BE1DD81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CB279592-E166-4EEC-A50C-E80260143F4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5E05C06-8D3A-452C-916B-BC774EC1363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5E02F88-68A8-45F7-8582-A4F3B7FFF99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43483DD-133B-4C60-960D-BA457730FAD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22AD4B86-42D0-4AB5-851E-7C8EE545F5A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480E1A8-4726-4F4F-AAA4-13203425A5D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5268571-D6D4-4B17-BC0C-CEBA6036250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77B22D77-9162-4246-AB35-F3449E9B3E0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D82D44FB-8EB9-4200-B02C-1D4C873695A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9377E72-C273-4543-B4DA-857A5DDCA73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E75C9B3-17AD-4912-933C-09BCA577AE7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4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E19BBD2-D0FF-4A12-A1A6-51771B9FB76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69E77D73-222A-484C-B9A1-A6175711E99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4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012DB508-372A-4926-98CC-3C8D8023807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B12345D8-73AC-4EFF-9237-DFF68478611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4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46F25C9-2DD2-4660-B13D-7988AB660E0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DD705FA6-BE6B-4EDE-9ACE-76E0B4753BA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4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CustomShape 1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2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A10F7229-D3BB-4775-B505-D026CFAC774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3"/>
          <p:cNvSpPr/>
          <p:nvPr/>
        </p:nvSpPr>
        <p:spPr>
          <a:xfrm>
            <a:off x="912240" y="1268280"/>
            <a:ext cx="920340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400" cy="5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240" cy="5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CustomShape 4"/>
          <p:cNvSpPr/>
          <p:nvPr/>
        </p:nvSpPr>
        <p:spPr>
          <a:xfrm>
            <a:off x="11444760" y="0"/>
            <a:ext cx="736560" cy="68454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CustomShape 5"/>
          <p:cNvSpPr/>
          <p:nvPr/>
        </p:nvSpPr>
        <p:spPr>
          <a:xfrm>
            <a:off x="11438640" y="6453360"/>
            <a:ext cx="753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DA73914F-472D-4A5F-90E3-E1D3122F751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CustomShape 6"/>
          <p:cNvSpPr/>
          <p:nvPr/>
        </p:nvSpPr>
        <p:spPr>
          <a:xfrm>
            <a:off x="0" y="6642720"/>
            <a:ext cx="121795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4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CustomShape 1"/>
          <p:cNvSpPr/>
          <p:nvPr/>
        </p:nvSpPr>
        <p:spPr>
          <a:xfrm>
            <a:off x="11444760" y="0"/>
            <a:ext cx="734040" cy="68428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2"/>
          <p:cNvSpPr/>
          <p:nvPr/>
        </p:nvSpPr>
        <p:spPr>
          <a:xfrm>
            <a:off x="11438640" y="6453360"/>
            <a:ext cx="750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53A13F43-556A-476E-84E7-3D972F482C8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CustomShape 3"/>
          <p:cNvSpPr/>
          <p:nvPr/>
        </p:nvSpPr>
        <p:spPr>
          <a:xfrm>
            <a:off x="912240" y="1268280"/>
            <a:ext cx="920088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4880" cy="554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0720" cy="50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7" name="CustomShape 4"/>
          <p:cNvSpPr/>
          <p:nvPr/>
        </p:nvSpPr>
        <p:spPr>
          <a:xfrm>
            <a:off x="11444760" y="0"/>
            <a:ext cx="734040" cy="68428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CustomShape 5"/>
          <p:cNvSpPr/>
          <p:nvPr/>
        </p:nvSpPr>
        <p:spPr>
          <a:xfrm>
            <a:off x="11438640" y="6453360"/>
            <a:ext cx="750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124A3BB1-4537-42ED-B693-90AFE631C4C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CustomShape 6"/>
          <p:cNvSpPr/>
          <p:nvPr/>
        </p:nvSpPr>
        <p:spPr>
          <a:xfrm>
            <a:off x="0" y="6642720"/>
            <a:ext cx="12177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The-Limits-to-Growth" TargetMode="External"/><Relationship Id="rId3" Type="http://schemas.openxmlformats.org/officeDocument/2006/relationships/slideLayout" Target="../slideLayouts/slideLayout2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IoT-and-Digitalization-for-Circular-Economy#readme" TargetMode="External"/><Relationship Id="rId2" Type="http://schemas.openxmlformats.org/officeDocument/2006/relationships/slideLayout" Target="../slideLayouts/slideLayout2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cocalc.gwdg.de/" TargetMode="External"/><Relationship Id="rId2" Type="http://schemas.openxmlformats.org/officeDocument/2006/relationships/hyperlink" Target="https://github.com/ETCE-LAB/teaching-material/tree/master/IoT-and-Digitalization-for-the-Circular-Economy#exercises" TargetMode="External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5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5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5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5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5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5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CustomShape 1"/>
          <p:cNvSpPr/>
          <p:nvPr/>
        </p:nvSpPr>
        <p:spPr>
          <a:xfrm>
            <a:off x="527400" y="1412640"/>
            <a:ext cx="1035648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CustomShape 2"/>
          <p:cNvSpPr/>
          <p:nvPr/>
        </p:nvSpPr>
        <p:spPr>
          <a:xfrm>
            <a:off x="527400" y="2852640"/>
            <a:ext cx="10356480" cy="236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M.Sc. Anant Sujatanagarjuna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 Chintan Patel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335520" y="764640"/>
            <a:ext cx="10734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335520" y="1268280"/>
            <a:ext cx="10734840" cy="50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3" name="Grafik 2"/>
          <p:cNvPicPr/>
          <p:nvPr/>
        </p:nvPicPr>
        <p:blipFill>
          <a:blip r:embed="rId1"/>
          <a:stretch/>
        </p:blipFill>
        <p:spPr>
          <a:xfrm>
            <a:off x="1784520" y="1710720"/>
            <a:ext cx="1463400" cy="216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4" name="Grafik 11"/>
          <p:cNvPicPr/>
          <p:nvPr/>
        </p:nvPicPr>
        <p:blipFill>
          <a:blip r:embed="rId2"/>
          <a:stretch/>
        </p:blipFill>
        <p:spPr>
          <a:xfrm>
            <a:off x="7395480" y="2082600"/>
            <a:ext cx="1777320" cy="176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5" name="CustomShape 2"/>
          <p:cNvSpPr/>
          <p:nvPr/>
        </p:nvSpPr>
        <p:spPr>
          <a:xfrm>
            <a:off x="720000" y="3826800"/>
            <a:ext cx="362808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3"/>
          <p:cNvSpPr/>
          <p:nvPr/>
        </p:nvSpPr>
        <p:spPr>
          <a:xfrm>
            <a:off x="6448320" y="3826800"/>
            <a:ext cx="362808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14"/>
          <p:cNvSpPr/>
          <p:nvPr/>
        </p:nvSpPr>
        <p:spPr>
          <a:xfrm>
            <a:off x="3569040" y="5987160"/>
            <a:ext cx="362736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8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500000" y="4320000"/>
            <a:ext cx="1794600" cy="179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ustomShape 5"/>
          <p:cNvSpPr/>
          <p:nvPr/>
        </p:nvSpPr>
        <p:spPr>
          <a:xfrm>
            <a:off x="542880" y="721800"/>
            <a:ext cx="10349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GB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CustomShape 6"/>
          <p:cNvSpPr/>
          <p:nvPr/>
        </p:nvSpPr>
        <p:spPr>
          <a:xfrm>
            <a:off x="451800" y="1709280"/>
            <a:ext cx="8216640" cy="43448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Shape 2"/>
          <p:cNvSpPr/>
          <p:nvPr/>
        </p:nvSpPr>
        <p:spPr>
          <a:xfrm>
            <a:off x="609480" y="1769400"/>
            <a:ext cx="10579680" cy="48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Sustinable and resilient food production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CustomShape 1"/>
          <p:cNvSpPr/>
          <p:nvPr/>
        </p:nvSpPr>
        <p:spPr>
          <a:xfrm>
            <a:off x="542880" y="721800"/>
            <a:ext cx="103464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2"/>
          <p:cNvSpPr/>
          <p:nvPr/>
        </p:nvSpPr>
        <p:spPr>
          <a:xfrm>
            <a:off x="451800" y="1709280"/>
            <a:ext cx="8213760" cy="4341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3"/>
          <p:cNvSpPr/>
          <p:nvPr/>
        </p:nvSpPr>
        <p:spPr>
          <a:xfrm>
            <a:off x="609480" y="1769400"/>
            <a:ext cx="10576800" cy="48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9"/>
              </a:spcBef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pos="0" algn="l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CustomShape 1"/>
          <p:cNvSpPr/>
          <p:nvPr/>
        </p:nvSpPr>
        <p:spPr>
          <a:xfrm>
            <a:off x="542880" y="721800"/>
            <a:ext cx="103464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2"/>
          <p:cNvSpPr/>
          <p:nvPr/>
        </p:nvSpPr>
        <p:spPr>
          <a:xfrm>
            <a:off x="451800" y="1709280"/>
            <a:ext cx="8213760" cy="4341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3"/>
          <p:cNvSpPr/>
          <p:nvPr/>
        </p:nvSpPr>
        <p:spPr>
          <a:xfrm>
            <a:off x="609480" y="1769400"/>
            <a:ext cx="10576800" cy="48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the concept of a circular economy, sustainability, and related concepts (biocapacity, etc.).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Gain a basic understanding of causes, dimensions, and the characterization of climate change, environmental pollution, and dwindling non-renewable resources.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Introduction to IoT and cyberphysical systems in the circular economy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Sensors and actuators for IoT, control and process systems of the circular economy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IoT applications and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ability to critically assess upcoming technological solutions enabling/facilitating sustainability and the circular economy.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CustomShape 15"/>
          <p:cNvSpPr/>
          <p:nvPr/>
        </p:nvSpPr>
        <p:spPr>
          <a:xfrm>
            <a:off x="335520" y="764640"/>
            <a:ext cx="107398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CustomShape 16"/>
          <p:cNvSpPr/>
          <p:nvPr/>
        </p:nvSpPr>
        <p:spPr>
          <a:xfrm>
            <a:off x="335520" y="1268640"/>
            <a:ext cx="10739880" cy="50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Lifecycle Assessment – LCA II (L04)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in Mining I (L09)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IoT in Mining II (L10)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23.07.2026 → Coding Workshop I (Goslar)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24.07.2026 → Coding Workshop II (Goslar)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27.07.2026 → Exam Q&amp;A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CustomShape 7"/>
          <p:cNvSpPr/>
          <p:nvPr/>
        </p:nvSpPr>
        <p:spPr>
          <a:xfrm>
            <a:off x="53964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(Deadlines)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8"/>
          <p:cNvSpPr/>
          <p:nvPr/>
        </p:nvSpPr>
        <p:spPr>
          <a:xfrm>
            <a:off x="539640" y="1268640"/>
            <a:ext cx="10743480" cy="50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01 – Circular Economy (MC)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02 – Lifecycle Assessment (LCA) – Part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03 – Lifecycle Assessment (LCA) – Part 2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Exercise 04 – IoT in Mining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Exercise 05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335520" y="1268280"/>
            <a:ext cx="107406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News and updates → StudIP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Symbol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etce-iot@tu-clausthal.de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CustomShape 1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2"/>
          <p:cNvSpPr/>
          <p:nvPr/>
        </p:nvSpPr>
        <p:spPr>
          <a:xfrm>
            <a:off x="335520" y="1268640"/>
            <a:ext cx="107406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r>
              <a:rPr lang="en-GB" sz="1800" b="1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 video recordings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Coding Workshop: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When: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23.07.2026 and 24.07.2026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from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10 am – 5 pm (Berlin time)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(DIGIT – Wallstr. 6, 38640 Goslar)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CustomShape 1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and Practical Workshop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2"/>
          <p:cNvSpPr/>
          <p:nvPr/>
        </p:nvSpPr>
        <p:spPr>
          <a:xfrm>
            <a:off x="335520" y="1268280"/>
            <a:ext cx="107406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written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are considered “self-evaluations” and are not submitted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written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You pass by receiving a grade greater than 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 (during Q&amp;A session)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workshop → You pass the workshop if you score 50% (or more)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More info on points, percentages, etc. follow on the next slides (Examination)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CustomShape 13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17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are graded semi-automatically. Due to this it is highly important that you follow the required submission format. Otherwise the grading process will fail and you will receive 0 points.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will be provided to you via Cocalc 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https://cocalc.gwdg.de/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with additional instructions provided via 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18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1" name=""/>
          <p:cNvPicPr/>
          <p:nvPr/>
        </p:nvPicPr>
        <p:blipFill>
          <a:blip r:embed="rId3"/>
          <a:stretch/>
        </p:blipFill>
        <p:spPr>
          <a:xfrm>
            <a:off x="5715000" y="1448280"/>
            <a:ext cx="4856760" cy="475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CustomShape 19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20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21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5" name=""/>
          <p:cNvPicPr/>
          <p:nvPr/>
        </p:nvPicPr>
        <p:blipFill>
          <a:blip r:embed="rId1"/>
          <a:stretch/>
        </p:blipFill>
        <p:spPr>
          <a:xfrm>
            <a:off x="5715000" y="1448280"/>
            <a:ext cx="4856760" cy="475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6" name=""/>
          <p:cNvSpPr/>
          <p:nvPr/>
        </p:nvSpPr>
        <p:spPr>
          <a:xfrm>
            <a:off x="5943600" y="5535000"/>
            <a:ext cx="456480" cy="22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22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3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24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0" name=""/>
          <p:cNvPicPr/>
          <p:nvPr/>
        </p:nvPicPr>
        <p:blipFill>
          <a:blip r:embed="rId1"/>
          <a:srcRect l="0" t="0" r="0" b="39009"/>
          <a:stretch/>
        </p:blipFill>
        <p:spPr>
          <a:xfrm>
            <a:off x="5785920" y="1484280"/>
            <a:ext cx="5292720" cy="400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1" name=""/>
          <p:cNvSpPr/>
          <p:nvPr/>
        </p:nvSpPr>
        <p:spPr>
          <a:xfrm>
            <a:off x="5680800" y="4343400"/>
            <a:ext cx="456480" cy="22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CustomShape 25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26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27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5" name=""/>
          <p:cNvPicPr/>
          <p:nvPr/>
        </p:nvPicPr>
        <p:blipFill>
          <a:blip r:embed="rId1"/>
          <a:srcRect l="0" t="0" r="0" b="26231"/>
          <a:stretch/>
        </p:blipFill>
        <p:spPr>
          <a:xfrm>
            <a:off x="6172200" y="1600200"/>
            <a:ext cx="4875840" cy="426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6" name=""/>
          <p:cNvSpPr/>
          <p:nvPr/>
        </p:nvSpPr>
        <p:spPr>
          <a:xfrm>
            <a:off x="6172200" y="4716000"/>
            <a:ext cx="456480" cy="22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CustomShape 28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29"/>
          <p:cNvSpPr/>
          <p:nvPr/>
        </p:nvSpPr>
        <p:spPr>
          <a:xfrm>
            <a:off x="335520" y="1600200"/>
            <a:ext cx="4464360" cy="46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Login with your usual TU-Clausthal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30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1"/>
          <a:stretch/>
        </p:blipFill>
        <p:spPr>
          <a:xfrm>
            <a:off x="6172200" y="1600200"/>
            <a:ext cx="4342680" cy="4619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CustomShape 3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ustomShape 32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“IoT Mining SoSe26”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33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4" name=""/>
          <p:cNvPicPr/>
          <p:nvPr/>
        </p:nvPicPr>
        <p:blipFill>
          <a:blip r:embed="rId1"/>
          <a:srcRect l="0" t="0" r="16551" b="0"/>
          <a:stretch/>
        </p:blipFill>
        <p:spPr>
          <a:xfrm>
            <a:off x="1067400" y="4343400"/>
            <a:ext cx="9218880" cy="196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CustomShape 34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35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“IoT Mining SoSe26”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36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8" name=""/>
          <p:cNvPicPr/>
          <p:nvPr/>
        </p:nvPicPr>
        <p:blipFill>
          <a:blip r:embed="rId1"/>
          <a:stretch/>
        </p:blipFill>
        <p:spPr>
          <a:xfrm>
            <a:off x="2057400" y="3657600"/>
            <a:ext cx="6495120" cy="2684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CustomShape 37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38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“IoT Mining SoSe26”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39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2" name=""/>
          <p:cNvPicPr/>
          <p:nvPr/>
        </p:nvPicPr>
        <p:blipFill>
          <a:blip r:embed="rId1"/>
          <a:stretch/>
        </p:blipFill>
        <p:spPr>
          <a:xfrm>
            <a:off x="2124360" y="3706200"/>
            <a:ext cx="5875920" cy="269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CustomShape 40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41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“IoT Mining SoSe26”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42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6" name=""/>
          <p:cNvPicPr/>
          <p:nvPr/>
        </p:nvPicPr>
        <p:blipFill>
          <a:blip r:embed="rId1"/>
          <a:srcRect l="0" t="24691" r="0" b="0"/>
          <a:stretch/>
        </p:blipFill>
        <p:spPr>
          <a:xfrm>
            <a:off x="5063400" y="3056400"/>
            <a:ext cx="5655960" cy="3656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CustomShape 43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CustomShape 44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5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CustomShape 46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47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48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3" name=""/>
          <p:cNvPicPr/>
          <p:nvPr/>
        </p:nvPicPr>
        <p:blipFill>
          <a:blip r:embed="rId1"/>
          <a:stretch/>
        </p:blipFill>
        <p:spPr>
          <a:xfrm>
            <a:off x="2372040" y="3657600"/>
            <a:ext cx="7228440" cy="2856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CustomShape 49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50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51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7" name=""/>
          <p:cNvPicPr/>
          <p:nvPr/>
        </p:nvPicPr>
        <p:blipFill>
          <a:blip r:embed="rId1"/>
          <a:stretch/>
        </p:blipFill>
        <p:spPr>
          <a:xfrm>
            <a:off x="2971800" y="3777480"/>
            <a:ext cx="6171480" cy="262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CustomShape 52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53"/>
          <p:cNvSpPr/>
          <p:nvPr/>
        </p:nvSpPr>
        <p:spPr>
          <a:xfrm>
            <a:off x="335520" y="1600200"/>
            <a:ext cx="104079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Receiving a grade of 0 = FAIL.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54"/>
          <p:cNvSpPr/>
          <p:nvPr/>
        </p:nvSpPr>
        <p:spPr>
          <a:xfrm>
            <a:off x="4655880" y="476640"/>
            <a:ext cx="24242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CustomShape 55"/>
          <p:cNvSpPr/>
          <p:nvPr/>
        </p:nvSpPr>
        <p:spPr>
          <a:xfrm>
            <a:off x="335520" y="7682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56"/>
          <p:cNvSpPr/>
          <p:nvPr/>
        </p:nvSpPr>
        <p:spPr>
          <a:xfrm>
            <a:off x="388800" y="1488600"/>
            <a:ext cx="1071180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CustomShape 57"/>
          <p:cNvSpPr/>
          <p:nvPr/>
        </p:nvSpPr>
        <p:spPr>
          <a:xfrm>
            <a:off x="335520" y="7682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CustomShape 58"/>
          <p:cNvSpPr/>
          <p:nvPr/>
        </p:nvSpPr>
        <p:spPr>
          <a:xfrm>
            <a:off x="388800" y="1488600"/>
            <a:ext cx="1071180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de-DE" sz="1400" b="1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Link for all multiple-choice exercises → </a:t>
            </a:r>
            <a:r>
              <a:rPr lang="de-DE" sz="1400" b="0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etce.etce-lab.de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CustomShape 59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6" name=""/>
          <p:cNvPicPr/>
          <p:nvPr/>
        </p:nvPicPr>
        <p:blipFill>
          <a:blip r:embed="rId1"/>
          <a:stretch/>
        </p:blipFill>
        <p:spPr>
          <a:xfrm>
            <a:off x="3200400" y="685800"/>
            <a:ext cx="5272920" cy="5997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CustomShape 60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8" name=""/>
          <p:cNvPicPr/>
          <p:nvPr/>
        </p:nvPicPr>
        <p:blipFill>
          <a:blip r:embed="rId1"/>
          <a:stretch/>
        </p:blipFill>
        <p:spPr>
          <a:xfrm>
            <a:off x="1600200" y="1600200"/>
            <a:ext cx="8359200" cy="462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CustomShape 1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"/>
          <p:cNvSpPr/>
          <p:nvPr/>
        </p:nvSpPr>
        <p:spPr>
          <a:xfrm>
            <a:off x="335520" y="1268640"/>
            <a:ext cx="107406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Heading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Heading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Pass the practical workshop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Most likely 12.08.2026 and 13.08.2026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Oral examination (20min)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Online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CustomShape 1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"/>
          <p:cNvSpPr/>
          <p:nvPr/>
        </p:nvSpPr>
        <p:spPr>
          <a:xfrm>
            <a:off x="335520" y="1268280"/>
            <a:ext cx="107406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3"/>
          <p:cNvSpPr/>
          <p:nvPr/>
        </p:nvSpPr>
        <p:spPr>
          <a:xfrm>
            <a:off x="6285600" y="2132640"/>
            <a:ext cx="510120" cy="48996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4"/>
          <p:cNvSpPr/>
          <p:nvPr/>
        </p:nvSpPr>
        <p:spPr>
          <a:xfrm>
            <a:off x="4089960" y="2247480"/>
            <a:ext cx="227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CustomShape 1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"/>
          <p:cNvSpPr/>
          <p:nvPr/>
        </p:nvSpPr>
        <p:spPr>
          <a:xfrm>
            <a:off x="335520" y="1268640"/>
            <a:ext cx="107406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(1972).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CustomShape 9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10"/>
          <p:cNvSpPr/>
          <p:nvPr/>
        </p:nvSpPr>
        <p:spPr>
          <a:xfrm>
            <a:off x="335520" y="1268640"/>
            <a:ext cx="10738800" cy="50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Internet of Things for Architects: Architecting IoT solutions by implementing sensors, communication infrastructure, edge computing, analytics, and security (2018).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CustomShape 1"/>
          <p:cNvSpPr/>
          <p:nvPr/>
        </p:nvSpPr>
        <p:spPr>
          <a:xfrm>
            <a:off x="335520" y="1268640"/>
            <a:ext cx="1074060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CustomShape 2"/>
          <p:cNvSpPr/>
          <p:nvPr/>
        </p:nvSpPr>
        <p:spPr>
          <a:xfrm>
            <a:off x="335520" y="764640"/>
            <a:ext cx="1074060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1063</TotalTime>
  <Application>LibreOffice/26.2.2.2$Linux_X86_64 LibreOffice_project/620$Build-2</Application>
  <AppVersion>15.0000</AppVersion>
  <Words>1010</Words>
  <Paragraphs>159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2026-04-27T14:26:25Z</dcterms:modified>
  <cp:revision>3256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5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20</vt:i4>
  </property>
</Properties>
</file>